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69"/>
  </p:notesMasterIdLst>
  <p:sldIdLst>
    <p:sldId id="331" r:id="rId2"/>
    <p:sldId id="332" r:id="rId3"/>
    <p:sldId id="257" r:id="rId4"/>
    <p:sldId id="260" r:id="rId5"/>
    <p:sldId id="265" r:id="rId6"/>
    <p:sldId id="261" r:id="rId7"/>
    <p:sldId id="266" r:id="rId8"/>
    <p:sldId id="267" r:id="rId9"/>
    <p:sldId id="268" r:id="rId10"/>
    <p:sldId id="262" r:id="rId11"/>
    <p:sldId id="269" r:id="rId12"/>
    <p:sldId id="270" r:id="rId13"/>
    <p:sldId id="459" r:id="rId14"/>
    <p:sldId id="835" r:id="rId15"/>
    <p:sldId id="816" r:id="rId16"/>
    <p:sldId id="817" r:id="rId17"/>
    <p:sldId id="818" r:id="rId18"/>
    <p:sldId id="819" r:id="rId19"/>
    <p:sldId id="820" r:id="rId20"/>
    <p:sldId id="821" r:id="rId21"/>
    <p:sldId id="822" r:id="rId22"/>
    <p:sldId id="832" r:id="rId23"/>
    <p:sldId id="834" r:id="rId24"/>
    <p:sldId id="825" r:id="rId25"/>
    <p:sldId id="826" r:id="rId26"/>
    <p:sldId id="827" r:id="rId27"/>
    <p:sldId id="828" r:id="rId28"/>
    <p:sldId id="829" r:id="rId29"/>
    <p:sldId id="833" r:id="rId30"/>
    <p:sldId id="831" r:id="rId31"/>
    <p:sldId id="258" r:id="rId32"/>
    <p:sldId id="836" r:id="rId33"/>
    <p:sldId id="837" r:id="rId34"/>
    <p:sldId id="838" r:id="rId35"/>
    <p:sldId id="839" r:id="rId36"/>
    <p:sldId id="263" r:id="rId37"/>
    <p:sldId id="274" r:id="rId38"/>
    <p:sldId id="275" r:id="rId39"/>
    <p:sldId id="841" r:id="rId40"/>
    <p:sldId id="840" r:id="rId41"/>
    <p:sldId id="273" r:id="rId42"/>
    <p:sldId id="276" r:id="rId43"/>
    <p:sldId id="814" r:id="rId44"/>
    <p:sldId id="271" r:id="rId45"/>
    <p:sldId id="278" r:id="rId46"/>
    <p:sldId id="264" r:id="rId47"/>
    <p:sldId id="401" r:id="rId48"/>
    <p:sldId id="338" r:id="rId49"/>
    <p:sldId id="575" r:id="rId50"/>
    <p:sldId id="340" r:id="rId51"/>
    <p:sldId id="341" r:id="rId52"/>
    <p:sldId id="403" r:id="rId53"/>
    <p:sldId id="419" r:id="rId54"/>
    <p:sldId id="424" r:id="rId55"/>
    <p:sldId id="423" r:id="rId56"/>
    <p:sldId id="576" r:id="rId57"/>
    <p:sldId id="577" r:id="rId58"/>
    <p:sldId id="352" r:id="rId59"/>
    <p:sldId id="353" r:id="rId60"/>
    <p:sldId id="348" r:id="rId61"/>
    <p:sldId id="425" r:id="rId62"/>
    <p:sldId id="427" r:id="rId63"/>
    <p:sldId id="426" r:id="rId64"/>
    <p:sldId id="354" r:id="rId65"/>
    <p:sldId id="400" r:id="rId66"/>
    <p:sldId id="356" r:id="rId67"/>
    <p:sldId id="404" r:id="rId6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660"/>
  </p:normalViewPr>
  <p:slideViewPr>
    <p:cSldViewPr>
      <p:cViewPr varScale="1">
        <p:scale>
          <a:sx n="70" d="100"/>
          <a:sy n="70" d="100"/>
        </p:scale>
        <p:origin x="6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-315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6F994-E567-4E2A-9CC6-7124331350FA}" type="datetimeFigureOut">
              <a:rPr lang="en-IE" smtClean="0"/>
              <a:t>03/11/2025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E376-2C33-490B-A7D6-FF41E95A2A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108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C85A79-8F4E-4293-A84B-133598B629DB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987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64C6DB2-A3B2-4D18-A415-9F1EB91BC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59FA64-B840-47E0-A280-D112047F7636}" type="slidenum">
              <a:rPr lang="en-US" altLang="en-US" smtClean="0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E063D3B-C605-4809-885A-65B64372A9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A0FFA38-D7C5-4747-B0EF-688A1B105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88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4449CF17-6DE0-42A8-AF6D-65582A8B7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DD403B-DC2E-496B-BDE4-8AC536A45743}" type="slidenum">
              <a:rPr lang="en-US" altLang="en-US" smtClean="0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51D3904E-C473-48EE-9DE3-D37AD52B1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6B73BA7-C0AE-4B26-9EE2-89053DF39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782373FB-7979-43C3-9CD1-428D9B5060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82816C-CEF7-47A7-92DB-2D0700EC55E4}" type="slidenum">
              <a:rPr lang="en-US" altLang="en-US" smtClean="0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DD50E9C8-67EF-4556-969A-2795FF144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BF3A816-A617-46B9-9536-0B761391A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D8F9928-8869-45F7-BA42-5A488A3E1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5554BC-4E9D-46F3-8CDA-F7DF99B87F74}" type="slidenum">
              <a:rPr lang="en-US" altLang="en-US" smtClean="0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D40412E3-E257-462F-AEEC-27F4A0E78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D67F792-BDD9-43A7-AAE4-80F3F09C9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5BA74056-F347-47E7-8F80-E67498FF6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2E19D3-36AF-42FB-A3BF-7AE756C80D6F}" type="slidenum">
              <a:rPr lang="en-US" altLang="en-US" smtClean="0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EBB136E9-59A5-44E7-9BD0-1637A76BE6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EED1A63-8694-46B7-9400-1442886D3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1A60390-627A-4274-847E-47EB60190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320C0-8E4B-4B1E-A830-FE5886CA5D53}" type="slidenum">
              <a:rPr lang="en-US" altLang="en-US" smtClean="0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A2463C4-B80E-4B8C-85AE-C8401A286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09114D-ADAD-450C-8806-B9C750BE9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4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D8F9928-8869-45F7-BA42-5A488A3E1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5554BC-4E9D-46F3-8CDA-F7DF99B87F74}" type="slidenum">
              <a:rPr lang="en-US" altLang="en-US" smtClean="0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D40412E3-E257-462F-AEEC-27F4A0E78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D67F792-BDD9-43A7-AAE4-80F3F09C9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899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1A60390-627A-4274-847E-47EB60190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320C0-8E4B-4B1E-A830-FE5886CA5D53}" type="slidenum">
              <a:rPr lang="en-US" altLang="en-US" smtClean="0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A2463C4-B80E-4B8C-85AE-C8401A286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09114D-ADAD-450C-8806-B9C750BE9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23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C2245F4-0687-48BF-BF76-797F8BC2A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799B002-221E-4ACE-82C8-ADA61FD05C07}" type="slidenum">
              <a:rPr lang="en-US" altLang="en-US" smtClean="0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2946022D-15EE-4829-ABB0-2302B5FB7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33E1FE6-F684-4288-B04E-1699B856B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05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7EFF896D-4723-4270-B5CE-3EAC199293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057CCE-FB24-4DCD-B59A-EF29E3EC48F5}" type="slidenum">
              <a:rPr lang="en-US" altLang="en-US" smtClean="0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3E74FC7-08E4-41EE-B8E9-4784734F4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DA6752C-0B00-4DE8-BC1B-ED685E73B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38BED452-4AFF-4E3B-8BDB-D1CDFE41C8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953E37-7182-4EB1-8FE4-F2B2E6FF161A}" type="slidenum">
              <a:rPr lang="en-US" altLang="en-US" smtClean="0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B321B815-8EF8-44E7-95DE-2501AEDAD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E4E2E56-FB91-48A2-96D3-B738321EA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C1EC5355-B083-4702-ABF4-E2BCA0929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F2CFA1-F1C4-4CAE-A60E-FA4BA9406BF9}" type="slidenum">
              <a:rPr lang="en-US" altLang="en-US" smtClean="0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F745C6AB-0ABB-4D15-945B-36AE7232EF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1561A3E-BDF2-4110-B38B-723F41427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C4542300-0CB6-4A29-9D16-61BA981CC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7A2607-C363-42A4-A7E7-0B2A0C05B6FD}" type="slidenum">
              <a:rPr lang="en-US" altLang="en-US" smtClean="0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86EC9CC8-78B2-4FF3-AAE4-54ADF3928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3C3F6B7-CCAA-4E66-935F-A90C69C86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0A17CE6B-6039-43D7-A98A-F4F050EBD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B59C17-8BC0-4D12-8CAC-4CF08CD54505}" type="slidenum">
              <a:rPr lang="en-US" altLang="en-US" smtClean="0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69692E4-A9F9-42A3-BEE3-5D68069DF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137D665-2B0C-4C02-9EBA-DAA2DE83B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469870DE-ED07-4369-A35C-886FE9BF9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53270A-71CB-4C96-9EF2-586D51F6CA41}" type="slidenum">
              <a:rPr lang="en-US" altLang="en-US" smtClean="0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09C325C-9D3C-44A6-8500-BB6A220D2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40CBAB1-EA8F-4B67-816C-288C9B097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7EB3323C-06A1-4632-B138-3B73546F03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D9CD47-795C-4CBD-956A-ABB15F37534F}" type="slidenum">
              <a:rPr lang="en-US" altLang="en-US" smtClean="0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544896A-D075-4287-996D-AFC0058592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3696E72-3E2A-4324-898F-E308110EB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63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0C285082-FC5A-4524-9220-A291758CFB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0E056A-E87D-4C53-83CF-B2CDD3330A52}" type="slidenum">
              <a:rPr lang="en-US" altLang="en-US" smtClean="0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08CE5910-3320-44A3-88ED-D22B8CE02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E335E27-02F0-4EF2-ADC1-CFAB027A3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070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3BC90D9-5B90-4947-BD85-211E37DDE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111378-CDE2-4578-A4A0-6AE31376CE67}" type="slidenum">
              <a:rPr lang="en-US" altLang="en-US" smtClean="0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1CE51187-1D2B-4F17-B25B-73ADED5E0B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AD6887A-FF32-4633-84E8-661557184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0C285082-FC5A-4524-9220-A291758CFB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0E056A-E87D-4C53-83CF-B2CDD3330A52}" type="slidenum">
              <a:rPr lang="en-US" altLang="en-US" smtClean="0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08CE5910-3320-44A3-88ED-D22B8CE02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E335E27-02F0-4EF2-ADC1-CFAB027A3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AC5CF01-D722-4A54-87E2-5ACC8F7C95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14E645-70B9-4D60-95A0-CCC1F65E091F}" type="slidenum">
              <a:rPr lang="en-US" altLang="en-US" smtClean="0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4260DBA0-67A3-4083-8D43-2641C27B52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13C787B-5ED3-489E-A585-F3FD4B97B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361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18099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32865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74163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39014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97355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85461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392569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02626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414431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7619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5831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539750" y="6453188"/>
            <a:ext cx="3203575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 flipV="1">
            <a:off x="4008438" y="6453188"/>
            <a:ext cx="4679950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9" name="Picture 2" descr="C:\Users\Rowan\Documents\Maynooth\Powerpoint Template\K7917 - Maynooth University_PowerPoint (Burgundy) Option 1-2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t="-320" r="27138"/>
          <a:stretch>
            <a:fillRect/>
          </a:stretch>
        </p:blipFill>
        <p:spPr bwMode="auto">
          <a:xfrm>
            <a:off x="4008438" y="549275"/>
            <a:ext cx="4679950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Rowan\Documents\Maynooth\Powerpoint Template\K7384 Maynooth University Logo_RGB_300dp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5888"/>
            <a:ext cx="314325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1560" y="3140968"/>
            <a:ext cx="3024336" cy="223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rgbClr val="822327"/>
                </a:solidFill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1189" y="5661025"/>
            <a:ext cx="3024708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8223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3745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72325" y="6448425"/>
            <a:ext cx="1512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GB" altLang="en-US" sz="1100" b="1" dirty="0"/>
              <a:t>maynoothuniversity.ie</a:t>
            </a:r>
            <a:endParaRPr lang="en-GB" altLang="en-US" b="1" dirty="0"/>
          </a:p>
        </p:txBody>
      </p:sp>
      <p:sp>
        <p:nvSpPr>
          <p:cNvPr id="5" name="Rectangle 4"/>
          <p:cNvSpPr/>
          <p:nvPr/>
        </p:nvSpPr>
        <p:spPr>
          <a:xfrm flipV="1">
            <a:off x="395288" y="5884863"/>
            <a:ext cx="8316912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6" name="Picture 3" descr="C:\Users\Rowan\Desktop\K7384 Maynooth University Logo_RGB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092825"/>
            <a:ext cx="147637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46311" y="620688"/>
            <a:ext cx="7560890" cy="1008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/>
          </p:nvPr>
        </p:nvSpPr>
        <p:spPr>
          <a:xfrm>
            <a:off x="755650" y="1844675"/>
            <a:ext cx="7561263" cy="381635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005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45367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9552" y="1916832"/>
            <a:ext cx="3346648" cy="2232025"/>
          </a:xfrm>
        </p:spPr>
        <p:txBody>
          <a:bodyPr>
            <a:normAutofit/>
          </a:bodyPr>
          <a:lstStyle/>
          <a:p>
            <a:r>
              <a:rPr lang="en-GB" sz="3000" dirty="0"/>
              <a:t>CS210</a:t>
            </a:r>
          </a:p>
          <a:p>
            <a:r>
              <a:rPr lang="en-GB" sz="3000" dirty="0"/>
              <a:t>Algorithms and Data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9552" y="4221088"/>
            <a:ext cx="3168352" cy="1646312"/>
          </a:xfrm>
        </p:spPr>
        <p:txBody>
          <a:bodyPr>
            <a:normAutofit fontScale="85000" lnSpcReduction="20000"/>
          </a:bodyPr>
          <a:lstStyle/>
          <a:p>
            <a:r>
              <a:rPr lang="en-GB" sz="2000" dirty="0"/>
              <a:t>Stacks and Queues</a:t>
            </a:r>
          </a:p>
          <a:p>
            <a:r>
              <a:rPr lang="en-GB" sz="2000" dirty="0"/>
              <a:t>Week 7</a:t>
            </a:r>
          </a:p>
          <a:p>
            <a:r>
              <a:rPr lang="en-GB" sz="2000" dirty="0"/>
              <a:t>Semester 1 2025</a:t>
            </a:r>
          </a:p>
          <a:p>
            <a:endParaRPr lang="en-GB" sz="2000" dirty="0"/>
          </a:p>
          <a:p>
            <a:r>
              <a:rPr lang="en-GB" sz="2000" dirty="0"/>
              <a:t>Dr. Pierpaolo Dondio</a:t>
            </a:r>
          </a:p>
        </p:txBody>
      </p:sp>
    </p:spTree>
    <p:extLst>
      <p:ext uri="{BB962C8B-B14F-4D97-AF65-F5344CB8AC3E}">
        <p14:creationId xmlns:p14="http://schemas.microsoft.com/office/powerpoint/2010/main" val="39192943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5BBDE-771D-F4A9-FCA5-E9F7555B79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Week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F77D-BE3B-A573-31AB-5C3329CA38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5650" y="1844675"/>
            <a:ext cx="7776790" cy="341312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IE" sz="2800" i="1" dirty="0"/>
              <a:t>Stacks: definition and functioning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Built-in Java classes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Examples in Java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Queues: definition and functioning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Built-in Java classes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Examples in Java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The Process scheduling problem</a:t>
            </a:r>
          </a:p>
          <a:p>
            <a:pPr>
              <a:buFont typeface="Wingdings" pitchFamily="2" charset="2"/>
              <a:buChar char="§"/>
            </a:pPr>
            <a:endParaRPr lang="en-IE" sz="2800" i="1" dirty="0"/>
          </a:p>
        </p:txBody>
      </p:sp>
    </p:spTree>
    <p:extLst>
      <p:ext uri="{BB962C8B-B14F-4D97-AF65-F5344CB8AC3E}">
        <p14:creationId xmlns:p14="http://schemas.microsoft.com/office/powerpoint/2010/main" val="115105945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DE3B-470E-75DB-9B7B-2A5A3504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 and Queues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C98D1-832A-5AF7-DD2D-20B80B9A4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62" y="2021491"/>
            <a:ext cx="4205504" cy="370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45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D83D-4CB8-99DE-019D-4548CB66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E454A-723B-67FB-0111-3E0DB12E9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5625193" cy="32635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stack is a linear data structure able to store a collection of objects in the LIFO order.</a:t>
            </a:r>
          </a:p>
          <a:p>
            <a:r>
              <a:rPr lang="en-US" dirty="0"/>
              <a:t>The first element added to the stack is the first to be removed. If I want to remove the second-last added elements, I first need to remove the last added one.</a:t>
            </a:r>
          </a:p>
          <a:p>
            <a:r>
              <a:rPr lang="en-US" dirty="0"/>
              <a:t>If I want to remove the first added element, I need to remove all the elements (empty the stack)</a:t>
            </a:r>
          </a:p>
          <a:p>
            <a:endParaRPr lang="en-IE" dirty="0"/>
          </a:p>
          <a:p>
            <a:r>
              <a:rPr lang="en-US" dirty="0"/>
              <a:t>Stacks are also referred to as </a:t>
            </a:r>
            <a:r>
              <a:rPr lang="en-US" i="1" dirty="0"/>
              <a:t>pushdown stack </a:t>
            </a:r>
            <a:r>
              <a:rPr lang="en-IE" i="1" dirty="0"/>
              <a:t>o</a:t>
            </a:r>
            <a:r>
              <a:rPr lang="en-IE" dirty="0"/>
              <a:t>r </a:t>
            </a:r>
            <a:r>
              <a:rPr lang="en-IE" i="1" dirty="0"/>
              <a:t>pushdown list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714B6-301A-5A89-8752-EC9EF4ADB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44" y="2903465"/>
            <a:ext cx="1943200" cy="158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4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07E1-D920-7CA2-BA29-A2A182CD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1EAD-D5CE-DB4C-F681-97D5BA85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// Methods</a:t>
            </a:r>
            <a:endParaRPr lang="en-IE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2D1885-ED47-B76A-2C0C-942B24C41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223999"/>
              </p:ext>
            </p:extLst>
          </p:nvPr>
        </p:nvGraphicFramePr>
        <p:xfrm>
          <a:off x="628650" y="2040215"/>
          <a:ext cx="7813548" cy="1783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2327">
                  <a:extLst>
                    <a:ext uri="{9D8B030D-6E8A-4147-A177-3AD203B41FA5}">
                      <a16:colId xmlns:a16="http://schemas.microsoft.com/office/drawing/2014/main" val="792586311"/>
                    </a:ext>
                  </a:extLst>
                </a:gridCol>
                <a:gridCol w="4018772">
                  <a:extLst>
                    <a:ext uri="{9D8B030D-6E8A-4147-A177-3AD203B41FA5}">
                      <a16:colId xmlns:a16="http://schemas.microsoft.com/office/drawing/2014/main" val="1790655840"/>
                    </a:ext>
                  </a:extLst>
                </a:gridCol>
                <a:gridCol w="1752449">
                  <a:extLst>
                    <a:ext uri="{9D8B030D-6E8A-4147-A177-3AD203B41FA5}">
                      <a16:colId xmlns:a16="http://schemas.microsoft.com/office/drawing/2014/main" val="67594883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Operation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Description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Example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3422254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push()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Add (insert) an element on top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Push 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3484213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pop()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Remove (delete) the top element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Pop → 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8664335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peek()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View the top element (without removing it)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Peek → 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7938563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isEmpty()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Check if the stack is empty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true/false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9974816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search()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Search for an element in the stack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returns position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9330749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601D88-FD5C-CB0A-E47B-FC9B804940C3}"/>
              </a:ext>
            </a:extLst>
          </p:cNvPr>
          <p:cNvSpPr txBox="1"/>
          <p:nvPr/>
        </p:nvSpPr>
        <p:spPr>
          <a:xfrm>
            <a:off x="700786" y="4039363"/>
            <a:ext cx="32457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Push, pop and peek they all have complexity O(1)</a:t>
            </a:r>
          </a:p>
          <a:p>
            <a:r>
              <a:rPr lang="en-US" sz="1600" dirty="0"/>
              <a:t>Searching in a stack requires a linear search (i.e. linear complexity O(n) )</a:t>
            </a:r>
            <a:endParaRPr lang="en-I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D7F38B-B723-795A-7A92-E07B556E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072" y="4080061"/>
            <a:ext cx="1733928" cy="1406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E4E8D0-DBDA-6F8F-58B8-556B19D1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450" y="4080061"/>
            <a:ext cx="2425740" cy="14067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B432F5-C0DF-7834-6B2E-2D63E0DE9C02}"/>
              </a:ext>
            </a:extLst>
          </p:cNvPr>
          <p:cNvSpPr txBox="1"/>
          <p:nvPr/>
        </p:nvSpPr>
        <p:spPr>
          <a:xfrm>
            <a:off x="5083431" y="5643518"/>
            <a:ext cx="747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POP()</a:t>
            </a:r>
            <a:endParaRPr lang="en-IE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44F4D-F022-D49B-7829-AA9FB03601D1}"/>
              </a:ext>
            </a:extLst>
          </p:cNvPr>
          <p:cNvSpPr txBox="1"/>
          <p:nvPr/>
        </p:nvSpPr>
        <p:spPr>
          <a:xfrm>
            <a:off x="7141275" y="5643518"/>
            <a:ext cx="747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PUSH()</a:t>
            </a:r>
            <a:endParaRPr lang="en-IE" sz="1350" dirty="0"/>
          </a:p>
        </p:txBody>
      </p:sp>
    </p:spTree>
    <p:extLst>
      <p:ext uri="{BB962C8B-B14F-4D97-AF65-F5344CB8AC3E}">
        <p14:creationId xmlns:p14="http://schemas.microsoft.com/office/powerpoint/2010/main" val="93411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09B8-8944-7BCA-AC8B-CCA56449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 in Java using simple Arrays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5272-8D83-698B-B221-403E28D2A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2078736"/>
            <a:ext cx="4644390" cy="381381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50"/>
              </a:spcBef>
              <a:buNone/>
            </a:pPr>
            <a:r>
              <a:rPr lang="en-US" sz="1700" dirty="0"/>
              <a:t>Ideas:</a:t>
            </a:r>
          </a:p>
          <a:p>
            <a:pPr>
              <a:lnSpc>
                <a:spcPct val="120000"/>
              </a:lnSpc>
              <a:spcBef>
                <a:spcPts val="150"/>
              </a:spcBef>
            </a:pPr>
            <a:r>
              <a:rPr lang="en-US" sz="1700" dirty="0"/>
              <a:t>We need to keep a variable with the index of the element at the top of the stack, used to remove the top element or add a new element</a:t>
            </a:r>
          </a:p>
          <a:p>
            <a:pPr>
              <a:lnSpc>
                <a:spcPct val="120000"/>
              </a:lnSpc>
              <a:spcBef>
                <a:spcPts val="150"/>
              </a:spcBef>
            </a:pPr>
            <a:r>
              <a:rPr lang="en-US" sz="1700" dirty="0"/>
              <a:t>We need to create a Java Class with the following methods:</a:t>
            </a:r>
          </a:p>
          <a:p>
            <a:pPr lvl="1">
              <a:lnSpc>
                <a:spcPct val="120000"/>
              </a:lnSpc>
              <a:spcBef>
                <a:spcPts val="150"/>
              </a:spcBef>
            </a:pPr>
            <a:r>
              <a:rPr lang="en-US" sz="1700" dirty="0"/>
              <a:t>Push()</a:t>
            </a:r>
          </a:p>
          <a:p>
            <a:pPr lvl="1">
              <a:lnSpc>
                <a:spcPct val="120000"/>
              </a:lnSpc>
              <a:spcBef>
                <a:spcPts val="150"/>
              </a:spcBef>
            </a:pPr>
            <a:r>
              <a:rPr lang="en-US" sz="1700" dirty="0"/>
              <a:t>Pop()</a:t>
            </a:r>
          </a:p>
          <a:p>
            <a:pPr lvl="1">
              <a:lnSpc>
                <a:spcPct val="120000"/>
              </a:lnSpc>
              <a:spcBef>
                <a:spcPts val="150"/>
              </a:spcBef>
            </a:pPr>
            <a:r>
              <a:rPr lang="en-US" sz="1700" dirty="0"/>
              <a:t>Peek()</a:t>
            </a:r>
          </a:p>
          <a:p>
            <a:pPr lvl="1">
              <a:lnSpc>
                <a:spcPct val="120000"/>
              </a:lnSpc>
              <a:spcBef>
                <a:spcPts val="150"/>
              </a:spcBef>
            </a:pPr>
            <a:r>
              <a:rPr lang="en-US" sz="1700" dirty="0" err="1"/>
              <a:t>isEmpty</a:t>
            </a:r>
            <a:r>
              <a:rPr lang="en-US" sz="1700" dirty="0"/>
              <a:t>()</a:t>
            </a:r>
          </a:p>
          <a:p>
            <a:pPr>
              <a:lnSpc>
                <a:spcPct val="120000"/>
              </a:lnSpc>
              <a:spcBef>
                <a:spcPts val="150"/>
              </a:spcBef>
            </a:pPr>
            <a:r>
              <a:rPr lang="en-US" sz="1700" dirty="0"/>
              <a:t>We will also add the method </a:t>
            </a:r>
            <a:r>
              <a:rPr lang="en-US" sz="1700" dirty="0" err="1"/>
              <a:t>isFull</a:t>
            </a:r>
            <a:r>
              <a:rPr lang="en-US" sz="1700" dirty="0"/>
              <a:t>() and a method to display the content of the stack</a:t>
            </a:r>
            <a:endParaRPr lang="en-IE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7976CE-6592-892A-61C5-61999E5DD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439099"/>
            <a:ext cx="3500628" cy="186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3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FB6B-0F40-6568-9C06-A75594D9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 in Java Using Arrays / 1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19E14-E531-94C9-F6E5-AB6EB0D8B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465201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E" sz="6800" dirty="0">
                <a:latin typeface="+mj-lt"/>
              </a:rPr>
              <a:t>Below are the attributes and the constructor for the Class </a:t>
            </a:r>
            <a:r>
              <a:rPr lang="en-IE" sz="6800" dirty="0" err="1">
                <a:latin typeface="+mj-lt"/>
              </a:rPr>
              <a:t>StackUsingArray</a:t>
            </a:r>
            <a:r>
              <a:rPr lang="en-IE" sz="6800" dirty="0">
                <a:latin typeface="+mj-lt"/>
              </a:rPr>
              <a:t>, implementing a stack data structure using Java Arrays.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E" sz="6800" dirty="0">
                <a:latin typeface="+mj-lt"/>
              </a:rPr>
              <a:t>Top is the index to the top element (the last one that was added.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E" sz="6800" dirty="0">
                <a:latin typeface="+mj-lt"/>
              </a:rPr>
              <a:t>When a new object stack is created, we need to pass the maximum size of the stack</a:t>
            </a:r>
          </a:p>
          <a:p>
            <a:pPr marL="0" indent="0">
              <a:buNone/>
            </a:pPr>
            <a:endParaRPr lang="en-IE" sz="450" dirty="0">
              <a:latin typeface="Cochocib Script Latin Pro" panose="020F0502020204030204" pitchFamily="2" charset="0"/>
            </a:endParaRPr>
          </a:p>
          <a:p>
            <a:pPr marL="0" indent="0">
              <a:buNone/>
            </a:pP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StackUsingArray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;   // maximum capacity of stack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stackArray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; // array to store elements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top;       // index of top element</a:t>
            </a:r>
          </a:p>
          <a:p>
            <a:pPr marL="0" indent="0">
              <a:buNone/>
            </a:pPr>
            <a:endParaRPr lang="en-IE" sz="6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Constructor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6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StackUsingArray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(int size) {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= size;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stackArray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int[</a:t>
            </a:r>
            <a:r>
              <a:rPr lang="en-IE" sz="6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IE" sz="6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top = -1; // stack is initially empty}</a:t>
            </a:r>
          </a:p>
        </p:txBody>
      </p:sp>
    </p:spTree>
    <p:extLst>
      <p:ext uri="{BB962C8B-B14F-4D97-AF65-F5344CB8AC3E}">
        <p14:creationId xmlns:p14="http://schemas.microsoft.com/office/powerpoint/2010/main" val="252693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D6CC-5EAE-E482-877D-A24382E3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8332-553D-32A2-3E68-E0160D5F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8305800" cy="1609344"/>
          </a:xfrm>
        </p:spPr>
        <p:txBody>
          <a:bodyPr/>
          <a:lstStyle/>
          <a:p>
            <a:r>
              <a:rPr lang="en-US" dirty="0"/>
              <a:t>Stacks in Java Using Arrays / Methods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0A0B8-ACEB-C19C-6638-8AF9700A0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4290" y="1752600"/>
            <a:ext cx="9010650" cy="360164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// Check if stack is empty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(top == -1);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Check if stack is full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(top ==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- 1);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Push operation: add element to the top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I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 value)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("Stack Overflow! Cannot push " + value);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stackArray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[++top] =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(value + " pushed to stack.");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9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1825-FC11-7E05-14D9-2621204B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8153400" cy="1609344"/>
          </a:xfrm>
        </p:spPr>
        <p:txBody>
          <a:bodyPr/>
          <a:lstStyle/>
          <a:p>
            <a:r>
              <a:rPr lang="en-US" dirty="0"/>
              <a:t>Stacks in Java Using Arrays / Methods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2162C-9179-3E2A-175B-E9ABC42E1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" y="1797248"/>
            <a:ext cx="890320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Pop operation: remove top element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I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("Stack Underflow! Cannot pop.");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-1; // or throw exception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stackArray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[top--];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Peek operation: view top element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I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peek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("Stack is empty.");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-1;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stackArray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[top];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IE" sz="1600" dirty="0"/>
          </a:p>
        </p:txBody>
      </p:sp>
    </p:spTree>
    <p:extLst>
      <p:ext uri="{BB962C8B-B14F-4D97-AF65-F5344CB8AC3E}">
        <p14:creationId xmlns:p14="http://schemas.microsoft.com/office/powerpoint/2010/main" val="232865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479E-77CF-6BC3-2DC8-0437A9AA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Stack classes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1EF6-9664-757B-BB2C-00B810FD5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2733635" cy="3263504"/>
          </a:xfrm>
        </p:spPr>
        <p:txBody>
          <a:bodyPr/>
          <a:lstStyle/>
          <a:p>
            <a:r>
              <a:rPr lang="en-US" dirty="0"/>
              <a:t>Using Built-in class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i="1" dirty="0" err="1"/>
              <a:t>java.util.Stack</a:t>
            </a:r>
            <a:endParaRPr lang="en-IE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778F6-F531-0549-066A-0050BE9B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861" y="1752600"/>
            <a:ext cx="556598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2DE4-881A-E044-E90B-AAB0F6B4F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38E9-2176-F9A1-4C2A-426DDA3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Stack classes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2D753-F711-F733-F00E-34E1328DB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2733635" cy="32635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Using Built-in classes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i="1" dirty="0" err="1"/>
              <a:t>java.util.ArrayDeque</a:t>
            </a:r>
            <a:endParaRPr lang="en-US" b="1" i="1" dirty="0"/>
          </a:p>
          <a:p>
            <a:pPr marL="0" indent="0">
              <a:buNone/>
            </a:pPr>
            <a:r>
              <a:rPr lang="en-US" b="1" i="1" dirty="0" err="1"/>
              <a:t>Java.util.Deque</a:t>
            </a:r>
            <a:endParaRPr lang="en-IE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EBE37-9AA5-69BD-B00B-2FCC6378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093976"/>
            <a:ext cx="5553111" cy="339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2ACE-9BF9-29EB-24E6-AE168E2E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stacks used?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5D036-C26B-BB45-8AE8-A226A7112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8801"/>
            <a:ext cx="7886700" cy="3952494"/>
          </a:xfrm>
        </p:spPr>
        <p:txBody>
          <a:bodyPr>
            <a:noAutofit/>
          </a:bodyPr>
          <a:lstStyle/>
          <a:p>
            <a:r>
              <a:rPr lang="en-US" sz="1800" dirty="0"/>
              <a:t>The most used way of organizing computer memory</a:t>
            </a:r>
          </a:p>
          <a:p>
            <a:r>
              <a:rPr lang="en-US" sz="1800" dirty="0"/>
              <a:t>When a program is running, the last function to be executed is the first to be completed</a:t>
            </a:r>
          </a:p>
          <a:p>
            <a:pPr marL="0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foo(bar())</a:t>
            </a:r>
          </a:p>
          <a:p>
            <a:pPr marL="0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end.</a:t>
            </a:r>
          </a:p>
          <a:p>
            <a:pPr marL="0" indent="0">
              <a:buNone/>
            </a:pPr>
            <a:endParaRPr lang="en-I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E" sz="1800" dirty="0">
                <a:latin typeface="+mj-lt"/>
                <a:cs typeface="Courier New" panose="02070309020205020404" pitchFamily="49" charset="0"/>
              </a:rPr>
              <a:t>Parsers for expressions and programming languages</a:t>
            </a:r>
          </a:p>
          <a:p>
            <a:r>
              <a:rPr lang="en-IE" sz="1800" dirty="0">
                <a:latin typeface="+mj-lt"/>
                <a:cs typeface="Courier New" panose="02070309020205020404" pitchFamily="49" charset="0"/>
              </a:rPr>
              <a:t>Recursion</a:t>
            </a:r>
          </a:p>
          <a:p>
            <a:r>
              <a:rPr lang="en-IE" sz="1800" dirty="0">
                <a:latin typeface="+mj-lt"/>
                <a:cs typeface="Courier New" panose="02070309020205020404" pitchFamily="49" charset="0"/>
              </a:rPr>
              <a:t>Undo/Redo implementation, Web browser navigation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1A08AC-8516-3B58-135A-9514295EF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77274"/>
              </p:ext>
            </p:extLst>
          </p:nvPr>
        </p:nvGraphicFramePr>
        <p:xfrm>
          <a:off x="3197352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main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7E8FD3-32FD-A4EF-DD76-9C6C576E4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177050"/>
              </p:ext>
            </p:extLst>
          </p:nvPr>
        </p:nvGraphicFramePr>
        <p:xfrm>
          <a:off x="4066032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bar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main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7D66E2-1B9C-7BDE-4216-F67120065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292167"/>
              </p:ext>
            </p:extLst>
          </p:nvPr>
        </p:nvGraphicFramePr>
        <p:xfrm>
          <a:off x="4934712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foo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bar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main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A46349-783F-5F8E-125B-0B8823C06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52290"/>
              </p:ext>
            </p:extLst>
          </p:nvPr>
        </p:nvGraphicFramePr>
        <p:xfrm>
          <a:off x="5859020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bar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main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1A3B7D-91C9-3DD3-FFCB-2AAF156E1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922603"/>
              </p:ext>
            </p:extLst>
          </p:nvPr>
        </p:nvGraphicFramePr>
        <p:xfrm>
          <a:off x="6658356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main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84754B-39AB-536C-99F4-6CD0D98E4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62644"/>
              </p:ext>
            </p:extLst>
          </p:nvPr>
        </p:nvGraphicFramePr>
        <p:xfrm>
          <a:off x="7419594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FAB4D11-512E-FB2E-00A2-B1F33BD33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859269"/>
              </p:ext>
            </p:extLst>
          </p:nvPr>
        </p:nvGraphicFramePr>
        <p:xfrm>
          <a:off x="2398016" y="3108960"/>
          <a:ext cx="581406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406">
                  <a:extLst>
                    <a:ext uri="{9D8B030D-6E8A-4147-A177-3AD203B41FA5}">
                      <a16:colId xmlns:a16="http://schemas.microsoft.com/office/drawing/2014/main" val="40116540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70012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9121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07509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1605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641777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028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52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3D2C-C1F0-9174-A308-CD535393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you exit a maze?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70BA-D2EB-BBEF-B0C4-802D9195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21408"/>
            <a:ext cx="49530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you think about an algorithm to exit a maze (that is, starting from the entrance, you have to reach the exit?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</a:t>
            </a:r>
            <a:r>
              <a:rPr lang="en-US" dirty="0" err="1"/>
              <a:t>algorihm</a:t>
            </a:r>
            <a:r>
              <a:rPr lang="en-US" dirty="0"/>
              <a:t>? What moves are allowed?</a:t>
            </a:r>
          </a:p>
          <a:p>
            <a:pPr marL="0" indent="0">
              <a:buNone/>
            </a:pPr>
            <a:r>
              <a:rPr lang="en-US" dirty="0"/>
              <a:t>Do I need a data structure?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1A22E-EE61-57F4-748C-090A991BA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71181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559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0B38-CD53-CCE6-7A9B-79910D77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CDFD-260F-1AEF-3DA4-18644067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B0ABA-1988-7790-C96A-4F63A609B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21408"/>
            <a:ext cx="4953000" cy="405079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Go Down, add the step to a stack-like 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Wall, go left , add the step to a stack-like 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Wall, go right , add the step to a stack-like 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Wall, go Up , add the step to a stack-like 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cannot visit a location twice, since this represents a loop, you need to find another way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nowhere to go, go back to the previous location using the stack like memory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AFF78D-597C-38F6-1F8C-678616480B50}"/>
              </a:ext>
            </a:extLst>
          </p:cNvPr>
          <p:cNvGraphicFramePr>
            <a:graphicFrameLocks noGrp="1"/>
          </p:cNvGraphicFramePr>
          <p:nvPr/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176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22C7-080B-0C41-3E3F-888AED4A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CB77-0FD7-C1BB-B5BF-8751CD9D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5EEDF-EEC1-2182-2199-BCE5A097A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B41D6C-5A38-06FB-9646-883378BB5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86489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132E3E-17E4-6EB8-9974-F5ECB88C7CF9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308F63-B9CA-AA2B-5A67-707ACF556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34660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BBBB80-4E10-74E5-77AB-113CD3322EE6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3843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537B4-BE92-10E7-A6BC-67E63E812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1331-348F-9CE2-B89C-13DC4E94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1A1A1-24E7-9D3A-3F50-DB4A84C5D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B8B821-48E2-AAEF-7F4D-8B13A3EEF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542410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43DAF3-C847-FC03-71C3-FB21450197BD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0FB75F-A821-4532-8D47-8F1BC1E59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5295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2B44CC-7F3A-1D2E-F074-9E26FC687B74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02920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BDEA-28F2-7E20-FFCC-B17E7E7D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062B-18ED-2DBD-5462-C1B754DC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5911-A02F-1EA8-30A2-6F88E5DF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9A327A-196B-B664-E775-2BF511332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898043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B73CA2-B49F-0766-4EA3-446C3D4B8A95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CF4BEE-4E73-39FC-1E0F-00A8F0568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031238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04F5A0-E88E-6063-287C-19CD12A84942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722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5C49-9DE1-18EC-DA94-EBD4FCBD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C780-4E0F-CC3C-E80B-7EB99DCE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8686D-566F-9A89-DD12-0FF88DFE0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1578F7-F15D-0A8C-62D3-CCB9D67DA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516395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4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284D6D-9DC3-0BFD-7528-B573145C75ED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F26836-E8BD-888D-5CD7-3CDDA7DF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471744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09B9DB-8D3C-6FE0-5A5C-835CC73FB0F6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47565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439C-0622-8E57-4AE9-1E0D74B1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A14A-CE16-79AA-98B6-88A79728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A46A9-ACC2-A92B-194D-40868E5E0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(3)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54F02F-AE51-B2C4-4E83-6FE5141704C2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4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B27D8F-FF9E-DE0C-3310-8A0692AF29FB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3928DC-FDBC-50F7-F787-F758EF589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303915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263A9E-1216-B17B-51DF-0265521EDC0E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0385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60E-6179-3161-382A-52C40C73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643E-D689-65A9-B0A5-D01B5260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1CF70-E2D5-8D0E-B47C-F2A0E0369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(3)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634E59-5243-E795-B1B1-4099222E0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899618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554C31-708B-CCB0-616C-EB0595FC1AC0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7BE971-57B2-77DA-EE65-1EAB155C2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869786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BA75275-399D-B281-CCE1-FC31661C02FD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36653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851C-3CA2-16EC-25EB-951EB858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2A31-5E14-C4F0-DBBD-E93AAF01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AA75-03BC-F185-4BC1-995BB4639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(3)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already visited (4)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5B3DD-F83A-AB97-92AF-CB1E49534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052365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5F9B63-3217-8F55-EDB6-3017CAA309CA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A689DB-F512-40E4-B3FF-4002CD7E3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89868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E23DA7-54C4-9625-F7D1-CCA600C0B1BF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09866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58B7-2559-3A36-8161-A59E7B5F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40C4-A131-8D9D-75F0-40831D36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A0DC1-1759-2DBC-4A9E-B3A3AE7A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8768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(3)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already visited (4)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80C254-FA0D-4974-4CBA-0C2481D75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085477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8D77C4-E939-D184-960C-D70830C4BA86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28DAF8-AD46-31F9-532C-ED1C516E1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652851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C3748E-EC43-0ED8-A629-53457FFB5F0D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89790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2478F-76A0-CE9A-BC78-35693551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D3F2-AB79-B510-975A-3A996138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B3C5F-20CB-5B99-9F49-07178A141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8768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(3)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already visited (4)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already visited (3)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CE0C40-DBCA-DFE3-7EC7-5C4FE448CA81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3B8DA8-264E-AEF6-CCE2-9C9676636D7E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9BB02F-8CB0-8365-40F3-70C2C39DC88B}"/>
              </a:ext>
            </a:extLst>
          </p:cNvPr>
          <p:cNvGraphicFramePr>
            <a:graphicFrameLocks noGrp="1"/>
          </p:cNvGraphicFramePr>
          <p:nvPr/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6FC638-24DC-7012-7D89-13A62D55D397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32004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334E-B18B-BB34-75A6-95FECAF1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5EFAC-07D8-4679-2AE0-55AD5928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827A0-2407-0499-09C0-E7E32FC8D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0A2F9E-1123-060E-40CD-0842C663B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02414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2993A4-BCC5-08BA-56CB-3F89B280F615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34BA4B-7853-9C03-20AC-B53F427F8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403952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7076BF-3A9C-221B-6253-D2C9568953F6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38156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C173-94D0-9E46-6402-1DD68791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24D5-333E-35AC-75B7-797A1D9E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DC95D-4D07-9756-C3A5-59035162C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E4D9D-87D6-0C04-1697-536D4791D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571641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8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2449C6-9E51-09F4-2306-1CC8E7237953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00C2081-B011-74B8-0966-6CF7326D9244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1,2,3,4,5,6,8</a:t>
            </a:r>
            <a:endParaRPr lang="en-I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02ACD6-0CE4-44D7-9443-8ED2C2674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934047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539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9080-ED37-893F-F480-D5CFA2C3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C065-F7AC-D66D-A815-42FD8809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4F2C7-35EC-3090-A518-18250BE0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A65D6A-780B-AF1F-A9B2-BDF7472C8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763364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9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8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A87BDF-B1A6-ABFD-7F7A-88232300BAD6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2C949B-4997-DE53-A41A-F99715D4100E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1,2,3,4,5,6,8,9</a:t>
            </a:r>
            <a:endParaRPr lang="en-I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4D0C2E-1F85-46FE-3BA5-F68627DBE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30444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644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26FBE-5644-FAED-7C22-5CE605F17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ED9C-83A0-B5B9-078D-0ADFDE32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F91D-953B-1B5A-21E0-1064C4C51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(8)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8670D1-34DA-6ECE-D5D8-0C86DEED24CC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9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8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3657D1-6B44-523E-C73C-98CE6A6EECD8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59D694-4E61-4644-12E8-86617AE9D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510099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BEDBC9-53DD-4887-84C9-17DAEEBFA36B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1,2,3,4,5,6,8,9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95880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5305-A1FE-93E9-D258-0C93AE80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26CC-305F-8CCE-B463-CC668BE1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B7AAA-50F7-357C-19E2-E432DFBA1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(8)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756E3E-7D64-3FE2-8A2F-F7F8EE43E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63198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8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0BBE71-4445-745B-21E6-4E664C810DC7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1189FC-35F1-8E88-2C00-E0EAFBEC3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12548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F46B09-6B6D-16F3-67FC-BBD356A15752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1,2,3,4,5,6,8,9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41930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E518-8CC3-6350-5A4A-40920796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C3A9-7980-CC62-660F-FDC845981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A6DE5-8BA1-5954-9840-5CD3D3F9C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(8)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already visited (9)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D9FE-6168-3D99-0E86-5B35A75EC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08760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8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C1BBBB-3162-0ED5-099D-A8D6B155A747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8ACDF7-789B-68F5-E2A8-E7B93335E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303729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82FDB4-4DFC-4E10-C0E8-335A87341D57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1,2,3,4,5,6,8,9,10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25547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C8E-348F-DD66-44BF-4B49039D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877D-8CD8-FBB6-638E-A5B041ED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exiting a maze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C902-1998-CFF0-CA2D-B992C4F8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81200"/>
            <a:ext cx="3810000" cy="4191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/>
              <a:t>Moves: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Up already visited (8)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No options: Go back to the previous stack location: 8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 already visited (9)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10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Down: WALL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Left already visited (8)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/>
              <a:t>Right: EXIT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IE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8C2B5E-D5DD-290F-9726-0AA50C87A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245101"/>
              </p:ext>
            </p:extLst>
          </p:nvPr>
        </p:nvGraphicFramePr>
        <p:xfrm>
          <a:off x="4343400" y="1981200"/>
          <a:ext cx="990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2195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Stack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EXIT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5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8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43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1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0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  <a:endParaRPr lang="en-I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0088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A5D5E0-FEC3-E68F-6F93-5991B796C7E0}"/>
              </a:ext>
            </a:extLst>
          </p:cNvPr>
          <p:cNvCxnSpPr>
            <a:cxnSpLocks/>
          </p:cNvCxnSpPr>
          <p:nvPr/>
        </p:nvCxnSpPr>
        <p:spPr>
          <a:xfrm>
            <a:off x="6553200" y="2209800"/>
            <a:ext cx="0" cy="469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F9A5B1-FA5D-0D3A-3440-A5BC258F3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84971"/>
              </p:ext>
            </p:extLst>
          </p:nvPr>
        </p:nvGraphicFramePr>
        <p:xfrm>
          <a:off x="5588508" y="2819400"/>
          <a:ext cx="3390900" cy="2273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150054837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52236293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5710669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624878968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78332389"/>
                    </a:ext>
                  </a:extLst>
                </a:gridCol>
              </a:tblGrid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1974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1370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204959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35961"/>
                  </a:ext>
                </a:extLst>
              </a:tr>
              <a:tr h="454762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26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FD0ECB-6E25-08CE-CBB2-86D0C931C882}"/>
              </a:ext>
            </a:extLst>
          </p:cNvPr>
          <p:cNvSpPr txBox="1"/>
          <p:nvPr/>
        </p:nvSpPr>
        <p:spPr>
          <a:xfrm>
            <a:off x="5715000" y="5334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Visited: 1,2,3,4,5,6,8,9,10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5992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BE83-7F5E-033A-75CE-2D7D10307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IN JAVA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D656-6CFE-D928-CA3F-1F6A7FB0E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Check if parentheses are balanced</a:t>
            </a:r>
          </a:p>
          <a:p>
            <a:pPr>
              <a:lnSpc>
                <a:spcPct val="100000"/>
              </a:lnSpc>
            </a:pPr>
            <a:r>
              <a:rPr lang="en-US" dirty="0"/>
              <a:t>Reverse a string</a:t>
            </a:r>
          </a:p>
          <a:p>
            <a:pPr>
              <a:lnSpc>
                <a:spcPct val="100000"/>
              </a:lnSpc>
            </a:pPr>
            <a:r>
              <a:rPr lang="en-US" dirty="0"/>
              <a:t>All JAVA files on Moodle (Week 7)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StackExample.java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DequeStackExample.java</a:t>
            </a:r>
          </a:p>
          <a:p>
            <a:pPr lvl="1">
              <a:lnSpc>
                <a:spcPct val="100000"/>
              </a:lnSpc>
            </a:pPr>
            <a:r>
              <a:rPr lang="en-IE" dirty="0"/>
              <a:t>BalancedParentheses.java</a:t>
            </a:r>
          </a:p>
          <a:p>
            <a:pPr lvl="1">
              <a:lnSpc>
                <a:spcPct val="100000"/>
              </a:lnSpc>
            </a:pPr>
            <a:r>
              <a:rPr lang="en-IE" dirty="0"/>
              <a:t>ReverseString.java</a:t>
            </a:r>
          </a:p>
        </p:txBody>
      </p:sp>
    </p:spTree>
    <p:extLst>
      <p:ext uri="{BB962C8B-B14F-4D97-AF65-F5344CB8AC3E}">
        <p14:creationId xmlns:p14="http://schemas.microsoft.com/office/powerpoint/2010/main" val="844384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9824-9218-74D9-90BE-0230D492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balanced parentheses with a stack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4FDC5A-53A3-45A7-A550-DA8F7CB2D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1597790"/>
              </p:ext>
            </p:extLst>
          </p:nvPr>
        </p:nvGraphicFramePr>
        <p:xfrm>
          <a:off x="7674865" y="2209800"/>
          <a:ext cx="761999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E" sz="3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3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4878AB-858C-C01C-1B62-41CDC0836E2B}"/>
              </a:ext>
            </a:extLst>
          </p:cNvPr>
          <p:cNvSpPr txBox="1"/>
          <p:nvPr/>
        </p:nvSpPr>
        <p:spPr>
          <a:xfrm>
            <a:off x="685800" y="2057400"/>
            <a:ext cx="670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Algorithm</a:t>
            </a:r>
          </a:p>
          <a:p>
            <a:r>
              <a:rPr lang="en-US" dirty="0"/>
              <a:t>Read the string one character at the time. For each character:</a:t>
            </a:r>
          </a:p>
          <a:p>
            <a:pPr lvl="1"/>
            <a:r>
              <a:rPr lang="en-US" dirty="0"/>
              <a:t>If the character = ( , push “(“ on the stack</a:t>
            </a:r>
          </a:p>
          <a:p>
            <a:pPr lvl="1"/>
            <a:r>
              <a:rPr lang="en-US" dirty="0"/>
              <a:t>If the character = ) , pop “)“ from the stack, unless the stack is empty. In that case, the parentheses are not balanced.</a:t>
            </a:r>
          </a:p>
          <a:p>
            <a:endParaRPr lang="en-US" dirty="0"/>
          </a:p>
          <a:p>
            <a:r>
              <a:rPr lang="en-US" dirty="0"/>
              <a:t>If the stack is empty after all the characters have been processed, the parentheses are balanced</a:t>
            </a:r>
          </a:p>
          <a:p>
            <a:endParaRPr lang="en-US" dirty="0"/>
          </a:p>
          <a:p>
            <a:r>
              <a:rPr lang="en-US" dirty="0"/>
              <a:t>If the stack is not empty after all the characters have been processed, the parentheses are not balanced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1. ( ) ( )</a:t>
            </a:r>
          </a:p>
          <a:p>
            <a:r>
              <a:rPr lang="en-US" dirty="0"/>
              <a:t>2. ( ( ) ) )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36608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10767-A383-F387-E789-F28844D2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5162-72D7-6329-C7D7-32049ED0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balanced parentheses with a stack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F2C658-9FE4-FFEB-F172-8B620971E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935631"/>
              </p:ext>
            </p:extLst>
          </p:nvPr>
        </p:nvGraphicFramePr>
        <p:xfrm>
          <a:off x="1731264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BC8A5C-8F0E-90A7-CBD6-CE2BDD7A2EE3}"/>
              </a:ext>
            </a:extLst>
          </p:cNvPr>
          <p:cNvSpPr txBox="1"/>
          <p:nvPr/>
        </p:nvSpPr>
        <p:spPr>
          <a:xfrm>
            <a:off x="685800" y="20574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 ( ) ( 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953977F-93ED-0E65-3878-A3D65019D2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142508"/>
              </p:ext>
            </p:extLst>
          </p:nvPr>
        </p:nvGraphicFramePr>
        <p:xfrm>
          <a:off x="6858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2609425-1D5C-E962-6FD9-90A5C9E72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8283510"/>
              </p:ext>
            </p:extLst>
          </p:nvPr>
        </p:nvGraphicFramePr>
        <p:xfrm>
          <a:off x="29718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A0E235E-796F-5516-7384-F099579B78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4144955"/>
              </p:ext>
            </p:extLst>
          </p:nvPr>
        </p:nvGraphicFramePr>
        <p:xfrm>
          <a:off x="41910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26F78EEF-5C3B-72C3-A831-01F5C9140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664413"/>
              </p:ext>
            </p:extLst>
          </p:nvPr>
        </p:nvGraphicFramePr>
        <p:xfrm>
          <a:off x="5434584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89CD557-AA10-4A0F-9155-1F39E4E82273}"/>
              </a:ext>
            </a:extLst>
          </p:cNvPr>
          <p:cNvSpPr txBox="1"/>
          <p:nvPr/>
        </p:nvSpPr>
        <p:spPr>
          <a:xfrm>
            <a:off x="1219200" y="3620947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Push (</a:t>
            </a:r>
            <a:endParaRPr lang="en-IE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5D58C-1E2D-9F7C-5392-4B3697870662}"/>
              </a:ext>
            </a:extLst>
          </p:cNvPr>
          <p:cNvSpPr txBox="1"/>
          <p:nvPr/>
        </p:nvSpPr>
        <p:spPr>
          <a:xfrm>
            <a:off x="2450591" y="361485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Push (</a:t>
            </a:r>
            <a:endParaRPr lang="en-IE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D7DEC-C3F5-194A-A277-15081359832D}"/>
              </a:ext>
            </a:extLst>
          </p:cNvPr>
          <p:cNvSpPr txBox="1"/>
          <p:nvPr/>
        </p:nvSpPr>
        <p:spPr>
          <a:xfrm>
            <a:off x="3669791" y="361485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Pop )</a:t>
            </a:r>
            <a:endParaRPr lang="en-IE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B61048-F09F-BEC4-6F17-453258D08A35}"/>
              </a:ext>
            </a:extLst>
          </p:cNvPr>
          <p:cNvSpPr txBox="1"/>
          <p:nvPr/>
        </p:nvSpPr>
        <p:spPr>
          <a:xfrm>
            <a:off x="4913375" y="3639235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Pop )</a:t>
            </a:r>
            <a:endParaRPr lang="en-IE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D03095-D5C2-1971-5FF2-5B7DFDCBB827}"/>
              </a:ext>
            </a:extLst>
          </p:cNvPr>
          <p:cNvSpPr txBox="1"/>
          <p:nvPr/>
        </p:nvSpPr>
        <p:spPr>
          <a:xfrm>
            <a:off x="6400801" y="4191000"/>
            <a:ext cx="26670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</a:rPr>
              <a:t>All the characters have been processed, and the final STACK is  EMPTY</a:t>
            </a:r>
          </a:p>
          <a:p>
            <a:r>
              <a:rPr lang="en-US" sz="1500" dirty="0">
                <a:solidFill>
                  <a:srgbClr val="00B050"/>
                </a:solidFill>
              </a:rPr>
              <a:t> </a:t>
            </a:r>
            <a:r>
              <a:rPr lang="en-US" sz="1500" dirty="0">
                <a:solidFill>
                  <a:srgbClr val="00B050"/>
                </a:solidFill>
                <a:sym typeface="Wingdings" panose="05000000000000000000" pitchFamily="2" charset="2"/>
              </a:rPr>
              <a:t> parentheses are not balanced</a:t>
            </a:r>
            <a:endParaRPr lang="en-IE" sz="15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846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C3B2-159A-B854-C84A-B0817C0B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44B1-139F-DE1A-D897-88BD5D36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balanced parentheses with a stack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425C67-0C2E-A2C6-6A05-66C759A68D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1264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5EA616-C8DB-6BB0-B8B1-D64A6D43FDFE}"/>
              </a:ext>
            </a:extLst>
          </p:cNvPr>
          <p:cNvSpPr txBox="1"/>
          <p:nvPr/>
        </p:nvSpPr>
        <p:spPr>
          <a:xfrm>
            <a:off x="685800" y="20574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 ( (  )))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7BC73570-030D-8D9E-A099-349AE921039F}"/>
              </a:ext>
            </a:extLst>
          </p:cNvPr>
          <p:cNvGraphicFramePr>
            <a:graphicFrameLocks/>
          </p:cNvGraphicFramePr>
          <p:nvPr/>
        </p:nvGraphicFramePr>
        <p:xfrm>
          <a:off x="6858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857F1D5-741E-70DC-8EBF-CA3A097961D9}"/>
              </a:ext>
            </a:extLst>
          </p:cNvPr>
          <p:cNvGraphicFramePr>
            <a:graphicFrameLocks/>
          </p:cNvGraphicFramePr>
          <p:nvPr/>
        </p:nvGraphicFramePr>
        <p:xfrm>
          <a:off x="29718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9CD3FB5-FEBA-B35D-9B75-5C615BE42F13}"/>
              </a:ext>
            </a:extLst>
          </p:cNvPr>
          <p:cNvGraphicFramePr>
            <a:graphicFrameLocks/>
          </p:cNvGraphicFramePr>
          <p:nvPr/>
        </p:nvGraphicFramePr>
        <p:xfrm>
          <a:off x="41910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14FDB47B-607B-A547-F7FC-1500B0ECFC99}"/>
              </a:ext>
            </a:extLst>
          </p:cNvPr>
          <p:cNvGraphicFramePr>
            <a:graphicFrameLocks/>
          </p:cNvGraphicFramePr>
          <p:nvPr/>
        </p:nvGraphicFramePr>
        <p:xfrm>
          <a:off x="5434584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AA84C9B7-A11F-8E2D-2914-3372EA9F09D6}"/>
              </a:ext>
            </a:extLst>
          </p:cNvPr>
          <p:cNvGraphicFramePr>
            <a:graphicFrameLocks/>
          </p:cNvGraphicFramePr>
          <p:nvPr/>
        </p:nvGraphicFramePr>
        <p:xfrm>
          <a:off x="64770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34DD24-48A6-325E-39A3-A0280C46310D}"/>
              </a:ext>
            </a:extLst>
          </p:cNvPr>
          <p:cNvSpPr txBox="1"/>
          <p:nvPr/>
        </p:nvSpPr>
        <p:spPr>
          <a:xfrm>
            <a:off x="1219200" y="3620947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Push (</a:t>
            </a:r>
            <a:endParaRPr lang="en-IE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4534C-FB45-1CB4-01F0-CF8B6EED47CB}"/>
              </a:ext>
            </a:extLst>
          </p:cNvPr>
          <p:cNvSpPr txBox="1"/>
          <p:nvPr/>
        </p:nvSpPr>
        <p:spPr>
          <a:xfrm>
            <a:off x="2450591" y="361485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Push (</a:t>
            </a:r>
            <a:endParaRPr lang="en-IE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BFCB1C-1049-8D00-B3A0-9BD7B4D992CB}"/>
              </a:ext>
            </a:extLst>
          </p:cNvPr>
          <p:cNvSpPr txBox="1"/>
          <p:nvPr/>
        </p:nvSpPr>
        <p:spPr>
          <a:xfrm>
            <a:off x="3669791" y="361485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Pop )</a:t>
            </a:r>
            <a:endParaRPr lang="en-IE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379E4-D662-CFFA-F36D-17E341A3F9DE}"/>
              </a:ext>
            </a:extLst>
          </p:cNvPr>
          <p:cNvSpPr txBox="1"/>
          <p:nvPr/>
        </p:nvSpPr>
        <p:spPr>
          <a:xfrm>
            <a:off x="4913375" y="3639235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Pop )</a:t>
            </a:r>
            <a:endParaRPr lang="en-IE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83D01-C19C-A065-B9E5-E41401CF4125}"/>
              </a:ext>
            </a:extLst>
          </p:cNvPr>
          <p:cNvSpPr txBox="1"/>
          <p:nvPr/>
        </p:nvSpPr>
        <p:spPr>
          <a:xfrm>
            <a:off x="6105143" y="363009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Pop )</a:t>
            </a:r>
            <a:endParaRPr lang="en-IE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4BF480-3DB5-9F70-68DB-A88765508ED3}"/>
              </a:ext>
            </a:extLst>
          </p:cNvPr>
          <p:cNvSpPr txBox="1"/>
          <p:nvPr/>
        </p:nvSpPr>
        <p:spPr>
          <a:xfrm>
            <a:off x="7412737" y="4191000"/>
            <a:ext cx="16550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ERROR: POP FROM AN EMPTY STACK</a:t>
            </a:r>
          </a:p>
          <a:p>
            <a:r>
              <a:rPr lang="en-US" sz="1500" dirty="0">
                <a:solidFill>
                  <a:srgbClr val="FF0000"/>
                </a:solidFill>
              </a:rPr>
              <a:t> </a:t>
            </a:r>
            <a:r>
              <a:rPr lang="en-US" sz="1500" dirty="0">
                <a:solidFill>
                  <a:srgbClr val="FF0000"/>
                </a:solidFill>
                <a:sym typeface="Wingdings" panose="05000000000000000000" pitchFamily="2" charset="2"/>
              </a:rPr>
              <a:t> parentheses are not balanced</a:t>
            </a:r>
            <a:endParaRPr lang="en-IE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369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17B7-F89A-6A7A-3D05-A28792F5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7C0B-6A14-9AED-72AD-81EFEBDE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balanced parentheses with a stack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99D43F-5625-FAB2-0D36-598B098F38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1264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4A60655-7646-DEC4-9880-55E4B1C089CC}"/>
              </a:ext>
            </a:extLst>
          </p:cNvPr>
          <p:cNvSpPr txBox="1"/>
          <p:nvPr/>
        </p:nvSpPr>
        <p:spPr>
          <a:xfrm>
            <a:off x="685800" y="20574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3: ( ) (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27D7846F-EAC0-E1F0-2E4B-50F11F1C4BDE}"/>
              </a:ext>
            </a:extLst>
          </p:cNvPr>
          <p:cNvGraphicFramePr>
            <a:graphicFrameLocks/>
          </p:cNvGraphicFramePr>
          <p:nvPr/>
        </p:nvGraphicFramePr>
        <p:xfrm>
          <a:off x="6858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D41F83E-1570-7E89-518E-A1CF56408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6219667"/>
              </p:ext>
            </p:extLst>
          </p:nvPr>
        </p:nvGraphicFramePr>
        <p:xfrm>
          <a:off x="29718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B8A8D34-B5C6-0F38-F540-90AA6AC72068}"/>
              </a:ext>
            </a:extLst>
          </p:cNvPr>
          <p:cNvGraphicFramePr>
            <a:graphicFrameLocks/>
          </p:cNvGraphicFramePr>
          <p:nvPr/>
        </p:nvGraphicFramePr>
        <p:xfrm>
          <a:off x="4191000" y="4038600"/>
          <a:ext cx="76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1057508419"/>
                    </a:ext>
                  </a:extLst>
                </a:gridCol>
              </a:tblGrid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1567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33425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04009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7660"/>
                  </a:ext>
                </a:extLst>
              </a:tr>
              <a:tr h="386539">
                <a:tc>
                  <a:txBody>
                    <a:bodyPr/>
                    <a:lstStyle/>
                    <a:p>
                      <a:pPr algn="ctr"/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856"/>
                  </a:ext>
                </a:extLst>
              </a:tr>
              <a:tr h="2791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546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F2939F0-8DE0-FA09-FDAC-6632D1962952}"/>
              </a:ext>
            </a:extLst>
          </p:cNvPr>
          <p:cNvSpPr txBox="1"/>
          <p:nvPr/>
        </p:nvSpPr>
        <p:spPr>
          <a:xfrm>
            <a:off x="1219200" y="3620947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Push (</a:t>
            </a:r>
            <a:endParaRPr lang="en-IE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AC86E-6707-EAB3-0CE9-67422922F072}"/>
              </a:ext>
            </a:extLst>
          </p:cNvPr>
          <p:cNvSpPr txBox="1"/>
          <p:nvPr/>
        </p:nvSpPr>
        <p:spPr>
          <a:xfrm>
            <a:off x="2450591" y="361485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Pop ) </a:t>
            </a:r>
            <a:endParaRPr lang="en-IE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82BFE-FD81-5D33-92E7-D47297F27439}"/>
              </a:ext>
            </a:extLst>
          </p:cNvPr>
          <p:cNvSpPr txBox="1"/>
          <p:nvPr/>
        </p:nvSpPr>
        <p:spPr>
          <a:xfrm>
            <a:off x="3669791" y="3614851"/>
            <a:ext cx="7619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Push (</a:t>
            </a:r>
            <a:endParaRPr lang="en-IE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E2C58-93B4-6D28-95A4-F946E63C8968}"/>
              </a:ext>
            </a:extLst>
          </p:cNvPr>
          <p:cNvSpPr txBox="1"/>
          <p:nvPr/>
        </p:nvSpPr>
        <p:spPr>
          <a:xfrm>
            <a:off x="5257801" y="4191000"/>
            <a:ext cx="381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All the characters have been processed, and the final STACK is  NOT EMPTY</a:t>
            </a:r>
          </a:p>
          <a:p>
            <a:r>
              <a:rPr lang="en-US" sz="1500" dirty="0">
                <a:solidFill>
                  <a:srgbClr val="FF0000"/>
                </a:solidFill>
              </a:rPr>
              <a:t> </a:t>
            </a:r>
            <a:r>
              <a:rPr lang="en-US" sz="1500" dirty="0">
                <a:solidFill>
                  <a:srgbClr val="FF0000"/>
                </a:solidFill>
                <a:sym typeface="Wingdings" panose="05000000000000000000" pitchFamily="2" charset="2"/>
              </a:rPr>
              <a:t> parentheses are not balanced</a:t>
            </a:r>
            <a:endParaRPr lang="en-IE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354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B087-8698-84B1-3FB3-A75022AF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31401"/>
          </a:xfrm>
        </p:spPr>
        <p:txBody>
          <a:bodyPr/>
          <a:lstStyle/>
          <a:p>
            <a:r>
              <a:rPr lang="en-US" dirty="0" err="1"/>
              <a:t>QueueS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DED9F-C4F1-390F-7FDF-246F0C24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25633"/>
            <a:ext cx="7924800" cy="346076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700" dirty="0"/>
              <a:t>Linear Data Structures (like Arrays or Stacks)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Queues use the First-In-First-Out system (FIFO)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The element that has been in the queue the longest is the one that is removed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Insertions are made at one end, the back of the queue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Deletions take place at the other end, the front of the queue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The front and back of the queue are called the front and rear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Queues are used everywhere e.g. printer queue, multitasking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700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700" b="1" dirty="0"/>
              <a:t>Methods</a:t>
            </a:r>
            <a:r>
              <a:rPr lang="en-US" sz="1700" dirty="0"/>
              <a:t>: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Push( ) is called insert, put, add or enqueue!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/>
              <a:t>Pop( ) is called remove, delete, get or dequeue!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700" dirty="0" err="1"/>
              <a:t>IsEmpty</a:t>
            </a:r>
            <a:r>
              <a:rPr lang="en-US" sz="1700" dirty="0"/>
              <a:t>(), </a:t>
            </a:r>
            <a:r>
              <a:rPr lang="en-US" sz="1700" dirty="0" err="1"/>
              <a:t>IsFull</a:t>
            </a:r>
            <a:r>
              <a:rPr lang="en-US" sz="1700" dirty="0"/>
              <a:t>(), Size() = return the number of elements in the queue, Peek() = show the element in front  of the 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9C8E5-2CCB-29F5-36C8-939BA1ED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09600"/>
            <a:ext cx="2685381" cy="125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1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D17C-CE71-ED93-5923-8A2E4976D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46651"/>
            <a:ext cx="7886700" cy="56321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Queues in Java using simple arrays </a:t>
            </a:r>
            <a:br>
              <a:rPr lang="en-US" dirty="0"/>
            </a:br>
            <a:r>
              <a:rPr lang="en-US" dirty="0"/>
              <a:t>(non-circular)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9F7853-B2CD-BEF4-4657-A34F43ECB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016953"/>
              </p:ext>
            </p:extLst>
          </p:nvPr>
        </p:nvGraphicFramePr>
        <p:xfrm>
          <a:off x="580644" y="2582999"/>
          <a:ext cx="7886697" cy="28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406834678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21071961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B66BF3-8466-40EF-4A05-B5B2F033FD45}"/>
              </a:ext>
            </a:extLst>
          </p:cNvPr>
          <p:cNvSpPr txBox="1"/>
          <p:nvPr/>
        </p:nvSpPr>
        <p:spPr>
          <a:xfrm>
            <a:off x="566928" y="2889572"/>
            <a:ext cx="4226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rear=-1 (empty)</a:t>
            </a:r>
            <a:endParaRPr lang="en-IE" sz="1600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62D5813-12BC-35BF-70DF-CA2D36977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4771552"/>
              </p:ext>
            </p:extLst>
          </p:nvPr>
        </p:nvGraphicFramePr>
        <p:xfrm>
          <a:off x="580644" y="3352800"/>
          <a:ext cx="7886697" cy="28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406834678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21071961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8CC894-42A1-8BB5-0109-77FA3DC7EC5F}"/>
              </a:ext>
            </a:extLst>
          </p:cNvPr>
          <p:cNvSpPr txBox="1"/>
          <p:nvPr/>
        </p:nvSpPr>
        <p:spPr>
          <a:xfrm>
            <a:off x="580644" y="3686806"/>
            <a:ext cx="7559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rear=1 (1 element in the queue, index 1 is the next available position)</a:t>
            </a:r>
            <a:endParaRPr lang="en-IE" sz="1600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6E69E0F6-C2BC-758F-E9C3-AB7C61471A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5691537"/>
              </p:ext>
            </p:extLst>
          </p:nvPr>
        </p:nvGraphicFramePr>
        <p:xfrm>
          <a:off x="557784" y="4210979"/>
          <a:ext cx="7886697" cy="28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406834678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21071961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CAD7C43-7975-693B-F398-A2DE8D35A1E9}"/>
              </a:ext>
            </a:extLst>
          </p:cNvPr>
          <p:cNvSpPr txBox="1"/>
          <p:nvPr/>
        </p:nvSpPr>
        <p:spPr>
          <a:xfrm>
            <a:off x="557784" y="4538246"/>
            <a:ext cx="7290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rear=5 (5 elements in the queue, index 5 is the next available position)</a:t>
            </a:r>
            <a:endParaRPr lang="en-IE" sz="1600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AD33E1A3-DC14-EF58-CD68-F571600841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3176632"/>
              </p:ext>
            </p:extLst>
          </p:nvPr>
        </p:nvGraphicFramePr>
        <p:xfrm>
          <a:off x="562356" y="5071110"/>
          <a:ext cx="7886697" cy="28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406834678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21071961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521F293-23F5-F974-779C-A11DF0303436}"/>
              </a:ext>
            </a:extLst>
          </p:cNvPr>
          <p:cNvSpPr txBox="1"/>
          <p:nvPr/>
        </p:nvSpPr>
        <p:spPr>
          <a:xfrm>
            <a:off x="557784" y="5408511"/>
            <a:ext cx="798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rear=4 (the first element A removed, rear is decreased and I need to shift all the elements in the array)</a:t>
            </a:r>
            <a:endParaRPr lang="en-IE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78C8E-C204-7E68-5590-EB155B3E724E}"/>
              </a:ext>
            </a:extLst>
          </p:cNvPr>
          <p:cNvSpPr txBox="1"/>
          <p:nvPr/>
        </p:nvSpPr>
        <p:spPr>
          <a:xfrm>
            <a:off x="557784" y="1752600"/>
            <a:ext cx="7664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need 1 variable “rear”, the index to the first empty position, after the last added element </a:t>
            </a:r>
            <a:endParaRPr lang="en-IE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90D0B-7924-0D18-8D66-DCF0070DA3B6}"/>
              </a:ext>
            </a:extLst>
          </p:cNvPr>
          <p:cNvSpPr txBox="1"/>
          <p:nvPr/>
        </p:nvSpPr>
        <p:spPr>
          <a:xfrm>
            <a:off x="528066" y="6172025"/>
            <a:ext cx="7664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Quite inefficient when the front element needs to be removed!!</a:t>
            </a:r>
            <a:endParaRPr lang="en-IE" sz="1600" b="1" dirty="0"/>
          </a:p>
        </p:txBody>
      </p:sp>
    </p:spTree>
    <p:extLst>
      <p:ext uri="{BB962C8B-B14F-4D97-AF65-F5344CB8AC3E}">
        <p14:creationId xmlns:p14="http://schemas.microsoft.com/office/powerpoint/2010/main" val="29850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2D58-3CBB-C73B-CEA4-C1F28ABC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54B6-11AF-035F-4420-870610F1C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5" y="484632"/>
            <a:ext cx="8686793" cy="1609344"/>
          </a:xfrm>
        </p:spPr>
        <p:txBody>
          <a:bodyPr>
            <a:normAutofit/>
          </a:bodyPr>
          <a:lstStyle/>
          <a:p>
            <a:pPr algn="ctr"/>
            <a:r>
              <a:rPr lang="en-US" sz="3800" dirty="0"/>
              <a:t>Queues in Java using simple arrays (circular)</a:t>
            </a:r>
            <a:endParaRPr lang="en-IE" sz="3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0D174-3CEB-2825-5A40-49F20253AC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070528"/>
              </p:ext>
            </p:extLst>
          </p:nvPr>
        </p:nvGraphicFramePr>
        <p:xfrm>
          <a:off x="1927858" y="1918312"/>
          <a:ext cx="5310382" cy="28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626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2406834678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121071961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B02130-2753-7077-D47E-47A002562BC4}"/>
              </a:ext>
            </a:extLst>
          </p:cNvPr>
          <p:cNvCxnSpPr>
            <a:cxnSpLocks/>
          </p:cNvCxnSpPr>
          <p:nvPr/>
        </p:nvCxnSpPr>
        <p:spPr>
          <a:xfrm flipV="1">
            <a:off x="1317495" y="2105383"/>
            <a:ext cx="610362" cy="37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A4450F-D09D-B4FC-E116-7DE29ACAAEC5}"/>
              </a:ext>
            </a:extLst>
          </p:cNvPr>
          <p:cNvCxnSpPr>
            <a:cxnSpLocks/>
          </p:cNvCxnSpPr>
          <p:nvPr/>
        </p:nvCxnSpPr>
        <p:spPr>
          <a:xfrm>
            <a:off x="1546095" y="1980285"/>
            <a:ext cx="3817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653C13-DBEB-4C62-65C9-23744E9BE020}"/>
              </a:ext>
            </a:extLst>
          </p:cNvPr>
          <p:cNvCxnSpPr>
            <a:cxnSpLocks/>
          </p:cNvCxnSpPr>
          <p:nvPr/>
        </p:nvCxnSpPr>
        <p:spPr>
          <a:xfrm>
            <a:off x="7238237" y="2057377"/>
            <a:ext cx="381762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F2673F-DB3D-FAC0-A7F0-DB13B03A8071}"/>
              </a:ext>
            </a:extLst>
          </p:cNvPr>
          <p:cNvCxnSpPr>
            <a:cxnSpLocks/>
          </p:cNvCxnSpPr>
          <p:nvPr/>
        </p:nvCxnSpPr>
        <p:spPr>
          <a:xfrm flipV="1">
            <a:off x="7619999" y="1676401"/>
            <a:ext cx="0" cy="38097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92C896-1BD1-1F92-8BC8-C3B14BE7EA33}"/>
              </a:ext>
            </a:extLst>
          </p:cNvPr>
          <p:cNvCxnSpPr>
            <a:cxnSpLocks/>
          </p:cNvCxnSpPr>
          <p:nvPr/>
        </p:nvCxnSpPr>
        <p:spPr>
          <a:xfrm flipH="1" flipV="1">
            <a:off x="1546096" y="1676401"/>
            <a:ext cx="6073904" cy="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B84367-F290-A7C5-2FA7-FE8557EE6331}"/>
              </a:ext>
            </a:extLst>
          </p:cNvPr>
          <p:cNvCxnSpPr>
            <a:cxnSpLocks/>
          </p:cNvCxnSpPr>
          <p:nvPr/>
        </p:nvCxnSpPr>
        <p:spPr>
          <a:xfrm flipV="1">
            <a:off x="1546095" y="1676400"/>
            <a:ext cx="0" cy="30388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4F9DFD-1B82-FA17-B4BA-F73AC755C80F}"/>
              </a:ext>
            </a:extLst>
          </p:cNvPr>
          <p:cNvGrpSpPr/>
          <p:nvPr/>
        </p:nvGrpSpPr>
        <p:grpSpPr>
          <a:xfrm>
            <a:off x="713232" y="3348728"/>
            <a:ext cx="7287766" cy="369332"/>
            <a:chOff x="713232" y="3348728"/>
            <a:chExt cx="7287766" cy="369332"/>
          </a:xfrm>
        </p:grpSpPr>
        <p:graphicFrame>
          <p:nvGraphicFramePr>
            <p:cNvPr id="11" name="Content Placeholder 3">
              <a:extLst>
                <a:ext uri="{FF2B5EF4-FFF2-40B4-BE49-F238E27FC236}">
                  <a16:creationId xmlns:a16="http://schemas.microsoft.com/office/drawing/2014/main" id="{B4792301-3684-B916-3A96-46FA596D734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88665513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379313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379313">
                    <a:extLst>
                      <a:ext uri="{9D8B030D-6E8A-4147-A177-3AD203B41FA5}">
                        <a16:colId xmlns:a16="http://schemas.microsoft.com/office/drawing/2014/main" val="1467721487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A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E70A31-0511-EFF1-C3DC-F81EF6EF959A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A</a:t>
              </a:r>
              <a:endParaRPr lang="en-IE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64FC63-AB3B-58AB-0F7E-BB9772785CCB}"/>
              </a:ext>
            </a:extLst>
          </p:cNvPr>
          <p:cNvGrpSpPr/>
          <p:nvPr/>
        </p:nvGrpSpPr>
        <p:grpSpPr>
          <a:xfrm>
            <a:off x="713232" y="3839552"/>
            <a:ext cx="7287766" cy="369332"/>
            <a:chOff x="713232" y="3348728"/>
            <a:chExt cx="7287766" cy="369332"/>
          </a:xfrm>
        </p:grpSpPr>
        <p:graphicFrame>
          <p:nvGraphicFramePr>
            <p:cNvPr id="19" name="Content Placeholder 3">
              <a:extLst>
                <a:ext uri="{FF2B5EF4-FFF2-40B4-BE49-F238E27FC236}">
                  <a16:creationId xmlns:a16="http://schemas.microsoft.com/office/drawing/2014/main" id="{FD558934-4391-9DC9-31D5-43585BDDAB7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67910172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A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41D1BA-277D-1990-A1A9-ADA0B733DF66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B</a:t>
              </a:r>
              <a:endParaRPr lang="en-IE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137592-9F6B-17A3-78A5-799E43BDE593}"/>
              </a:ext>
            </a:extLst>
          </p:cNvPr>
          <p:cNvGrpSpPr/>
          <p:nvPr/>
        </p:nvGrpSpPr>
        <p:grpSpPr>
          <a:xfrm>
            <a:off x="713232" y="4367784"/>
            <a:ext cx="7287766" cy="369332"/>
            <a:chOff x="713232" y="3348728"/>
            <a:chExt cx="7287766" cy="369332"/>
          </a:xfrm>
        </p:grpSpPr>
        <p:graphicFrame>
          <p:nvGraphicFramePr>
            <p:cNvPr id="22" name="Content Placeholder 3">
              <a:extLst>
                <a:ext uri="{FF2B5EF4-FFF2-40B4-BE49-F238E27FC236}">
                  <a16:creationId xmlns:a16="http://schemas.microsoft.com/office/drawing/2014/main" id="{E561781B-1D8E-7243-B8DD-D4163A37392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03828316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A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4E478B-CE0B-94EF-8BCD-F83804EB5918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C</a:t>
              </a:r>
              <a:endParaRPr lang="en-IE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2BA8AC-0C4B-169F-2DD7-185FA0D7DE75}"/>
              </a:ext>
            </a:extLst>
          </p:cNvPr>
          <p:cNvGrpSpPr/>
          <p:nvPr/>
        </p:nvGrpSpPr>
        <p:grpSpPr>
          <a:xfrm>
            <a:off x="713232" y="4883824"/>
            <a:ext cx="7287766" cy="369332"/>
            <a:chOff x="713232" y="3348728"/>
            <a:chExt cx="7287766" cy="369332"/>
          </a:xfrm>
        </p:grpSpPr>
        <p:graphicFrame>
          <p:nvGraphicFramePr>
            <p:cNvPr id="25" name="Content Placeholder 3">
              <a:extLst>
                <a:ext uri="{FF2B5EF4-FFF2-40B4-BE49-F238E27FC236}">
                  <a16:creationId xmlns:a16="http://schemas.microsoft.com/office/drawing/2014/main" id="{2E091547-D440-995F-6803-73DDD1D2A4A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55089818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067A34-C237-F841-A124-DDF58C968FD9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Remove A</a:t>
              </a:r>
              <a:endParaRPr lang="en-IE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D3F17E-F752-F6DC-76A2-8818CA4C625E}"/>
              </a:ext>
            </a:extLst>
          </p:cNvPr>
          <p:cNvGrpSpPr/>
          <p:nvPr/>
        </p:nvGrpSpPr>
        <p:grpSpPr>
          <a:xfrm>
            <a:off x="713232" y="5374648"/>
            <a:ext cx="7287766" cy="369332"/>
            <a:chOff x="713232" y="3348728"/>
            <a:chExt cx="7287766" cy="369332"/>
          </a:xfrm>
        </p:grpSpPr>
        <p:graphicFrame>
          <p:nvGraphicFramePr>
            <p:cNvPr id="28" name="Content Placeholder 3">
              <a:extLst>
                <a:ext uri="{FF2B5EF4-FFF2-40B4-BE49-F238E27FC236}">
                  <a16:creationId xmlns:a16="http://schemas.microsoft.com/office/drawing/2014/main" id="{16FE3293-C343-C0B3-771B-A1D13DA1409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43525563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640F64-A5D4-3039-6E40-2CFAEA99E3A0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D</a:t>
              </a:r>
              <a:endParaRPr lang="en-IE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BDDC8DE-BEDE-B379-5DB0-D03B226C7091}"/>
              </a:ext>
            </a:extLst>
          </p:cNvPr>
          <p:cNvGrpSpPr/>
          <p:nvPr/>
        </p:nvGrpSpPr>
        <p:grpSpPr>
          <a:xfrm>
            <a:off x="713232" y="5902880"/>
            <a:ext cx="7287766" cy="369332"/>
            <a:chOff x="713232" y="3348728"/>
            <a:chExt cx="7287766" cy="369332"/>
          </a:xfrm>
        </p:grpSpPr>
        <p:graphicFrame>
          <p:nvGraphicFramePr>
            <p:cNvPr id="31" name="Content Placeholder 3">
              <a:extLst>
                <a:ext uri="{FF2B5EF4-FFF2-40B4-BE49-F238E27FC236}">
                  <a16:creationId xmlns:a16="http://schemas.microsoft.com/office/drawing/2014/main" id="{CF5E0A82-D962-127E-4CEA-5050DB232BC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64229759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7F7B44-DA00-1997-F710-14AFF2A8F19A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E</a:t>
              </a:r>
              <a:endParaRPr lang="en-IE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375125B-C980-563E-D8D0-BEC1570EAA31}"/>
              </a:ext>
            </a:extLst>
          </p:cNvPr>
          <p:cNvSpPr txBox="1"/>
          <p:nvPr/>
        </p:nvSpPr>
        <p:spPr>
          <a:xfrm>
            <a:off x="713232" y="2536686"/>
            <a:ext cx="1344168" cy="369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 = front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13CC0B-8988-D9E4-5375-9DC73B1DD4D6}"/>
              </a:ext>
            </a:extLst>
          </p:cNvPr>
          <p:cNvSpPr txBox="1"/>
          <p:nvPr/>
        </p:nvSpPr>
        <p:spPr>
          <a:xfrm>
            <a:off x="2209800" y="2531915"/>
            <a:ext cx="1344168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 = rear</a:t>
            </a:r>
            <a:endParaRPr lang="en-I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30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2CD66-73B8-951F-D9EE-86594753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505968"/>
          </a:xfrm>
        </p:spPr>
        <p:txBody>
          <a:bodyPr>
            <a:normAutofit fontScale="90000"/>
          </a:bodyPr>
          <a:lstStyle/>
          <a:p>
            <a:r>
              <a:rPr lang="en-US" dirty="0"/>
              <a:t>Circular Queues</a:t>
            </a:r>
            <a:endParaRPr lang="en-I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9C8D4C-1A8C-F43F-EB18-12A3D5628AE3}"/>
              </a:ext>
            </a:extLst>
          </p:cNvPr>
          <p:cNvGrpSpPr/>
          <p:nvPr/>
        </p:nvGrpSpPr>
        <p:grpSpPr>
          <a:xfrm>
            <a:off x="838200" y="1103448"/>
            <a:ext cx="7287766" cy="369332"/>
            <a:chOff x="713232" y="3348728"/>
            <a:chExt cx="7287766" cy="369332"/>
          </a:xfrm>
        </p:grpSpPr>
        <p:graphicFrame>
          <p:nvGraphicFramePr>
            <p:cNvPr id="5" name="Content Placeholder 3">
              <a:extLst>
                <a:ext uri="{FF2B5EF4-FFF2-40B4-BE49-F238E27FC236}">
                  <a16:creationId xmlns:a16="http://schemas.microsoft.com/office/drawing/2014/main" id="{161DB267-0488-BD50-9942-363F43C9C7B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69850577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379313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379313">
                    <a:extLst>
                      <a:ext uri="{9D8B030D-6E8A-4147-A177-3AD203B41FA5}">
                        <a16:colId xmlns:a16="http://schemas.microsoft.com/office/drawing/2014/main" val="151061156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A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F59F10-4C6D-D7A4-4ABF-534173AC72C0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A</a:t>
              </a:r>
              <a:endParaRPr lang="en-IE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B0BE365-1463-CABC-4130-38A5B261B1D4}"/>
              </a:ext>
            </a:extLst>
          </p:cNvPr>
          <p:cNvGrpSpPr/>
          <p:nvPr/>
        </p:nvGrpSpPr>
        <p:grpSpPr>
          <a:xfrm>
            <a:off x="838200" y="1594272"/>
            <a:ext cx="7287766" cy="369332"/>
            <a:chOff x="713232" y="3348728"/>
            <a:chExt cx="7287766" cy="369332"/>
          </a:xfrm>
        </p:grpSpPr>
        <p:graphicFrame>
          <p:nvGraphicFramePr>
            <p:cNvPr id="8" name="Content Placeholder 3">
              <a:extLst>
                <a:ext uri="{FF2B5EF4-FFF2-40B4-BE49-F238E27FC236}">
                  <a16:creationId xmlns:a16="http://schemas.microsoft.com/office/drawing/2014/main" id="{35FA0ACA-C43E-AEF1-C760-F0EF31A72E4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01600793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A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256A62-E5FD-73AF-5CC0-000401F8DD43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B</a:t>
              </a:r>
              <a:endParaRPr lang="en-IE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FFBA0C-C4C3-8470-0468-7BEAA460AB7D}"/>
              </a:ext>
            </a:extLst>
          </p:cNvPr>
          <p:cNvGrpSpPr/>
          <p:nvPr/>
        </p:nvGrpSpPr>
        <p:grpSpPr>
          <a:xfrm>
            <a:off x="838200" y="2122504"/>
            <a:ext cx="7287766" cy="369332"/>
            <a:chOff x="713232" y="3348728"/>
            <a:chExt cx="7287766" cy="369332"/>
          </a:xfrm>
        </p:grpSpPr>
        <p:graphicFrame>
          <p:nvGraphicFramePr>
            <p:cNvPr id="11" name="Content Placeholder 3">
              <a:extLst>
                <a:ext uri="{FF2B5EF4-FFF2-40B4-BE49-F238E27FC236}">
                  <a16:creationId xmlns:a16="http://schemas.microsoft.com/office/drawing/2014/main" id="{7B0E4904-C9D4-3E66-5E28-60B9DE03B8D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18978999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A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D6C28B-B419-AD43-E136-63CFAD80E408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C</a:t>
              </a:r>
              <a:endParaRPr lang="en-IE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A3F341-B1DB-782B-2A2B-937D12CA65A6}"/>
              </a:ext>
            </a:extLst>
          </p:cNvPr>
          <p:cNvGrpSpPr/>
          <p:nvPr/>
        </p:nvGrpSpPr>
        <p:grpSpPr>
          <a:xfrm>
            <a:off x="838200" y="2638544"/>
            <a:ext cx="7287766" cy="369332"/>
            <a:chOff x="713232" y="3348728"/>
            <a:chExt cx="7287766" cy="369332"/>
          </a:xfrm>
        </p:grpSpPr>
        <p:graphicFrame>
          <p:nvGraphicFramePr>
            <p:cNvPr id="14" name="Content Placeholder 3">
              <a:extLst>
                <a:ext uri="{FF2B5EF4-FFF2-40B4-BE49-F238E27FC236}">
                  <a16:creationId xmlns:a16="http://schemas.microsoft.com/office/drawing/2014/main" id="{38665066-BF89-8818-1241-07D9A5F417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16636492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9B5E07-E9E2-3284-CC66-45ABDAA81811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Remove A</a:t>
              </a:r>
              <a:endParaRPr lang="en-IE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65C135-8B9D-D0A0-935C-116CDE1D4B3D}"/>
              </a:ext>
            </a:extLst>
          </p:cNvPr>
          <p:cNvGrpSpPr/>
          <p:nvPr/>
        </p:nvGrpSpPr>
        <p:grpSpPr>
          <a:xfrm>
            <a:off x="838200" y="3129368"/>
            <a:ext cx="7287766" cy="369332"/>
            <a:chOff x="713232" y="3348728"/>
            <a:chExt cx="7287766" cy="369332"/>
          </a:xfrm>
        </p:grpSpPr>
        <p:graphicFrame>
          <p:nvGraphicFramePr>
            <p:cNvPr id="17" name="Content Placeholder 3">
              <a:extLst>
                <a:ext uri="{FF2B5EF4-FFF2-40B4-BE49-F238E27FC236}">
                  <a16:creationId xmlns:a16="http://schemas.microsoft.com/office/drawing/2014/main" id="{6F7741AF-A748-C14D-D554-BB50686D4CA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982219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EFAB42A-8931-A09F-659F-D1695BE50FBA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D</a:t>
              </a:r>
              <a:endParaRPr lang="en-IE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F76567-AC25-FD86-0D26-717A9D97AA5B}"/>
              </a:ext>
            </a:extLst>
          </p:cNvPr>
          <p:cNvGrpSpPr/>
          <p:nvPr/>
        </p:nvGrpSpPr>
        <p:grpSpPr>
          <a:xfrm>
            <a:off x="838200" y="3657600"/>
            <a:ext cx="7287766" cy="369332"/>
            <a:chOff x="713232" y="3348728"/>
            <a:chExt cx="7287766" cy="369332"/>
          </a:xfrm>
        </p:grpSpPr>
        <p:graphicFrame>
          <p:nvGraphicFramePr>
            <p:cNvPr id="20" name="Content Placeholder 3">
              <a:extLst>
                <a:ext uri="{FF2B5EF4-FFF2-40B4-BE49-F238E27FC236}">
                  <a16:creationId xmlns:a16="http://schemas.microsoft.com/office/drawing/2014/main" id="{9743A39B-9153-6BFF-4825-FE5D55318F6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969459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D7AC1C9-6DDA-B62A-2228-A478EF1D972A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E</a:t>
              </a:r>
              <a:endParaRPr lang="en-IE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C63DAA-5988-AFE1-9F44-CCE1E9F20608}"/>
              </a:ext>
            </a:extLst>
          </p:cNvPr>
          <p:cNvGrpSpPr/>
          <p:nvPr/>
        </p:nvGrpSpPr>
        <p:grpSpPr>
          <a:xfrm>
            <a:off x="838200" y="4163996"/>
            <a:ext cx="7287766" cy="369332"/>
            <a:chOff x="713232" y="3348728"/>
            <a:chExt cx="7287766" cy="369332"/>
          </a:xfrm>
        </p:grpSpPr>
        <p:graphicFrame>
          <p:nvGraphicFramePr>
            <p:cNvPr id="23" name="Content Placeholder 3">
              <a:extLst>
                <a:ext uri="{FF2B5EF4-FFF2-40B4-BE49-F238E27FC236}">
                  <a16:creationId xmlns:a16="http://schemas.microsoft.com/office/drawing/2014/main" id="{C71199D9-C22F-6828-7A34-6D9C8FD939C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77189136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B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F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79BCB7-0640-5D77-1FAC-6E7F9019D392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F</a:t>
              </a:r>
              <a:endParaRPr lang="en-IE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1ED2CC-A9C9-DDD3-D5B4-689B17CD63A3}"/>
              </a:ext>
            </a:extLst>
          </p:cNvPr>
          <p:cNvGrpSpPr/>
          <p:nvPr/>
        </p:nvGrpSpPr>
        <p:grpSpPr>
          <a:xfrm>
            <a:off x="838200" y="4654820"/>
            <a:ext cx="7287766" cy="369332"/>
            <a:chOff x="713232" y="3348728"/>
            <a:chExt cx="7287766" cy="369332"/>
          </a:xfrm>
        </p:grpSpPr>
        <p:graphicFrame>
          <p:nvGraphicFramePr>
            <p:cNvPr id="26" name="Content Placeholder 3">
              <a:extLst>
                <a:ext uri="{FF2B5EF4-FFF2-40B4-BE49-F238E27FC236}">
                  <a16:creationId xmlns:a16="http://schemas.microsoft.com/office/drawing/2014/main" id="{C42F943A-A886-E4AD-88A9-1AE43E35A32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79321534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F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E78234-1E20-7E42-B03C-694B636CB130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Remove B</a:t>
              </a:r>
              <a:endParaRPr lang="en-IE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F06598-2293-B543-CC23-FA7791E19380}"/>
              </a:ext>
            </a:extLst>
          </p:cNvPr>
          <p:cNvGrpSpPr/>
          <p:nvPr/>
        </p:nvGrpSpPr>
        <p:grpSpPr>
          <a:xfrm>
            <a:off x="838200" y="5183052"/>
            <a:ext cx="7287766" cy="369332"/>
            <a:chOff x="713232" y="3348728"/>
            <a:chExt cx="7287766" cy="369332"/>
          </a:xfrm>
        </p:grpSpPr>
        <p:graphicFrame>
          <p:nvGraphicFramePr>
            <p:cNvPr id="29" name="Content Placeholder 3">
              <a:extLst>
                <a:ext uri="{FF2B5EF4-FFF2-40B4-BE49-F238E27FC236}">
                  <a16:creationId xmlns:a16="http://schemas.microsoft.com/office/drawing/2014/main" id="{BD71B6A9-9D5C-8095-2755-2526E8FF0A8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87982577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F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G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823D554-4A16-35EE-85AF-1ABEDD0ADC0E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G</a:t>
              </a:r>
              <a:endParaRPr lang="en-IE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3741AE7-55F1-741C-7380-3EB6D54B59D4}"/>
              </a:ext>
            </a:extLst>
          </p:cNvPr>
          <p:cNvGrpSpPr/>
          <p:nvPr/>
        </p:nvGrpSpPr>
        <p:grpSpPr>
          <a:xfrm>
            <a:off x="838200" y="5699092"/>
            <a:ext cx="7287766" cy="369332"/>
            <a:chOff x="713232" y="3348728"/>
            <a:chExt cx="7287766" cy="369332"/>
          </a:xfrm>
        </p:grpSpPr>
        <p:graphicFrame>
          <p:nvGraphicFramePr>
            <p:cNvPr id="32" name="Content Placeholder 3">
              <a:extLst>
                <a:ext uri="{FF2B5EF4-FFF2-40B4-BE49-F238E27FC236}">
                  <a16:creationId xmlns:a16="http://schemas.microsoft.com/office/drawing/2014/main" id="{AD168FE5-C3BF-9E7C-3806-DBE62E5076D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20957738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H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C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F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G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43C0F95-2E86-2197-CB43-65187C1ACE6B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H</a:t>
              </a:r>
              <a:endParaRPr lang="en-IE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6EF025-3649-78AB-A470-6DC7B1497455}"/>
              </a:ext>
            </a:extLst>
          </p:cNvPr>
          <p:cNvGrpSpPr/>
          <p:nvPr/>
        </p:nvGrpSpPr>
        <p:grpSpPr>
          <a:xfrm>
            <a:off x="838200" y="6189916"/>
            <a:ext cx="7287766" cy="369332"/>
            <a:chOff x="713232" y="3348728"/>
            <a:chExt cx="7287766" cy="369332"/>
          </a:xfrm>
        </p:grpSpPr>
        <p:graphicFrame>
          <p:nvGraphicFramePr>
            <p:cNvPr id="35" name="Content Placeholder 3">
              <a:extLst>
                <a:ext uri="{FF2B5EF4-FFF2-40B4-BE49-F238E27FC236}">
                  <a16:creationId xmlns:a16="http://schemas.microsoft.com/office/drawing/2014/main" id="{105DC3FA-86D1-E7C4-5537-D344196036C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36180100"/>
                </p:ext>
              </p:extLst>
            </p:nvPr>
          </p:nvGraphicFramePr>
          <p:xfrm>
            <a:off x="713232" y="3392424"/>
            <a:ext cx="5310382" cy="28194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758626">
                    <a:extLst>
                      <a:ext uri="{9D8B030D-6E8A-4147-A177-3AD203B41FA5}">
                        <a16:colId xmlns:a16="http://schemas.microsoft.com/office/drawing/2014/main" val="1223517419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32990103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595120805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790266660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3057230151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2406834678"/>
                      </a:ext>
                    </a:extLst>
                  </a:gridCol>
                  <a:gridCol w="758626">
                    <a:extLst>
                      <a:ext uri="{9D8B030D-6E8A-4147-A177-3AD203B41FA5}">
                        <a16:colId xmlns:a16="http://schemas.microsoft.com/office/drawing/2014/main" val="1210719613"/>
                      </a:ext>
                    </a:extLst>
                  </a:gridCol>
                </a:tblGrid>
                <a:tr h="278130"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H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chemeClr val="bg2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D</a:t>
                        </a:r>
                        <a:endParaRPr lang="en-IE" sz="1400" dirty="0"/>
                      </a:p>
                    </a:txBody>
                    <a:tcPr marL="68580" marR="68580" marT="34290" marB="34290">
                      <a:solidFill>
                        <a:srgbClr val="FFFF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E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F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tc>
                    <a:txBody>
                      <a:bodyPr/>
                      <a:lstStyle/>
                      <a:p>
                        <a:r>
                          <a:rPr lang="en-US" sz="1400" dirty="0"/>
                          <a:t>G</a:t>
                        </a:r>
                        <a:endParaRPr lang="en-IE" sz="1400" dirty="0"/>
                      </a:p>
                    </a:txBody>
                    <a:tcPr marL="68580" marR="68580" marT="34290" marB="34290"/>
                  </a:tc>
                  <a:extLst>
                    <a:ext uri="{0D108BD9-81ED-4DB2-BD59-A6C34878D82A}">
                      <a16:rowId xmlns:a16="http://schemas.microsoft.com/office/drawing/2014/main" val="3291052806"/>
                    </a:ext>
                  </a:extLst>
                </a:tr>
              </a:tbl>
            </a:graphicData>
          </a:graphic>
        </p:graphicFrame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CC8475-989B-984F-29AC-09C89BA58600}"/>
                </a:ext>
              </a:extLst>
            </p:cNvPr>
            <p:cNvSpPr txBox="1"/>
            <p:nvPr/>
          </p:nvSpPr>
          <p:spPr>
            <a:xfrm>
              <a:off x="6477000" y="3348728"/>
              <a:ext cx="1523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Remove C</a:t>
              </a:r>
              <a:endParaRPr lang="en-IE" dirty="0"/>
            </a:p>
          </p:txBody>
        </p:sp>
      </p:grpSp>
    </p:spTree>
    <p:extLst>
      <p:ext uri="{BB962C8B-B14F-4D97-AF65-F5344CB8AC3E}">
        <p14:creationId xmlns:p14="http://schemas.microsoft.com/office/powerpoint/2010/main" val="33170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9864-074B-A245-9036-7E94381B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4455-48CE-607E-A7C8-8CD4D579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Queues in Java using simple arrays (circular)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C964-2987-A8CB-4E9B-EE83E2471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9" y="2880361"/>
            <a:ext cx="8071865" cy="26027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Instead of moving each time all the elements in the array when the element at the front is removed, we use a circular “wraparound” way of implementing a queue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We need 2 variables (front and rear) to keep trace of the first and last element in the queue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We need to maintain some variables with our queue class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Size of the array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The array itself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Variables rear and front for tracking front and rear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When an element is added, the rear is incremented by one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When an element is deleted, the front is incremented by one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dirty="0"/>
              <a:t>When the rear (or the front) are greater than the size of the queue, they are reset to 0 (circular queue)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E" sz="1700" dirty="0"/>
              <a:t>If the queue is full, elements cannot be added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682CEA-94FC-9FF8-DFE2-AE68288E2163}"/>
              </a:ext>
            </a:extLst>
          </p:cNvPr>
          <p:cNvGraphicFramePr>
            <a:graphicFrameLocks/>
          </p:cNvGraphicFramePr>
          <p:nvPr/>
        </p:nvGraphicFramePr>
        <p:xfrm>
          <a:off x="1927858" y="2367177"/>
          <a:ext cx="5310382" cy="28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626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2406834678"/>
                    </a:ext>
                  </a:extLst>
                </a:gridCol>
                <a:gridCol w="758626">
                  <a:extLst>
                    <a:ext uri="{9D8B030D-6E8A-4147-A177-3AD203B41FA5}">
                      <a16:colId xmlns:a16="http://schemas.microsoft.com/office/drawing/2014/main" val="121071961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6B79EC-B825-F80D-BF05-661AF5573627}"/>
              </a:ext>
            </a:extLst>
          </p:cNvPr>
          <p:cNvCxnSpPr>
            <a:cxnSpLocks/>
          </p:cNvCxnSpPr>
          <p:nvPr/>
        </p:nvCxnSpPr>
        <p:spPr>
          <a:xfrm flipV="1">
            <a:off x="1317495" y="2554248"/>
            <a:ext cx="610362" cy="37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42808D-0484-AC05-D10D-3D0EE643DF88}"/>
              </a:ext>
            </a:extLst>
          </p:cNvPr>
          <p:cNvCxnSpPr>
            <a:cxnSpLocks/>
          </p:cNvCxnSpPr>
          <p:nvPr/>
        </p:nvCxnSpPr>
        <p:spPr>
          <a:xfrm>
            <a:off x="1546095" y="2429150"/>
            <a:ext cx="3817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26CFDA-0E34-9826-B2E8-D2D0AC9C2C35}"/>
              </a:ext>
            </a:extLst>
          </p:cNvPr>
          <p:cNvCxnSpPr>
            <a:cxnSpLocks/>
          </p:cNvCxnSpPr>
          <p:nvPr/>
        </p:nvCxnSpPr>
        <p:spPr>
          <a:xfrm>
            <a:off x="7238237" y="2506242"/>
            <a:ext cx="381762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64B4A9-06EE-BB61-43D0-3A44898F5621}"/>
              </a:ext>
            </a:extLst>
          </p:cNvPr>
          <p:cNvCxnSpPr>
            <a:cxnSpLocks/>
          </p:cNvCxnSpPr>
          <p:nvPr/>
        </p:nvCxnSpPr>
        <p:spPr>
          <a:xfrm flipV="1">
            <a:off x="7619999" y="2125266"/>
            <a:ext cx="0" cy="38097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4AB176-F248-084F-A233-528BFC46423E}"/>
              </a:ext>
            </a:extLst>
          </p:cNvPr>
          <p:cNvCxnSpPr>
            <a:cxnSpLocks/>
          </p:cNvCxnSpPr>
          <p:nvPr/>
        </p:nvCxnSpPr>
        <p:spPr>
          <a:xfrm flipH="1" flipV="1">
            <a:off x="1546096" y="2125266"/>
            <a:ext cx="6073904" cy="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7B9492-C6D0-5C7C-CCEF-2009B299BEBD}"/>
              </a:ext>
            </a:extLst>
          </p:cNvPr>
          <p:cNvCxnSpPr>
            <a:cxnSpLocks/>
          </p:cNvCxnSpPr>
          <p:nvPr/>
        </p:nvCxnSpPr>
        <p:spPr>
          <a:xfrm flipV="1">
            <a:off x="1546095" y="2125265"/>
            <a:ext cx="0" cy="30388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9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D799089-5D80-3E68-42B9-81D01A7F6C10}"/>
              </a:ext>
            </a:extLst>
          </p:cNvPr>
          <p:cNvSpPr txBox="1">
            <a:spLocks/>
          </p:cNvSpPr>
          <p:nvPr/>
        </p:nvSpPr>
        <p:spPr>
          <a:xfrm>
            <a:off x="546354" y="298220"/>
            <a:ext cx="814044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Queues in Java using simple arrays (circular)</a:t>
            </a:r>
            <a:endParaRPr lang="en-IE" sz="420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A763266-E8D7-1ECE-9D26-BB700FAD9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04775"/>
              </p:ext>
            </p:extLst>
          </p:nvPr>
        </p:nvGraphicFramePr>
        <p:xfrm>
          <a:off x="608076" y="3248883"/>
          <a:ext cx="8190738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778">
                  <a:extLst>
                    <a:ext uri="{9D8B030D-6E8A-4147-A177-3AD203B41FA5}">
                      <a16:colId xmlns:a16="http://schemas.microsoft.com/office/drawing/2014/main" val="1223517419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332990103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595120805"/>
                    </a:ext>
                  </a:extLst>
                </a:gridCol>
                <a:gridCol w="541782">
                  <a:extLst>
                    <a:ext uri="{9D8B030D-6E8A-4147-A177-3AD203B41FA5}">
                      <a16:colId xmlns:a16="http://schemas.microsoft.com/office/drawing/2014/main" val="2790266660"/>
                    </a:ext>
                  </a:extLst>
                </a:gridCol>
                <a:gridCol w="528066">
                  <a:extLst>
                    <a:ext uri="{9D8B030D-6E8A-4147-A177-3AD203B41FA5}">
                      <a16:colId xmlns:a16="http://schemas.microsoft.com/office/drawing/2014/main" val="3057230151"/>
                    </a:ext>
                  </a:extLst>
                </a:gridCol>
                <a:gridCol w="624078">
                  <a:extLst>
                    <a:ext uri="{9D8B030D-6E8A-4147-A177-3AD203B41FA5}">
                      <a16:colId xmlns:a16="http://schemas.microsoft.com/office/drawing/2014/main" val="1917573309"/>
                    </a:ext>
                  </a:extLst>
                </a:gridCol>
                <a:gridCol w="562356">
                  <a:extLst>
                    <a:ext uri="{9D8B030D-6E8A-4147-A177-3AD203B41FA5}">
                      <a16:colId xmlns:a16="http://schemas.microsoft.com/office/drawing/2014/main" val="3459994453"/>
                    </a:ext>
                  </a:extLst>
                </a:gridCol>
                <a:gridCol w="4299966">
                  <a:extLst>
                    <a:ext uri="{9D8B030D-6E8A-4147-A177-3AD203B41FA5}">
                      <a16:colId xmlns:a16="http://schemas.microsoft.com/office/drawing/2014/main" val="1971884796"/>
                    </a:ext>
                  </a:extLst>
                </a:gridCol>
              </a:tblGrid>
              <a:tr h="4572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Queue Content</a:t>
                      </a:r>
                      <a:endParaRPr lang="en-IE" sz="1500" dirty="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Front </a:t>
                      </a:r>
                    </a:p>
                    <a:p>
                      <a:pPr algn="ctr"/>
                      <a:r>
                        <a:rPr lang="en-US" sz="1500" dirty="0"/>
                        <a:t>(f)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Rear </a:t>
                      </a:r>
                    </a:p>
                    <a:p>
                      <a:pPr algn="ctr"/>
                      <a:r>
                        <a:rPr lang="en-US" sz="1500" dirty="0"/>
                        <a:t>(r)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Comments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10528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Empty Queue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9777147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A</a:t>
                      </a:r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One element added, Rear is incremented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6451761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A</a:t>
                      </a:r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B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D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B, C Added. Rear is incremented by 3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615527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B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D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Element A removed. Front is incremented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0005645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B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D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E</a:t>
                      </a:r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 Added. 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99480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D</a:t>
                      </a:r>
                      <a:endParaRPr lang="en-IE" sz="1500" b="1" dirty="0"/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E</a:t>
                      </a:r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 Removed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880726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F</a:t>
                      </a:r>
                      <a:endParaRPr lang="en-IE" sz="1500" b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E" sz="1500" b="1" dirty="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</a:t>
                      </a:r>
                      <a:endParaRPr lang="en-IE" sz="1500" b="1" dirty="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D</a:t>
                      </a:r>
                      <a:endParaRPr lang="en-IE" sz="1500" b="1" dirty="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E</a:t>
                      </a:r>
                      <a:endParaRPr lang="en-IE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E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 Added, Rear is incremented by one. Since </a:t>
                      </a:r>
                      <a:r>
                        <a:rPr lang="en-US" sz="1500" i="1" dirty="0"/>
                        <a:t>r=(4+1) mod 5 = 0</a:t>
                      </a:r>
                      <a:r>
                        <a:rPr lang="en-US" sz="1500" dirty="0"/>
                        <a:t>, the end of the queue is reached, rear is set back to 0 </a:t>
                      </a:r>
                      <a:endParaRPr lang="en-IE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988052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20A57-F4B8-A108-A8B9-3C4DE8A884CA}"/>
                  </a:ext>
                </a:extLst>
              </p:cNvPr>
              <p:cNvSpPr txBox="1"/>
              <p:nvPr/>
            </p:nvSpPr>
            <p:spPr>
              <a:xfrm>
                <a:off x="496062" y="1375527"/>
                <a:ext cx="8051292" cy="140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latin typeface="+mj-lt"/>
                  </a:rPr>
                  <a:t>The correct formula for incrementing front and rear is:   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endParaRPr lang="en-US" sz="1700" dirty="0">
                  <a:latin typeface="+mj-lt"/>
                </a:endParaRPr>
              </a:p>
              <a:p>
                <a:pPr algn="ctr"/>
                <a:r>
                  <a:rPr lang="en-US" sz="1700" dirty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𝑓𝑟𝑜𝑛𝑡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𝑓𝑟𝑜𝑛𝑡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sz="1700" dirty="0">
                    <a:latin typeface="+mj-lt"/>
                  </a:rPr>
                  <a:t> </a:t>
                </a:r>
              </a:p>
              <a:p>
                <a:pPr algn="ctr"/>
                <a:r>
                  <a:rPr lang="en-US" sz="1700" dirty="0">
                    <a:latin typeface="+mj-lt"/>
                  </a:rPr>
                  <a:t>and</a:t>
                </a:r>
              </a:p>
              <a:p>
                <a:pPr algn="ctr"/>
                <a:r>
                  <a:rPr lang="en-US" sz="17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rear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𝑟𝑒𝑎𝑟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+1) 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sz="1700" dirty="0">
                    <a:latin typeface="+mj-lt"/>
                  </a:rPr>
                  <a:t> </a:t>
                </a:r>
                <a:endParaRPr lang="en-IE" sz="1700" dirty="0">
                  <a:latin typeface="+mj-lt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20A57-F4B8-A108-A8B9-3C4DE8A88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2" y="1375527"/>
                <a:ext cx="8051292" cy="1400383"/>
              </a:xfrm>
              <a:prstGeom prst="rect">
                <a:avLst/>
              </a:prstGeom>
              <a:blipFill>
                <a:blip r:embed="rId2"/>
                <a:stretch>
                  <a:fillRect l="-454" t="-1747" b="-305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D3C20EE-E273-BF23-42FC-DFBE41679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056735"/>
              </p:ext>
            </p:extLst>
          </p:nvPr>
        </p:nvGraphicFramePr>
        <p:xfrm>
          <a:off x="608076" y="3809999"/>
          <a:ext cx="2724912" cy="2639284"/>
        </p:xfrm>
        <a:graphic>
          <a:graphicData uri="http://schemas.openxmlformats.org/drawingml/2006/table">
            <a:tbl>
              <a:tblPr/>
              <a:tblGrid>
                <a:gridCol w="2724912">
                  <a:extLst>
                    <a:ext uri="{9D8B030D-6E8A-4147-A177-3AD203B41FA5}">
                      <a16:colId xmlns:a16="http://schemas.microsoft.com/office/drawing/2014/main" val="346459619"/>
                    </a:ext>
                  </a:extLst>
                </a:gridCol>
              </a:tblGrid>
              <a:tr h="2639284"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 marL="68580" marR="68580" marT="34290" marB="34290">
                    <a:lnL w="57150" cmpd="sng">
                      <a:solidFill>
                        <a:schemeClr val="tx1"/>
                      </a:solidFill>
                      <a:prstDash val="solid"/>
                    </a:lnL>
                    <a:lnR w="57150" cmpd="sng">
                      <a:solidFill>
                        <a:schemeClr val="tx1"/>
                      </a:solidFill>
                      <a:prstDash val="solid"/>
                    </a:lnR>
                    <a:lnT w="57150" cmpd="sng">
                      <a:solidFill>
                        <a:schemeClr val="tx1"/>
                      </a:solidFill>
                      <a:prstDash val="solid"/>
                    </a:lnT>
                    <a:lnB w="571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069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939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16AE-DBAB-EEB2-3BA6-F96C35360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/>
          <a:lstStyle/>
          <a:p>
            <a:r>
              <a:rPr lang="en-US" dirty="0"/>
              <a:t>Java Built-in classes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5FB743-0044-CC56-52D1-9085F96AB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679972"/>
              </p:ext>
            </p:extLst>
          </p:nvPr>
        </p:nvGraphicFramePr>
        <p:xfrm>
          <a:off x="628650" y="2362200"/>
          <a:ext cx="7886700" cy="38328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456465552"/>
                    </a:ext>
                  </a:extLst>
                </a:gridCol>
                <a:gridCol w="5695950">
                  <a:extLst>
                    <a:ext uri="{9D8B030D-6E8A-4147-A177-3AD203B41FA5}">
                      <a16:colId xmlns:a16="http://schemas.microsoft.com/office/drawing/2014/main" val="24597509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Method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Description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3686980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add(E e)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Inserts element; throws exception if full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766550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offer(E e)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Inserts element; returns false if full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37395109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remove()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Removes and returns head; throws exception if empty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43600679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poll()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Removes and returns head; returns null if empty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16274699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element()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Retrieves head without removing; throws exception if empty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092296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peek()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Retrieves head without removing; returns null if empty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612396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55CAC9-DA4F-A66D-1866-C7D5F267F940}"/>
              </a:ext>
            </a:extLst>
          </p:cNvPr>
          <p:cNvSpPr txBox="1"/>
          <p:nvPr/>
        </p:nvSpPr>
        <p:spPr>
          <a:xfrm>
            <a:off x="685800" y="152400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Several built-in classes exist, all offering the set of methods below: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2797179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5356-89AA-6750-B1FE-81EE3A86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EXAMPLES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448F-7B7E-6112-6AF8-CC79974AC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class </a:t>
            </a:r>
            <a:r>
              <a:rPr lang="en-US" dirty="0" err="1"/>
              <a:t>ArrayDeque</a:t>
            </a:r>
            <a:r>
              <a:rPr lang="en-US" dirty="0"/>
              <a:t>  (ArrayDequeQueueExample.java)</a:t>
            </a:r>
          </a:p>
          <a:p>
            <a:r>
              <a:rPr lang="en-US" dirty="0"/>
              <a:t>Built-in class </a:t>
            </a:r>
            <a:r>
              <a:rPr lang="en-US" dirty="0" err="1"/>
              <a:t>PriorityQueue</a:t>
            </a:r>
            <a:r>
              <a:rPr lang="en-US" dirty="0"/>
              <a:t> (PriorityQueueExample.java)</a:t>
            </a:r>
          </a:p>
          <a:p>
            <a:endParaRPr 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34394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0D25-5AEF-0004-619C-15AC68B72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the supermarket queues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8D30-A9C3-6201-4C17-35097C899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0804"/>
            <a:ext cx="8305800" cy="7741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Would it be better to have separate queues or one common queue?</a:t>
            </a: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5BA38-59AA-69D6-8DA4-DAE7C0BD480E}"/>
              </a:ext>
            </a:extLst>
          </p:cNvPr>
          <p:cNvSpPr/>
          <p:nvPr/>
        </p:nvSpPr>
        <p:spPr>
          <a:xfrm>
            <a:off x="399288" y="2987040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1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86C1FF-C340-4BC1-AF22-AA939111176F}"/>
              </a:ext>
            </a:extLst>
          </p:cNvPr>
          <p:cNvSpPr/>
          <p:nvPr/>
        </p:nvSpPr>
        <p:spPr>
          <a:xfrm>
            <a:off x="399288" y="3805428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2</a:t>
            </a:r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8DFE46-CA88-8336-B656-ED8C74993695}"/>
              </a:ext>
            </a:extLst>
          </p:cNvPr>
          <p:cNvSpPr/>
          <p:nvPr/>
        </p:nvSpPr>
        <p:spPr>
          <a:xfrm>
            <a:off x="381000" y="4623816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3</a:t>
            </a:r>
            <a:endParaRPr lang="en-I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CF1F6-33C8-A75C-94F3-CD1BC48AD39D}"/>
              </a:ext>
            </a:extLst>
          </p:cNvPr>
          <p:cNvSpPr/>
          <p:nvPr/>
        </p:nvSpPr>
        <p:spPr>
          <a:xfrm>
            <a:off x="384048" y="5451348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4</a:t>
            </a:r>
            <a:endParaRPr lang="en-I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D65CBA-800A-F4B6-F496-260B9B0E1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59996"/>
              </p:ext>
            </p:extLst>
          </p:nvPr>
        </p:nvGraphicFramePr>
        <p:xfrm>
          <a:off x="2075688" y="3050032"/>
          <a:ext cx="1127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52">
                  <a:extLst>
                    <a:ext uri="{9D8B030D-6E8A-4147-A177-3AD203B41FA5}">
                      <a16:colId xmlns:a16="http://schemas.microsoft.com/office/drawing/2014/main" val="8293978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70430756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2852233973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3989743760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56571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19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4BC4D7-BDF0-2C74-A53D-3D678185A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77806"/>
              </p:ext>
            </p:extLst>
          </p:nvPr>
        </p:nvGraphicFramePr>
        <p:xfrm>
          <a:off x="2075688" y="3868420"/>
          <a:ext cx="1127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52">
                  <a:extLst>
                    <a:ext uri="{9D8B030D-6E8A-4147-A177-3AD203B41FA5}">
                      <a16:colId xmlns:a16="http://schemas.microsoft.com/office/drawing/2014/main" val="8293978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70430756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2852233973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3989743760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56571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19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AAD831-A58F-6B9F-9287-BA5706FBE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739236"/>
              </p:ext>
            </p:extLst>
          </p:nvPr>
        </p:nvGraphicFramePr>
        <p:xfrm>
          <a:off x="2054352" y="4686808"/>
          <a:ext cx="1127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52">
                  <a:extLst>
                    <a:ext uri="{9D8B030D-6E8A-4147-A177-3AD203B41FA5}">
                      <a16:colId xmlns:a16="http://schemas.microsoft.com/office/drawing/2014/main" val="8293978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70430756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2852233973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3989743760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56571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190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6E0D0B-E423-9665-0320-5E6EE40BD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312792"/>
              </p:ext>
            </p:extLst>
          </p:nvPr>
        </p:nvGraphicFramePr>
        <p:xfrm>
          <a:off x="2054352" y="5514340"/>
          <a:ext cx="1127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52">
                  <a:extLst>
                    <a:ext uri="{9D8B030D-6E8A-4147-A177-3AD203B41FA5}">
                      <a16:colId xmlns:a16="http://schemas.microsoft.com/office/drawing/2014/main" val="8293978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704307569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2852233973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3989743760"/>
                    </a:ext>
                  </a:extLst>
                </a:gridCol>
                <a:gridCol w="225552">
                  <a:extLst>
                    <a:ext uri="{9D8B030D-6E8A-4147-A177-3AD203B41FA5}">
                      <a16:colId xmlns:a16="http://schemas.microsoft.com/office/drawing/2014/main" val="56571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190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2B9A06-FD3F-5429-BED5-3EA93CF92011}"/>
              </a:ext>
            </a:extLst>
          </p:cNvPr>
          <p:cNvCxnSpPr/>
          <p:nvPr/>
        </p:nvCxnSpPr>
        <p:spPr>
          <a:xfrm flipH="1">
            <a:off x="1389888" y="3235452"/>
            <a:ext cx="457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377A90-8707-2F71-091B-7398BCF23D84}"/>
              </a:ext>
            </a:extLst>
          </p:cNvPr>
          <p:cNvCxnSpPr/>
          <p:nvPr/>
        </p:nvCxnSpPr>
        <p:spPr>
          <a:xfrm flipH="1">
            <a:off x="1389888" y="4053840"/>
            <a:ext cx="457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6ED52A-0932-B0DF-B2C6-7356DD4F2AF0}"/>
              </a:ext>
            </a:extLst>
          </p:cNvPr>
          <p:cNvCxnSpPr/>
          <p:nvPr/>
        </p:nvCxnSpPr>
        <p:spPr>
          <a:xfrm flipH="1">
            <a:off x="1389888" y="4872228"/>
            <a:ext cx="457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A7619D-9763-58F6-2AF8-B50B2A16BF3D}"/>
              </a:ext>
            </a:extLst>
          </p:cNvPr>
          <p:cNvCxnSpPr/>
          <p:nvPr/>
        </p:nvCxnSpPr>
        <p:spPr>
          <a:xfrm flipH="1">
            <a:off x="1389888" y="5699760"/>
            <a:ext cx="457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A89D3-59EE-FE57-F54B-BD444A4D0D82}"/>
              </a:ext>
            </a:extLst>
          </p:cNvPr>
          <p:cNvSpPr/>
          <p:nvPr/>
        </p:nvSpPr>
        <p:spPr>
          <a:xfrm>
            <a:off x="3983736" y="2971800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1</a:t>
            </a:r>
            <a:endParaRPr lang="en-I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AEEB53-6429-B5C3-1A8D-91825DB979E8}"/>
              </a:ext>
            </a:extLst>
          </p:cNvPr>
          <p:cNvSpPr/>
          <p:nvPr/>
        </p:nvSpPr>
        <p:spPr>
          <a:xfrm>
            <a:off x="3983736" y="3790188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2</a:t>
            </a:r>
            <a:endParaRPr lang="en-I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5B7E04-2718-7F3F-C413-6FCC071936DC}"/>
              </a:ext>
            </a:extLst>
          </p:cNvPr>
          <p:cNvSpPr/>
          <p:nvPr/>
        </p:nvSpPr>
        <p:spPr>
          <a:xfrm>
            <a:off x="3965448" y="4608576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3</a:t>
            </a:r>
            <a:endParaRPr lang="en-I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F17134-5BEF-4F3A-4983-543A591DBA42}"/>
              </a:ext>
            </a:extLst>
          </p:cNvPr>
          <p:cNvSpPr/>
          <p:nvPr/>
        </p:nvSpPr>
        <p:spPr>
          <a:xfrm>
            <a:off x="3968496" y="5436108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Till 4</a:t>
            </a:r>
            <a:endParaRPr lang="en-IE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5823200-6D6C-E265-9BC8-51A9FB8AC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122545"/>
              </p:ext>
            </p:extLst>
          </p:nvPr>
        </p:nvGraphicFramePr>
        <p:xfrm>
          <a:off x="5660136" y="3853180"/>
          <a:ext cx="33324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890304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89658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236666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443490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688154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29397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043075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522339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455268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461936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274543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8893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01994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637136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897437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571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1904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34B828-58DF-7E8E-6311-D1138035B084}"/>
              </a:ext>
            </a:extLst>
          </p:cNvPr>
          <p:cNvCxnSpPr>
            <a:cxnSpLocks/>
          </p:cNvCxnSpPr>
          <p:nvPr/>
        </p:nvCxnSpPr>
        <p:spPr>
          <a:xfrm flipH="1" flipV="1">
            <a:off x="4974336" y="3220212"/>
            <a:ext cx="457200" cy="8336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C5B0DD-76A3-F3F6-8932-F29C9C5629C7}"/>
              </a:ext>
            </a:extLst>
          </p:cNvPr>
          <p:cNvCxnSpPr/>
          <p:nvPr/>
        </p:nvCxnSpPr>
        <p:spPr>
          <a:xfrm flipH="1">
            <a:off x="4974336" y="4038600"/>
            <a:ext cx="457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B36B0F-8372-FD35-7B5A-CD1D960E2270}"/>
              </a:ext>
            </a:extLst>
          </p:cNvPr>
          <p:cNvCxnSpPr>
            <a:cxnSpLocks/>
          </p:cNvCxnSpPr>
          <p:nvPr/>
        </p:nvCxnSpPr>
        <p:spPr>
          <a:xfrm flipH="1">
            <a:off x="4974336" y="4038600"/>
            <a:ext cx="457200" cy="818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B84FEE-35E3-1DB1-54BC-A2F14D82C068}"/>
              </a:ext>
            </a:extLst>
          </p:cNvPr>
          <p:cNvCxnSpPr>
            <a:cxnSpLocks/>
          </p:cNvCxnSpPr>
          <p:nvPr/>
        </p:nvCxnSpPr>
        <p:spPr>
          <a:xfrm flipH="1">
            <a:off x="4974336" y="4003548"/>
            <a:ext cx="457200" cy="16809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892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9A66-0F83-3C55-31BF-1867F217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vs multiple Queues ANALYSIS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A28BA3-9709-0B47-B8F4-66B6B98CC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707190"/>
              </p:ext>
            </p:extLst>
          </p:nvPr>
        </p:nvGraphicFramePr>
        <p:xfrm>
          <a:off x="533400" y="2286000"/>
          <a:ext cx="8305800" cy="26746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156796261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4035050581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4749047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Feature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Separate Queues</a:t>
                      </a:r>
                      <a:endParaRPr lang="en-IE" sz="18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Shared Queue</a:t>
                      </a:r>
                      <a:endParaRPr lang="en-IE" sz="18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694395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 dirty="0"/>
                        <a:t>Load Balancing</a:t>
                      </a:r>
                      <a:endParaRPr lang="en-IE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Manual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Automatic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750301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Fault Isolation</a:t>
                      </a:r>
                      <a:endParaRPr lang="en-IE" sz="18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High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Shared risk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938893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Scalability</a:t>
                      </a:r>
                      <a:endParaRPr lang="en-IE" sz="18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Harder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Easier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1741519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 dirty="0"/>
                        <a:t>Throughput</a:t>
                      </a:r>
                      <a:endParaRPr lang="en-IE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Variable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Higher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6342261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 dirty="0"/>
                        <a:t>Fairness</a:t>
                      </a:r>
                      <a:endParaRPr lang="en-IE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Controlled per system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Depends on consumer speed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054217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Management Complexity</a:t>
                      </a:r>
                      <a:endParaRPr lang="en-IE" sz="18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High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Lower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327650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6575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36B7-F6DF-F780-0B4A-3236C612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208028"/>
            <a:ext cx="8610599" cy="1389120"/>
          </a:xfrm>
        </p:spPr>
        <p:txBody>
          <a:bodyPr/>
          <a:lstStyle/>
          <a:p>
            <a:r>
              <a:rPr lang="en-US" dirty="0"/>
              <a:t>Application of Queues: the OS Scheduler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A87C7-43F9-E294-D86F-F97A28A27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96" y="2986024"/>
            <a:ext cx="8077200" cy="4050792"/>
          </a:xfrm>
        </p:spPr>
        <p:txBody>
          <a:bodyPr>
            <a:normAutofit/>
          </a:bodyPr>
          <a:lstStyle/>
          <a:p>
            <a:r>
              <a:rPr lang="en-US" sz="1800" dirty="0"/>
              <a:t>The problem of CPU scheduling in Operating System is analyzed and implemented using different queue systems</a:t>
            </a:r>
          </a:p>
          <a:p>
            <a:pPr marL="0" indent="0">
              <a:buNone/>
            </a:pPr>
            <a:r>
              <a:rPr lang="en-US" sz="1800" b="1" dirty="0"/>
              <a:t>The problem</a:t>
            </a:r>
          </a:p>
          <a:p>
            <a:r>
              <a:rPr lang="en-US" sz="1800" dirty="0"/>
              <a:t>A list of processes (running programs) are in a queue, waiting to be executed by the CPU</a:t>
            </a:r>
          </a:p>
          <a:p>
            <a:r>
              <a:rPr lang="en-US" sz="1800" dirty="0"/>
              <a:t>There is only 1 CPU</a:t>
            </a:r>
          </a:p>
          <a:p>
            <a:r>
              <a:rPr lang="en-US" sz="1800" dirty="0"/>
              <a:t>A process is taken from the queue and executed fully o partially</a:t>
            </a:r>
          </a:p>
          <a:p>
            <a:r>
              <a:rPr lang="en-US" sz="1800" dirty="0"/>
              <a:t>If the process is not finished, it goes back to the queue and wait to get another CPU time slot</a:t>
            </a:r>
          </a:p>
          <a:p>
            <a:r>
              <a:rPr lang="en-US" sz="1800" dirty="0"/>
              <a:t>A process therefore can be waiting in the queue or executed in the CPU</a:t>
            </a:r>
          </a:p>
          <a:p>
            <a:pPr marL="0" indent="0">
              <a:buNone/>
            </a:pPr>
            <a:endParaRPr lang="en-IE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A2425-9635-03B0-C09D-860384B949A9}"/>
              </a:ext>
            </a:extLst>
          </p:cNvPr>
          <p:cNvSpPr/>
          <p:nvPr/>
        </p:nvSpPr>
        <p:spPr>
          <a:xfrm>
            <a:off x="2362200" y="2264662"/>
            <a:ext cx="914400" cy="496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0F48FB-C465-9D5F-1D74-9FBBCD63C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247094"/>
              </p:ext>
            </p:extLst>
          </p:nvPr>
        </p:nvGraphicFramePr>
        <p:xfrm>
          <a:off x="4038600" y="2327654"/>
          <a:ext cx="2514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8293978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70430756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5223397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98974376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56571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p5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190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CD7B9A-22F7-B7FA-A46F-F56725D736A3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3276600" y="2513074"/>
            <a:ext cx="76200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292B42-6588-22A9-15BE-63922C7222BB}"/>
              </a:ext>
            </a:extLst>
          </p:cNvPr>
          <p:cNvCxnSpPr>
            <a:cxnSpLocks/>
          </p:cNvCxnSpPr>
          <p:nvPr/>
        </p:nvCxnSpPr>
        <p:spPr>
          <a:xfrm>
            <a:off x="6172200" y="1676400"/>
            <a:ext cx="0" cy="5882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2C9686-BC47-3549-9550-490A8747317A}"/>
              </a:ext>
            </a:extLst>
          </p:cNvPr>
          <p:cNvCxnSpPr>
            <a:cxnSpLocks/>
          </p:cNvCxnSpPr>
          <p:nvPr/>
        </p:nvCxnSpPr>
        <p:spPr>
          <a:xfrm>
            <a:off x="2819400" y="1676400"/>
            <a:ext cx="0" cy="58826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3F295C-03CC-18A4-57F3-A40DAECD01CA}"/>
              </a:ext>
            </a:extLst>
          </p:cNvPr>
          <p:cNvCxnSpPr>
            <a:cxnSpLocks/>
          </p:cNvCxnSpPr>
          <p:nvPr/>
        </p:nvCxnSpPr>
        <p:spPr>
          <a:xfrm flipH="1">
            <a:off x="2819400" y="1676400"/>
            <a:ext cx="335280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3514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EB4A270-3C01-4E70-B6CB-FA456BBCD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777" y="167086"/>
            <a:ext cx="7848600" cy="112831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dirty="0"/>
              <a:t>Preemptive and Nonpreemptive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B795676-7DD0-4F16-8B81-4EFFF754D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524000"/>
            <a:ext cx="8018583" cy="5029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When a process gets the CPU access, and we always wait for the process to be completely executed, the scheduling algorithm is call </a:t>
            </a:r>
            <a:r>
              <a:rPr lang="en-US" b="1" dirty="0" err="1">
                <a:solidFill>
                  <a:srgbClr val="006699"/>
                </a:solidFill>
                <a:latin typeface="+mj-lt"/>
              </a:rPr>
              <a:t>nonpreemptive</a:t>
            </a:r>
            <a:r>
              <a:rPr lang="en-US" dirty="0">
                <a:ea typeface="ＭＳ Ｐゴシック" charset="0"/>
              </a:rPr>
              <a:t>. Under </a:t>
            </a:r>
            <a:r>
              <a:rPr lang="en-US" dirty="0" err="1">
                <a:ea typeface="ＭＳ Ｐゴシック" charset="0"/>
              </a:rPr>
              <a:t>Nonpreemptive</a:t>
            </a:r>
            <a:r>
              <a:rPr lang="en-US" dirty="0">
                <a:ea typeface="ＭＳ Ｐゴシック" charset="0"/>
              </a:rPr>
              <a:t> scheduling, once the CPU has been allocated to a process, the process keeps the CPU until it terminates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Otherwise, if a process running in the CPU can be stopped and send back to the waiting queue (and therefore the process was only partially executed) the scheduling algorithm is called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preemptive</a:t>
            </a:r>
            <a:r>
              <a:rPr lang="en-US" dirty="0">
                <a:ea typeface="ＭＳ Ｐゴシック" charset="0"/>
              </a:rPr>
              <a:t>. 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Virtually all modern operating systems including Windows, MacOS, Linux, and UNIX use preemptive scheduling algorithms.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When a process is switched from the waiting queue to the CPU and </a:t>
            </a:r>
            <a:r>
              <a:rPr lang="en-US" dirty="0" err="1">
                <a:ea typeface="ＭＳ Ｐゴシック" charset="0"/>
              </a:rPr>
              <a:t>viceversa</a:t>
            </a:r>
            <a:r>
              <a:rPr lang="en-US" dirty="0">
                <a:ea typeface="ＭＳ Ｐゴシック" charset="0"/>
              </a:rPr>
              <a:t> some extra overhead is done by the operating system to save the status of the process. This is called the </a:t>
            </a:r>
            <a:r>
              <a:rPr lang="en-US" dirty="0" err="1">
                <a:ea typeface="ＭＳ Ｐゴシック" charset="0"/>
              </a:rPr>
              <a:t>displatch</a:t>
            </a:r>
            <a:r>
              <a:rPr lang="en-US" dirty="0">
                <a:ea typeface="ＭＳ Ｐゴシック" charset="0"/>
              </a:rPr>
              <a:t> latency</a:t>
            </a:r>
            <a:endParaRPr 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87294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84BC100-CBCD-4FBD-A30F-9EBDD59CA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Scheduling Criteria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4338C466-115B-47DE-A288-6C7152DF07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085" y="1246189"/>
            <a:ext cx="6692761" cy="4904520"/>
          </a:xfrm>
        </p:spPr>
        <p:txBody>
          <a:bodyPr/>
          <a:lstStyle/>
          <a:p>
            <a:r>
              <a:rPr lang="en-US" altLang="en-US" b="1" dirty="0"/>
              <a:t>CPU utilization </a:t>
            </a:r>
            <a:r>
              <a:rPr lang="en-US" altLang="en-US" dirty="0"/>
              <a:t>– keep the CPU as busy as possible</a:t>
            </a:r>
          </a:p>
          <a:p>
            <a:r>
              <a:rPr lang="en-US" altLang="en-US" b="1" dirty="0"/>
              <a:t>Throughput</a:t>
            </a:r>
            <a:r>
              <a:rPr lang="en-US" altLang="en-US" dirty="0"/>
              <a:t> – # of processes that complete their execution per time unit</a:t>
            </a:r>
          </a:p>
          <a:p>
            <a:r>
              <a:rPr lang="en-US" altLang="en-US" b="1" dirty="0"/>
              <a:t>Turnaround time </a:t>
            </a:r>
            <a:r>
              <a:rPr lang="en-US" altLang="en-US" dirty="0"/>
              <a:t>– amount of time to execute a particular process</a:t>
            </a:r>
          </a:p>
          <a:p>
            <a:r>
              <a:rPr lang="en-US" altLang="en-US" b="1" dirty="0"/>
              <a:t>Waiting time </a:t>
            </a:r>
            <a:r>
              <a:rPr lang="en-US" altLang="en-US" dirty="0"/>
              <a:t>– amount of time a process has been waiting in the ready queue</a:t>
            </a:r>
          </a:p>
          <a:p>
            <a:r>
              <a:rPr lang="en-US" altLang="en-US" b="1" dirty="0"/>
              <a:t>Response time </a:t>
            </a:r>
            <a:r>
              <a:rPr lang="en-US" altLang="en-US" dirty="0"/>
              <a:t>– amount of time it takes from when a request was submitted until the first response is produced.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22DB2EC-3AE5-4A50-BF1F-F8FE7B96C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3450" y="143942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Scheduling Algorithm Optimization Criteria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A102F21-0BD1-4162-8066-37183DF9B9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488" y="1113511"/>
            <a:ext cx="6115050" cy="4483100"/>
          </a:xfrm>
        </p:spPr>
        <p:txBody>
          <a:bodyPr/>
          <a:lstStyle/>
          <a:p>
            <a:r>
              <a:rPr lang="en-US" altLang="en-US" dirty="0"/>
              <a:t>Max CPU utilization</a:t>
            </a:r>
          </a:p>
          <a:p>
            <a:r>
              <a:rPr lang="en-US" altLang="en-US" dirty="0"/>
              <a:t>Max throughput</a:t>
            </a:r>
          </a:p>
          <a:p>
            <a:r>
              <a:rPr lang="en-US" altLang="en-US" dirty="0"/>
              <a:t>Min turnaround time </a:t>
            </a:r>
          </a:p>
          <a:p>
            <a:r>
              <a:rPr lang="en-US" altLang="en-US" dirty="0"/>
              <a:t>Min waiting time </a:t>
            </a:r>
          </a:p>
          <a:p>
            <a:r>
              <a:rPr lang="en-US" altLang="en-US" dirty="0"/>
              <a:t>Min response time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3AF8A99-5400-4B88-80AE-AE6C448E0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7396" y="287515"/>
            <a:ext cx="79978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dirty="0"/>
              <a:t>First- Come, First-Served (FCFS) Scheduling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0593719-A5A4-4326-8529-37EC32492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438" y="1250950"/>
            <a:ext cx="7566025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/>
              <a:t>		</a:t>
            </a:r>
            <a:r>
              <a:rPr lang="en-US" altLang="en-US" u="sng"/>
              <a:t>Process</a:t>
            </a:r>
            <a:r>
              <a:rPr lang="en-US" altLang="en-US"/>
              <a:t>	</a:t>
            </a:r>
            <a:r>
              <a:rPr lang="en-US" altLang="en-US" u="sng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3	 </a:t>
            </a:r>
            <a:r>
              <a:rPr lang="en-US" altLang="en-US"/>
              <a:t>3</a:t>
            </a:r>
            <a:r>
              <a:rPr lang="en-US" altLang="en-US" i="1" baseline="-2500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/>
              <a:t>Suppose that the processes arrive in the order: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 ,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, </a:t>
            </a:r>
            <a:r>
              <a:rPr lang="en-US" altLang="en-US" i="1"/>
              <a:t>P</a:t>
            </a:r>
            <a:r>
              <a:rPr lang="en-US" altLang="en-US" i="1" baseline="-25000"/>
              <a:t>3  </a:t>
            </a:r>
            <a:br>
              <a:rPr lang="en-US" altLang="en-US" i="1" baseline="-25000"/>
            </a:br>
            <a:r>
              <a:rPr lang="en-US" altLang="en-US"/>
              <a:t>The Gantt Chart for the schedule is:</a:t>
            </a:r>
            <a:br>
              <a:rPr lang="en-US" altLang="en-US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endParaRPr lang="en-US" altLang="en-US" sz="160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60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/>
              <a:t>Waiting time for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  = 0;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 = 24; </a:t>
            </a:r>
            <a:r>
              <a:rPr lang="en-US" altLang="en-US" i="1"/>
              <a:t>P</a:t>
            </a:r>
            <a:r>
              <a:rPr lang="en-US" altLang="en-US" i="1" baseline="-25000"/>
              <a:t>3 </a:t>
            </a:r>
            <a:r>
              <a:rPr lang="en-US" altLang="en-US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/>
              <a:t>Average waiting time:  (0 + 24 + 27)/3 = 17</a:t>
            </a:r>
          </a:p>
        </p:txBody>
      </p:sp>
      <p:pic>
        <p:nvPicPr>
          <p:cNvPr id="23555" name="Picture 1">
            <a:extLst>
              <a:ext uri="{FF2B5EF4-FFF2-40B4-BE49-F238E27FC236}">
                <a16:creationId xmlns:a16="http://schemas.microsoft.com/office/drawing/2014/main" id="{6693C49E-F1BF-40FA-ACEB-79D52B112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479800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624DA10D-55B3-4B35-A002-F73DC17E0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31158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FCFS Scheduling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32EE341-968F-42D6-9F71-946206150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5663" y="1233488"/>
            <a:ext cx="7704137" cy="4530725"/>
          </a:xfrm>
        </p:spPr>
        <p:txBody>
          <a:bodyPr>
            <a:normAutofit lnSpcReduction="10000"/>
          </a:bodyPr>
          <a:lstStyle/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 ,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 ,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The Gantt chart for the schedule is:</a:t>
            </a:r>
            <a:br>
              <a:rPr lang="en-US" altLang="en-US" dirty="0">
                <a:cs typeface="ＭＳ Ｐゴシック" charset="-128"/>
              </a:rPr>
            </a:br>
            <a:endParaRPr lang="en-US" altLang="en-US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Waiting time for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 </a:t>
            </a:r>
            <a:r>
              <a:rPr lang="en-US" altLang="en-US" i="1" dirty="0">
                <a:cs typeface="ＭＳ Ｐゴシック" charset="-128"/>
              </a:rPr>
              <a:t>=</a:t>
            </a:r>
            <a:r>
              <a:rPr lang="en-US" altLang="en-US" dirty="0">
                <a:cs typeface="ＭＳ Ｐゴシック" charset="-128"/>
              </a:rPr>
              <a:t> 6</a:t>
            </a:r>
            <a:r>
              <a:rPr lang="en-US" altLang="en-US" i="1" dirty="0">
                <a:cs typeface="ＭＳ Ｐゴシック" charset="-128"/>
              </a:rPr>
              <a:t>;</a:t>
            </a:r>
            <a:r>
              <a:rPr lang="en-US" altLang="en-US" i="1" baseline="-25000" dirty="0">
                <a:cs typeface="ＭＳ Ｐゴシック" charset="-128"/>
              </a:rPr>
              <a:t>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 = 0</a:t>
            </a:r>
            <a:r>
              <a:rPr lang="en-US" altLang="en-US" i="1" baseline="-25000" dirty="0">
                <a:cs typeface="ＭＳ Ｐゴシック" charset="-128"/>
              </a:rPr>
              <a:t>;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 </a:t>
            </a:r>
            <a:r>
              <a:rPr lang="en-US" altLang="en-US" i="1" dirty="0">
                <a:cs typeface="ＭＳ Ｐゴシック" charset="-128"/>
              </a:rPr>
              <a:t>= </a:t>
            </a:r>
            <a:r>
              <a:rPr lang="en-US" altLang="en-US" dirty="0">
                <a:cs typeface="ＭＳ Ｐゴシック" charset="-128"/>
              </a:rPr>
              <a:t>3</a:t>
            </a:r>
            <a:endParaRPr lang="en-US" altLang="en-US" i="1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Convoy</a:t>
            </a:r>
            <a:r>
              <a:rPr lang="en-US" altLang="en-US" b="1" dirty="0">
                <a:solidFill>
                  <a:srgbClr val="3366FF"/>
                </a:solidFill>
                <a:cs typeface="ＭＳ Ｐゴシック" charset="-128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effect</a:t>
            </a:r>
            <a:r>
              <a:rPr lang="en-US" altLang="en-US" b="1" dirty="0">
                <a:solidFill>
                  <a:srgbClr val="3366FF"/>
                </a:solidFill>
                <a:cs typeface="ＭＳ Ｐゴシック" charset="-128"/>
              </a:rPr>
              <a:t> </a:t>
            </a:r>
            <a:r>
              <a:rPr lang="en-US" altLang="en-US" dirty="0">
                <a:cs typeface="ＭＳ Ｐゴシック" charset="-128"/>
              </a:rPr>
              <a:t>- short process behind long process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dirty="0"/>
              <a:t>Consider one CPU-bound and many I/O-bound processes</a:t>
            </a:r>
          </a:p>
        </p:txBody>
      </p:sp>
      <p:pic>
        <p:nvPicPr>
          <p:cNvPr id="25603" name="Picture 1">
            <a:extLst>
              <a:ext uri="{FF2B5EF4-FFF2-40B4-BE49-F238E27FC236}">
                <a16:creationId xmlns:a16="http://schemas.microsoft.com/office/drawing/2014/main" id="{AA51E2F7-6758-4662-8420-58D4F0890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2632075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5370DA6-23EE-4245-8D59-2BE3CA112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8909" y="129252"/>
            <a:ext cx="7704137" cy="61555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Shortest-Job-First (SJF) Scheduling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23814F7-CEBB-4A55-80A1-4EA7BB1EE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1093" y="1233488"/>
            <a:ext cx="6760325" cy="4345509"/>
          </a:xfrm>
        </p:spPr>
        <p:txBody>
          <a:bodyPr/>
          <a:lstStyle/>
          <a:p>
            <a:r>
              <a:rPr lang="en-US" altLang="en-US" dirty="0"/>
              <a:t>Associate with each process the length of its next CPU burst</a:t>
            </a:r>
          </a:p>
          <a:p>
            <a:pPr lvl="1"/>
            <a:r>
              <a:rPr lang="en-US" altLang="en-US" dirty="0"/>
              <a:t>Use these lengths to schedule the process with the shortest time</a:t>
            </a:r>
          </a:p>
          <a:p>
            <a:r>
              <a:rPr lang="en-US" altLang="en-US" dirty="0"/>
              <a:t>SJF is optimal – gives minimum average waiting time for a given set of processes</a:t>
            </a:r>
          </a:p>
          <a:p>
            <a:r>
              <a:rPr lang="en-US" altLang="en-US" dirty="0">
                <a:cs typeface="ＭＳ Ｐゴシック" charset="-128"/>
              </a:rPr>
              <a:t>Preemptive version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shortest-remaining-time-first</a:t>
            </a:r>
          </a:p>
          <a:p>
            <a:r>
              <a:rPr lang="en-US" altLang="en-US" dirty="0"/>
              <a:t>How do we determine the length of the next CPU burst?</a:t>
            </a:r>
          </a:p>
          <a:p>
            <a:pPr lvl="1"/>
            <a:r>
              <a:rPr lang="en-US" altLang="en-US" dirty="0"/>
              <a:t>Could ask the user</a:t>
            </a:r>
          </a:p>
          <a:p>
            <a:pPr lvl="1"/>
            <a:r>
              <a:rPr lang="en-US" altLang="en-US" dirty="0"/>
              <a:t>Estimate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6779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3AF8A99-5400-4B88-80AE-AE6C448E0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7396" y="287515"/>
            <a:ext cx="79978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SJF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0593719-A5A4-4326-8529-37EC32492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438" y="1250949"/>
            <a:ext cx="7788048" cy="4594679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6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8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7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i="1" baseline="-25000" dirty="0"/>
              <a:t>                                                       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SJF scheduling chart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endParaRPr lang="en-US" altLang="en-US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Average waiting time = (3 + 16 + 9 + 0) / 4 = 7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ADC6AF8-4597-4452-983E-FCBE4FEE1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952" y="3755574"/>
            <a:ext cx="6093760" cy="82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2201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5370DA6-23EE-4245-8D59-2BE3CA112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1093" y="381000"/>
            <a:ext cx="7709971" cy="49244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 dirty="0"/>
              <a:t>Shortest Remaining Time First Scheduling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23814F7-CEBB-4A55-80A1-4EA7BB1EE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1093" y="1139969"/>
            <a:ext cx="6760325" cy="4345509"/>
          </a:xfrm>
        </p:spPr>
        <p:txBody>
          <a:bodyPr/>
          <a:lstStyle/>
          <a:p>
            <a:r>
              <a:rPr lang="en-US" altLang="en-US" dirty="0">
                <a:cs typeface="ＭＳ Ｐゴシック" charset="-128"/>
              </a:rPr>
              <a:t>Preemptive version of SJN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Whenever a new process arrives in the ready queue, the decision on which process to schedule next is redone using the SJN algorithm.</a:t>
            </a:r>
          </a:p>
          <a:p>
            <a:r>
              <a:rPr lang="en-US" altLang="en-US" dirty="0"/>
              <a:t>Is SRT more “optimal” than SJN in terms of the minimum average waiting time for a given set of processes?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26417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841C6C2-8CFF-4FDC-A9E1-6B260CB17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8420" y="163952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Example of Shortest-remaining-time-first</a:t>
            </a:r>
          </a:p>
        </p:txBody>
      </p:sp>
      <p:sp>
        <p:nvSpPr>
          <p:cNvPr id="19459" name="Rectangle 36">
            <a:extLst>
              <a:ext uri="{FF2B5EF4-FFF2-40B4-BE49-F238E27FC236}">
                <a16:creationId xmlns:a16="http://schemas.microsoft.com/office/drawing/2014/main" id="{F6B280F4-20CD-4AA5-887B-A75AC06E0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2433" y="1233488"/>
            <a:ext cx="7707085" cy="4530725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Now we add the concepts of varying arrival times and preemption to the analysis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              </a:t>
            </a:r>
            <a:r>
              <a:rPr lang="en-US" altLang="en-US" u="sng" dirty="0">
                <a:cs typeface="ＭＳ Ｐゴシック" charset="-128"/>
              </a:rPr>
              <a:t>Process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      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i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 </a:t>
            </a:r>
            <a:r>
              <a:rPr lang="en-US" altLang="en-US" i="1" u="sng" dirty="0">
                <a:cs typeface="ＭＳ Ｐゴシック" charset="-128"/>
              </a:rPr>
              <a:t>Arrival </a:t>
            </a:r>
            <a:r>
              <a:rPr lang="en-US" altLang="en-US" u="sng" dirty="0" err="1">
                <a:cs typeface="ＭＳ Ｐゴシック" charset="-128"/>
              </a:rPr>
              <a:t>Time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T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u="sng" dirty="0">
                <a:cs typeface="ＭＳ Ｐゴシック" charset="-128"/>
              </a:rPr>
              <a:t>Burst Time</a:t>
            </a:r>
            <a:endParaRPr lang="en-US" altLang="en-US" dirty="0">
              <a:cs typeface="ＭＳ Ｐゴシック" charset="-128"/>
            </a:endParaRP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0</a:t>
            </a:r>
            <a:r>
              <a:rPr lang="en-US" altLang="en-US" dirty="0">
                <a:cs typeface="ＭＳ Ｐゴシック" charset="-128"/>
              </a:rPr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 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4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>
                <a:cs typeface="ＭＳ Ｐゴシック" charset="-128"/>
              </a:rPr>
              <a:t>Preemptive </a:t>
            </a:r>
            <a:r>
              <a:rPr lang="en-US" altLang="en-US" dirty="0">
                <a:cs typeface="ＭＳ Ｐゴシック" charset="-128"/>
              </a:rPr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 = [(10-1)+(1-1)+(17-2)+(5-3)]/4 = 26/4 = 6.5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100802A9-2833-4519-B21E-A1B2D0AF9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4284663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837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0C539CA8-5BE8-4B08-A540-B4382F3C2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341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A6C6617-67BF-4484-A025-320FA2994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763" y="1058277"/>
            <a:ext cx="7244217" cy="438182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Each process gets a small unit of CPU time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time quantum </a:t>
            </a:r>
            <a:r>
              <a:rPr lang="en-US" altLang="en-US" i="1" dirty="0"/>
              <a:t>q</a:t>
            </a:r>
            <a:r>
              <a:rPr lang="en-US" altLang="en-US" dirty="0"/>
              <a:t>), usually 10-100 milliseconds.  After this time has elapsed, the process is preempted and added to the end of the ready queue.</a:t>
            </a:r>
          </a:p>
          <a:p>
            <a:r>
              <a:rPr lang="en-US" altLang="en-US" dirty="0"/>
              <a:t>If there are </a:t>
            </a:r>
            <a:r>
              <a:rPr lang="en-US" altLang="en-US" i="1" dirty="0"/>
              <a:t>n</a:t>
            </a:r>
            <a:r>
              <a:rPr lang="en-US" altLang="en-US" dirty="0"/>
              <a:t> processes in the ready queue and the time quantum is </a:t>
            </a:r>
            <a:r>
              <a:rPr lang="en-US" altLang="en-US" i="1" dirty="0"/>
              <a:t>q</a:t>
            </a:r>
            <a:r>
              <a:rPr lang="en-US" altLang="en-US" dirty="0"/>
              <a:t>, then each process gets 1/</a:t>
            </a:r>
            <a:r>
              <a:rPr lang="en-US" altLang="en-US" i="1" dirty="0"/>
              <a:t>n</a:t>
            </a:r>
            <a:r>
              <a:rPr lang="en-US" altLang="en-US" dirty="0"/>
              <a:t> of the CPU time in chunks of at most </a:t>
            </a:r>
            <a:r>
              <a:rPr lang="en-US" altLang="en-US" i="1" dirty="0"/>
              <a:t>q</a:t>
            </a:r>
            <a:r>
              <a:rPr lang="en-US" altLang="en-US" dirty="0"/>
              <a:t> time units at once.  No process waits more than (</a:t>
            </a:r>
            <a:r>
              <a:rPr lang="en-US" altLang="en-US" i="1" dirty="0"/>
              <a:t>n</a:t>
            </a:r>
            <a:r>
              <a:rPr lang="en-US" altLang="en-US" dirty="0"/>
              <a:t>-1)</a:t>
            </a:r>
            <a:r>
              <a:rPr lang="en-US" altLang="en-US" i="1" dirty="0"/>
              <a:t>q </a:t>
            </a:r>
            <a:r>
              <a:rPr lang="en-US" altLang="en-US" dirty="0"/>
              <a:t>time units.</a:t>
            </a:r>
          </a:p>
          <a:p>
            <a:r>
              <a:rPr lang="en-US" altLang="en-US" dirty="0"/>
              <a:t>Timer interrupts every quantum to schedule next process</a:t>
            </a:r>
          </a:p>
          <a:p>
            <a:r>
              <a:rPr lang="en-US" altLang="en-US" dirty="0"/>
              <a:t>Performance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dirty="0"/>
              <a:t> large </a:t>
            </a:r>
            <a:r>
              <a:rPr lang="en-US" altLang="en-US" dirty="0">
                <a:sym typeface="Symbol" panose="05050102010706020507" pitchFamily="18" charset="2"/>
              </a:rPr>
              <a:t> FIFO (FCFS)</a:t>
            </a:r>
          </a:p>
          <a:p>
            <a:pPr lvl="1"/>
            <a:r>
              <a:rPr lang="en-US" altLang="en-US" i="1" dirty="0">
                <a:sym typeface="Symbol" panose="05050102010706020507" pitchFamily="18" charset="2"/>
              </a:rPr>
              <a:t>q </a:t>
            </a:r>
            <a:r>
              <a:rPr lang="en-US" altLang="en-US" dirty="0">
                <a:sym typeface="Symbol" panose="05050102010706020507" pitchFamily="18" charset="2"/>
              </a:rPr>
              <a:t>small  RR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Note that q must be large with respect to context switch, otherwise overhead is too high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6DF101FA-59C2-4431-9504-FC73D4745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833" y="86668"/>
            <a:ext cx="8418610" cy="61555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Example of RR with Time Quantum = 4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E17EE130-D776-4D6D-84E6-F464A160AC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4087" y="1193799"/>
            <a:ext cx="7460707" cy="463984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Typically, higher average turnaround than SJF, but better </a:t>
            </a:r>
            <a:r>
              <a:rPr lang="en-US" altLang="en-US" b="1" i="1" dirty="0"/>
              <a:t>response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q should be large compared to context switch time</a:t>
            </a:r>
          </a:p>
          <a:p>
            <a:pPr lvl="1"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q usually 10 milliseconds  to 100 milliseconds, </a:t>
            </a:r>
          </a:p>
          <a:p>
            <a:pPr lvl="1"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Context switch &lt; 10 microseconds</a:t>
            </a:r>
          </a:p>
        </p:txBody>
      </p:sp>
      <p:pic>
        <p:nvPicPr>
          <p:cNvPr id="41987" name="Picture 1">
            <a:extLst>
              <a:ext uri="{FF2B5EF4-FFF2-40B4-BE49-F238E27FC236}">
                <a16:creationId xmlns:a16="http://schemas.microsoft.com/office/drawing/2014/main" id="{0835376E-2FE4-439A-B19A-4C86254AE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173413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14D05664-D904-4350-AFC8-65EA9CF04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078" y="18327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Time Quantum and Context Switch Time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3018707B-932C-4506-B190-526E13C485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1890713"/>
            <a:ext cx="6630988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A4B4E05D-43D4-46FF-8EED-AA150E4C7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711" y="260322"/>
            <a:ext cx="8722438" cy="457200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Turnaround Time Varies With The Time Quantum</a:t>
            </a:r>
          </a:p>
        </p:txBody>
      </p:sp>
      <p:sp>
        <p:nvSpPr>
          <p:cNvPr id="46082" name="TextBox 3">
            <a:extLst>
              <a:ext uri="{FF2B5EF4-FFF2-40B4-BE49-F238E27FC236}">
                <a16:creationId xmlns:a16="http://schemas.microsoft.com/office/drawing/2014/main" id="{39A4C5F4-2866-44DE-AC4E-665A67CE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3354388"/>
            <a:ext cx="23129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300">
                <a:latin typeface="Verdana" panose="020B0604030504040204" pitchFamily="34" charset="0"/>
              </a:rPr>
              <a:t>80% of CPU bursts should be shorter than q</a:t>
            </a:r>
          </a:p>
        </p:txBody>
      </p:sp>
      <p:pic>
        <p:nvPicPr>
          <p:cNvPr id="46083" name="Picture 1">
            <a:extLst>
              <a:ext uri="{FF2B5EF4-FFF2-40B4-BE49-F238E27FC236}">
                <a16:creationId xmlns:a16="http://schemas.microsoft.com/office/drawing/2014/main" id="{D2AB9074-3E6B-4C59-9AF1-F5390D98DA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1557338"/>
            <a:ext cx="4684712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97EB9085-4F50-4C0E-A2E6-8B8193DC5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109861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Priority Scheduling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328AB413-1FAE-4AEC-A110-AFD45B9A75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1094" y="1233488"/>
            <a:ext cx="7723186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 priority number (integer) is associated with each process</a:t>
            </a:r>
          </a:p>
          <a:p>
            <a:endParaRPr lang="en-US" altLang="en-US" sz="800" dirty="0"/>
          </a:p>
          <a:p>
            <a:r>
              <a:rPr lang="en-US" altLang="en-US" dirty="0"/>
              <a:t>The CPU is allocated to the process with the highest priority (smallest integer </a:t>
            </a:r>
            <a:r>
              <a:rPr lang="en-US" altLang="en-US" dirty="0">
                <a:sym typeface="Symbol" panose="05050102010706020507" pitchFamily="18" charset="2"/>
              </a:rPr>
              <a:t> highest priority)</a:t>
            </a:r>
          </a:p>
          <a:p>
            <a:pPr lvl="1"/>
            <a:r>
              <a:rPr lang="en-US" altLang="en-US" dirty="0"/>
              <a:t>Preemptive</a:t>
            </a:r>
          </a:p>
          <a:p>
            <a:pPr lvl="1"/>
            <a:r>
              <a:rPr lang="en-US" altLang="en-US" dirty="0"/>
              <a:t>Nonpreemptive</a:t>
            </a:r>
          </a:p>
          <a:p>
            <a:pPr lvl="1"/>
            <a:endParaRPr lang="en-US" altLang="en-US" sz="800" dirty="0"/>
          </a:p>
          <a:p>
            <a:r>
              <a:rPr lang="en-US" altLang="en-US" dirty="0"/>
              <a:t>SJF is priority scheduling where priority is the inverse of predicted next CPU burst time</a:t>
            </a:r>
          </a:p>
          <a:p>
            <a:endParaRPr lang="en-US" altLang="en-US" sz="800" dirty="0"/>
          </a:p>
          <a:p>
            <a:r>
              <a:rPr lang="en-US" altLang="en-US" dirty="0"/>
              <a:t>Problem </a:t>
            </a:r>
            <a:r>
              <a:rPr lang="en-US" altLang="en-US" dirty="0">
                <a:sym typeface="Symbol" panose="05050102010706020507" pitchFamily="18" charset="2"/>
              </a:rPr>
              <a:t>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Starvation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– low priority processes may never execute</a:t>
            </a:r>
          </a:p>
          <a:p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Solution 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Aging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– as time progresses increase the priority of the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3366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BD1CE599-A709-401F-8DD0-F7F4CCB2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6525" y="136087"/>
            <a:ext cx="72802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Priority Scheduling</a:t>
            </a:r>
          </a:p>
        </p:txBody>
      </p:sp>
      <p:sp>
        <p:nvSpPr>
          <p:cNvPr id="50178" name="Rectangle 36">
            <a:extLst>
              <a:ext uri="{FF2B5EF4-FFF2-40B4-BE49-F238E27FC236}">
                <a16:creationId xmlns:a16="http://schemas.microsoft.com/office/drawing/2014/main" id="{CDADF2B2-580D-4F09-8A23-D969CD6146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7"/>
            <a:ext cx="7973868" cy="4907539"/>
          </a:xfrm>
          <a:noFill/>
        </p:spPr>
        <p:txBody>
          <a:bodyPr>
            <a:normAutofit fontScale="92500" lnSpcReduction="10000"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u="sng" dirty="0"/>
              <a:t>Process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/>
              <a:t>Burst Time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1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4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5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5	2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8.2</a:t>
            </a:r>
            <a:endParaRPr lang="en-US" altLang="en-US" i="1" baseline="-25000" dirty="0"/>
          </a:p>
        </p:txBody>
      </p:sp>
      <p:pic>
        <p:nvPicPr>
          <p:cNvPr id="50179" name="Picture 1">
            <a:extLst>
              <a:ext uri="{FF2B5EF4-FFF2-40B4-BE49-F238E27FC236}">
                <a16:creationId xmlns:a16="http://schemas.microsoft.com/office/drawing/2014/main" id="{A77EE5E1-F152-4172-9935-567FC2AB9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50" y="4400550"/>
            <a:ext cx="6467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CDE24674-CB1D-4389-9B31-B04F87B0A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473" y="137006"/>
            <a:ext cx="8070627" cy="1231106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Priority Scheduling w/ Round-Robin</a:t>
            </a:r>
          </a:p>
        </p:txBody>
      </p:sp>
      <p:sp>
        <p:nvSpPr>
          <p:cNvPr id="52226" name="Rectangle 36">
            <a:extLst>
              <a:ext uri="{FF2B5EF4-FFF2-40B4-BE49-F238E27FC236}">
                <a16:creationId xmlns:a16="http://schemas.microsoft.com/office/drawing/2014/main" id="{2105BD44-B36B-488F-9B4A-6D230FFCC5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142048"/>
            <a:ext cx="7675077" cy="4887912"/>
          </a:xfrm>
          <a:noFill/>
        </p:spPr>
        <p:txBody>
          <a:bodyPr/>
          <a:lstStyle/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Run the process with the highest priority. Processes with the same priority run round-robin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Example: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                     </a:t>
            </a:r>
            <a:r>
              <a:rPr lang="en-US" altLang="en-US" u="sng" dirty="0"/>
              <a:t>Process</a:t>
            </a:r>
            <a:r>
              <a:rPr lang="en-US" altLang="en-US" u="sng" dirty="0">
                <a:solidFill>
                  <a:schemeClr val="bg1"/>
                </a:solidFill>
              </a:rPr>
              <a:t>	a   </a:t>
            </a:r>
            <a:r>
              <a:rPr lang="en-US" altLang="en-US" u="sng" dirty="0"/>
              <a:t>Burst Time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4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5</a:t>
            </a:r>
            <a:r>
              <a:rPr lang="en-US" altLang="en-US" dirty="0"/>
              <a:t>	2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8</a:t>
            </a:r>
            <a:r>
              <a:rPr lang="en-US" altLang="en-US" dirty="0"/>
              <a:t>	2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7</a:t>
            </a:r>
            <a:r>
              <a:rPr lang="en-US" altLang="en-US" dirty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3	3</a:t>
            </a:r>
            <a:endParaRPr lang="en-US" altLang="en-US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Gantt Chart with time quantum = 2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 marL="0" indent="0"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pic>
        <p:nvPicPr>
          <p:cNvPr id="52227" name="Picture 2">
            <a:extLst>
              <a:ext uri="{FF2B5EF4-FFF2-40B4-BE49-F238E27FC236}">
                <a16:creationId xmlns:a16="http://schemas.microsoft.com/office/drawing/2014/main" id="{E776F08C-5E1F-44C8-AB6B-D21CDC72C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562600"/>
            <a:ext cx="6200925" cy="724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16952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AF43CD99-B0BB-4EB6-B798-512BB1BA6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0400" y="181838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Multilevel Queue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ABB3FE17-4C94-4A31-A709-AB13725330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144346"/>
            <a:ext cx="6973149" cy="4456354"/>
          </a:xfrm>
        </p:spPr>
        <p:txBody>
          <a:bodyPr/>
          <a:lstStyle/>
          <a:p>
            <a:r>
              <a:rPr lang="en-US" altLang="en-US" dirty="0"/>
              <a:t>The ready queue consists of multiple queues</a:t>
            </a:r>
          </a:p>
          <a:p>
            <a:r>
              <a:rPr lang="en-US" altLang="en-US" dirty="0"/>
              <a:t>Multilevel queue scheduler defined by the following parameters:</a:t>
            </a:r>
          </a:p>
          <a:p>
            <a:pPr lvl="1"/>
            <a:r>
              <a:rPr lang="en-US" altLang="en-US" dirty="0"/>
              <a:t>Number of queues</a:t>
            </a:r>
          </a:p>
          <a:p>
            <a:pPr lvl="1"/>
            <a:r>
              <a:rPr lang="en-US" altLang="en-US" dirty="0"/>
              <a:t>Scheduling algorithms for each queue</a:t>
            </a:r>
          </a:p>
          <a:p>
            <a:pPr lvl="1"/>
            <a:r>
              <a:rPr lang="en-US" altLang="en-US" dirty="0"/>
              <a:t>Method used to determine which queue a process will enter when that process needs service</a:t>
            </a:r>
          </a:p>
          <a:p>
            <a:pPr lvl="1"/>
            <a:r>
              <a:rPr lang="en-US" altLang="en-US" dirty="0"/>
              <a:t>Scheduling among the queues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68400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1CD96B60-8A48-434B-B0B3-7D137B28C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3138" y="219305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Multilevel Queue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1C367D1A-7DE2-4C9D-8F9F-8D980F3D95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763" y="1068388"/>
            <a:ext cx="7570237" cy="5221287"/>
          </a:xfrm>
        </p:spPr>
        <p:txBody>
          <a:bodyPr/>
          <a:lstStyle/>
          <a:p>
            <a:r>
              <a:rPr lang="en-US" altLang="en-US" dirty="0"/>
              <a:t>With priority scheduling, have separate queues for each priority.</a:t>
            </a:r>
          </a:p>
          <a:p>
            <a:r>
              <a:rPr lang="en-US" altLang="en-US" dirty="0"/>
              <a:t>Schedule the process in the highest-priority queue!</a:t>
            </a:r>
          </a:p>
        </p:txBody>
      </p:sp>
      <p:pic>
        <p:nvPicPr>
          <p:cNvPr id="54275" name="Picture 1">
            <a:extLst>
              <a:ext uri="{FF2B5EF4-FFF2-40B4-BE49-F238E27FC236}">
                <a16:creationId xmlns:a16="http://schemas.microsoft.com/office/drawing/2014/main" id="{B29FEE3D-3750-4508-92A3-9B9E46FECE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181" y="2590800"/>
            <a:ext cx="30734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6F1CB462-9D7D-4499-AF00-7FB8FBEF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29" y="215191"/>
            <a:ext cx="788035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Multilevel Queue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0F152084-C4F7-4F98-AC9A-7299EF5D2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Prioritization based upon process type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E45EDF43-47DE-4E7F-B77E-5ED79D91AC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985" y="2895600"/>
            <a:ext cx="5583238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AF43CD99-B0BB-4EB6-B798-512BB1BA6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0400" y="181838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Multilevel Feedback Queue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ABB3FE17-4C94-4A31-A709-AB13725330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144346"/>
            <a:ext cx="7341303" cy="4399927"/>
          </a:xfrm>
        </p:spPr>
        <p:txBody>
          <a:bodyPr/>
          <a:lstStyle/>
          <a:p>
            <a:r>
              <a:rPr lang="en-US" altLang="en-US" dirty="0"/>
              <a:t>A process can move between the various queues.</a:t>
            </a:r>
          </a:p>
          <a:p>
            <a:r>
              <a:rPr lang="en-US" altLang="en-US" dirty="0"/>
              <a:t>Multilevel-feedback-queue scheduler defined by the following parameters:</a:t>
            </a:r>
          </a:p>
          <a:p>
            <a:pPr lvl="1"/>
            <a:r>
              <a:rPr lang="en-US" altLang="en-US" dirty="0"/>
              <a:t>Number of queues</a:t>
            </a:r>
          </a:p>
          <a:p>
            <a:pPr lvl="1"/>
            <a:r>
              <a:rPr lang="en-US" altLang="en-US" dirty="0"/>
              <a:t>Scheduling algorithms for each queue</a:t>
            </a:r>
          </a:p>
          <a:p>
            <a:pPr lvl="1"/>
            <a:r>
              <a:rPr lang="en-US" altLang="en-US" dirty="0"/>
              <a:t>Method used to determine when to upgrade a process</a:t>
            </a:r>
          </a:p>
          <a:p>
            <a:pPr lvl="1"/>
            <a:r>
              <a:rPr lang="en-US" altLang="en-US" dirty="0"/>
              <a:t>Method used to determine when to demote a process</a:t>
            </a:r>
          </a:p>
          <a:p>
            <a:pPr lvl="1"/>
            <a:r>
              <a:rPr lang="en-US" altLang="en-US" dirty="0"/>
              <a:t>Method used to determine which queue a process will enter when that process needs service</a:t>
            </a:r>
          </a:p>
          <a:p>
            <a:r>
              <a:rPr lang="en-US" altLang="en-US" dirty="0"/>
              <a:t>Aging can be implemented using multilevel feedback queue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CCD566E-DD44-408E-84CD-E9F177C95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450" y="427256"/>
            <a:ext cx="7296263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613E5F61-646B-48FF-83DC-0216A8F01A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676400"/>
            <a:ext cx="4742319" cy="4278094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800" dirty="0"/>
              <a:t>Three queues: 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baseline="-25000" dirty="0"/>
              <a:t>0</a:t>
            </a:r>
            <a:r>
              <a:rPr lang="en-US" altLang="en-US" dirty="0"/>
              <a:t> – RR with time quantum 8 milliseconds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baseline="-25000" dirty="0"/>
              <a:t>1</a:t>
            </a:r>
            <a:r>
              <a:rPr lang="en-US" altLang="en-US" dirty="0"/>
              <a:t> – RR time quantum 16 milliseconds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baseline="-25000" dirty="0"/>
              <a:t>2</a:t>
            </a:r>
            <a:r>
              <a:rPr lang="en-US" altLang="en-US" dirty="0"/>
              <a:t> – FCFS</a:t>
            </a:r>
            <a:endParaRPr lang="en-US" altLang="en-US" sz="1600" dirty="0"/>
          </a:p>
          <a:p>
            <a:r>
              <a:rPr lang="en-US" altLang="en-US" sz="2800" dirty="0"/>
              <a:t>Scheduling</a:t>
            </a:r>
          </a:p>
          <a:p>
            <a:pPr lvl="1"/>
            <a:r>
              <a:rPr lang="en-US" altLang="en-US" dirty="0"/>
              <a:t>A new process enters queue </a:t>
            </a:r>
            <a:r>
              <a:rPr lang="en-US" altLang="en-US" i="1" dirty="0"/>
              <a:t>Q</a:t>
            </a:r>
            <a:r>
              <a:rPr lang="en-US" altLang="en-US" i="1" baseline="-25000" dirty="0"/>
              <a:t>0</a:t>
            </a:r>
            <a:r>
              <a:rPr lang="en-US" altLang="en-US" i="1" dirty="0"/>
              <a:t> </a:t>
            </a:r>
            <a:r>
              <a:rPr lang="en-US" altLang="en-US" dirty="0"/>
              <a:t>which is served</a:t>
            </a:r>
            <a:r>
              <a:rPr lang="en-US" altLang="en-US" i="1" dirty="0"/>
              <a:t> </a:t>
            </a:r>
            <a:r>
              <a:rPr lang="en-US" altLang="en-US" dirty="0"/>
              <a:t>in</a:t>
            </a:r>
            <a:r>
              <a:rPr lang="en-US" altLang="en-US" i="1" dirty="0"/>
              <a:t> </a:t>
            </a:r>
            <a:r>
              <a:rPr lang="en-US" altLang="en-US" dirty="0"/>
              <a:t>RR</a:t>
            </a:r>
          </a:p>
          <a:p>
            <a:pPr lvl="2"/>
            <a:r>
              <a:rPr lang="en-US" altLang="en-US" sz="1600" dirty="0"/>
              <a:t>When it gains CPU, the process receives 8 milliseconds</a:t>
            </a:r>
          </a:p>
          <a:p>
            <a:pPr lvl="2"/>
            <a:r>
              <a:rPr lang="en-US" altLang="en-US" sz="1600" dirty="0"/>
              <a:t>If it does not finish in 8 milliseconds, the process  is moved to queue </a:t>
            </a:r>
            <a:r>
              <a:rPr lang="en-US" altLang="en-US" sz="1600" i="1" dirty="0"/>
              <a:t>Q</a:t>
            </a:r>
            <a:r>
              <a:rPr lang="en-US" altLang="en-US" sz="1600" baseline="-25000" dirty="0"/>
              <a:t>1</a:t>
            </a:r>
            <a:endParaRPr lang="en-US" altLang="en-US" sz="1600" dirty="0"/>
          </a:p>
          <a:p>
            <a:pPr lvl="1"/>
            <a:r>
              <a:rPr lang="en-US" altLang="en-US" dirty="0"/>
              <a:t>At </a:t>
            </a:r>
            <a:r>
              <a:rPr lang="en-US" altLang="en-US" i="1" dirty="0"/>
              <a:t>Q</a:t>
            </a:r>
            <a:r>
              <a:rPr lang="en-US" altLang="en-US" baseline="-25000" dirty="0"/>
              <a:t>1</a:t>
            </a:r>
            <a:r>
              <a:rPr lang="en-US" altLang="en-US" dirty="0"/>
              <a:t> job is again served in RR and receives 16 additional milliseconds</a:t>
            </a:r>
          </a:p>
          <a:p>
            <a:pPr lvl="2"/>
            <a:r>
              <a:rPr lang="en-US" altLang="en-US" sz="1600" dirty="0"/>
              <a:t>If it still does not complete, it is preempted and moved to queue </a:t>
            </a:r>
            <a:r>
              <a:rPr lang="en-US" altLang="en-US" sz="1600" i="1" dirty="0"/>
              <a:t>Q</a:t>
            </a:r>
            <a:r>
              <a:rPr lang="en-US" altLang="en-US" sz="1600" baseline="-25000" dirty="0"/>
              <a:t>2</a:t>
            </a:r>
            <a:endParaRPr lang="en-US" altLang="en-US" sz="1600" dirty="0"/>
          </a:p>
        </p:txBody>
      </p:sp>
      <p:pic>
        <p:nvPicPr>
          <p:cNvPr id="59395" name="Picture 1">
            <a:extLst>
              <a:ext uri="{FF2B5EF4-FFF2-40B4-BE49-F238E27FC236}">
                <a16:creationId xmlns:a16="http://schemas.microsoft.com/office/drawing/2014/main" id="{BE9B9DB7-2D01-4469-B225-66245C9CC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769" y="2673752"/>
            <a:ext cx="3344406" cy="203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647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4455</Words>
  <Application>Microsoft Office PowerPoint</Application>
  <PresentationFormat>On-screen Show (4:3)</PresentationFormat>
  <Paragraphs>1144</Paragraphs>
  <Slides>67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81" baseType="lpstr">
      <vt:lpstr>ＭＳ Ｐゴシック</vt:lpstr>
      <vt:lpstr>Aptos</vt:lpstr>
      <vt:lpstr>Arial</vt:lpstr>
      <vt:lpstr>Cambria Math</vt:lpstr>
      <vt:lpstr>Cochocib Script Latin Pro</vt:lpstr>
      <vt:lpstr>Courier New</vt:lpstr>
      <vt:lpstr>Monotype Sorts</vt:lpstr>
      <vt:lpstr>Rockwell</vt:lpstr>
      <vt:lpstr>Rockwell Condensed</vt:lpstr>
      <vt:lpstr>Symbol</vt:lpstr>
      <vt:lpstr>Times New Roman</vt:lpstr>
      <vt:lpstr>Verdana</vt:lpstr>
      <vt:lpstr>Wingdings</vt:lpstr>
      <vt:lpstr>Wood Type</vt:lpstr>
      <vt:lpstr>PowerPoint Presentation</vt:lpstr>
      <vt:lpstr>PowerPoint Presentation</vt:lpstr>
      <vt:lpstr>Stacks and Queues</vt:lpstr>
      <vt:lpstr>Stack</vt:lpstr>
      <vt:lpstr>Stack // Methods</vt:lpstr>
      <vt:lpstr>Stacks in Java using simple Arrays</vt:lpstr>
      <vt:lpstr>Stacks in Java Using Arrays / 1</vt:lpstr>
      <vt:lpstr>Stacks in Java Using Arrays / Methods</vt:lpstr>
      <vt:lpstr>Stacks in Java Using Arrays / Methods</vt:lpstr>
      <vt:lpstr>Built-in Stack classes</vt:lpstr>
      <vt:lpstr>Built-in Stack classes</vt:lpstr>
      <vt:lpstr>Where are stacks used?</vt:lpstr>
      <vt:lpstr>How would you exit a maze?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An example: exiting a maze</vt:lpstr>
      <vt:lpstr>Examples IN JAVA</vt:lpstr>
      <vt:lpstr>Checking balanced parentheses with a stack</vt:lpstr>
      <vt:lpstr>Checking balanced parentheses with a stack</vt:lpstr>
      <vt:lpstr>Checking balanced parentheses with a stack</vt:lpstr>
      <vt:lpstr>Checking balanced parentheses with a stack</vt:lpstr>
      <vt:lpstr>QueueS</vt:lpstr>
      <vt:lpstr>Queues in Java using simple arrays  (non-circular)</vt:lpstr>
      <vt:lpstr>Queues in Java using simple arrays (circular)</vt:lpstr>
      <vt:lpstr>Circular Queues</vt:lpstr>
      <vt:lpstr>Queues in Java using simple arrays (circular)</vt:lpstr>
      <vt:lpstr>PowerPoint Presentation</vt:lpstr>
      <vt:lpstr>Java Built-in classes</vt:lpstr>
      <vt:lpstr>JAVA EXAMPLES</vt:lpstr>
      <vt:lpstr>Examples: the supermarket queues</vt:lpstr>
      <vt:lpstr>One vs multiple Queues ANALYSIS</vt:lpstr>
      <vt:lpstr>Application of Queues: the OS Scheduler</vt:lpstr>
      <vt:lpstr>Preemptive and Nonpreemptive Scheduling</vt:lpstr>
      <vt:lpstr>Scheduling Criteria</vt:lpstr>
      <vt:lpstr>Scheduling Algorithm Optimization Criteria</vt:lpstr>
      <vt:lpstr>First- Come, First-Served (FCFS) Scheduling</vt:lpstr>
      <vt:lpstr>FCFS Scheduling (Cont.)</vt:lpstr>
      <vt:lpstr>Shortest-Job-First (SJF) Scheduling</vt:lpstr>
      <vt:lpstr>Example of SJF</vt:lpstr>
      <vt:lpstr>Shortest Remaining Time First Scheduling</vt:lpstr>
      <vt:lpstr>Example of Shortest-remaining-time-first</vt:lpstr>
      <vt:lpstr>Round Robin (RR)</vt:lpstr>
      <vt:lpstr>Example of RR with Time Quantum = 4</vt:lpstr>
      <vt:lpstr>Time Quantum and Context Switch Time</vt:lpstr>
      <vt:lpstr>Turnaround Time Varies With The Time Quantum</vt:lpstr>
      <vt:lpstr>Priority Scheduling</vt:lpstr>
      <vt:lpstr>Example of Priority Scheduling</vt:lpstr>
      <vt:lpstr>Priority Scheduling w/ Round-Robin</vt:lpstr>
      <vt:lpstr>Multilevel Queue</vt:lpstr>
      <vt:lpstr>Multilevel Queue</vt:lpstr>
      <vt:lpstr>Multilevel Queue</vt:lpstr>
      <vt:lpstr>Multilevel Feedback Queue</vt:lpstr>
      <vt:lpstr>Example of Multilevel Feedback Queue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Week1(CS380).pptx</dc:title>
  <dc:creator>pierpaolodondio</dc:creator>
  <cp:lastModifiedBy>Pierpaolo Dondio</cp:lastModifiedBy>
  <cp:revision>20</cp:revision>
  <dcterms:created xsi:type="dcterms:W3CDTF">2025-09-19T16:19:52Z</dcterms:created>
  <dcterms:modified xsi:type="dcterms:W3CDTF">2025-11-03T12:49:35Z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2025-09-19T00:00:00Z</vt:filetime>
  </property>
  <property fmtid="{D5CDD505-2E9C-101B-9397-08002B2CF9AE}" pid="5" name="Producer">
    <vt:lpwstr>3-Heights(TM) PDF Security Shell 4.8.25.2 (http://www.pdf-tools.com)</vt:lpwstr>
  </property>
</Properties>
</file>