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1" r:id="rId1"/>
  </p:sldMasterIdLst>
  <p:notesMasterIdLst>
    <p:notesMasterId r:id="rId44"/>
  </p:notesMasterIdLst>
  <p:sldIdLst>
    <p:sldId id="331" r:id="rId2"/>
    <p:sldId id="332" r:id="rId3"/>
    <p:sldId id="407" r:id="rId4"/>
    <p:sldId id="406" r:id="rId5"/>
    <p:sldId id="403" r:id="rId6"/>
    <p:sldId id="265" r:id="rId7"/>
    <p:sldId id="404" r:id="rId8"/>
    <p:sldId id="405" r:id="rId9"/>
    <p:sldId id="412" r:id="rId10"/>
    <p:sldId id="413" r:id="rId11"/>
    <p:sldId id="423" r:id="rId12"/>
    <p:sldId id="424" r:id="rId13"/>
    <p:sldId id="425" r:id="rId14"/>
    <p:sldId id="426" r:id="rId15"/>
    <p:sldId id="434" r:id="rId16"/>
    <p:sldId id="427" r:id="rId17"/>
    <p:sldId id="428" r:id="rId18"/>
    <p:sldId id="438" r:id="rId19"/>
    <p:sldId id="414" r:id="rId20"/>
    <p:sldId id="416" r:id="rId21"/>
    <p:sldId id="439" r:id="rId22"/>
    <p:sldId id="435" r:id="rId23"/>
    <p:sldId id="415" r:id="rId24"/>
    <p:sldId id="436" r:id="rId25"/>
    <p:sldId id="420" r:id="rId26"/>
    <p:sldId id="419" r:id="rId27"/>
    <p:sldId id="422" r:id="rId28"/>
    <p:sldId id="315" r:id="rId29"/>
    <p:sldId id="318" r:id="rId30"/>
    <p:sldId id="437" r:id="rId31"/>
    <p:sldId id="320" r:id="rId32"/>
    <p:sldId id="321" r:id="rId33"/>
    <p:sldId id="322" r:id="rId34"/>
    <p:sldId id="323" r:id="rId35"/>
    <p:sldId id="324" r:id="rId36"/>
    <p:sldId id="325" r:id="rId37"/>
    <p:sldId id="327" r:id="rId38"/>
    <p:sldId id="432" r:id="rId39"/>
    <p:sldId id="429" r:id="rId40"/>
    <p:sldId id="431" r:id="rId41"/>
    <p:sldId id="433" r:id="rId42"/>
    <p:sldId id="430" r:id="rId43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3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9" autoAdjust="0"/>
    <p:restoredTop sz="94660"/>
  </p:normalViewPr>
  <p:slideViewPr>
    <p:cSldViewPr>
      <p:cViewPr>
        <p:scale>
          <a:sx n="170" d="100"/>
          <a:sy n="170" d="100"/>
        </p:scale>
        <p:origin x="1572" y="-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173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66F994-E567-4E2A-9CC6-7124331350FA}" type="datetimeFigureOut">
              <a:rPr lang="en-IE" smtClean="0"/>
              <a:t>21/11/2025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DE376-2C33-490B-A7D6-FF41E95A2A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01087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C85A79-8F4E-4293-A84B-133598B629DB}" type="slidenum">
              <a:rPr lang="en-IE" smtClean="0"/>
              <a:pPr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09873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7C22D6B-71FD-5C8A-C101-30793BA1C3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993C85-A61C-4CD1-9F78-26A88A59428E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393218" name="Rectangle 2">
            <a:extLst>
              <a:ext uri="{FF2B5EF4-FFF2-40B4-BE49-F238E27FC236}">
                <a16:creationId xmlns:a16="http://schemas.microsoft.com/office/drawing/2014/main" id="{33862516-FE90-7E93-B65B-111C88332F1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3219" name="Rectangle 3">
            <a:extLst>
              <a:ext uri="{FF2B5EF4-FFF2-40B4-BE49-F238E27FC236}">
                <a16:creationId xmlns:a16="http://schemas.microsoft.com/office/drawing/2014/main" id="{A467CE18-7299-20AE-187E-A1C2907A30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41EB249-F202-CE9B-1801-C137A8C716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06B8C4-5520-4174-9014-1D96D00BF152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394242" name="Rectangle 2">
            <a:extLst>
              <a:ext uri="{FF2B5EF4-FFF2-40B4-BE49-F238E27FC236}">
                <a16:creationId xmlns:a16="http://schemas.microsoft.com/office/drawing/2014/main" id="{3BA46C15-4DB4-36DA-AE85-20374AE9647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4243" name="Rectangle 3">
            <a:extLst>
              <a:ext uri="{FF2B5EF4-FFF2-40B4-BE49-F238E27FC236}">
                <a16:creationId xmlns:a16="http://schemas.microsoft.com/office/drawing/2014/main" id="{4F1CCD2D-53D1-4738-6C9B-6C49D46B45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8B0C7C3-01ED-0B34-F73E-1DB6219D67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E8FD37-52C5-498E-82F9-C4A85EA5739E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395266" name="Rectangle 2">
            <a:extLst>
              <a:ext uri="{FF2B5EF4-FFF2-40B4-BE49-F238E27FC236}">
                <a16:creationId xmlns:a16="http://schemas.microsoft.com/office/drawing/2014/main" id="{6E78E17E-DB0F-F737-0AF7-639627F3B77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5267" name="Rectangle 3">
            <a:extLst>
              <a:ext uri="{FF2B5EF4-FFF2-40B4-BE49-F238E27FC236}">
                <a16:creationId xmlns:a16="http://schemas.microsoft.com/office/drawing/2014/main" id="{3306B8D8-C96E-685D-B90E-A502EF8AC3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7BD25F1-F94F-7FEE-0CC2-B6D7995164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A53E47-188C-4F45-A53C-AC07EC3305FD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396290" name="Rectangle 2">
            <a:extLst>
              <a:ext uri="{FF2B5EF4-FFF2-40B4-BE49-F238E27FC236}">
                <a16:creationId xmlns:a16="http://schemas.microsoft.com/office/drawing/2014/main" id="{08789E13-68E4-9192-BA7C-99B087A6FD1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6291" name="Rectangle 3">
            <a:extLst>
              <a:ext uri="{FF2B5EF4-FFF2-40B4-BE49-F238E27FC236}">
                <a16:creationId xmlns:a16="http://schemas.microsoft.com/office/drawing/2014/main" id="{15A5BB54-731C-AB1E-5DB6-E963D93126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10556F0-CEBF-BAFF-5120-9BA7ED8424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525619-4670-4033-80EC-580B3EE3F967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397314" name="Rectangle 2">
            <a:extLst>
              <a:ext uri="{FF2B5EF4-FFF2-40B4-BE49-F238E27FC236}">
                <a16:creationId xmlns:a16="http://schemas.microsoft.com/office/drawing/2014/main" id="{250A16CD-3579-323F-16FC-7A02952153D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7315" name="Rectangle 3">
            <a:extLst>
              <a:ext uri="{FF2B5EF4-FFF2-40B4-BE49-F238E27FC236}">
                <a16:creationId xmlns:a16="http://schemas.microsoft.com/office/drawing/2014/main" id="{1C382E92-4AA9-3C6A-636B-49536004BE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D452A1E-D044-3C9C-B0EA-4DB432CFB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48E883-7D3A-4153-B693-E883834743F7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398338" name="Rectangle 2">
            <a:extLst>
              <a:ext uri="{FF2B5EF4-FFF2-40B4-BE49-F238E27FC236}">
                <a16:creationId xmlns:a16="http://schemas.microsoft.com/office/drawing/2014/main" id="{FC2A9A9D-6FCE-BFEC-C998-3A72BA17823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8339" name="Rectangle 3">
            <a:extLst>
              <a:ext uri="{FF2B5EF4-FFF2-40B4-BE49-F238E27FC236}">
                <a16:creationId xmlns:a16="http://schemas.microsoft.com/office/drawing/2014/main" id="{0E791502-08A3-C2B4-A5D4-61AA461B9C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22DB6F6-87E3-3613-4623-13BD726C07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4FF16E-BEBE-40F6-8910-8488F7134FF2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400386" name="Rectangle 2">
            <a:extLst>
              <a:ext uri="{FF2B5EF4-FFF2-40B4-BE49-F238E27FC236}">
                <a16:creationId xmlns:a16="http://schemas.microsoft.com/office/drawing/2014/main" id="{47BBAA86-512B-2A7C-5ED7-BD9CE05B965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0387" name="Rectangle 3">
            <a:extLst>
              <a:ext uri="{FF2B5EF4-FFF2-40B4-BE49-F238E27FC236}">
                <a16:creationId xmlns:a16="http://schemas.microsoft.com/office/drawing/2014/main" id="{67DBC0E4-875D-E434-BC82-11CFB71C75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2180994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2328658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E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2741635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1390141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297355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285461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3925691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1026261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4144315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876193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858313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539750" y="6453188"/>
            <a:ext cx="3203575" cy="71437"/>
          </a:xfrm>
          <a:prstGeom prst="rect">
            <a:avLst/>
          </a:prstGeom>
          <a:solidFill>
            <a:srgbClr val="8223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" name="Rectangle 5"/>
          <p:cNvSpPr/>
          <p:nvPr/>
        </p:nvSpPr>
        <p:spPr>
          <a:xfrm flipV="1">
            <a:off x="4008438" y="6453188"/>
            <a:ext cx="4679950" cy="71437"/>
          </a:xfrm>
          <a:prstGeom prst="rect">
            <a:avLst/>
          </a:prstGeom>
          <a:solidFill>
            <a:srgbClr val="8223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pic>
        <p:nvPicPr>
          <p:cNvPr id="9" name="Picture 2" descr="C:\Users\Rowan\Documents\Maynooth\Powerpoint Template\K7917 - Maynooth University_PowerPoint (Burgundy) Option 1-2-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0" t="-320" r="27138"/>
          <a:stretch>
            <a:fillRect/>
          </a:stretch>
        </p:blipFill>
        <p:spPr bwMode="auto">
          <a:xfrm>
            <a:off x="4008438" y="549275"/>
            <a:ext cx="4679950" cy="583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 descr="C:\Users\Rowan\Documents\Maynooth\Powerpoint Template\K7384 Maynooth University Logo_RGB_300dpi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15888"/>
            <a:ext cx="314325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11560" y="3140968"/>
            <a:ext cx="3024336" cy="2232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rgbClr val="822327"/>
                </a:solidFill>
                <a:latin typeface="+mn-lt"/>
              </a:defRPr>
            </a:lvl1pPr>
            <a:lvl3pPr>
              <a:defRPr>
                <a:solidFill>
                  <a:srgbClr val="822327"/>
                </a:solidFill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11189" y="5661025"/>
            <a:ext cx="3024708" cy="720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8223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33745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7172325" y="6448425"/>
            <a:ext cx="151288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GB" altLang="en-US" sz="1100" b="1" dirty="0"/>
              <a:t>maynoothuniversity.ie</a:t>
            </a:r>
            <a:endParaRPr lang="en-GB" altLang="en-US" b="1" dirty="0"/>
          </a:p>
        </p:txBody>
      </p:sp>
      <p:sp>
        <p:nvSpPr>
          <p:cNvPr id="5" name="Rectangle 4"/>
          <p:cNvSpPr/>
          <p:nvPr/>
        </p:nvSpPr>
        <p:spPr>
          <a:xfrm flipV="1">
            <a:off x="395288" y="5884863"/>
            <a:ext cx="8316912" cy="71437"/>
          </a:xfrm>
          <a:prstGeom prst="rect">
            <a:avLst/>
          </a:prstGeom>
          <a:solidFill>
            <a:srgbClr val="8223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pic>
        <p:nvPicPr>
          <p:cNvPr id="6" name="Picture 3" descr="C:\Users\Rowan\Desktop\K7384 Maynooth University Logo_RGB_300dpi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6092825"/>
            <a:ext cx="1476375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746311" y="620688"/>
            <a:ext cx="7560890" cy="1008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rgbClr val="822327"/>
                </a:solidFill>
                <a:latin typeface="+mn-lt"/>
              </a:defRPr>
            </a:lvl1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1"/>
          </p:nvPr>
        </p:nvSpPr>
        <p:spPr>
          <a:xfrm>
            <a:off x="755650" y="1844675"/>
            <a:ext cx="7561263" cy="381635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970056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1453676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oleObject" Target="../embeddings/oleObject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gi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39552" y="1916832"/>
            <a:ext cx="3346648" cy="2232025"/>
          </a:xfrm>
        </p:spPr>
        <p:txBody>
          <a:bodyPr>
            <a:normAutofit/>
          </a:bodyPr>
          <a:lstStyle/>
          <a:p>
            <a:r>
              <a:rPr lang="en-GB" sz="3000" dirty="0"/>
              <a:t>CS210</a:t>
            </a:r>
          </a:p>
          <a:p>
            <a:r>
              <a:rPr lang="en-GB" sz="3000" dirty="0"/>
              <a:t>Algorithms and Data Structures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39552" y="4221088"/>
            <a:ext cx="3168352" cy="2103512"/>
          </a:xfrm>
        </p:spPr>
        <p:txBody>
          <a:bodyPr>
            <a:normAutofit fontScale="92500" lnSpcReduction="10000"/>
          </a:bodyPr>
          <a:lstStyle/>
          <a:p>
            <a:r>
              <a:rPr lang="en-GB" sz="2000" dirty="0"/>
              <a:t>Introduction to </a:t>
            </a:r>
            <a:r>
              <a:rPr lang="en-GB" sz="2000" dirty="0" err="1"/>
              <a:t>MonteCarlo</a:t>
            </a:r>
            <a:r>
              <a:rPr lang="en-GB" sz="2000" dirty="0"/>
              <a:t> Simulation</a:t>
            </a:r>
          </a:p>
          <a:p>
            <a:r>
              <a:rPr lang="en-GB" sz="2000" dirty="0"/>
              <a:t>Week 10</a:t>
            </a:r>
          </a:p>
          <a:p>
            <a:r>
              <a:rPr lang="en-GB" sz="2000" dirty="0"/>
              <a:t>Semester 1 2025</a:t>
            </a:r>
          </a:p>
          <a:p>
            <a:endParaRPr lang="en-GB" sz="2000" dirty="0"/>
          </a:p>
          <a:p>
            <a:r>
              <a:rPr lang="en-GB" sz="2000" dirty="0"/>
              <a:t>Dr. Pierpaolo Dondio</a:t>
            </a:r>
          </a:p>
        </p:txBody>
      </p:sp>
    </p:spTree>
    <p:extLst>
      <p:ext uri="{BB962C8B-B14F-4D97-AF65-F5344CB8AC3E}">
        <p14:creationId xmlns:p14="http://schemas.microsoft.com/office/powerpoint/2010/main" val="391929436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85BBDE-771D-F4A9-FCA5-E9F7555B79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E" dirty="0"/>
              <a:t>Week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EF77D-BE3B-A573-31AB-5C3329CA384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844675"/>
            <a:ext cx="7999040" cy="227012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IE" sz="2800" i="1" dirty="0"/>
              <a:t>Motivation</a:t>
            </a:r>
          </a:p>
          <a:p>
            <a:pPr>
              <a:buFont typeface="Wingdings" pitchFamily="2" charset="2"/>
              <a:buChar char="§"/>
            </a:pPr>
            <a:r>
              <a:rPr lang="en-IE" sz="2800" i="1" dirty="0"/>
              <a:t>Definition and key properties of MM simulation</a:t>
            </a:r>
          </a:p>
          <a:p>
            <a:pPr>
              <a:buFont typeface="Wingdings" pitchFamily="2" charset="2"/>
              <a:buChar char="§"/>
            </a:pPr>
            <a:r>
              <a:rPr lang="en-IE" sz="2800" i="1" dirty="0"/>
              <a:t>Example of Applications</a:t>
            </a:r>
          </a:p>
          <a:p>
            <a:pPr>
              <a:buFont typeface="Wingdings" pitchFamily="2" charset="2"/>
              <a:buChar char="§"/>
            </a:pPr>
            <a:r>
              <a:rPr lang="en-IE" sz="2800" i="1" dirty="0"/>
              <a:t>Java Implementation(s)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B66524-BBDA-DD66-0738-320ED5A00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197" y="4267200"/>
            <a:ext cx="4414483" cy="14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05945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0402A2-9330-BBE4-A74B-AEBF297535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/>
              <a:t>MM simulations?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82172-3144-C9FC-519B-819F0C67D1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Remember heuristics?</a:t>
            </a:r>
          </a:p>
          <a:p>
            <a:r>
              <a:rPr lang="en-US" dirty="0"/>
              <a:t>We are not interested in finding the exact solution, we are interested in approximating it and understand how far we are from the actual solution</a:t>
            </a:r>
          </a:p>
          <a:p>
            <a:r>
              <a:rPr lang="en-US" dirty="0"/>
              <a:t>Some problems might not have an explicit solution (or we have not solved them yet)</a:t>
            </a:r>
          </a:p>
          <a:p>
            <a:r>
              <a:rPr lang="en-US" dirty="0"/>
              <a:t>Some problems have a solution, but it is too hard to compute</a:t>
            </a:r>
          </a:p>
          <a:p>
            <a:r>
              <a:rPr lang="en-US" dirty="0"/>
              <a:t>Montecarlo simulations are useful in these cases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40257962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D97695-9214-394E-B202-BE76C59E12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Definition of MM simulation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83077-8E27-A868-743D-76E281E808F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55650" y="1371600"/>
            <a:ext cx="7854950" cy="428942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Monte Carlo Simulation</a:t>
            </a:r>
            <a:r>
              <a:rPr lang="en-US" dirty="0"/>
              <a:t> is a </a:t>
            </a:r>
            <a:r>
              <a:rPr lang="en-US" b="1" dirty="0"/>
              <a:t>computational technique that uses random sampling to estimate numerical results</a:t>
            </a:r>
            <a:r>
              <a:rPr lang="en-US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Key points:</a:t>
            </a:r>
          </a:p>
          <a:p>
            <a:pPr>
              <a:lnSpc>
                <a:spcPct val="120000"/>
              </a:lnSpc>
            </a:pPr>
            <a:r>
              <a:rPr lang="en-US" dirty="0"/>
              <a:t>It is used when analytical solutions are difficult or impossible.</a:t>
            </a:r>
          </a:p>
          <a:p>
            <a:pPr>
              <a:lnSpc>
                <a:spcPct val="120000"/>
              </a:lnSpc>
            </a:pPr>
            <a:r>
              <a:rPr lang="en-US" dirty="0"/>
              <a:t>It relies on repeated random experiments to approximate probabilities, averages, or other statistical quantities.</a:t>
            </a:r>
          </a:p>
          <a:p>
            <a:pPr>
              <a:lnSpc>
                <a:spcPct val="120000"/>
              </a:lnSpc>
            </a:pPr>
            <a:r>
              <a:rPr lang="en-US" dirty="0"/>
              <a:t>The accuracy of the estimate improves with the number of simulations.</a:t>
            </a:r>
          </a:p>
          <a:p>
            <a:pPr>
              <a:lnSpc>
                <a:spcPct val="120000"/>
              </a:lnSpc>
            </a:pPr>
            <a:r>
              <a:rPr lang="en-US" dirty="0"/>
              <a:t>Common applications include: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Estimating areas or integrals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Probabilities in games of chance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Risk assessment in finance and engineering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Simulating complex systems with randomness</a:t>
            </a:r>
          </a:p>
          <a:p>
            <a:pPr>
              <a:lnSpc>
                <a:spcPct val="120000"/>
              </a:lnSpc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7180473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FBFB6-FDF3-1C71-4115-499F0375B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D3A34B-C1ED-F880-C420-80725D2899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E" dirty="0"/>
              <a:t>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7C7E5-9133-17BC-4AB0-5920DF28808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371600"/>
            <a:ext cx="8077200" cy="441960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Aft>
                <a:spcPct val="55000"/>
              </a:spcAft>
              <a:buClr>
                <a:schemeClr val="tx1"/>
              </a:buClr>
              <a:buNone/>
              <a:defRPr/>
            </a:pPr>
            <a:r>
              <a:rPr lang="en-US" sz="2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System:</a:t>
            </a:r>
            <a:r>
              <a:rPr lang="en-US" sz="2600" dirty="0">
                <a:latin typeface="Arial" charset="0"/>
              </a:rPr>
              <a:t> The physical process of interest</a:t>
            </a:r>
          </a:p>
          <a:p>
            <a:pPr marL="0" indent="0">
              <a:lnSpc>
                <a:spcPct val="120000"/>
              </a:lnSpc>
              <a:buClr>
                <a:schemeClr val="tx1"/>
              </a:buClr>
              <a:buNone/>
              <a:defRPr/>
            </a:pPr>
            <a:r>
              <a:rPr lang="en-US" sz="2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Model:</a:t>
            </a:r>
            <a:r>
              <a:rPr lang="en-US" sz="2600" dirty="0">
                <a:latin typeface="Arial" charset="0"/>
              </a:rPr>
              <a:t> Mathematical representation of the system</a:t>
            </a:r>
          </a:p>
          <a:p>
            <a:pPr lvl="1">
              <a:lnSpc>
                <a:spcPct val="120000"/>
              </a:lnSpc>
              <a:buClr>
                <a:schemeClr val="tx1"/>
              </a:buClr>
              <a:defRPr/>
            </a:pPr>
            <a:r>
              <a:rPr lang="en-US" sz="2300" dirty="0">
                <a:latin typeface="Arial" charset="0"/>
              </a:rPr>
              <a:t>Models are a fundamental tool of science, engineering, business, etc.</a:t>
            </a:r>
          </a:p>
          <a:p>
            <a:pPr lvl="1">
              <a:lnSpc>
                <a:spcPct val="120000"/>
              </a:lnSpc>
              <a:buClr>
                <a:schemeClr val="tx1"/>
              </a:buClr>
              <a:defRPr/>
            </a:pPr>
            <a:r>
              <a:rPr lang="en-US" sz="2300" dirty="0">
                <a:latin typeface="Arial" charset="0"/>
              </a:rPr>
              <a:t>Abstraction of reality</a:t>
            </a:r>
          </a:p>
          <a:p>
            <a:pPr lvl="1">
              <a:lnSpc>
                <a:spcPct val="120000"/>
              </a:lnSpc>
              <a:spcAft>
                <a:spcPct val="55000"/>
              </a:spcAft>
              <a:buClr>
                <a:schemeClr val="tx1"/>
              </a:buClr>
              <a:defRPr/>
            </a:pPr>
            <a:r>
              <a:rPr lang="en-US" sz="2300" dirty="0">
                <a:latin typeface="Arial" charset="0"/>
              </a:rPr>
              <a:t>Models always have limits of credibility</a:t>
            </a:r>
          </a:p>
          <a:p>
            <a:pPr marL="0" indent="0">
              <a:lnSpc>
                <a:spcPct val="120000"/>
              </a:lnSpc>
              <a:spcAft>
                <a:spcPct val="55000"/>
              </a:spcAft>
              <a:buClr>
                <a:schemeClr val="tx1"/>
              </a:buClr>
              <a:buNone/>
              <a:defRPr/>
            </a:pPr>
            <a:r>
              <a:rPr lang="en-US" sz="2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Simulation:</a:t>
            </a:r>
            <a:r>
              <a:rPr lang="en-US" sz="26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 </a:t>
            </a:r>
            <a:r>
              <a:rPr lang="en-US" sz="2600" dirty="0">
                <a:latin typeface="Arial" charset="0"/>
              </a:rPr>
              <a:t>A type of model where the computer is used to imitate the behavior of the system</a:t>
            </a:r>
          </a:p>
          <a:p>
            <a:pPr marL="0" indent="0">
              <a:lnSpc>
                <a:spcPct val="120000"/>
              </a:lnSpc>
              <a:buClr>
                <a:schemeClr val="tx1"/>
              </a:buClr>
              <a:buNone/>
              <a:defRPr/>
            </a:pPr>
            <a:r>
              <a:rPr lang="en-US" sz="2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Monte Carlo simulation:</a:t>
            </a:r>
            <a:r>
              <a:rPr lang="en-US" sz="2600" dirty="0">
                <a:latin typeface="Arial" charset="0"/>
              </a:rPr>
              <a:t> Simulation that makes use of internally generated (pseudo) random numbers</a:t>
            </a:r>
          </a:p>
          <a:p>
            <a:pPr>
              <a:lnSpc>
                <a:spcPct val="120000"/>
              </a:lnSpc>
              <a:buFont typeface="Wingdings" pitchFamily="2" charset="2"/>
              <a:buChar char="§"/>
            </a:pPr>
            <a:endParaRPr lang="en-IE" sz="2800" i="1" dirty="0"/>
          </a:p>
        </p:txBody>
      </p:sp>
    </p:spTree>
    <p:extLst>
      <p:ext uri="{BB962C8B-B14F-4D97-AF65-F5344CB8AC3E}">
        <p14:creationId xmlns:p14="http://schemas.microsoft.com/office/powerpoint/2010/main" val="398225099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4">
            <a:extLst>
              <a:ext uri="{FF2B5EF4-FFF2-40B4-BE49-F238E27FC236}">
                <a16:creationId xmlns:a16="http://schemas.microsoft.com/office/drawing/2014/main" id="{33BF96C7-0581-2FC6-B570-0E6EDB7AC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367272E-C0D4-47D8-8956-5583A56DFF45}" type="slidenum">
              <a:rPr lang="en-US" altLang="en-US" sz="1400"/>
              <a:pPr/>
              <a:t>6</a:t>
            </a:fld>
            <a:endParaRPr lang="en-US" altLang="en-US" sz="1400"/>
          </a:p>
        </p:txBody>
      </p:sp>
      <p:sp>
        <p:nvSpPr>
          <p:cNvPr id="17410" name="Rectangle 1026">
            <a:extLst>
              <a:ext uri="{FF2B5EF4-FFF2-40B4-BE49-F238E27FC236}">
                <a16:creationId xmlns:a16="http://schemas.microsoft.com/office/drawing/2014/main" id="{CEA3333A-8CB1-BE9C-7019-9B6E8799A0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7075" y="0"/>
            <a:ext cx="7772400" cy="893763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2800" b="1">
                <a:solidFill>
                  <a:schemeClr val="tx1"/>
                </a:solidFill>
                <a:latin typeface="Arial" charset="0"/>
              </a:rPr>
            </a:br>
            <a:br>
              <a:rPr lang="en-US" sz="2800" b="1">
                <a:solidFill>
                  <a:schemeClr val="tx1"/>
                </a:solidFill>
                <a:latin typeface="Arial" charset="0"/>
              </a:rPr>
            </a:br>
            <a:br>
              <a:rPr lang="en-US" sz="2800" b="1">
                <a:solidFill>
                  <a:schemeClr val="tx1"/>
                </a:solidFill>
                <a:latin typeface="Arial" charset="0"/>
              </a:rPr>
            </a:br>
            <a:r>
              <a:rPr lang="en-US" sz="3600" b="1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Ways to Study System</a:t>
            </a:r>
            <a:r>
              <a:rPr lang="en-US">
                <a:solidFill>
                  <a:schemeClr val="tx1"/>
                </a:solidFill>
              </a:rPr>
              <a:t> </a:t>
            </a:r>
            <a:br>
              <a:rPr lang="en-US">
                <a:solidFill>
                  <a:schemeClr val="tx1"/>
                </a:solidFill>
              </a:rPr>
            </a:br>
            <a:br>
              <a:rPr lang="en-US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268" name="Group 1058">
            <a:extLst>
              <a:ext uri="{FF2B5EF4-FFF2-40B4-BE49-F238E27FC236}">
                <a16:creationId xmlns:a16="http://schemas.microsoft.com/office/drawing/2014/main" id="{DE08B64F-2B83-A8E7-AB2C-8EA6153B1E85}"/>
              </a:ext>
            </a:extLst>
          </p:cNvPr>
          <p:cNvGrpSpPr>
            <a:grpSpLocks/>
          </p:cNvGrpSpPr>
          <p:nvPr/>
        </p:nvGrpSpPr>
        <p:grpSpPr bwMode="auto">
          <a:xfrm>
            <a:off x="204788" y="895350"/>
            <a:ext cx="8853487" cy="5526088"/>
            <a:chOff x="129" y="564"/>
            <a:chExt cx="5577" cy="3481"/>
          </a:xfrm>
        </p:grpSpPr>
        <p:sp>
          <p:nvSpPr>
            <p:cNvPr id="17428" name="Text Box 1044">
              <a:extLst>
                <a:ext uri="{FF2B5EF4-FFF2-40B4-BE49-F238E27FC236}">
                  <a16:creationId xmlns:a16="http://schemas.microsoft.com/office/drawing/2014/main" id="{E3C834C7-8259-4359-E5CF-C4B2B72C2B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7" y="3812"/>
              <a:ext cx="84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 i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Our Focus</a:t>
              </a:r>
            </a:p>
          </p:txBody>
        </p:sp>
        <p:sp>
          <p:nvSpPr>
            <p:cNvPr id="11270" name="Rectangle 1028">
              <a:extLst>
                <a:ext uri="{FF2B5EF4-FFF2-40B4-BE49-F238E27FC236}">
                  <a16:creationId xmlns:a16="http://schemas.microsoft.com/office/drawing/2014/main" id="{4749E519-BF04-CBAC-D1B3-933BA2FC9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" y="1039"/>
              <a:ext cx="129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271" name="Oval 1029">
              <a:extLst>
                <a:ext uri="{FF2B5EF4-FFF2-40B4-BE49-F238E27FC236}">
                  <a16:creationId xmlns:a16="http://schemas.microsoft.com/office/drawing/2014/main" id="{31A0E47A-59CA-FA5A-2690-35E66F04A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2" y="564"/>
              <a:ext cx="960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272" name="Text Box 1030">
              <a:extLst>
                <a:ext uri="{FF2B5EF4-FFF2-40B4-BE49-F238E27FC236}">
                  <a16:creationId xmlns:a16="http://schemas.microsoft.com/office/drawing/2014/main" id="{7E6FFD2D-EB5F-C37C-5085-6208A28138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6" y="660"/>
              <a:ext cx="70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b="1"/>
                <a:t>System</a:t>
              </a:r>
            </a:p>
          </p:txBody>
        </p:sp>
        <p:sp>
          <p:nvSpPr>
            <p:cNvPr id="11273" name="Text Box 1031">
              <a:extLst>
                <a:ext uri="{FF2B5EF4-FFF2-40B4-BE49-F238E27FC236}">
                  <a16:creationId xmlns:a16="http://schemas.microsoft.com/office/drawing/2014/main" id="{584FC694-F1CC-6C81-E957-D02B73882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" y="1052"/>
              <a:ext cx="1344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300"/>
                <a:t>Experiment w/ </a:t>
              </a:r>
              <a:r>
                <a:rPr lang="en-US" altLang="en-US" sz="2300" b="1" i="1"/>
                <a:t>actual</a:t>
              </a:r>
              <a:r>
                <a:rPr lang="en-US" altLang="en-US" sz="2300"/>
                <a:t> system</a:t>
              </a:r>
            </a:p>
          </p:txBody>
        </p:sp>
        <p:sp>
          <p:nvSpPr>
            <p:cNvPr id="11274" name="Rectangle 1033">
              <a:extLst>
                <a:ext uri="{FF2B5EF4-FFF2-40B4-BE49-F238E27FC236}">
                  <a16:creationId xmlns:a16="http://schemas.microsoft.com/office/drawing/2014/main" id="{47355FCF-A002-458B-9508-AE5854E3C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3" y="1052"/>
              <a:ext cx="129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275" name="Text Box 1034">
              <a:extLst>
                <a:ext uri="{FF2B5EF4-FFF2-40B4-BE49-F238E27FC236}">
                  <a16:creationId xmlns:a16="http://schemas.microsoft.com/office/drawing/2014/main" id="{56690338-2D96-EB44-F96D-CA52B7637A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3" y="1067"/>
              <a:ext cx="1344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300"/>
                <a:t>Experiment w/ </a:t>
              </a:r>
              <a:r>
                <a:rPr lang="en-US" altLang="en-US" sz="2300" b="1" i="1"/>
                <a:t>model</a:t>
              </a:r>
              <a:r>
                <a:rPr lang="en-US" altLang="en-US" sz="2300"/>
                <a:t> of system</a:t>
              </a:r>
            </a:p>
          </p:txBody>
        </p:sp>
        <p:sp>
          <p:nvSpPr>
            <p:cNvPr id="11276" name="Rectangle 1035">
              <a:extLst>
                <a:ext uri="{FF2B5EF4-FFF2-40B4-BE49-F238E27FC236}">
                  <a16:creationId xmlns:a16="http://schemas.microsoft.com/office/drawing/2014/main" id="{204EE197-3A5C-B34E-45DD-581D0DA2A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3" y="1951"/>
              <a:ext cx="1113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277" name="Text Box 1037">
              <a:extLst>
                <a:ext uri="{FF2B5EF4-FFF2-40B4-BE49-F238E27FC236}">
                  <a16:creationId xmlns:a16="http://schemas.microsoft.com/office/drawing/2014/main" id="{1BF723B4-FB1A-1B14-5C2B-1AB9CF21B8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8" y="1978"/>
              <a:ext cx="814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/>
                <a:t>Physical </a:t>
              </a:r>
            </a:p>
            <a:p>
              <a:pPr algn="ctr"/>
              <a:r>
                <a:rPr lang="en-US" altLang="en-US"/>
                <a:t>Model </a:t>
              </a:r>
            </a:p>
          </p:txBody>
        </p:sp>
        <p:sp>
          <p:nvSpPr>
            <p:cNvPr id="11278" name="Rectangle 1038">
              <a:extLst>
                <a:ext uri="{FF2B5EF4-FFF2-40B4-BE49-F238E27FC236}">
                  <a16:creationId xmlns:a16="http://schemas.microsoft.com/office/drawing/2014/main" id="{D19D016C-4F37-4377-2E2C-CDAD4A03F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8" y="1968"/>
              <a:ext cx="1063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279" name="Text Box 1039">
              <a:extLst>
                <a:ext uri="{FF2B5EF4-FFF2-40B4-BE49-F238E27FC236}">
                  <a16:creationId xmlns:a16="http://schemas.microsoft.com/office/drawing/2014/main" id="{8BD5D5F7-9B09-7963-23C5-32241CEC8E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8" y="2002"/>
              <a:ext cx="1129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300"/>
                <a:t>Mathematical</a:t>
              </a:r>
            </a:p>
            <a:p>
              <a:pPr algn="ctr"/>
              <a:r>
                <a:rPr lang="en-US" altLang="en-US" sz="2300"/>
                <a:t>Model </a:t>
              </a:r>
            </a:p>
          </p:txBody>
        </p:sp>
        <p:sp>
          <p:nvSpPr>
            <p:cNvPr id="11280" name="Rectangle 1040">
              <a:extLst>
                <a:ext uri="{FF2B5EF4-FFF2-40B4-BE49-F238E27FC236}">
                  <a16:creationId xmlns:a16="http://schemas.microsoft.com/office/drawing/2014/main" id="{1B24A694-440B-F79B-4E83-1EF8AC7AA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8" y="2970"/>
              <a:ext cx="1113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281" name="Text Box 1041">
              <a:extLst>
                <a:ext uri="{FF2B5EF4-FFF2-40B4-BE49-F238E27FC236}">
                  <a16:creationId xmlns:a16="http://schemas.microsoft.com/office/drawing/2014/main" id="{5F6F07DC-B337-B4FE-C4DF-ABBD18A295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1" y="2997"/>
              <a:ext cx="96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/>
                <a:t>Analytical </a:t>
              </a:r>
            </a:p>
            <a:p>
              <a:pPr algn="ctr"/>
              <a:r>
                <a:rPr lang="en-US" altLang="en-US"/>
                <a:t>Model</a:t>
              </a:r>
            </a:p>
          </p:txBody>
        </p:sp>
        <p:sp>
          <p:nvSpPr>
            <p:cNvPr id="11282" name="Rectangle 1042">
              <a:extLst>
                <a:ext uri="{FF2B5EF4-FFF2-40B4-BE49-F238E27FC236}">
                  <a16:creationId xmlns:a16="http://schemas.microsoft.com/office/drawing/2014/main" id="{6B7BFBE4-9007-6F07-C543-7209E4765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3" y="2970"/>
              <a:ext cx="1113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>
                <a:solidFill>
                  <a:schemeClr val="accent2"/>
                </a:solidFill>
              </a:endParaRPr>
            </a:p>
          </p:txBody>
        </p:sp>
        <p:sp>
          <p:nvSpPr>
            <p:cNvPr id="17427" name="Text Box 1043">
              <a:extLst>
                <a:ext uri="{FF2B5EF4-FFF2-40B4-BE49-F238E27FC236}">
                  <a16:creationId xmlns:a16="http://schemas.microsoft.com/office/drawing/2014/main" id="{DE4520B2-F999-D9C0-A58B-348B952F55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0" y="2997"/>
              <a:ext cx="990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b="1" i="1">
                  <a:solidFill>
                    <a:schemeClr val="accent2"/>
                  </a:solidFill>
                </a:rPr>
                <a:t>Simulation</a:t>
              </a:r>
            </a:p>
            <a:p>
              <a:pPr algn="ctr">
                <a:defRPr/>
              </a:pPr>
              <a:r>
                <a:rPr lang="en-US" b="1" i="1">
                  <a:solidFill>
                    <a:schemeClr val="accent2"/>
                  </a:solidFill>
                </a:rPr>
                <a:t>Model</a:t>
              </a:r>
              <a:r>
                <a:rPr lang="en-US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</a:p>
          </p:txBody>
        </p:sp>
        <p:sp>
          <p:nvSpPr>
            <p:cNvPr id="11284" name="Arc 1048">
              <a:extLst>
                <a:ext uri="{FF2B5EF4-FFF2-40B4-BE49-F238E27FC236}">
                  <a16:creationId xmlns:a16="http://schemas.microsoft.com/office/drawing/2014/main" id="{E9E41774-90FD-AC20-15F8-F793F3597D41}"/>
                </a:ext>
              </a:extLst>
            </p:cNvPr>
            <p:cNvSpPr>
              <a:spLocks/>
            </p:cNvSpPr>
            <p:nvPr/>
          </p:nvSpPr>
          <p:spPr bwMode="auto">
            <a:xfrm rot="5747025">
              <a:off x="4627" y="3421"/>
              <a:ext cx="575" cy="567"/>
            </a:xfrm>
            <a:custGeom>
              <a:avLst/>
              <a:gdLst>
                <a:gd name="T0" fmla="*/ 0 w 21580"/>
                <a:gd name="T1" fmla="*/ 0 h 21271"/>
                <a:gd name="T2" fmla="*/ 0 w 21580"/>
                <a:gd name="T3" fmla="*/ 0 h 21271"/>
                <a:gd name="T4" fmla="*/ 0 w 21580"/>
                <a:gd name="T5" fmla="*/ 0 h 21271"/>
                <a:gd name="T6" fmla="*/ 0 60000 65536"/>
                <a:gd name="T7" fmla="*/ 0 60000 65536"/>
                <a:gd name="T8" fmla="*/ 0 60000 65536"/>
                <a:gd name="T9" fmla="*/ 0 w 21580"/>
                <a:gd name="T10" fmla="*/ 0 h 21271"/>
                <a:gd name="T11" fmla="*/ 21580 w 21580"/>
                <a:gd name="T12" fmla="*/ 21271 h 212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80" h="21271" fill="none" extrusionOk="0">
                  <a:moveTo>
                    <a:pt x="3755" y="-1"/>
                  </a:moveTo>
                  <a:cubicBezTo>
                    <a:pt x="13730" y="1760"/>
                    <a:pt x="21142" y="10218"/>
                    <a:pt x="21579" y="20339"/>
                  </a:cubicBezTo>
                </a:path>
                <a:path w="21580" h="21271" stroke="0" extrusionOk="0">
                  <a:moveTo>
                    <a:pt x="3755" y="-1"/>
                  </a:moveTo>
                  <a:cubicBezTo>
                    <a:pt x="13730" y="1760"/>
                    <a:pt x="21142" y="10218"/>
                    <a:pt x="21579" y="20339"/>
                  </a:cubicBezTo>
                  <a:lnTo>
                    <a:pt x="0" y="21271"/>
                  </a:lnTo>
                  <a:close/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IE"/>
            </a:p>
          </p:txBody>
        </p:sp>
        <p:sp>
          <p:nvSpPr>
            <p:cNvPr id="11285" name="Line 1050">
              <a:extLst>
                <a:ext uri="{FF2B5EF4-FFF2-40B4-BE49-F238E27FC236}">
                  <a16:creationId xmlns:a16="http://schemas.microsoft.com/office/drawing/2014/main" id="{4A26056F-D4AD-201B-4113-E4706B430E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5" y="891"/>
              <a:ext cx="392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1286" name="Line 1051">
              <a:extLst>
                <a:ext uri="{FF2B5EF4-FFF2-40B4-BE49-F238E27FC236}">
                  <a16:creationId xmlns:a16="http://schemas.microsoft.com/office/drawing/2014/main" id="{8802A513-734F-DFAC-F4B7-89D3B7F16E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6" y="1572"/>
              <a:ext cx="733" cy="3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1287" name="Line 1052">
              <a:extLst>
                <a:ext uri="{FF2B5EF4-FFF2-40B4-BE49-F238E27FC236}">
                  <a16:creationId xmlns:a16="http://schemas.microsoft.com/office/drawing/2014/main" id="{9A2AE221-5E56-AD5E-AB05-D2C5E54C7C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0" y="1585"/>
              <a:ext cx="825" cy="3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1288" name="Line 1053">
              <a:extLst>
                <a:ext uri="{FF2B5EF4-FFF2-40B4-BE49-F238E27FC236}">
                  <a16:creationId xmlns:a16="http://schemas.microsoft.com/office/drawing/2014/main" id="{6F00A14B-7E10-7430-2E8B-B4C66CFE78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23" y="2527"/>
              <a:ext cx="577" cy="4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1289" name="Line 1054">
              <a:extLst>
                <a:ext uri="{FF2B5EF4-FFF2-40B4-BE49-F238E27FC236}">
                  <a16:creationId xmlns:a16="http://schemas.microsoft.com/office/drawing/2014/main" id="{3128CAAF-6A17-90F4-7E0B-075F415D9D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1" y="2544"/>
              <a:ext cx="667" cy="4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1290" name="Line 1055">
              <a:extLst>
                <a:ext uri="{FF2B5EF4-FFF2-40B4-BE49-F238E27FC236}">
                  <a16:creationId xmlns:a16="http://schemas.microsoft.com/office/drawing/2014/main" id="{057E40E0-FA49-40FF-4EF7-19EE037706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6" y="894"/>
              <a:ext cx="32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E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A0C8A-D580-1F5F-CD63-4AE65A16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09F3C-9544-831C-7733-73C5890DB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E" dirty="0"/>
              <a:t>Advantages of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5A861-ED74-9BE6-F0D9-27A9366D3B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524000"/>
            <a:ext cx="8077200" cy="4267200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  <a:defRPr/>
            </a:pPr>
            <a:r>
              <a:rPr lang="en-US" sz="2000" dirty="0">
                <a:latin typeface="Arial" charset="0"/>
              </a:rPr>
              <a:t>Often the </a:t>
            </a:r>
            <a:r>
              <a:rPr 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only type of model possible</a:t>
            </a:r>
            <a:r>
              <a:rPr lang="en-US" sz="2000" dirty="0">
                <a:latin typeface="Arial" charset="0"/>
              </a:rPr>
              <a:t> for complex systems</a:t>
            </a:r>
          </a:p>
          <a:p>
            <a:pPr lvl="1">
              <a:buClr>
                <a:schemeClr val="tx1"/>
              </a:buClr>
              <a:defRPr/>
            </a:pPr>
            <a:r>
              <a:rPr lang="en-US" sz="2000" dirty="0">
                <a:latin typeface="Arial" charset="0"/>
              </a:rPr>
              <a:t>Analytical models based on exact solution frequently infeasible</a:t>
            </a:r>
          </a:p>
          <a:p>
            <a:pPr marL="0" indent="0">
              <a:spcBef>
                <a:spcPct val="45000"/>
              </a:spcBef>
              <a:buClr>
                <a:schemeClr val="tx1"/>
              </a:buClr>
              <a:buNone/>
              <a:defRPr/>
            </a:pPr>
            <a:r>
              <a:rPr lang="en-US" sz="2000" dirty="0">
                <a:latin typeface="Arial" charset="0"/>
              </a:rPr>
              <a:t>Process of building simulation can </a:t>
            </a:r>
            <a:r>
              <a:rPr 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clarify understanding</a:t>
            </a:r>
            <a:r>
              <a:rPr lang="en-US" sz="2000" dirty="0">
                <a:latin typeface="Arial" charset="0"/>
              </a:rPr>
              <a:t> of real system</a:t>
            </a:r>
          </a:p>
          <a:p>
            <a:pPr lvl="1">
              <a:spcBef>
                <a:spcPct val="45000"/>
              </a:spcBef>
              <a:buClr>
                <a:schemeClr val="tx1"/>
              </a:buClr>
              <a:defRPr/>
            </a:pPr>
            <a:r>
              <a:rPr lang="en-US" sz="2000" dirty="0">
                <a:latin typeface="Arial" charset="0"/>
              </a:rPr>
              <a:t>Sometimes more useful than actual application of final simulation</a:t>
            </a:r>
          </a:p>
          <a:p>
            <a:pPr marL="0" indent="0">
              <a:spcBef>
                <a:spcPct val="45000"/>
              </a:spcBef>
              <a:buClr>
                <a:schemeClr val="tx1"/>
              </a:buClr>
              <a:buNone/>
              <a:defRPr/>
            </a:pPr>
            <a:r>
              <a:rPr lang="en-US" sz="2000" dirty="0">
                <a:latin typeface="Arial" charset="0"/>
              </a:rPr>
              <a:t>Allows for sensitivity analysis and optimization of real system </a:t>
            </a:r>
            <a:r>
              <a:rPr 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without need to operate real system</a:t>
            </a:r>
          </a:p>
          <a:p>
            <a:pPr marL="0" indent="0">
              <a:spcBef>
                <a:spcPct val="45000"/>
              </a:spcBef>
              <a:buClr>
                <a:schemeClr val="tx1"/>
              </a:buClr>
              <a:buNone/>
              <a:defRPr/>
            </a:pPr>
            <a:r>
              <a:rPr lang="en-US" sz="2000" dirty="0">
                <a:latin typeface="Arial" charset="0"/>
              </a:rPr>
              <a:t>Can maintain </a:t>
            </a:r>
            <a:r>
              <a:rPr 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better control over experimental conditions</a:t>
            </a:r>
            <a:r>
              <a:rPr 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 </a:t>
            </a:r>
            <a:r>
              <a:rPr lang="en-US" sz="2000" dirty="0">
                <a:latin typeface="Arial" charset="0"/>
              </a:rPr>
              <a:t>than real system</a:t>
            </a:r>
          </a:p>
          <a:p>
            <a:pPr marL="0" indent="0">
              <a:spcBef>
                <a:spcPct val="45000"/>
              </a:spcBef>
              <a:buClr>
                <a:schemeClr val="tx1"/>
              </a:buClr>
              <a:buNone/>
              <a:defRPr/>
            </a:pPr>
            <a:r>
              <a:rPr 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Time compression/expansion:</a:t>
            </a:r>
            <a:r>
              <a:rPr lang="en-US" sz="2000" dirty="0">
                <a:latin typeface="Arial" charset="0"/>
              </a:rPr>
              <a:t> Can evaluate system on slower or faster time scale than real system</a:t>
            </a:r>
          </a:p>
          <a:p>
            <a:pPr marL="0" indent="0">
              <a:spcBef>
                <a:spcPct val="45000"/>
              </a:spcBef>
              <a:buClr>
                <a:schemeClr val="tx1"/>
              </a:buClr>
              <a:defRPr/>
            </a:pPr>
            <a:endParaRPr lang="en-US" sz="2000" dirty="0">
              <a:latin typeface="Arial" charset="0"/>
            </a:endParaRPr>
          </a:p>
          <a:p>
            <a:pPr>
              <a:lnSpc>
                <a:spcPct val="120000"/>
              </a:lnSpc>
              <a:buFont typeface="Wingdings" pitchFamily="2" charset="2"/>
              <a:buChar char="§"/>
            </a:pPr>
            <a:endParaRPr lang="en-IE" sz="2000" i="1" dirty="0"/>
          </a:p>
        </p:txBody>
      </p:sp>
    </p:spTree>
    <p:extLst>
      <p:ext uri="{BB962C8B-B14F-4D97-AF65-F5344CB8AC3E}">
        <p14:creationId xmlns:p14="http://schemas.microsoft.com/office/powerpoint/2010/main" val="226393958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89B21-5F01-0CF6-61A3-985648FD1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404F25-E140-7AA0-A139-F0B849E99F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0" y="620688"/>
            <a:ext cx="8077199" cy="1008112"/>
          </a:xfrm>
        </p:spPr>
        <p:txBody>
          <a:bodyPr>
            <a:normAutofit fontScale="92500"/>
          </a:bodyPr>
          <a:lstStyle/>
          <a:p>
            <a:r>
              <a:rPr 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Some Disadvantages of Simulation</a:t>
            </a:r>
          </a:p>
          <a:p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11A12-6C82-9736-8C2E-FBF2A7CA94F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828800"/>
            <a:ext cx="8077200" cy="3962400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  <a:defRPr/>
            </a:pPr>
            <a:r>
              <a:rPr lang="en-US" sz="2000" dirty="0">
                <a:latin typeface="Arial" charset="0"/>
              </a:rPr>
              <a:t>May be very </a:t>
            </a:r>
            <a:r>
              <a:rPr 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expensive and time consuming</a:t>
            </a:r>
            <a:r>
              <a:rPr lang="en-US" sz="2000" dirty="0">
                <a:latin typeface="Arial" charset="0"/>
              </a:rPr>
              <a:t> to build simulation</a:t>
            </a:r>
          </a:p>
          <a:p>
            <a:pPr marL="0" indent="0">
              <a:spcBef>
                <a:spcPct val="45000"/>
              </a:spcBef>
              <a:buClr>
                <a:schemeClr val="tx1"/>
              </a:buClr>
              <a:buNone/>
              <a:defRPr/>
            </a:pPr>
            <a:r>
              <a:rPr 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Easy to misuse simulation</a:t>
            </a:r>
            <a:r>
              <a:rPr lang="en-US" sz="2000" dirty="0">
                <a:latin typeface="Arial" charset="0"/>
              </a:rPr>
              <a:t> by “stretching” it beyond the limits of credibility</a:t>
            </a:r>
          </a:p>
          <a:p>
            <a:pPr lvl="1">
              <a:buClr>
                <a:schemeClr val="tx1"/>
              </a:buClr>
              <a:defRPr/>
            </a:pPr>
            <a:r>
              <a:rPr lang="en-US" sz="2000" dirty="0">
                <a:latin typeface="Arial" charset="0"/>
              </a:rPr>
              <a:t>Problem especially apparent when using commercial simulation packages due to ease of use and lack of familiarity with underlying assumptions and restrictions</a:t>
            </a:r>
          </a:p>
          <a:p>
            <a:pPr lvl="1">
              <a:buClr>
                <a:schemeClr val="tx1"/>
              </a:buClr>
              <a:defRPr/>
            </a:pPr>
            <a:r>
              <a:rPr lang="en-US" sz="2000" dirty="0">
                <a:latin typeface="Arial" charset="0"/>
              </a:rPr>
              <a:t>Slick graphics, animation, tables, etc. may tempt user to assign unwarranted credibility to output</a:t>
            </a:r>
          </a:p>
          <a:p>
            <a:pPr marL="0" indent="0">
              <a:spcBef>
                <a:spcPct val="45000"/>
              </a:spcBef>
              <a:buClr>
                <a:schemeClr val="tx1"/>
              </a:buClr>
              <a:buNone/>
              <a:defRPr/>
            </a:pPr>
            <a:r>
              <a:rPr lang="en-US" sz="2000" dirty="0">
                <a:latin typeface="Arial" charset="0"/>
              </a:rPr>
              <a:t>Monte Carlo simulation usually </a:t>
            </a:r>
            <a:r>
              <a:rPr 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requires several (perhaps many) runs</a:t>
            </a:r>
            <a:r>
              <a:rPr lang="en-US" sz="2000" dirty="0">
                <a:latin typeface="Arial" charset="0"/>
              </a:rPr>
              <a:t> at given input values</a:t>
            </a:r>
          </a:p>
          <a:p>
            <a:pPr lvl="1">
              <a:buClr>
                <a:schemeClr val="tx1"/>
              </a:buClr>
              <a:defRPr/>
            </a:pPr>
            <a:r>
              <a:rPr lang="en-US" sz="2000" dirty="0">
                <a:latin typeface="Arial" charset="0"/>
              </a:rPr>
              <a:t>Contrast: analytical solution provides exact values</a:t>
            </a:r>
          </a:p>
          <a:p>
            <a:pPr>
              <a:lnSpc>
                <a:spcPct val="120000"/>
              </a:lnSpc>
              <a:buFont typeface="Wingdings" pitchFamily="2" charset="2"/>
              <a:buChar char="§"/>
            </a:pPr>
            <a:endParaRPr lang="en-IE" sz="2000" i="1" dirty="0"/>
          </a:p>
        </p:txBody>
      </p:sp>
    </p:spTree>
    <p:extLst>
      <p:ext uri="{BB962C8B-B14F-4D97-AF65-F5344CB8AC3E}">
        <p14:creationId xmlns:p14="http://schemas.microsoft.com/office/powerpoint/2010/main" val="401478851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5DA52-9D9A-B39A-85BF-6962721EC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0B06CB-471E-1008-BFFC-00E682C6EC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0" y="381000"/>
            <a:ext cx="8077199" cy="838200"/>
          </a:xfrm>
        </p:spPr>
        <p:txBody>
          <a:bodyPr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Basic Approach</a:t>
            </a:r>
            <a:endParaRPr lang="en-I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81666C-7B3D-C0E0-0F39-72812EA01B52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533399" y="1371600"/>
                <a:ext cx="8290109" cy="4419600"/>
              </a:xfrm>
            </p:spPr>
            <p:txBody>
              <a:bodyPr>
                <a:normAutofit fontScale="92500"/>
              </a:bodyPr>
              <a:lstStyle/>
              <a:p>
                <a:pPr marL="457200" indent="-457200">
                  <a:lnSpc>
                    <a:spcPct val="11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000" i="1" dirty="0"/>
                  <a:t>We are interested in estimating a quantity X, that is the solution of a problem of interest. </a:t>
                </a:r>
              </a:p>
              <a:p>
                <a:pPr marL="457200" indent="-457200">
                  <a:lnSpc>
                    <a:spcPct val="11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000" i="1" dirty="0"/>
                  <a:t>X can be a number in a mathematics simulation, a return of investment in a financial risk simulation, a probability in a “game” simulation</a:t>
                </a:r>
              </a:p>
              <a:p>
                <a:pPr marL="457200" indent="-457200">
                  <a:lnSpc>
                    <a:spcPct val="11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000" i="1" dirty="0"/>
                  <a:t>We generate N situations following a random approach</a:t>
                </a:r>
              </a:p>
              <a:p>
                <a:pPr marL="457200" indent="-457200">
                  <a:lnSpc>
                    <a:spcPct val="11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000" i="1" dirty="0"/>
                  <a:t>For each situation, we computer  the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000" i="1" dirty="0"/>
              </a:p>
              <a:p>
                <a:pPr marL="457200" indent="-457200">
                  <a:lnSpc>
                    <a:spcPct val="11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000" i="1" dirty="0"/>
                  <a:t>We compute the final approximate solution, by aggregating all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i="1" dirty="0"/>
                  <a:t> </a:t>
                </a:r>
              </a:p>
              <a:p>
                <a:pPr marL="457200" indent="-457200">
                  <a:lnSpc>
                    <a:spcPct val="11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000" i="1" dirty="0"/>
                  <a:t>The way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i="1" dirty="0"/>
                  <a:t> are aggregated depends on the application.</a:t>
                </a:r>
              </a:p>
              <a:p>
                <a:pPr marL="457200" indent="-457200">
                  <a:lnSpc>
                    <a:spcPct val="11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000" i="1" dirty="0"/>
                  <a:t>In the example of the mathematics simulation or the financial simulation, we might average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i="1" dirty="0"/>
                  <a:t>, if we are estimating a probability we might count the positive cases over the total cases</a:t>
                </a:r>
                <a:endParaRPr lang="en-IE" sz="2000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81666C-7B3D-C0E0-0F39-72812EA01B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533399" y="1371600"/>
                <a:ext cx="8290109" cy="4419600"/>
              </a:xfrm>
              <a:blipFill>
                <a:blip r:embed="rId2"/>
                <a:stretch>
                  <a:fillRect l="-368" t="-690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972269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7B95E6-A5A8-EC80-DBD7-78709AD315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C8C0F-CFC1-8DD1-2BAF-4A642CA41FC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55650" y="1371600"/>
            <a:ext cx="7561263" cy="428942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What is the probability to get a poker at Texas </a:t>
            </a:r>
            <a:r>
              <a:rPr lang="en-US" dirty="0" err="1"/>
              <a:t>Hold’em</a:t>
            </a:r>
            <a:r>
              <a:rPr lang="en-US" dirty="0"/>
              <a:t> poker?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Select the number of simulations N (=trials)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Repeat N times:</a:t>
            </a:r>
          </a:p>
          <a:p>
            <a:pPr marL="5715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Shuffle the deck (randomness is here!)</a:t>
            </a:r>
          </a:p>
          <a:p>
            <a:pPr marL="5715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Pick 7 cards</a:t>
            </a:r>
          </a:p>
          <a:p>
            <a:pPr marL="5715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Check if there is a poker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Count all the times a poker was present, call it P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The final probability is P / N  (positive cases divided by the total number of cases)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57025706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404F0-10E0-BBCA-65BE-88289C160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808E31-4A06-1AF7-0E87-D040E6BA4E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Example: integral of a function</a:t>
            </a:r>
            <a:endParaRPr lang="en-IE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9CFB8FC9-C83D-B1DF-E46D-F6F557C6A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276600"/>
            <a:ext cx="1981200" cy="113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96D0A65-6283-9A8F-6B6B-0652324FF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09800"/>
            <a:ext cx="3886200" cy="3636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3EF985CA-0D7D-FDE1-5D33-74CF01EEE611}"/>
              </a:ext>
            </a:extLst>
          </p:cNvPr>
          <p:cNvSpPr txBox="1">
            <a:spLocks noChangeArrowheads="1"/>
          </p:cNvSpPr>
          <p:nvPr/>
        </p:nvSpPr>
        <p:spPr>
          <a:xfrm>
            <a:off x="457199" y="1295400"/>
            <a:ext cx="7940489" cy="609600"/>
          </a:xfrm>
          <a:prstGeom prst="rect">
            <a:avLst/>
          </a:prstGeom>
          <a:noFill/>
          <a:ln/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How to evaluate the integral of f(x)?</a:t>
            </a:r>
          </a:p>
          <a:p>
            <a:r>
              <a:rPr lang="en-US" altLang="en-US" dirty="0"/>
              <a:t>For some integrals there is no solution, only an estimated value…</a:t>
            </a:r>
          </a:p>
        </p:txBody>
      </p:sp>
    </p:spTree>
    <p:extLst>
      <p:ext uri="{BB962C8B-B14F-4D97-AF65-F5344CB8AC3E}">
        <p14:creationId xmlns:p14="http://schemas.microsoft.com/office/powerpoint/2010/main" val="126753365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BC317-995F-87AB-4701-25043E60D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E330D4-A73B-7992-4FFC-917B2A8204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Example: integral of a function</a:t>
            </a:r>
            <a:endParaRPr lang="en-IE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763D7B9-9F86-4316-1F44-0C950CDAE234}"/>
              </a:ext>
            </a:extLst>
          </p:cNvPr>
          <p:cNvSpPr txBox="1">
            <a:spLocks noChangeArrowheads="1"/>
          </p:cNvSpPr>
          <p:nvPr/>
        </p:nvSpPr>
        <p:spPr>
          <a:xfrm>
            <a:off x="457199" y="1295400"/>
            <a:ext cx="7940489" cy="609600"/>
          </a:xfrm>
          <a:prstGeom prst="rect">
            <a:avLst/>
          </a:prstGeom>
          <a:noFill/>
          <a:ln/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Idea: generate random points and check how many are below the curve of the function (grey area)</a:t>
            </a:r>
          </a:p>
          <a:p>
            <a:r>
              <a:rPr lang="en-US" altLang="en-US" dirty="0"/>
              <a:t>Estimate the area based on the portion of points in the grey area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7ABF1810-4E71-4B31-3999-7DA1714BED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85638"/>
              </p:ext>
            </p:extLst>
          </p:nvPr>
        </p:nvGraphicFramePr>
        <p:xfrm>
          <a:off x="2514600" y="2288272"/>
          <a:ext cx="4462463" cy="3389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8126984" imgH="6171429" progId="Photoshop.Image.7">
                  <p:embed/>
                </p:oleObj>
              </mc:Choice>
              <mc:Fallback>
                <p:oleObj name="Image" r:id="rId2" imgW="8126984" imgH="6171429" progId="Photoshop.Image.7">
                  <p:embed/>
                  <p:pic>
                    <p:nvPicPr>
                      <p:cNvPr id="500739" name="Object 3">
                        <a:extLst>
                          <a:ext uri="{FF2B5EF4-FFF2-40B4-BE49-F238E27FC236}">
                            <a16:creationId xmlns:a16="http://schemas.microsoft.com/office/drawing/2014/main" id="{DE8F31A3-B227-97A2-5DC0-9068C7EF94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288272"/>
                        <a:ext cx="4462463" cy="33897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941006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536F1-1326-3D06-54D1-881BF3839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2D92B3-DBC8-003F-44C8-96CCF83B05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620688"/>
            <a:ext cx="8153400" cy="1008112"/>
          </a:xfrm>
        </p:spPr>
        <p:txBody>
          <a:bodyPr>
            <a:normAutofit/>
          </a:bodyPr>
          <a:lstStyle/>
          <a:p>
            <a:r>
              <a:rPr lang="en-US" dirty="0"/>
              <a:t>Another possible MM approach</a:t>
            </a:r>
            <a:endParaRPr lang="en-I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38AAEA-B0CC-C665-26DC-C944A1F0A90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7032" y="1447800"/>
            <a:ext cx="7561263" cy="3816350"/>
          </a:xfrm>
        </p:spPr>
        <p:txBody>
          <a:bodyPr/>
          <a:lstStyle/>
          <a:p>
            <a:r>
              <a:rPr lang="en-US" altLang="en-US" dirty="0"/>
              <a:t>We can approximate by taking the average or the expected value</a:t>
            </a:r>
          </a:p>
          <a:p>
            <a:endParaRPr lang="en-IE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A2E9C358-2F6A-CAA5-C3A2-647D49A3C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33600"/>
            <a:ext cx="485775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7661734-60F6-019A-33F5-C2D5FA8E4705}"/>
                  </a:ext>
                </a:extLst>
              </p:cNvPr>
              <p:cNvSpPr txBox="1"/>
              <p:nvPr/>
            </p:nvSpPr>
            <p:spPr>
              <a:xfrm>
                <a:off x="4800600" y="3969202"/>
                <a:ext cx="3997697" cy="8800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IE" sz="25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  <m:sup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  <m:e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sz="25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d>
                            <m:dPr>
                              <m:ctrlPr>
                                <a:rPr lang="en-US" sz="25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d>
                                <m:dPr>
                                  <m:ctrlPr>
                                    <a:rPr lang="en-US" sz="25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5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∗(</m:t>
                          </m:r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E" sz="2500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7661734-60F6-019A-33F5-C2D5FA8E4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3969202"/>
                <a:ext cx="3997697" cy="8800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30109B5-5EF7-61DB-167F-03443B6527A7}"/>
              </a:ext>
            </a:extLst>
          </p:cNvPr>
          <p:cNvSpPr txBox="1"/>
          <p:nvPr/>
        </p:nvSpPr>
        <p:spPr>
          <a:xfrm>
            <a:off x="1507689" y="5314146"/>
            <a:ext cx="2895600" cy="4770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sz="2500" dirty="0"/>
              <a:t>a                        b</a:t>
            </a:r>
            <a:endParaRPr lang="en-IE" sz="2500" dirty="0"/>
          </a:p>
        </p:txBody>
      </p:sp>
    </p:spTree>
    <p:extLst>
      <p:ext uri="{BB962C8B-B14F-4D97-AF65-F5344CB8AC3E}">
        <p14:creationId xmlns:p14="http://schemas.microsoft.com/office/powerpoint/2010/main" val="53213930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39188-1B4E-01E3-F406-EE7DBB86E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06D4AF-EB55-BBF1-1790-D77363C5DF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Estimate the average E(f(x))</a:t>
            </a:r>
            <a:endParaRPr lang="en-IE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22F860A-EBF9-D370-3214-69EC10F17815}"/>
              </a:ext>
            </a:extLst>
          </p:cNvPr>
          <p:cNvSpPr txBox="1">
            <a:spLocks noChangeArrowheads="1"/>
          </p:cNvSpPr>
          <p:nvPr/>
        </p:nvSpPr>
        <p:spPr>
          <a:xfrm>
            <a:off x="457199" y="1524000"/>
            <a:ext cx="7940489" cy="609600"/>
          </a:xfrm>
          <a:prstGeom prst="rect">
            <a:avLst/>
          </a:prstGeom>
          <a:noFill/>
          <a:ln/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We can estimate the average E(f(x)) using MM simulation</a:t>
            </a:r>
          </a:p>
          <a:p>
            <a:r>
              <a:rPr lang="en-US" altLang="en-US" dirty="0"/>
              <a:t>We take N points and we average them to estimate E(f(x))</a:t>
            </a:r>
          </a:p>
          <a:p>
            <a:endParaRPr lang="en-US" alt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824DB2C-4BC3-7556-D9A4-DC30E4D1B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11" y="2362200"/>
            <a:ext cx="4406705" cy="340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8331C9-F9C1-F78D-7379-9CC980A9F7EF}"/>
                  </a:ext>
                </a:extLst>
              </p:cNvPr>
              <p:cNvSpPr txBox="1"/>
              <p:nvPr/>
            </p:nvSpPr>
            <p:spPr>
              <a:xfrm>
                <a:off x="5486400" y="4067175"/>
                <a:ext cx="3124766" cy="1079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sz="25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sz="25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5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5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5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5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E" sz="2500" b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8331C9-F9C1-F78D-7379-9CC980A9F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4067175"/>
                <a:ext cx="3124766" cy="1079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973802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C0FDF-26E5-E176-80AB-A3E35F211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2B6E6C-EE01-D7F8-E2C2-485A58D7E3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2000" y="406160"/>
            <a:ext cx="8153400" cy="1008112"/>
          </a:xfrm>
        </p:spPr>
        <p:txBody>
          <a:bodyPr>
            <a:normAutofit/>
          </a:bodyPr>
          <a:lstStyle/>
          <a:p>
            <a:r>
              <a:rPr lang="en-US" dirty="0"/>
              <a:t>A better way of sampling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B16F8-523A-64D9-23D4-08A3AF08645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219200"/>
            <a:ext cx="8153400" cy="4441825"/>
          </a:xfrm>
        </p:spPr>
        <p:txBody>
          <a:bodyPr>
            <a:normAutofit/>
          </a:bodyPr>
          <a:lstStyle/>
          <a:p>
            <a:r>
              <a:rPr lang="en-US" sz="1900" dirty="0"/>
              <a:t>Instead of creating sample simulation completely random, there are other ways that can reduce the error of the simulations</a:t>
            </a:r>
          </a:p>
          <a:p>
            <a:r>
              <a:rPr lang="en-US" sz="1900" dirty="0"/>
              <a:t>Important Sampling: Sample more in the functions have more important values</a:t>
            </a:r>
          </a:p>
          <a:p>
            <a:r>
              <a:rPr lang="en-US" sz="1900" dirty="0"/>
              <a:t>Stratified Sampling: Partition the range of data into smaller domains intervals and apply MM simulation to each of them</a:t>
            </a:r>
          </a:p>
          <a:p>
            <a:endParaRPr lang="en-IE" sz="1900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3BE960F3-9E3B-44E0-0031-B5E9D9A43F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2031636"/>
              </p:ext>
            </p:extLst>
          </p:nvPr>
        </p:nvGraphicFramePr>
        <p:xfrm>
          <a:off x="1219199" y="3308777"/>
          <a:ext cx="2989521" cy="2527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5676190" imgH="4800000" progId="Photoshop.Image.7">
                  <p:embed/>
                </p:oleObj>
              </mc:Choice>
              <mc:Fallback>
                <p:oleObj name="Image" r:id="rId2" imgW="5676190" imgH="4800000" progId="Photoshop.Image.7">
                  <p:embed/>
                  <p:pic>
                    <p:nvPicPr>
                      <p:cNvPr id="513028" name="Object 4">
                        <a:extLst>
                          <a:ext uri="{FF2B5EF4-FFF2-40B4-BE49-F238E27FC236}">
                            <a16:creationId xmlns:a16="http://schemas.microsoft.com/office/drawing/2014/main" id="{37D0BA24-DDB8-3B97-C99A-15E97D130A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199" y="3308777"/>
                        <a:ext cx="2989521" cy="25270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37701C1-A615-4677-CE17-DABE47CC45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0720752"/>
              </p:ext>
            </p:extLst>
          </p:nvPr>
        </p:nvGraphicFramePr>
        <p:xfrm>
          <a:off x="5175728" y="3287441"/>
          <a:ext cx="2825272" cy="2542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5333333" imgH="4800000" progId="Photoshop.Image.7">
                  <p:embed/>
                </p:oleObj>
              </mc:Choice>
              <mc:Fallback>
                <p:oleObj name="Image" r:id="rId4" imgW="5333333" imgH="4800000" progId="Photoshop.Image.7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43DBF1AB-B535-FB37-46EF-968332D04F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5728" y="3287441"/>
                        <a:ext cx="2825272" cy="25422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339727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C123C-3D1F-9CB5-1F6D-1CEF67197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C519DA-F063-D904-F759-71022A968C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MonteCarlo</a:t>
            </a:r>
            <a:r>
              <a:rPr lang="en-US" dirty="0"/>
              <a:t> integration</a:t>
            </a:r>
            <a:endParaRPr lang="en-IE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0D93AD0-22D6-FDAD-1436-58C203AD6590}"/>
              </a:ext>
            </a:extLst>
          </p:cNvPr>
          <p:cNvSpPr txBox="1">
            <a:spLocks noChangeArrowheads="1"/>
          </p:cNvSpPr>
          <p:nvPr/>
        </p:nvSpPr>
        <p:spPr>
          <a:xfrm>
            <a:off x="1314450" y="3556000"/>
            <a:ext cx="7412038" cy="1450975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dirty="0" err="1"/>
              <a:t>I</a:t>
            </a:r>
            <a:r>
              <a:rPr lang="en-US" altLang="en-US" baseline="-25000" dirty="0" err="1"/>
              <a:t>m</a:t>
            </a:r>
            <a:r>
              <a:rPr lang="en-US" altLang="en-US" dirty="0"/>
              <a:t> = Monte Carlo estimate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N = number of samples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x</a:t>
            </a:r>
            <a:r>
              <a:rPr lang="en-US" altLang="en-US" baseline="-25000" dirty="0"/>
              <a:t>1</a:t>
            </a:r>
            <a:r>
              <a:rPr lang="en-US" altLang="en-US" dirty="0"/>
              <a:t>, x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N</a:t>
            </a:r>
            <a:r>
              <a:rPr lang="en-US" altLang="en-US" dirty="0"/>
              <a:t> are uniformly distributed random numbers between a and b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6593DB0E-79DB-C2C2-4331-0AA69C0E3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511300"/>
            <a:ext cx="2819400" cy="191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7C766A8D-8085-6929-30E1-E8DA2FD29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105400"/>
            <a:ext cx="2057400" cy="70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74FE75-90BB-0952-40CF-B7B41C3918A8}"/>
              </a:ext>
            </a:extLst>
          </p:cNvPr>
          <p:cNvSpPr txBox="1"/>
          <p:nvPr/>
        </p:nvSpPr>
        <p:spPr>
          <a:xfrm>
            <a:off x="3429000" y="5334000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more simulations, the better is the estimate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98060479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37C28-DE52-595A-0D29-862BAA3B2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C049AA9-5116-7725-73CA-E97C7122F6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620688"/>
            <a:ext cx="8458199" cy="1008112"/>
          </a:xfrm>
        </p:spPr>
        <p:txBody>
          <a:bodyPr>
            <a:normAutofit fontScale="92500"/>
          </a:bodyPr>
          <a:lstStyle/>
          <a:p>
            <a:r>
              <a:rPr lang="en-US" dirty="0"/>
              <a:t>Recap: variance and std. deviation</a:t>
            </a:r>
            <a:endParaRPr lang="en-I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C96B0A-C3D9-3D28-143B-52B756FE7169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755650" y="1447800"/>
                <a:ext cx="7931150" cy="421322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Variance: a measure of how spares a set of data are</a:t>
                </a:r>
              </a:p>
              <a:p>
                <a:r>
                  <a:rPr lang="en-US" dirty="0"/>
                  <a:t>Std. deviation = square root of variance</a:t>
                </a:r>
              </a:p>
              <a:p>
                <a:r>
                  <a:rPr lang="en-US" b="0" dirty="0"/>
                  <a:t>Data points: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Variance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altLang="en-US" dirty="0"/>
                  <a:t>Standard Deviation is just the square root of the variance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en-US" dirty="0"/>
              </a:p>
              <a:p>
                <a:endParaRPr lang="en-IE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C96B0A-C3D9-3D28-143B-52B756FE71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755650" y="1447800"/>
                <a:ext cx="7931150" cy="4213225"/>
              </a:xfrm>
              <a:blipFill>
                <a:blip r:embed="rId2"/>
                <a:stretch>
                  <a:fillRect l="-538" t="-3184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315840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128599-ED6A-D5DC-8D0E-A8C3922268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78838"/>
            <a:ext cx="7560890" cy="677336"/>
          </a:xfrm>
        </p:spPr>
        <p:txBody>
          <a:bodyPr/>
          <a:lstStyle/>
          <a:p>
            <a:r>
              <a:rPr lang="en-US" dirty="0"/>
              <a:t>Variance</a:t>
            </a:r>
            <a:endParaRPr lang="en-IE" dirty="0"/>
          </a:p>
        </p:txBody>
      </p:sp>
      <p:pic>
        <p:nvPicPr>
          <p:cNvPr id="58370" name="Picture 2" descr="Normal Distribution - VrcAcademy">
            <a:extLst>
              <a:ext uri="{FF2B5EF4-FFF2-40B4-BE49-F238E27FC236}">
                <a16:creationId xmlns:a16="http://schemas.microsoft.com/office/drawing/2014/main" id="{D80D030D-6189-45A7-578B-5533D5514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191" y="2070023"/>
            <a:ext cx="3762375" cy="3012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EC22FAA-DEEC-04C1-65F4-53F65821FFEC}"/>
              </a:ext>
            </a:extLst>
          </p:cNvPr>
          <p:cNvSpPr/>
          <p:nvPr/>
        </p:nvSpPr>
        <p:spPr>
          <a:xfrm>
            <a:off x="838200" y="1690425"/>
            <a:ext cx="3139889" cy="1752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4297A0-E014-3FBF-19ED-F40777BCA85D}"/>
              </a:ext>
            </a:extLst>
          </p:cNvPr>
          <p:cNvCxnSpPr/>
          <p:nvPr/>
        </p:nvCxnSpPr>
        <p:spPr>
          <a:xfrm>
            <a:off x="625289" y="2604825"/>
            <a:ext cx="3657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B04A595-286F-E562-FCE8-EA09C060EA49}"/>
              </a:ext>
            </a:extLst>
          </p:cNvPr>
          <p:cNvSpPr/>
          <p:nvPr/>
        </p:nvSpPr>
        <p:spPr>
          <a:xfrm>
            <a:off x="1006289" y="1842825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2D3F4B3-AC31-FFD2-C73A-FA2B78B5ADB2}"/>
              </a:ext>
            </a:extLst>
          </p:cNvPr>
          <p:cNvSpPr/>
          <p:nvPr/>
        </p:nvSpPr>
        <p:spPr>
          <a:xfrm>
            <a:off x="3749489" y="2071425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F7C402-704A-AA04-B99B-37D2D2878605}"/>
              </a:ext>
            </a:extLst>
          </p:cNvPr>
          <p:cNvSpPr/>
          <p:nvPr/>
        </p:nvSpPr>
        <p:spPr>
          <a:xfrm>
            <a:off x="1158689" y="1995225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E27EAB-0C22-B074-E575-5918CE75E6A2}"/>
              </a:ext>
            </a:extLst>
          </p:cNvPr>
          <p:cNvSpPr/>
          <p:nvPr/>
        </p:nvSpPr>
        <p:spPr>
          <a:xfrm>
            <a:off x="1311089" y="2147625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581040-89E6-0F71-4EBE-220780A43444}"/>
              </a:ext>
            </a:extLst>
          </p:cNvPr>
          <p:cNvSpPr/>
          <p:nvPr/>
        </p:nvSpPr>
        <p:spPr>
          <a:xfrm>
            <a:off x="1615889" y="2452425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6218C17-FDAA-D325-0797-8B2E3EC4EA8D}"/>
              </a:ext>
            </a:extLst>
          </p:cNvPr>
          <p:cNvSpPr/>
          <p:nvPr/>
        </p:nvSpPr>
        <p:spPr>
          <a:xfrm>
            <a:off x="1960834" y="2110226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369AAF5-B5DA-31A9-CE6B-76C051295975}"/>
              </a:ext>
            </a:extLst>
          </p:cNvPr>
          <p:cNvSpPr/>
          <p:nvPr/>
        </p:nvSpPr>
        <p:spPr>
          <a:xfrm>
            <a:off x="3458757" y="2467302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3EB6AA3-1E1B-7A82-322C-1C06FF8734AF}"/>
              </a:ext>
            </a:extLst>
          </p:cNvPr>
          <p:cNvSpPr/>
          <p:nvPr/>
        </p:nvSpPr>
        <p:spPr>
          <a:xfrm>
            <a:off x="2987489" y="1919025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18AEBB-FC0E-FE60-D94F-2981E96694CC}"/>
              </a:ext>
            </a:extLst>
          </p:cNvPr>
          <p:cNvSpPr/>
          <p:nvPr/>
        </p:nvSpPr>
        <p:spPr>
          <a:xfrm>
            <a:off x="2408144" y="2414325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6D1AFA7-DEFD-09E0-A8DA-E4A2C6F7AB88}"/>
              </a:ext>
            </a:extLst>
          </p:cNvPr>
          <p:cNvSpPr/>
          <p:nvPr/>
        </p:nvSpPr>
        <p:spPr>
          <a:xfrm>
            <a:off x="2834460" y="2357526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A709828-DF22-F421-D0F0-4A81A684E731}"/>
              </a:ext>
            </a:extLst>
          </p:cNvPr>
          <p:cNvGrpSpPr/>
          <p:nvPr/>
        </p:nvGrpSpPr>
        <p:grpSpPr>
          <a:xfrm rot="10800000">
            <a:off x="930089" y="2714601"/>
            <a:ext cx="2819400" cy="700677"/>
            <a:chOff x="762000" y="4550963"/>
            <a:chExt cx="2819400" cy="700677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98EA8D2-D8CC-118B-68F2-CCFB5A1F1388}"/>
                </a:ext>
              </a:extLst>
            </p:cNvPr>
            <p:cNvSpPr/>
            <p:nvPr/>
          </p:nvSpPr>
          <p:spPr>
            <a:xfrm>
              <a:off x="762000" y="455096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2D0B187-DDE2-BFAD-15F2-EECA29D6926D}"/>
                </a:ext>
              </a:extLst>
            </p:cNvPr>
            <p:cNvSpPr/>
            <p:nvPr/>
          </p:nvSpPr>
          <p:spPr>
            <a:xfrm>
              <a:off x="3505200" y="477956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45B030D-0B48-9A56-477E-B433CCDD1BE3}"/>
                </a:ext>
              </a:extLst>
            </p:cNvPr>
            <p:cNvSpPr/>
            <p:nvPr/>
          </p:nvSpPr>
          <p:spPr>
            <a:xfrm>
              <a:off x="914400" y="470336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5D4050D-3E25-B4DB-1666-397C51EB5F71}"/>
                </a:ext>
              </a:extLst>
            </p:cNvPr>
            <p:cNvSpPr/>
            <p:nvPr/>
          </p:nvSpPr>
          <p:spPr>
            <a:xfrm>
              <a:off x="1066800" y="485576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97E10A6-0587-27EC-212D-A001CE94354E}"/>
                </a:ext>
              </a:extLst>
            </p:cNvPr>
            <p:cNvSpPr/>
            <p:nvPr/>
          </p:nvSpPr>
          <p:spPr>
            <a:xfrm>
              <a:off x="1371600" y="516056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CC80AD1-08F3-A27C-58C4-FAF33F679552}"/>
                </a:ext>
              </a:extLst>
            </p:cNvPr>
            <p:cNvSpPr/>
            <p:nvPr/>
          </p:nvSpPr>
          <p:spPr>
            <a:xfrm>
              <a:off x="1716545" y="4818364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BE6DB29-8E11-8145-2D15-35AC8AF3DD8A}"/>
                </a:ext>
              </a:extLst>
            </p:cNvPr>
            <p:cNvSpPr/>
            <p:nvPr/>
          </p:nvSpPr>
          <p:spPr>
            <a:xfrm>
              <a:off x="3214468" y="517544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8D1E572-287F-335A-9801-0F6D5C66B4EF}"/>
                </a:ext>
              </a:extLst>
            </p:cNvPr>
            <p:cNvSpPr/>
            <p:nvPr/>
          </p:nvSpPr>
          <p:spPr>
            <a:xfrm>
              <a:off x="2743200" y="462716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4FA9269-169C-13C5-D596-91F2793E08A4}"/>
                </a:ext>
              </a:extLst>
            </p:cNvPr>
            <p:cNvSpPr/>
            <p:nvPr/>
          </p:nvSpPr>
          <p:spPr>
            <a:xfrm>
              <a:off x="2163855" y="512246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D2C7F6E-2856-6AB3-8094-EE8BA6087FD3}"/>
                </a:ext>
              </a:extLst>
            </p:cNvPr>
            <p:cNvSpPr/>
            <p:nvPr/>
          </p:nvSpPr>
          <p:spPr>
            <a:xfrm>
              <a:off x="2590171" y="5065664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C9F9AB3A-76BE-F96B-60E6-BD0FEA687CC9}"/>
              </a:ext>
            </a:extLst>
          </p:cNvPr>
          <p:cNvSpPr/>
          <p:nvPr/>
        </p:nvSpPr>
        <p:spPr>
          <a:xfrm>
            <a:off x="838200" y="3637167"/>
            <a:ext cx="3139889" cy="1752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6ECE22E-A2F0-7B47-4F2E-8D55C5E68246}"/>
              </a:ext>
            </a:extLst>
          </p:cNvPr>
          <p:cNvCxnSpPr/>
          <p:nvPr/>
        </p:nvCxnSpPr>
        <p:spPr>
          <a:xfrm>
            <a:off x="625289" y="4551567"/>
            <a:ext cx="3657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1902893-24CF-A644-FFB3-6ECB6F059D82}"/>
              </a:ext>
            </a:extLst>
          </p:cNvPr>
          <p:cNvGrpSpPr/>
          <p:nvPr/>
        </p:nvGrpSpPr>
        <p:grpSpPr>
          <a:xfrm rot="10800000">
            <a:off x="930089" y="4572000"/>
            <a:ext cx="2819400" cy="304800"/>
            <a:chOff x="762000" y="4959983"/>
            <a:chExt cx="2819400" cy="3048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97297D4-1D88-329F-FCC1-B83BBC69864F}"/>
                </a:ext>
              </a:extLst>
            </p:cNvPr>
            <p:cNvSpPr/>
            <p:nvPr/>
          </p:nvSpPr>
          <p:spPr>
            <a:xfrm>
              <a:off x="762000" y="495998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F03BC1B-9579-E4C6-213F-70F915912070}"/>
                </a:ext>
              </a:extLst>
            </p:cNvPr>
            <p:cNvSpPr/>
            <p:nvPr/>
          </p:nvSpPr>
          <p:spPr>
            <a:xfrm>
              <a:off x="3505200" y="495998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5A335AE-03FD-5821-B529-23254FD6DCB9}"/>
                </a:ext>
              </a:extLst>
            </p:cNvPr>
            <p:cNvSpPr/>
            <p:nvPr/>
          </p:nvSpPr>
          <p:spPr>
            <a:xfrm>
              <a:off x="914400" y="518858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C8821E3-E875-D46E-6AEB-964EADB16025}"/>
                </a:ext>
              </a:extLst>
            </p:cNvPr>
            <p:cNvSpPr/>
            <p:nvPr/>
          </p:nvSpPr>
          <p:spPr>
            <a:xfrm>
              <a:off x="1066800" y="503618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34D1E34-BF87-9D03-E1A5-D45B4F5749E4}"/>
                </a:ext>
              </a:extLst>
            </p:cNvPr>
            <p:cNvSpPr/>
            <p:nvPr/>
          </p:nvSpPr>
          <p:spPr>
            <a:xfrm>
              <a:off x="1371600" y="516056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77C2C29-FA16-A234-8F1E-D4F7FB012A8A}"/>
                </a:ext>
              </a:extLst>
            </p:cNvPr>
            <p:cNvSpPr/>
            <p:nvPr/>
          </p:nvSpPr>
          <p:spPr>
            <a:xfrm>
              <a:off x="1716545" y="511238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6506094-D4CD-40EF-38FE-CA6D58F2FF1C}"/>
                </a:ext>
              </a:extLst>
            </p:cNvPr>
            <p:cNvSpPr/>
            <p:nvPr/>
          </p:nvSpPr>
          <p:spPr>
            <a:xfrm>
              <a:off x="3214468" y="517544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B4AEF3D-F392-A071-470C-39CEC5157F3F}"/>
                </a:ext>
              </a:extLst>
            </p:cNvPr>
            <p:cNvSpPr/>
            <p:nvPr/>
          </p:nvSpPr>
          <p:spPr>
            <a:xfrm>
              <a:off x="2835090" y="495998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0831E74-ED45-CBAA-5BB2-470CC6013985}"/>
                </a:ext>
              </a:extLst>
            </p:cNvPr>
            <p:cNvSpPr/>
            <p:nvPr/>
          </p:nvSpPr>
          <p:spPr>
            <a:xfrm>
              <a:off x="2163855" y="512246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0D02836-9FAB-9D68-166B-F1602999182C}"/>
                </a:ext>
              </a:extLst>
            </p:cNvPr>
            <p:cNvSpPr/>
            <p:nvPr/>
          </p:nvSpPr>
          <p:spPr>
            <a:xfrm>
              <a:off x="2590171" y="5065664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ADD9D17-4731-E6E9-1ECB-4346230631C1}"/>
              </a:ext>
            </a:extLst>
          </p:cNvPr>
          <p:cNvGrpSpPr/>
          <p:nvPr/>
        </p:nvGrpSpPr>
        <p:grpSpPr>
          <a:xfrm>
            <a:off x="937934" y="4191000"/>
            <a:ext cx="2819400" cy="304800"/>
            <a:chOff x="762000" y="4959983"/>
            <a:chExt cx="2819400" cy="30480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92E1D98-8EF3-928F-1A5C-661CBC06A320}"/>
                </a:ext>
              </a:extLst>
            </p:cNvPr>
            <p:cNvSpPr/>
            <p:nvPr/>
          </p:nvSpPr>
          <p:spPr>
            <a:xfrm>
              <a:off x="762000" y="495998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EE70B14-CE08-3745-BCEC-A3D92DA7F818}"/>
                </a:ext>
              </a:extLst>
            </p:cNvPr>
            <p:cNvSpPr/>
            <p:nvPr/>
          </p:nvSpPr>
          <p:spPr>
            <a:xfrm>
              <a:off x="3505200" y="495998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EFEBB09-CF98-4826-D597-814121319B20}"/>
                </a:ext>
              </a:extLst>
            </p:cNvPr>
            <p:cNvSpPr/>
            <p:nvPr/>
          </p:nvSpPr>
          <p:spPr>
            <a:xfrm>
              <a:off x="914400" y="518858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65C9F30-FE6C-D076-4BE4-D2DD95FE91B6}"/>
                </a:ext>
              </a:extLst>
            </p:cNvPr>
            <p:cNvSpPr/>
            <p:nvPr/>
          </p:nvSpPr>
          <p:spPr>
            <a:xfrm>
              <a:off x="1066800" y="503618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D496A46-70AE-805C-AB15-333A92EED28C}"/>
                </a:ext>
              </a:extLst>
            </p:cNvPr>
            <p:cNvSpPr/>
            <p:nvPr/>
          </p:nvSpPr>
          <p:spPr>
            <a:xfrm>
              <a:off x="1371600" y="516056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9E1B370-9355-0BBF-948E-C00AED52C70C}"/>
                </a:ext>
              </a:extLst>
            </p:cNvPr>
            <p:cNvSpPr/>
            <p:nvPr/>
          </p:nvSpPr>
          <p:spPr>
            <a:xfrm>
              <a:off x="1716545" y="511238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9A7157D-0ECC-55F4-B454-01EF13442811}"/>
                </a:ext>
              </a:extLst>
            </p:cNvPr>
            <p:cNvSpPr/>
            <p:nvPr/>
          </p:nvSpPr>
          <p:spPr>
            <a:xfrm>
              <a:off x="3214468" y="517544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9DF755BD-07EB-D646-817F-68ADC5BFAC6C}"/>
                </a:ext>
              </a:extLst>
            </p:cNvPr>
            <p:cNvSpPr/>
            <p:nvPr/>
          </p:nvSpPr>
          <p:spPr>
            <a:xfrm>
              <a:off x="2835090" y="495998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5A4D2E0-8EBD-4ECC-39C9-10AE235DA6E8}"/>
                </a:ext>
              </a:extLst>
            </p:cNvPr>
            <p:cNvSpPr/>
            <p:nvPr/>
          </p:nvSpPr>
          <p:spPr>
            <a:xfrm>
              <a:off x="2163855" y="5122463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11E3EC4-8613-1DD7-1833-AB3D7AF22B79}"/>
                </a:ext>
              </a:extLst>
            </p:cNvPr>
            <p:cNvSpPr/>
            <p:nvPr/>
          </p:nvSpPr>
          <p:spPr>
            <a:xfrm>
              <a:off x="2590171" y="5065664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E3D8642D-1C27-C817-DC47-F4706483E71A}"/>
              </a:ext>
            </a:extLst>
          </p:cNvPr>
          <p:cNvSpPr txBox="1"/>
          <p:nvPr/>
        </p:nvSpPr>
        <p:spPr>
          <a:xfrm>
            <a:off x="3999763" y="2282636"/>
            <a:ext cx="884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mean</a:t>
            </a:r>
            <a:endParaRPr lang="en-IE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BF6AC57-E226-5062-A401-0D9B77A40BC8}"/>
              </a:ext>
            </a:extLst>
          </p:cNvPr>
          <p:cNvSpPr txBox="1"/>
          <p:nvPr/>
        </p:nvSpPr>
        <p:spPr>
          <a:xfrm>
            <a:off x="3972291" y="4168814"/>
            <a:ext cx="884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mean</a:t>
            </a:r>
            <a:endParaRPr lang="en-IE" dirty="0"/>
          </a:p>
        </p:txBody>
      </p:sp>
      <p:sp>
        <p:nvSpPr>
          <p:cNvPr id="58368" name="TextBox 58367">
            <a:extLst>
              <a:ext uri="{FF2B5EF4-FFF2-40B4-BE49-F238E27FC236}">
                <a16:creationId xmlns:a16="http://schemas.microsoft.com/office/drawing/2014/main" id="{EB1FC504-9A40-374C-8D69-0256EFD320C4}"/>
              </a:ext>
            </a:extLst>
          </p:cNvPr>
          <p:cNvSpPr txBox="1"/>
          <p:nvPr/>
        </p:nvSpPr>
        <p:spPr>
          <a:xfrm>
            <a:off x="533400" y="917644"/>
            <a:ext cx="426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set of points have higher variance? (the mean is the same)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0755298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78859-F704-C878-E097-01BC45924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3CCB39-110B-EDFA-5454-3A69632390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3400" y="620688"/>
            <a:ext cx="7773801" cy="1008112"/>
          </a:xfrm>
        </p:spPr>
        <p:txBody>
          <a:bodyPr>
            <a:normAutofit fontScale="92500"/>
          </a:bodyPr>
          <a:lstStyle/>
          <a:p>
            <a:r>
              <a:rPr lang="en-US" dirty="0"/>
              <a:t>How many samples do we need?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36580-340F-F9E9-683A-64BCEF7EE28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55650" y="1447800"/>
            <a:ext cx="7561263" cy="434339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Each time we rerun the Monte Carlo we get different results due to the inherent randomness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How much confidence can we put on our estimates? How many samples do we need?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Intuitions: the more sample, the surer about our estimate we are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It also depends how different are the outputs of each simulation (=the variance of the simulations).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If they are pretty close to each other, we are more confident and we might need less trials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If they change dramatically, we might need more trials to be confident</a:t>
            </a:r>
          </a:p>
        </p:txBody>
      </p:sp>
    </p:spTree>
    <p:extLst>
      <p:ext uri="{BB962C8B-B14F-4D97-AF65-F5344CB8AC3E}">
        <p14:creationId xmlns:p14="http://schemas.microsoft.com/office/powerpoint/2010/main" val="124555246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98324E-712E-0D5B-1A3A-649C88E568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0" y="228600"/>
            <a:ext cx="8092889" cy="914400"/>
          </a:xfrm>
        </p:spPr>
        <p:txBody>
          <a:bodyPr>
            <a:normAutofit/>
          </a:bodyPr>
          <a:lstStyle/>
          <a:p>
            <a:r>
              <a:rPr lang="en-US" dirty="0"/>
              <a:t>Confidence interval</a:t>
            </a:r>
            <a:endParaRPr lang="en-I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D9ED15-5010-FB26-FB16-5685EE72AA43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65176" y="914400"/>
                <a:ext cx="8610599" cy="4005605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800" dirty="0"/>
                  <a:t>A </a:t>
                </a:r>
                <a:r>
                  <a:rPr lang="en-US" sz="1800" b="1" dirty="0"/>
                  <a:t>confidence interval (CI)</a:t>
                </a:r>
                <a:r>
                  <a:rPr lang="en-US" sz="1800" dirty="0"/>
                  <a:t> is a range of values that is likely to contain the true value (=solution) to the problem we are simulating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800" dirty="0"/>
                  <a:t>Confidence level formula. Given N trials, if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1800" dirty="0"/>
                  <a:t>is the mean of all the trials (simulations), the confidence interval is: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US" sz="1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18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US" sz="18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US" sz="1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800" dirty="0"/>
                  <a:t>Z depends on the </a:t>
                </a:r>
                <a:r>
                  <a:rPr lang="en-US" sz="1800" b="1" dirty="0"/>
                  <a:t>confidence level</a:t>
                </a:r>
                <a:r>
                  <a:rPr lang="en-US" sz="1800" dirty="0"/>
                  <a:t>. For 95%, z=1.96, for 99% z=2.58. We can be sure that 95% of the time the real value we are searching is in the interval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US" sz="18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800" dirty="0"/>
                  <a:t>Example. A MM simulation for financial investment is returning an average profit of 50,000 euros. How sure can we be of this estimate?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800" dirty="0"/>
                  <a:t>In the simulation, N=1000 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1800" dirty="0"/>
                  <a:t>,000, z=1.96 (for 95% confidence)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800" dirty="0"/>
                  <a:t>The 95% confidence level is: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50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000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96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000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1000</m:t>
                              </m:r>
                            </m:e>
                          </m:rad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50000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620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49380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50620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E" sz="1800" dirty="0"/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IE" sz="1800" dirty="0"/>
                  <a:t>     With 95% probability, we are sure that the real value is inside +/- 620 euros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D9ED15-5010-FB26-FB16-5685EE72A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65176" y="914400"/>
                <a:ext cx="8610599" cy="4005605"/>
              </a:xfrm>
              <a:blipFill>
                <a:blip r:embed="rId2"/>
                <a:stretch>
                  <a:fillRect l="-283" t="-761" r="-708" b="-24353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A6A7DD-0143-3E51-09D5-66AB14A95229}"/>
                  </a:ext>
                </a:extLst>
              </p:cNvPr>
              <p:cNvSpPr txBox="1"/>
              <p:nvPr/>
            </p:nvSpPr>
            <p:spPr>
              <a:xfrm>
                <a:off x="3671046" y="2201299"/>
                <a:ext cx="2243415" cy="550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√(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den>
                      </m:f>
                    </m:oMath>
                  </m:oMathPara>
                </a14:m>
                <a:endParaRPr lang="en-IE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A6A7DD-0143-3E51-09D5-66AB14A95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046" y="2201299"/>
                <a:ext cx="2243415" cy="550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087007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06B454-402E-0B3F-92A6-8DE21CA0C5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Values of z by confidence level</a:t>
            </a:r>
            <a:endParaRPr lang="en-IE" dirty="0"/>
          </a:p>
        </p:txBody>
      </p:sp>
      <p:pic>
        <p:nvPicPr>
          <p:cNvPr id="60418" name="Picture 2" descr="Showing confidence level and Critical Values (z-value) | Download Table">
            <a:extLst>
              <a:ext uri="{FF2B5EF4-FFF2-40B4-BE49-F238E27FC236}">
                <a16:creationId xmlns:a16="http://schemas.microsoft.com/office/drawing/2014/main" id="{EE30DF48-8650-4B27-0037-16140029C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950" y="2076450"/>
            <a:ext cx="38481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05198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130CE-AC02-CE97-5E2C-5C495C358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4C7555-4691-B319-F562-B16CABA5F6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0" y="620688"/>
            <a:ext cx="8092889" cy="1008112"/>
          </a:xfrm>
        </p:spPr>
        <p:txBody>
          <a:bodyPr>
            <a:normAutofit fontScale="92500"/>
          </a:bodyPr>
          <a:lstStyle/>
          <a:p>
            <a:r>
              <a:rPr lang="en-US" dirty="0"/>
              <a:t>Confidence interval and variance</a:t>
            </a:r>
            <a:endParaRPr lang="en-I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1825C1-FCC5-DCC8-C289-2C0D953D895A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533400" y="1371600"/>
                <a:ext cx="8458200" cy="3548405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sz="2000" dirty="0"/>
                  <a:t>If we want to find the number of samples, given a confidence level and the confidence interval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𝐶𝐼</m:t>
                    </m:r>
                  </m:oMath>
                </a14:m>
                <a:r>
                  <a:rPr lang="en-IE" sz="2000" dirty="0"/>
                  <a:t> we can use the formula: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𝐶𝐼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b="0" dirty="0"/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:endParaRPr lang="en-IE" sz="2000" dirty="0"/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IE" sz="2000" dirty="0"/>
                  <a:t>Continuing the previous example, if I want to half the confidence interval from +/- 620 euro  to +/- 310 euro, I plug CI=310 in the above formula (and z=1.96, </a:t>
                </a:r>
                <a14:m>
                  <m:oMath xmlns:m="http://schemas.openxmlformats.org/officeDocument/2006/math">
                    <m:r>
                      <a:rPr lang="en-US" sz="2000"/>
                      <m:t>𝜎</m:t>
                    </m:r>
                    <m:r>
                      <a:rPr lang="en-US" sz="2000"/>
                      <m:t>=</m:t>
                    </m:r>
                    <m:r>
                      <a:rPr lang="en-US" sz="2000"/>
                      <m:t>10</m:t>
                    </m:r>
                  </m:oMath>
                </a14:m>
                <a:r>
                  <a:rPr lang="en-US" sz="2000" dirty="0"/>
                  <a:t>,000) and I obtain N = 4000 (instead of 1000)</a:t>
                </a: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sz="2000" dirty="0"/>
                  <a:t>To half the confidence interval I need 4 time the samples!</a:t>
                </a:r>
                <a:endParaRPr lang="en-IE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1825C1-FCC5-DCC8-C289-2C0D953D89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533400" y="1371600"/>
                <a:ext cx="8458200" cy="3548405"/>
              </a:xfrm>
              <a:blipFill>
                <a:blip r:embed="rId2"/>
                <a:stretch>
                  <a:fillRect l="-360" b="-13918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3593957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087B79-697E-42DE-554C-1153B614DB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381000"/>
            <a:ext cx="7560890" cy="815975"/>
          </a:xfrm>
        </p:spPr>
        <p:txBody>
          <a:bodyPr>
            <a:normAutofit/>
          </a:bodyPr>
          <a:lstStyle/>
          <a:p>
            <a:r>
              <a:rPr lang="en-US" dirty="0"/>
              <a:t>Example /2</a:t>
            </a:r>
            <a:endParaRPr lang="en-I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DA5F62-5B8C-52FB-E453-73A8F9734B7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304800" y="1196976"/>
                <a:ext cx="8229600" cy="4464050"/>
              </a:xfrm>
            </p:spPr>
            <p:txBody>
              <a:bodyPr>
                <a:noAutofit/>
              </a:bodyPr>
              <a:lstStyle/>
              <a:p>
                <a:r>
                  <a:rPr lang="en-US" sz="1700" dirty="0"/>
                  <a:t>Example: we are estimating the probability of having a straight flush at poker</a:t>
                </a:r>
              </a:p>
              <a:p>
                <a:r>
                  <a:rPr lang="en-US" sz="1700" dirty="0"/>
                  <a:t>We want to be sure 95% of the time (=confidence interval probability)  that our estimation is less than 0.1% (=confidence interval size) far from the real value.</a:t>
                </a:r>
              </a:p>
              <a:p>
                <a:r>
                  <a:rPr lang="en-US" sz="1700" dirty="0"/>
                  <a:t>From our simulations we noticed a variance of the outputs of 2%</a:t>
                </a:r>
              </a:p>
              <a:p>
                <a:r>
                  <a:rPr lang="en-US" sz="1700" dirty="0"/>
                  <a:t>Then we use the formula: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7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𝐶𝐼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2∗1.96∗</m:t>
                          </m:r>
                          <m:f>
                            <m:fPr>
                              <m:ctrlP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den>
                          </m:f>
                        </m:e>
                      </m:d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=6,147</m:t>
                      </m:r>
                    </m:oMath>
                  </m:oMathPara>
                </a14:m>
                <a:endParaRPr lang="en-IE" sz="1700" dirty="0"/>
              </a:p>
              <a:p>
                <a:r>
                  <a:rPr lang="en-IE" sz="1700" dirty="0"/>
                  <a:t>If we want a smaller confidence interval size like 0.01% we need: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7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𝐶𝐼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7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2∗1.96∗</m:t>
                          </m:r>
                          <m:f>
                            <m:fPr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en-US" sz="1700" i="1">
                          <a:latin typeface="Cambria Math" panose="02040503050406030204" pitchFamily="18" charset="0"/>
                        </a:rPr>
                        <m:t>=614</m:t>
                      </m:r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n-IE" sz="1700" dirty="0"/>
              </a:p>
              <a:p>
                <a:r>
                  <a:rPr lang="en-IE" sz="1700" dirty="0"/>
                  <a:t>100 times bigger!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DA5F62-5B8C-52FB-E453-73A8F9734B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304800" y="1196976"/>
                <a:ext cx="8229600" cy="4464050"/>
              </a:xfrm>
              <a:blipFill>
                <a:blip r:embed="rId2"/>
                <a:stretch>
                  <a:fillRect l="-148" t="-955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417515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6A01E-F084-AEC8-B340-AF3A6C3CC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12F97C-9821-F0AC-5A1D-A131C7CD86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381000"/>
            <a:ext cx="7560890" cy="815975"/>
          </a:xfrm>
        </p:spPr>
        <p:txBody>
          <a:bodyPr>
            <a:normAutofit/>
          </a:bodyPr>
          <a:lstStyle/>
          <a:p>
            <a:r>
              <a:rPr lang="en-US" dirty="0"/>
              <a:t>MM Simulation Examples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B507A-EBBF-FF5B-9276-C71D8EDD543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43000" y="2286000"/>
            <a:ext cx="7391400" cy="3375026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500" dirty="0"/>
              <a:t>Greek PI</a:t>
            </a:r>
            <a:endParaRPr lang="en-IE" sz="2500" dirty="0"/>
          </a:p>
          <a:p>
            <a:pPr marL="457200" indent="-457200">
              <a:buFont typeface="+mj-lt"/>
              <a:buAutoNum type="arabicPeriod"/>
            </a:pPr>
            <a:r>
              <a:rPr lang="en-US" sz="2500" dirty="0"/>
              <a:t>Throw 10 dices and get number 25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 dirty="0"/>
              <a:t>Probability of getting a 4-of-a-kind at Poker </a:t>
            </a:r>
          </a:p>
          <a:p>
            <a:endParaRPr lang="en-IE" sz="2500" dirty="0"/>
          </a:p>
        </p:txBody>
      </p:sp>
    </p:spTree>
    <p:extLst>
      <p:ext uri="{BB962C8B-B14F-4D97-AF65-F5344CB8AC3E}">
        <p14:creationId xmlns:p14="http://schemas.microsoft.com/office/powerpoint/2010/main" val="267664160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28DD0-1AA2-6052-BA84-E5C98527A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D7218E7-539A-35F1-19CD-AFEA07530DA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Estimating GREEK PI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IE" dirty="0"/>
                  <a:t>) via MM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D7218E7-539A-35F1-19CD-AFEA07530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02EEB9-8C3A-A4E0-C6F4-07D6AB9626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2121408"/>
                <a:ext cx="5105400" cy="4050792"/>
              </a:xfrm>
            </p:spPr>
            <p:txBody>
              <a:bodyPr/>
              <a:lstStyle/>
              <a:p>
                <a:r>
                  <a:rPr lang="en-US" dirty="0"/>
                  <a:t>How can we estimate it with Montecarlo simulation?</a:t>
                </a:r>
              </a:p>
              <a:p>
                <a:r>
                  <a:rPr lang="en-US" dirty="0"/>
                  <a:t>Consider the picture on the left.</a:t>
                </a:r>
              </a:p>
              <a:p>
                <a:r>
                  <a:rPr lang="en-US" dirty="0"/>
                  <a:t>What is the area of the square?</a:t>
                </a:r>
              </a:p>
              <a:p>
                <a:r>
                  <a:rPr lang="en-US" dirty="0"/>
                  <a:t>1</a:t>
                </a:r>
              </a:p>
              <a:p>
                <a:r>
                  <a:rPr lang="en-US" dirty="0"/>
                  <a:t>What is the area of the black area? It is a quarter of a circle and the radius is 1, so: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𝑏𝑙𝑎𝑐𝑘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Therefore, if I estimate the </a:t>
                </a:r>
                <a:r>
                  <a:rPr lang="en-US" dirty="0" err="1"/>
                  <a:t>aread</a:t>
                </a:r>
                <a:r>
                  <a:rPr lang="en-US" dirty="0"/>
                  <a:t> in black, I can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𝑏𝑙𝑎𝑐𝑘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02EEB9-8C3A-A4E0-C6F4-07D6AB9626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2121408"/>
                <a:ext cx="5105400" cy="4050792"/>
              </a:xfrm>
              <a:blipFill>
                <a:blip r:embed="rId3"/>
                <a:stretch>
                  <a:fillRect l="-597" t="-1504" r="-956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3C34D89D-C640-455E-E0DF-CF407A10E987}"/>
              </a:ext>
            </a:extLst>
          </p:cNvPr>
          <p:cNvGrpSpPr/>
          <p:nvPr/>
        </p:nvGrpSpPr>
        <p:grpSpPr>
          <a:xfrm>
            <a:off x="4572000" y="2276856"/>
            <a:ext cx="3947160" cy="3947160"/>
            <a:chOff x="5775960" y="2514600"/>
            <a:chExt cx="2438400" cy="2438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76A4F82-D520-94A8-3A7F-496B5BCB4263}"/>
                </a:ext>
              </a:extLst>
            </p:cNvPr>
            <p:cNvSpPr/>
            <p:nvPr/>
          </p:nvSpPr>
          <p:spPr>
            <a:xfrm>
              <a:off x="6995160" y="2514600"/>
              <a:ext cx="1219200" cy="12192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5" name="Arc 4">
              <a:extLst>
                <a:ext uri="{FF2B5EF4-FFF2-40B4-BE49-F238E27FC236}">
                  <a16:creationId xmlns:a16="http://schemas.microsoft.com/office/drawing/2014/main" id="{1AC9C130-8190-3A3B-3C0C-C60A6B53D082}"/>
                </a:ext>
              </a:extLst>
            </p:cNvPr>
            <p:cNvSpPr/>
            <p:nvPr/>
          </p:nvSpPr>
          <p:spPr>
            <a:xfrm>
              <a:off x="5775960" y="2514600"/>
              <a:ext cx="2438400" cy="2438400"/>
            </a:xfrm>
            <a:prstGeom prst="arc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F238AE0-6DE6-857C-BF7B-87579A1012F6}"/>
              </a:ext>
            </a:extLst>
          </p:cNvPr>
          <p:cNvSpPr txBox="1"/>
          <p:nvPr/>
        </p:nvSpPr>
        <p:spPr>
          <a:xfrm>
            <a:off x="6316980" y="434082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  <a:endParaRPr lang="en-I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6997A5-385D-A6E0-8AFD-45A3CE4A9DF9}"/>
              </a:ext>
            </a:extLst>
          </p:cNvPr>
          <p:cNvSpPr txBox="1"/>
          <p:nvPr/>
        </p:nvSpPr>
        <p:spPr>
          <a:xfrm>
            <a:off x="8229600" y="434082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  <a:endParaRPr lang="en-I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CC2DCC-9E88-4287-4E0E-4BF6FAC06640}"/>
              </a:ext>
            </a:extLst>
          </p:cNvPr>
          <p:cNvSpPr txBox="1"/>
          <p:nvPr/>
        </p:nvSpPr>
        <p:spPr>
          <a:xfrm>
            <a:off x="6149340" y="192302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  <a:endParaRPr lang="en-I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977BDC-D527-6DFB-76AD-199FB2A973AB}"/>
              </a:ext>
            </a:extLst>
          </p:cNvPr>
          <p:cNvSpPr txBox="1"/>
          <p:nvPr/>
        </p:nvSpPr>
        <p:spPr>
          <a:xfrm>
            <a:off x="8153400" y="1889498"/>
            <a:ext cx="649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1,1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86658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0CA29-3DBE-B299-B029-462CA77F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E4E78CB-8795-1A7A-DCA9-65D14F9DE1C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484632"/>
                <a:ext cx="7772400" cy="963168"/>
              </a:xfrm>
            </p:spPr>
            <p:txBody>
              <a:bodyPr/>
              <a:lstStyle/>
              <a:p>
                <a:r>
                  <a:rPr lang="en-US" dirty="0"/>
                  <a:t>GREEK PI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IE" dirty="0"/>
                  <a:t>)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E4E78CB-8795-1A7A-DCA9-65D14F9DE1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484632"/>
                <a:ext cx="7772400" cy="96316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E789AB-B8B1-50A2-5C6B-00464C7D96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47800"/>
                <a:ext cx="5638800" cy="533400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:r>
                  <a:rPr lang="en-US" sz="1800" dirty="0"/>
                  <a:t>Montecarlo simulation idea:</a:t>
                </a:r>
              </a:p>
              <a:p>
                <a:pPr marL="342900" indent="-342900">
                  <a:lnSpc>
                    <a:spcPct val="12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1800" dirty="0"/>
                  <a:t>Initialize a variable ok = 0</a:t>
                </a:r>
              </a:p>
              <a:p>
                <a:pPr marL="342900" indent="-342900">
                  <a:lnSpc>
                    <a:spcPct val="12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1800" dirty="0"/>
                  <a:t>Set the number of trial N</a:t>
                </a:r>
              </a:p>
              <a:p>
                <a:pPr marL="342900" indent="-342900">
                  <a:lnSpc>
                    <a:spcPct val="12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1800" dirty="0"/>
                  <a:t>For 1 to N:</a:t>
                </a:r>
              </a:p>
              <a:p>
                <a:pPr lvl="1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dirty="0"/>
                  <a:t>Generate a number point (</a:t>
                </a:r>
                <a:r>
                  <a:rPr lang="en-US" dirty="0" err="1"/>
                  <a:t>x,y</a:t>
                </a:r>
                <a:r>
                  <a:rPr lang="en-US" dirty="0"/>
                  <a:t>) where both x and y are between 0 and 1</a:t>
                </a:r>
              </a:p>
              <a:p>
                <a:pPr lvl="1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dirty="0"/>
                  <a:t>If the number is inside the circle (like the red points): ok = ok + 1</a:t>
                </a:r>
              </a:p>
              <a:p>
                <a:pPr marL="342900" indent="-342900">
                  <a:lnSpc>
                    <a:spcPct val="12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1800" dirty="0"/>
                  <a:t>The estimate of the area A of the quarter of a circle is  the portion of red points over the total: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𝑜𝑘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:r>
                  <a:rPr lang="en-US" sz="1800" dirty="0"/>
                  <a:t>We can estimate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800" dirty="0"/>
                  <a:t> by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=4∗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E789AB-B8B1-50A2-5C6B-00464C7D96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47800"/>
                <a:ext cx="5638800" cy="5334000"/>
              </a:xfrm>
              <a:blipFill>
                <a:blip r:embed="rId3"/>
                <a:stretch>
                  <a:fillRect l="-865" t="-114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Using the Monte Carlo Method to Calculate the Value of Pi">
            <a:extLst>
              <a:ext uri="{FF2B5EF4-FFF2-40B4-BE49-F238E27FC236}">
                <a16:creationId xmlns:a16="http://schemas.microsoft.com/office/drawing/2014/main" id="{673450DF-8598-23D8-DF17-5CD930AC5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21408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3142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0C08-52B4-AD97-ADC8-33BAA09EA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</a:t>
            </a:r>
            <a:endParaRPr lang="en-I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6F662A-813F-DFF4-B864-B5F72D9892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905000"/>
                <a:ext cx="7772400" cy="4468368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 dirty="0"/>
                  <a:t>If we are estimating a probability, the outcome of a single simulation is a binary outcome (inside or outside the circle). In this case variance can be computed with this formula: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US" b="0" dirty="0"/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 b="0" dirty="0"/>
                  <a:t>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IE" dirty="0"/>
                  <a:t> then Var = 0.168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IE" dirty="0" err="1"/>
                  <a:t>Standar</a:t>
                </a:r>
                <a:r>
                  <a:rPr lang="en-IE" dirty="0"/>
                  <a:t> error is: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0.168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=0.41</m:t>
                    </m:r>
                  </m:oMath>
                </a14:m>
                <a:endParaRPr lang="en-IE" dirty="0"/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IE" dirty="0" err="1"/>
                  <a:t>Standar</a:t>
                </a:r>
                <a:r>
                  <a:rPr lang="en-IE" dirty="0"/>
                  <a:t> error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=4∗0.41=1.64</m:t>
                    </m:r>
                  </m:oMath>
                </a14:m>
                <a:endParaRPr lang="en-IE" dirty="0"/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IE" dirty="0"/>
                  <a:t>If we want a confidence of 95% the size of the confidence interval is: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1.96∗1.64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=0.32</m:t>
                    </m:r>
                  </m:oMath>
                </a14:m>
                <a:r>
                  <a:rPr lang="en-US" b="0" dirty="0"/>
                  <a:t>  (too big!)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IE" dirty="0"/>
                  <a:t>If we increment to N = 10 000 simulations we get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1.96∗1.64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00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00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IE" dirty="0"/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endParaRPr lang="en-IE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6F662A-813F-DFF4-B864-B5F72D9892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905000"/>
                <a:ext cx="7772400" cy="4468368"/>
              </a:xfrm>
              <a:blipFill>
                <a:blip r:embed="rId2"/>
                <a:stretch>
                  <a:fillRect l="-392" t="-1364" r="-706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0667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192"/>
            <a:ext cx="8229600" cy="984942"/>
          </a:xfrm>
        </p:spPr>
        <p:txBody>
          <a:bodyPr>
            <a:normAutofit/>
          </a:bodyPr>
          <a:lstStyle/>
          <a:p>
            <a:r>
              <a:rPr lang="en-US" sz="3600" dirty="0"/>
              <a:t>Probability to throw Dice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563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1752600"/>
            <a:ext cx="8229600" cy="4855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What is the probability of getting 25 by throwing 10 dices?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Roll ten 6 sided die N times.</a:t>
            </a:r>
          </a:p>
          <a:p>
            <a:pPr lvl="1"/>
            <a:r>
              <a:rPr lang="en-US" sz="2000" dirty="0"/>
              <a:t>Compute the sum of all the dice</a:t>
            </a:r>
          </a:p>
          <a:p>
            <a:pPr lvl="1"/>
            <a:r>
              <a:rPr lang="en-US" sz="2000" dirty="0"/>
              <a:t>Count the number of time you get a 25, call it count_25</a:t>
            </a:r>
          </a:p>
          <a:p>
            <a:pPr lvl="1"/>
            <a:r>
              <a:rPr lang="en-US" sz="2000" dirty="0"/>
              <a:t>Estimate the probability as count_25/N.</a:t>
            </a:r>
          </a:p>
          <a:p>
            <a:pPr lvl="1"/>
            <a:endParaRPr lang="en-US" sz="2000" dirty="0"/>
          </a:p>
          <a:p>
            <a:pPr marL="457200" lvl="1" indent="0">
              <a:buNone/>
            </a:pPr>
            <a:endParaRPr lang="en-US" sz="1600" dirty="0"/>
          </a:p>
          <a:p>
            <a:pPr lvl="1"/>
            <a:endParaRPr lang="en-US" sz="1800" dirty="0"/>
          </a:p>
          <a:p>
            <a:pPr lvl="1"/>
            <a:endParaRPr lang="en-US" sz="16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457200" lvl="1" indent="0">
              <a:buFont typeface="Arial"/>
              <a:buNone/>
            </a:pPr>
            <a:endParaRPr lang="en-US" sz="2000" dirty="0"/>
          </a:p>
          <a:p>
            <a:pPr marL="457200" lvl="1" indent="0">
              <a:buFont typeface="Arial"/>
              <a:buNone/>
            </a:pPr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29875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192"/>
            <a:ext cx="8229600" cy="984942"/>
          </a:xfrm>
        </p:spPr>
        <p:txBody>
          <a:bodyPr>
            <a:normAutofit/>
          </a:bodyPr>
          <a:lstStyle/>
          <a:p>
            <a:r>
              <a:rPr lang="en-US" sz="3600" dirty="0"/>
              <a:t>Probability of a Straight Flush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563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1752600"/>
            <a:ext cx="8229600" cy="4855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What is the probability of being dealt a straight flush in a 5 card poker hand?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Generate N 5 card poker hands.</a:t>
            </a:r>
          </a:p>
          <a:p>
            <a:pPr lvl="1"/>
            <a:r>
              <a:rPr lang="en-US" sz="2000" dirty="0"/>
              <a:t>Count how many are a straight flush -  call </a:t>
            </a:r>
            <a:r>
              <a:rPr lang="en-US" sz="2000" dirty="0" err="1"/>
              <a:t>count_sf</a:t>
            </a:r>
            <a:endParaRPr lang="en-US" sz="2000" dirty="0"/>
          </a:p>
          <a:p>
            <a:pPr lvl="1"/>
            <a:r>
              <a:rPr lang="en-US" sz="2000" dirty="0"/>
              <a:t>Estimate the probability as </a:t>
            </a:r>
            <a:r>
              <a:rPr lang="en-US" sz="2000" dirty="0" err="1"/>
              <a:t>count_sf</a:t>
            </a:r>
            <a:r>
              <a:rPr lang="en-US" sz="2000" dirty="0"/>
              <a:t>/N.</a:t>
            </a:r>
          </a:p>
          <a:p>
            <a:pPr lvl="1"/>
            <a:r>
              <a:rPr lang="en-US" sz="2000" dirty="0"/>
              <a:t>Remember that the Ace can be used as a 1 or as the highest card (after the King): A,2,3,4,5 is a straight and also 10,J,Q,K,A is a straight</a:t>
            </a:r>
          </a:p>
          <a:p>
            <a:pPr lvl="1"/>
            <a:endParaRPr lang="en-US" sz="2000" dirty="0"/>
          </a:p>
          <a:p>
            <a:pPr marL="457200" lvl="1" indent="0">
              <a:buNone/>
            </a:pPr>
            <a:endParaRPr lang="en-US" sz="1600" dirty="0"/>
          </a:p>
          <a:p>
            <a:pPr lvl="1"/>
            <a:endParaRPr lang="en-US" sz="1800" dirty="0"/>
          </a:p>
          <a:p>
            <a:pPr lvl="1"/>
            <a:endParaRPr lang="en-US" sz="16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457200" lvl="1" indent="0">
              <a:buFont typeface="Arial"/>
              <a:buNone/>
            </a:pPr>
            <a:endParaRPr lang="en-US" sz="2000" dirty="0"/>
          </a:p>
          <a:p>
            <a:pPr marL="457200" lvl="1" indent="0">
              <a:buFont typeface="Arial"/>
              <a:buNone/>
            </a:pPr>
            <a:endParaRPr lang="en-US" sz="2000" dirty="0"/>
          </a:p>
          <a:p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395" y="1085840"/>
            <a:ext cx="2428584" cy="191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3828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6019D-312C-5276-4E41-C0D65A313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09800"/>
            <a:ext cx="7772400" cy="1609344"/>
          </a:xfrm>
        </p:spPr>
        <p:txBody>
          <a:bodyPr/>
          <a:lstStyle/>
          <a:p>
            <a:pPr algn="ctr"/>
            <a:r>
              <a:rPr lang="en-US" dirty="0"/>
              <a:t>How </a:t>
            </a:r>
            <a:r>
              <a:rPr lang="en-US" dirty="0" err="1"/>
              <a:t>Randomess</a:t>
            </a:r>
            <a:r>
              <a:rPr lang="en-US" dirty="0"/>
              <a:t> is generated in computers?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658223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>
            <a:extLst>
              <a:ext uri="{FF2B5EF4-FFF2-40B4-BE49-F238E27FC236}">
                <a16:creationId xmlns:a16="http://schemas.microsoft.com/office/drawing/2014/main" id="{188D5033-9EC9-72AE-7E9A-B3A9E922E9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Random versus Pseudo-random</a:t>
            </a:r>
          </a:p>
        </p:txBody>
      </p:sp>
      <p:sp>
        <p:nvSpPr>
          <p:cNvPr id="322563" name="Rectangle 3">
            <a:extLst>
              <a:ext uri="{FF2B5EF4-FFF2-40B4-BE49-F238E27FC236}">
                <a16:creationId xmlns:a16="http://schemas.microsoft.com/office/drawing/2014/main" id="{20535A48-F72D-9D65-1210-BBF2FDE4CA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Virtually all computers have “random number” generators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Their operation is deterministic, it is not based on chance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Sequences are predictable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More accurately computer generates “pseudo-random number”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“RNG” means “random number generator”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>
            <a:extLst>
              <a:ext uri="{FF2B5EF4-FFF2-40B4-BE49-F238E27FC236}">
                <a16:creationId xmlns:a16="http://schemas.microsoft.com/office/drawing/2014/main" id="{4CD09345-EA94-58E6-518A-E40E0E8624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Properties of an Ideal RNG</a:t>
            </a:r>
          </a:p>
        </p:txBody>
      </p:sp>
      <p:sp>
        <p:nvSpPr>
          <p:cNvPr id="323587" name="Rectangle 3">
            <a:extLst>
              <a:ext uri="{FF2B5EF4-FFF2-40B4-BE49-F238E27FC236}">
                <a16:creationId xmlns:a16="http://schemas.microsoft.com/office/drawing/2014/main" id="{18B64C7F-013C-F3B5-92BE-8089C2B488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sz="2400"/>
              <a:t>Uniformly distributed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Uncorrelated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Never cycles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Satisfies any statistical test for randomness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Reproducible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Machine-independent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Changing “seed” value changes sequence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Easily split into independent subsequences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Fast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Limited memory requirements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id="{1D6BE7A8-2F8A-09E0-D886-F426E02673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 RNG Is Ideal</a:t>
            </a:r>
          </a:p>
        </p:txBody>
      </p:sp>
      <p:sp>
        <p:nvSpPr>
          <p:cNvPr id="324611" name="Rectangle 3">
            <a:extLst>
              <a:ext uri="{FF2B5EF4-FFF2-40B4-BE49-F238E27FC236}">
                <a16:creationId xmlns:a16="http://schemas.microsoft.com/office/drawing/2014/main" id="{8E2ADFC0-6BFC-2C2D-6DE6-15DAF7A32B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Finite precision arithmetic </a:t>
            </a:r>
            <a:r>
              <a:rPr lang="en-US" altLang="en-US">
                <a:sym typeface="Symbol" panose="05050102010706020507" pitchFamily="18" charset="2"/>
              </a:rPr>
              <a:t> finite number of states  cycles</a:t>
            </a:r>
          </a:p>
          <a:p>
            <a:pPr lvl="1"/>
            <a:r>
              <a:rPr lang="en-US" altLang="en-US">
                <a:sym typeface="Symbol" panose="05050102010706020507" pitchFamily="18" charset="2"/>
              </a:rPr>
              <a:t>Period = length of cycle</a:t>
            </a:r>
          </a:p>
          <a:p>
            <a:pPr lvl="1"/>
            <a:r>
              <a:rPr lang="en-US" altLang="en-US">
                <a:sym typeface="Symbol" panose="05050102010706020507" pitchFamily="18" charset="2"/>
              </a:rPr>
              <a:t>If period &gt; number of values needed, effectively acyclic</a:t>
            </a:r>
          </a:p>
          <a:p>
            <a:r>
              <a:rPr lang="en-US" altLang="en-US">
                <a:sym typeface="Symbol" panose="05050102010706020507" pitchFamily="18" charset="2"/>
              </a:rPr>
              <a:t>Reproducible  correlations</a:t>
            </a:r>
          </a:p>
          <a:p>
            <a:r>
              <a:rPr lang="en-US" altLang="en-US">
                <a:sym typeface="Symbol" panose="05050102010706020507" pitchFamily="18" charset="2"/>
              </a:rPr>
              <a:t>Often speed versus quality trade-offs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1026">
            <a:extLst>
              <a:ext uri="{FF2B5EF4-FFF2-40B4-BE49-F238E27FC236}">
                <a16:creationId xmlns:a16="http://schemas.microsoft.com/office/drawing/2014/main" id="{19F05E65-2A15-CEF8-04C3-5894E012E5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Linear Congruential RNGs</a:t>
            </a:r>
          </a:p>
        </p:txBody>
      </p:sp>
      <p:graphicFrame>
        <p:nvGraphicFramePr>
          <p:cNvPr id="325637" name="Object 1029">
            <a:extLst>
              <a:ext uri="{FF2B5EF4-FFF2-40B4-BE49-F238E27FC236}">
                <a16:creationId xmlns:a16="http://schemas.microsoft.com/office/drawing/2014/main" id="{2AB5C5E4-8C97-C69F-00BF-9A795EE6CC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1828800"/>
          <a:ext cx="5029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87240" imgH="228600" progId="Equation.3">
                  <p:embed/>
                </p:oleObj>
              </mc:Choice>
              <mc:Fallback>
                <p:oleObj name="Equation" r:id="rId3" imgW="1587240" imgH="228600" progId="Equation.3">
                  <p:embed/>
                  <p:pic>
                    <p:nvPicPr>
                      <p:cNvPr id="325637" name="Object 1029">
                        <a:extLst>
                          <a:ext uri="{FF2B5EF4-FFF2-40B4-BE49-F238E27FC236}">
                            <a16:creationId xmlns:a16="http://schemas.microsoft.com/office/drawing/2014/main" id="{2AB5C5E4-8C97-C69F-00BF-9A795EE6CC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828800"/>
                        <a:ext cx="50292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5646" name="Group 1038">
            <a:extLst>
              <a:ext uri="{FF2B5EF4-FFF2-40B4-BE49-F238E27FC236}">
                <a16:creationId xmlns:a16="http://schemas.microsoft.com/office/drawing/2014/main" id="{977E493B-8A40-24E3-8A6D-68E5AB2F2439}"/>
              </a:ext>
            </a:extLst>
          </p:cNvPr>
          <p:cNvGrpSpPr>
            <a:grpSpLocks/>
          </p:cNvGrpSpPr>
          <p:nvPr/>
        </p:nvGrpSpPr>
        <p:grpSpPr bwMode="auto">
          <a:xfrm>
            <a:off x="2422525" y="2590800"/>
            <a:ext cx="1417638" cy="3089275"/>
            <a:chOff x="1526" y="1632"/>
            <a:chExt cx="893" cy="1946"/>
          </a:xfrm>
        </p:grpSpPr>
        <p:sp>
          <p:nvSpPr>
            <p:cNvPr id="325638" name="Text Box 1030">
              <a:extLst>
                <a:ext uri="{FF2B5EF4-FFF2-40B4-BE49-F238E27FC236}">
                  <a16:creationId xmlns:a16="http://schemas.microsoft.com/office/drawing/2014/main" id="{3145828C-A14B-12EB-AD05-3ACC987878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6" y="3290"/>
              <a:ext cx="8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Multiplier</a:t>
              </a:r>
            </a:p>
          </p:txBody>
        </p:sp>
        <p:sp>
          <p:nvSpPr>
            <p:cNvPr id="325639" name="Line 1031">
              <a:extLst>
                <a:ext uri="{FF2B5EF4-FFF2-40B4-BE49-F238E27FC236}">
                  <a16:creationId xmlns:a16="http://schemas.microsoft.com/office/drawing/2014/main" id="{8BCAE820-7625-CE50-959A-F2092BE152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32" y="1632"/>
              <a:ext cx="0" cy="163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E"/>
            </a:p>
          </p:txBody>
        </p:sp>
      </p:grpSp>
      <p:grpSp>
        <p:nvGrpSpPr>
          <p:cNvPr id="325645" name="Group 1037">
            <a:extLst>
              <a:ext uri="{FF2B5EF4-FFF2-40B4-BE49-F238E27FC236}">
                <a16:creationId xmlns:a16="http://schemas.microsoft.com/office/drawing/2014/main" id="{D7B54576-36FE-FB5A-4859-AD90310F821B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2590800"/>
            <a:ext cx="2339975" cy="2514600"/>
            <a:chOff x="2688" y="1632"/>
            <a:chExt cx="1474" cy="1584"/>
          </a:xfrm>
        </p:grpSpPr>
        <p:sp>
          <p:nvSpPr>
            <p:cNvPr id="325640" name="Text Box 1032">
              <a:extLst>
                <a:ext uri="{FF2B5EF4-FFF2-40B4-BE49-F238E27FC236}">
                  <a16:creationId xmlns:a16="http://schemas.microsoft.com/office/drawing/2014/main" id="{38D80A0F-0ECB-DA35-FFB8-19F5B95363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928"/>
              <a:ext cx="14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Additive constant</a:t>
              </a:r>
            </a:p>
          </p:txBody>
        </p:sp>
        <p:sp>
          <p:nvSpPr>
            <p:cNvPr id="325641" name="Line 1033">
              <a:extLst>
                <a:ext uri="{FF2B5EF4-FFF2-40B4-BE49-F238E27FC236}">
                  <a16:creationId xmlns:a16="http://schemas.microsoft.com/office/drawing/2014/main" id="{85B2AEFF-06AD-0B34-D6AD-59EB59E230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4" y="1632"/>
              <a:ext cx="0" cy="129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E"/>
            </a:p>
          </p:txBody>
        </p:sp>
      </p:grpSp>
      <p:grpSp>
        <p:nvGrpSpPr>
          <p:cNvPr id="325644" name="Group 1036">
            <a:extLst>
              <a:ext uri="{FF2B5EF4-FFF2-40B4-BE49-F238E27FC236}">
                <a16:creationId xmlns:a16="http://schemas.microsoft.com/office/drawing/2014/main" id="{39DB0859-2873-B29B-DFFF-B65BBDA4B1BC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2590800"/>
            <a:ext cx="1268413" cy="1600200"/>
            <a:chOff x="3600" y="1632"/>
            <a:chExt cx="799" cy="1008"/>
          </a:xfrm>
        </p:grpSpPr>
        <p:sp>
          <p:nvSpPr>
            <p:cNvPr id="325642" name="Text Box 1034">
              <a:extLst>
                <a:ext uri="{FF2B5EF4-FFF2-40B4-BE49-F238E27FC236}">
                  <a16:creationId xmlns:a16="http://schemas.microsoft.com/office/drawing/2014/main" id="{EC5D98BC-2116-8D8B-4898-124FE9B5DF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352"/>
              <a:ext cx="79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Modulus</a:t>
              </a:r>
            </a:p>
          </p:txBody>
        </p:sp>
        <p:sp>
          <p:nvSpPr>
            <p:cNvPr id="325643" name="Line 1035">
              <a:extLst>
                <a:ext uri="{FF2B5EF4-FFF2-40B4-BE49-F238E27FC236}">
                  <a16:creationId xmlns:a16="http://schemas.microsoft.com/office/drawing/2014/main" id="{FAB01CD1-6EAD-E221-E30F-0FC6E7CACD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1632"/>
              <a:ext cx="0" cy="72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E"/>
            </a:p>
          </p:txBody>
        </p:sp>
      </p:grpSp>
      <p:sp>
        <p:nvSpPr>
          <p:cNvPr id="325647" name="Text Box 1039">
            <a:extLst>
              <a:ext uri="{FF2B5EF4-FFF2-40B4-BE49-F238E27FC236}">
                <a16:creationId xmlns:a16="http://schemas.microsoft.com/office/drawing/2014/main" id="{FD6BF085-B77A-A232-7F06-A25D04D3F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867400"/>
            <a:ext cx="5876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/>
              <a:t>Sequence depends on choice of seed, </a:t>
            </a:r>
            <a:r>
              <a:rPr lang="en-US" altLang="en-US" sz="2800" i="1"/>
              <a:t>X</a:t>
            </a:r>
            <a:r>
              <a:rPr lang="en-US" altLang="en-US" sz="2800" i="1" baseline="-25000"/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25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2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47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>
            <a:extLst>
              <a:ext uri="{FF2B5EF4-FFF2-40B4-BE49-F238E27FC236}">
                <a16:creationId xmlns:a16="http://schemas.microsoft.com/office/drawing/2014/main" id="{5B1E3EA4-BBED-3505-0341-4F0A21A269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Period of Linear Congruential RNG</a:t>
            </a:r>
          </a:p>
        </p:txBody>
      </p:sp>
      <p:sp>
        <p:nvSpPr>
          <p:cNvPr id="326659" name="Rectangle 3">
            <a:extLst>
              <a:ext uri="{FF2B5EF4-FFF2-40B4-BE49-F238E27FC236}">
                <a16:creationId xmlns:a16="http://schemas.microsoft.com/office/drawing/2014/main" id="{0C7321B0-C901-B471-4581-AA30504D47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Maximum period is M</a:t>
            </a:r>
          </a:p>
          <a:p>
            <a:r>
              <a:rPr lang="en-US" altLang="en-US" dirty="0"/>
              <a:t>For 32-bit integers maximum period is 2</a:t>
            </a:r>
            <a:r>
              <a:rPr lang="en-US" altLang="en-US" baseline="30000" dirty="0"/>
              <a:t>32</a:t>
            </a:r>
            <a:r>
              <a:rPr lang="en-US" altLang="en-US" dirty="0"/>
              <a:t>, or about 4 billion</a:t>
            </a:r>
          </a:p>
          <a:p>
            <a:r>
              <a:rPr lang="en-US" altLang="en-US" dirty="0"/>
              <a:t>This is too small for modern computers</a:t>
            </a:r>
          </a:p>
          <a:p>
            <a:r>
              <a:rPr lang="en-US" altLang="en-US" dirty="0"/>
              <a:t>Use a generator with at least 48 bits of precision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>
            <a:extLst>
              <a:ext uri="{FF2B5EF4-FFF2-40B4-BE49-F238E27FC236}">
                <a16:creationId xmlns:a16="http://schemas.microsoft.com/office/drawing/2014/main" id="{ABC5D663-E588-C414-62D1-761E5C7153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Producing Floating-Point Numbers</a:t>
            </a:r>
          </a:p>
        </p:txBody>
      </p:sp>
      <p:sp>
        <p:nvSpPr>
          <p:cNvPr id="327683" name="Rectangle 3">
            <a:extLst>
              <a:ext uri="{FF2B5EF4-FFF2-40B4-BE49-F238E27FC236}">
                <a16:creationId xmlns:a16="http://schemas.microsoft.com/office/drawing/2014/main" id="{D9DCC71B-ED2A-5D7A-6ECA-663E200BA9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i="1" dirty="0"/>
              <a:t>X</a:t>
            </a:r>
            <a:r>
              <a:rPr lang="en-US" altLang="en-US" i="1" baseline="-25000" dirty="0"/>
              <a:t>i</a:t>
            </a:r>
            <a:r>
              <a:rPr lang="en-US" altLang="en-US" dirty="0"/>
              <a:t>, </a:t>
            </a:r>
            <a:r>
              <a:rPr lang="en-US" altLang="en-US" i="1" dirty="0"/>
              <a:t>a</a:t>
            </a:r>
            <a:r>
              <a:rPr lang="en-US" altLang="en-US" dirty="0"/>
              <a:t>, </a:t>
            </a:r>
            <a:r>
              <a:rPr lang="en-US" altLang="en-US" i="1" dirty="0"/>
              <a:t>c</a:t>
            </a:r>
            <a:r>
              <a:rPr lang="en-US" altLang="en-US" dirty="0"/>
              <a:t>, and </a:t>
            </a:r>
            <a:r>
              <a:rPr lang="en-US" altLang="en-US" i="1" dirty="0"/>
              <a:t>M</a:t>
            </a:r>
            <a:r>
              <a:rPr lang="en-US" altLang="en-US" dirty="0"/>
              <a:t> are all integers</a:t>
            </a:r>
          </a:p>
          <a:p>
            <a:r>
              <a:rPr lang="en-US" altLang="en-US" i="1" dirty="0" err="1"/>
              <a:t>X</a:t>
            </a:r>
            <a:r>
              <a:rPr lang="en-US" altLang="en-US" i="1" baseline="-25000" dirty="0" err="1"/>
              <a:t>i</a:t>
            </a:r>
            <a:r>
              <a:rPr lang="en-US" altLang="en-US" dirty="0" err="1"/>
              <a:t>s</a:t>
            </a:r>
            <a:r>
              <a:rPr lang="en-US" altLang="en-US" dirty="0"/>
              <a:t> range in value from 0 to </a:t>
            </a:r>
            <a:r>
              <a:rPr lang="en-US" altLang="en-US" i="1" dirty="0"/>
              <a:t>M</a:t>
            </a:r>
            <a:r>
              <a:rPr lang="en-US" altLang="en-US" dirty="0"/>
              <a:t>-1</a:t>
            </a:r>
          </a:p>
          <a:p>
            <a:r>
              <a:rPr lang="en-US" altLang="en-US" dirty="0"/>
              <a:t>To produce floating-point numbers in range [0, 1), divide </a:t>
            </a:r>
            <a:r>
              <a:rPr lang="en-US" altLang="en-US" i="1" dirty="0"/>
              <a:t>X</a:t>
            </a:r>
            <a:r>
              <a:rPr lang="en-US" altLang="en-US" i="1" baseline="-25000" dirty="0"/>
              <a:t>i</a:t>
            </a:r>
            <a:r>
              <a:rPr lang="en-US" altLang="en-US" dirty="0"/>
              <a:t> by </a:t>
            </a:r>
            <a:r>
              <a:rPr lang="en-US" altLang="en-US" i="1" dirty="0"/>
              <a:t>M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>
            <a:extLst>
              <a:ext uri="{FF2B5EF4-FFF2-40B4-BE49-F238E27FC236}">
                <a16:creationId xmlns:a16="http://schemas.microsoft.com/office/drawing/2014/main" id="{9E49F915-6AFA-DA29-A342-16470719C2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115568"/>
          </a:xfrm>
        </p:spPr>
        <p:txBody>
          <a:bodyPr/>
          <a:lstStyle/>
          <a:p>
            <a:r>
              <a:rPr lang="en-US" altLang="en-US" dirty="0"/>
              <a:t>Lagged Fibonacci RNGs</a:t>
            </a:r>
          </a:p>
        </p:txBody>
      </p:sp>
      <p:graphicFrame>
        <p:nvGraphicFramePr>
          <p:cNvPr id="329732" name="Object 4">
            <a:extLst>
              <a:ext uri="{FF2B5EF4-FFF2-40B4-BE49-F238E27FC236}">
                <a16:creationId xmlns:a16="http://schemas.microsoft.com/office/drawing/2014/main" id="{D44F7564-0708-3ABB-A9B2-D21E5662BA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0657024"/>
              </p:ext>
            </p:extLst>
          </p:nvPr>
        </p:nvGraphicFramePr>
        <p:xfrm>
          <a:off x="3200400" y="1446212"/>
          <a:ext cx="2514600" cy="596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41200" progId="Equation.3">
                  <p:embed/>
                </p:oleObj>
              </mc:Choice>
              <mc:Fallback>
                <p:oleObj name="Equation" r:id="rId3" imgW="1015920" imgH="241200" progId="Equation.3">
                  <p:embed/>
                  <p:pic>
                    <p:nvPicPr>
                      <p:cNvPr id="329732" name="Object 4">
                        <a:extLst>
                          <a:ext uri="{FF2B5EF4-FFF2-40B4-BE49-F238E27FC236}">
                            <a16:creationId xmlns:a16="http://schemas.microsoft.com/office/drawing/2014/main" id="{D44F7564-0708-3ABB-A9B2-D21E5662BA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446212"/>
                        <a:ext cx="2514600" cy="5969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29733" name="Rectangle 5">
                <a:extLst>
                  <a:ext uri="{FF2B5EF4-FFF2-40B4-BE49-F238E27FC236}">
                    <a16:creationId xmlns:a16="http://schemas.microsoft.com/office/drawing/2014/main" id="{11165156-4559-CC38-3A1F-4B107A0635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2133600"/>
                <a:ext cx="8305800" cy="40036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ts val="600"/>
                  </a:spcBef>
                  <a:buClr>
                    <a:schemeClr val="tx2"/>
                  </a:buClr>
                  <a:buSzPct val="75000"/>
                  <a:buFont typeface="Arial" panose="020B0604020202020204" pitchFamily="34" charset="0"/>
                  <a:buChar char="•"/>
                </a:pPr>
                <a:r>
                  <a:rPr lang="en-US" altLang="en-US" sz="2000" dirty="0">
                    <a:latin typeface="+mn-lt"/>
                  </a:rPr>
                  <a:t>p and q are lags, p &gt; q</a:t>
                </a:r>
              </a:p>
              <a:p>
                <a:pPr>
                  <a:spcBef>
                    <a:spcPts val="600"/>
                  </a:spcBef>
                  <a:buClr>
                    <a:schemeClr val="tx2"/>
                  </a:buClr>
                  <a:buSzPct val="75000"/>
                  <a:buFont typeface="Arial" panose="020B0604020202020204" pitchFamily="34" charset="0"/>
                  <a:buChar char="•"/>
                </a:pPr>
                <a:r>
                  <a:rPr lang="en-US" altLang="en-US" sz="2000" dirty="0">
                    <a:latin typeface="+mn-lt"/>
                  </a:rPr>
                  <a:t>* is any binary arithmetic operation</a:t>
                </a:r>
              </a:p>
              <a:p>
                <a:pPr marL="800100" lvl="1" indent="-342900">
                  <a:spcBef>
                    <a:spcPts val="600"/>
                  </a:spcBef>
                  <a:buClr>
                    <a:schemeClr val="tx2"/>
                  </a:buClr>
                  <a:buSzPct val="75000"/>
                  <a:buFont typeface="Arial" panose="020B0604020202020204" pitchFamily="34" charset="0"/>
                  <a:buChar char="•"/>
                </a:pPr>
                <a:r>
                  <a:rPr lang="en-US" altLang="en-US" sz="2000" dirty="0">
                    <a:latin typeface="+mn-lt"/>
                  </a:rPr>
                  <a:t>Addition modulo M</a:t>
                </a:r>
              </a:p>
              <a:p>
                <a:pPr marL="800100" lvl="1" indent="-342900">
                  <a:spcBef>
                    <a:spcPts val="600"/>
                  </a:spcBef>
                  <a:buClr>
                    <a:schemeClr val="tx2"/>
                  </a:buClr>
                  <a:buSzPct val="75000"/>
                  <a:buFont typeface="Arial" panose="020B0604020202020204" pitchFamily="34" charset="0"/>
                  <a:buChar char="•"/>
                </a:pPr>
                <a:r>
                  <a:rPr lang="en-US" altLang="en-US" sz="2000" dirty="0">
                    <a:latin typeface="+mn-lt"/>
                  </a:rPr>
                  <a:t>Subtraction modulo M</a:t>
                </a:r>
              </a:p>
              <a:p>
                <a:pPr marL="800100" lvl="1" indent="-342900">
                  <a:spcBef>
                    <a:spcPts val="600"/>
                  </a:spcBef>
                  <a:buClr>
                    <a:schemeClr val="tx2"/>
                  </a:buClr>
                  <a:buSzPct val="75000"/>
                  <a:buFont typeface="Arial" panose="020B0604020202020204" pitchFamily="34" charset="0"/>
                  <a:buChar char="•"/>
                </a:pPr>
                <a:r>
                  <a:rPr lang="en-US" altLang="en-US" sz="2000" dirty="0">
                    <a:latin typeface="+mn-lt"/>
                  </a:rPr>
                  <a:t>Multiplication modulo M</a:t>
                </a:r>
              </a:p>
              <a:p>
                <a:pPr marL="800100" lvl="1" indent="-342900">
                  <a:spcBef>
                    <a:spcPts val="600"/>
                  </a:spcBef>
                  <a:buClr>
                    <a:schemeClr val="tx2"/>
                  </a:buClr>
                  <a:buSzPct val="75000"/>
                  <a:buFont typeface="Arial" panose="020B0604020202020204" pitchFamily="34" charset="0"/>
                  <a:buChar char="•"/>
                </a:pPr>
                <a:r>
                  <a:rPr lang="en-US" altLang="en-US" sz="2000" dirty="0">
                    <a:latin typeface="+mn-lt"/>
                  </a:rPr>
                  <a:t>Bitwise exclusive or</a:t>
                </a:r>
              </a:p>
              <a:p>
                <a:pPr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sz="2000" dirty="0">
                    <a:latin typeface="+mn-lt"/>
                  </a:rPr>
                  <a:t>Careful selection of seed values, p, and q can result in very long periods and good randomness</a:t>
                </a:r>
              </a:p>
              <a:p>
                <a:pPr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sz="2000" dirty="0">
                    <a:latin typeface="+mn-lt"/>
                  </a:rPr>
                  <a:t>For example, suppose M has b bits</a:t>
                </a:r>
              </a:p>
              <a:p>
                <a:pPr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sz="2000" dirty="0">
                    <a:latin typeface="+mn-lt"/>
                  </a:rPr>
                  <a:t>Maximum period for additive lagged Fibonacci RNG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altLang="en-US" sz="2000" dirty="0">
                  <a:latin typeface="+mn-lt"/>
                </a:endParaRPr>
              </a:p>
              <a:p>
                <a:pPr marL="457200" lvl="1" indent="0">
                  <a:spcBef>
                    <a:spcPts val="600"/>
                  </a:spcBef>
                  <a:buClr>
                    <a:schemeClr val="tx2"/>
                  </a:buClr>
                  <a:buSzPct val="75000"/>
                </a:pPr>
                <a:endParaRPr lang="en-US" altLang="en-US" sz="2000" dirty="0">
                  <a:latin typeface="+mn-lt"/>
                </a:endParaRPr>
              </a:p>
              <a:p>
                <a:pPr>
                  <a:spcBef>
                    <a:spcPts val="6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</a:pPr>
                <a:endParaRPr lang="en-US" altLang="en-US" sz="3200" dirty="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</mc:Choice>
        <mc:Fallback>
          <p:sp>
            <p:nvSpPr>
              <p:cNvPr id="329733" name="Rectangle 5">
                <a:extLst>
                  <a:ext uri="{FF2B5EF4-FFF2-40B4-BE49-F238E27FC236}">
                    <a16:creationId xmlns:a16="http://schemas.microsoft.com/office/drawing/2014/main" id="{11165156-4559-CC38-3A1F-4B107A0635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2133600"/>
                <a:ext cx="8305800" cy="4003675"/>
              </a:xfrm>
              <a:prstGeom prst="rect">
                <a:avLst/>
              </a:prstGeom>
              <a:blipFill>
                <a:blip r:embed="rId5"/>
                <a:stretch>
                  <a:fillRect l="-660" t="-761" b="-91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9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9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97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97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97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97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97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97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97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3" grpId="0" build="p" bldLvl="2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DA96B-7B90-2A6E-E19B-D2E198139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number in java</a:t>
            </a:r>
            <a:endParaRPr lang="en-I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4AE1FC-9C94-B2A3-A723-C409E2C201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828800"/>
                <a:ext cx="7772400" cy="48006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IE" dirty="0"/>
                  <a:t>The Random class generates numbers using this recurrence: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𝑋</m:t>
                          </m:r>
                        </m:e>
                        <m:sub>
                          <m:r>
                            <a:rPr lang="ar-AE" i="1"/>
                            <m:t>𝑛</m:t>
                          </m:r>
                          <m:r>
                            <a:rPr lang="ar-AE"/>
                            <m:t>+</m:t>
                          </m:r>
                          <m:r>
                            <a:rPr lang="ar-AE"/>
                            <m:t>1</m:t>
                          </m:r>
                        </m:sub>
                      </m:sSub>
                      <m:r>
                        <a:rPr lang="ar-AE"/>
                        <m:t>=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𝑎</m:t>
                          </m:r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𝑋</m:t>
                              </m:r>
                            </m:e>
                            <m:sub>
                              <m:r>
                                <a:rPr lang="ar-AE" i="1"/>
                                <m:t>𝑛</m:t>
                              </m:r>
                            </m:sub>
                          </m:sSub>
                          <m:r>
                            <a:rPr lang="ar-AE"/>
                            <m:t>+</m:t>
                          </m:r>
                          <m:r>
                            <a:rPr lang="ar-AE" i="1"/>
                            <m:t>𝑐</m:t>
                          </m:r>
                        </m:e>
                      </m:d>
                      <m:r>
                        <a:rPr lang="ar-AE"/>
                        <m:t>  </m:t>
                      </m:r>
                      <m:r>
                        <m:rPr>
                          <m:sty m:val="p"/>
                        </m:rPr>
                        <a:rPr lang="en-IE"/>
                        <m:t>mod</m:t>
                      </m:r>
                      <m:r>
                        <m:rPr>
                          <m:nor/>
                        </m:rPr>
                        <a:rPr lang="en-IE" i="1"/>
                        <m:t>  </m:t>
                      </m:r>
                      <m:r>
                        <a:rPr lang="en-IE" i="1"/>
                        <m:t>𝑚</m:t>
                      </m:r>
                    </m:oMath>
                  </m:oMathPara>
                </a14:m>
                <a:endParaRPr lang="en-IE" b="0" dirty="0"/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IE" dirty="0"/>
                  <a:t>Where:</a:t>
                </a: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𝑋</m:t>
                        </m:r>
                      </m:e>
                      <m:sub>
                        <m:r>
                          <a:rPr lang="ar-AE" i="1"/>
                          <m:t>𝑛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E" dirty="0"/>
                  <a:t>current random value</a:t>
                </a: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𝑋</m:t>
                        </m:r>
                      </m:e>
                      <m:sub>
                        <m:r>
                          <a:rPr lang="ar-AE" i="1"/>
                          <m:t>𝑛</m:t>
                        </m:r>
                        <m:r>
                          <a:rPr lang="ar-AE"/>
                          <m:t>+</m:t>
                        </m:r>
                        <m:r>
                          <a:rPr lang="ar-AE"/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E" dirty="0"/>
                  <a:t>next random value</a:t>
                </a: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IE" i="1"/>
                      <m:t>𝑎</m:t>
                    </m:r>
                  </m:oMath>
                </a14:m>
                <a:r>
                  <a:rPr lang="en-IE" dirty="0"/>
                  <a:t>, </a:t>
                </a:r>
                <a14:m>
                  <m:oMath xmlns:m="http://schemas.openxmlformats.org/officeDocument/2006/math">
                    <m:r>
                      <a:rPr lang="en-IE" i="1"/>
                      <m:t>𝑐</m:t>
                    </m:r>
                  </m:oMath>
                </a14:m>
                <a:r>
                  <a:rPr lang="en-IE" dirty="0"/>
                  <a:t>, and </a:t>
                </a:r>
                <a14:m>
                  <m:oMath xmlns:m="http://schemas.openxmlformats.org/officeDocument/2006/math">
                    <m:r>
                      <a:rPr lang="en-IE" i="1"/>
                      <m:t>𝑚</m:t>
                    </m:r>
                  </m:oMath>
                </a14:m>
                <a:r>
                  <a:rPr lang="en-IE" dirty="0"/>
                  <a:t>= carefully chosen constants</a:t>
                </a: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IE" dirty="0"/>
                  <a:t>seed = the initial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𝑋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</m:sSub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IE" dirty="0"/>
                  <a:t>Java’s constants are: </a:t>
                </a:r>
                <a14:m>
                  <m:oMath xmlns:m="http://schemas.openxmlformats.org/officeDocument/2006/math">
                    <m:r>
                      <a:rPr lang="en-IE" i="1"/>
                      <m:t>𝑎</m:t>
                    </m:r>
                    <m:r>
                      <a:rPr lang="en-IE"/>
                      <m:t>=</m:t>
                    </m:r>
                    <m:r>
                      <a:rPr lang="en-IE"/>
                      <m:t>25214903917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IE" i="1"/>
                      <m:t>𝑐</m:t>
                    </m:r>
                    <m:r>
                      <a:rPr lang="en-IE"/>
                      <m:t>=</m:t>
                    </m:r>
                    <m:r>
                      <a:rPr lang="en-IE"/>
                      <m:t>11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IE" i="1"/>
                      <m:t>𝑚</m:t>
                    </m:r>
                    <m:r>
                      <a:rPr lang="en-IE"/>
                      <m:t>=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2</m:t>
                        </m:r>
                      </m:e>
                      <m:sup>
                        <m:r>
                          <a:rPr lang="ar-AE"/>
                          <m:t>48</m:t>
                        </m:r>
                      </m:sup>
                    </m:sSup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IE" dirty="0"/>
                  <a:t>This creates a long sequence of numbers that appear random.</a:t>
                </a: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IE" b="1" dirty="0"/>
                  <a:t>Important:</a:t>
                </a:r>
                <a:r>
                  <a:rPr lang="en-IE" dirty="0"/>
                  <a:t> If you start with the same seed, you get </a:t>
                </a:r>
                <a:r>
                  <a:rPr lang="en-IE" i="1" dirty="0"/>
                  <a:t>exactly</a:t>
                </a:r>
                <a:r>
                  <a:rPr lang="en-IE" dirty="0"/>
                  <a:t> the same sequence.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4AE1FC-9C94-B2A3-A723-C409E2C201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828800"/>
                <a:ext cx="7772400" cy="4800600"/>
              </a:xfrm>
              <a:blipFill>
                <a:blip r:embed="rId2"/>
                <a:stretch>
                  <a:fillRect l="-392" b="-127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75471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00043-DF7D-62DE-2D73-C395B8542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Randomness in </a:t>
            </a:r>
            <a:r>
              <a:rPr lang="en-US" dirty="0" err="1"/>
              <a:t>JavA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3184E-1BEA-FD7B-9094-76962D150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Randint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 err="1"/>
              <a:t>Usueful</a:t>
            </a:r>
            <a:r>
              <a:rPr lang="en-US" dirty="0"/>
              <a:t> data structure: </a:t>
            </a:r>
            <a:r>
              <a:rPr lang="en-US" dirty="0" err="1"/>
              <a:t>ArrayList</a:t>
            </a:r>
            <a:endParaRPr lang="en-US" dirty="0"/>
          </a:p>
          <a:p>
            <a:endParaRPr lang="en-US" dirty="0"/>
          </a:p>
          <a:p>
            <a:r>
              <a:rPr lang="en-US" dirty="0"/>
              <a:t>Shuffle randomly an array (</a:t>
            </a:r>
            <a:r>
              <a:rPr lang="en-US" dirty="0" err="1"/>
              <a:t>ArrayList</a:t>
            </a:r>
            <a:r>
              <a:rPr lang="en-US" dirty="0"/>
              <a:t>)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467322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D413A-C921-4FAF-E6B6-93B66E8E4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53440"/>
          </a:xfrm>
        </p:spPr>
        <p:txBody>
          <a:bodyPr/>
          <a:lstStyle/>
          <a:p>
            <a:r>
              <a:rPr lang="en-US" dirty="0"/>
              <a:t>The random java class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1F29F-F639-011F-DE77-487DAD226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34440"/>
            <a:ext cx="7772400" cy="4389120"/>
          </a:xfrm>
        </p:spPr>
        <p:txBody>
          <a:bodyPr/>
          <a:lstStyle/>
          <a:p>
            <a:r>
              <a:rPr lang="en-US" dirty="0"/>
              <a:t>The Random class allow to generate random numbers.</a:t>
            </a:r>
          </a:p>
          <a:p>
            <a:r>
              <a:rPr lang="en-US" dirty="0"/>
              <a:t>The object is initialized with: </a:t>
            </a:r>
          </a:p>
          <a:p>
            <a:pPr marL="0" indent="0">
              <a:buNone/>
            </a:pPr>
            <a:r>
              <a:rPr lang="en-US" dirty="0"/>
              <a:t>Random rand = new Random(seed); (seed in an integer)</a:t>
            </a:r>
          </a:p>
          <a:p>
            <a:endParaRPr lang="en-IE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22024B-3A9A-37D4-16F3-F9CE18262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023161"/>
              </p:ext>
            </p:extLst>
          </p:nvPr>
        </p:nvGraphicFramePr>
        <p:xfrm>
          <a:off x="914400" y="2809718"/>
          <a:ext cx="7027764" cy="35636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42588">
                  <a:extLst>
                    <a:ext uri="{9D8B030D-6E8A-4147-A177-3AD203B41FA5}">
                      <a16:colId xmlns:a16="http://schemas.microsoft.com/office/drawing/2014/main" val="3248290706"/>
                    </a:ext>
                  </a:extLst>
                </a:gridCol>
                <a:gridCol w="2342588">
                  <a:extLst>
                    <a:ext uri="{9D8B030D-6E8A-4147-A177-3AD203B41FA5}">
                      <a16:colId xmlns:a16="http://schemas.microsoft.com/office/drawing/2014/main" val="1789007623"/>
                    </a:ext>
                  </a:extLst>
                </a:gridCol>
                <a:gridCol w="2342588">
                  <a:extLst>
                    <a:ext uri="{9D8B030D-6E8A-4147-A177-3AD203B41FA5}">
                      <a16:colId xmlns:a16="http://schemas.microsoft.com/office/drawing/2014/main" val="2637650377"/>
                    </a:ext>
                  </a:extLst>
                </a:gridCol>
              </a:tblGrid>
              <a:tr h="258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 b="1" dirty="0"/>
                        <a:t>Method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 b="1" dirty="0"/>
                        <a:t>Returns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 b="1" dirty="0"/>
                        <a:t>Typical Use</a:t>
                      </a:r>
                    </a:p>
                  </a:txBody>
                  <a:tcPr marL="82680" marR="82680" marT="41340" marB="41340" anchor="ctr"/>
                </a:tc>
                <a:extLst>
                  <a:ext uri="{0D108BD9-81ED-4DB2-BD59-A6C34878D82A}">
                    <a16:rowId xmlns:a16="http://schemas.microsoft.com/office/drawing/2014/main" val="1652974885"/>
                  </a:ext>
                </a:extLst>
              </a:tr>
              <a:tr h="258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nextInt()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any int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general randomness</a:t>
                      </a:r>
                    </a:p>
                  </a:txBody>
                  <a:tcPr marL="82680" marR="82680" marT="41340" marB="41340" anchor="ctr"/>
                </a:tc>
                <a:extLst>
                  <a:ext uri="{0D108BD9-81ED-4DB2-BD59-A6C34878D82A}">
                    <a16:rowId xmlns:a16="http://schemas.microsoft.com/office/drawing/2014/main" val="367914864"/>
                  </a:ext>
                </a:extLst>
              </a:tr>
              <a:tr h="258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nextInt(bound)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int 0 to bound–1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dice, indexes, cards</a:t>
                      </a:r>
                    </a:p>
                  </a:txBody>
                  <a:tcPr marL="82680" marR="82680" marT="41340" marB="41340" anchor="ctr"/>
                </a:tc>
                <a:extLst>
                  <a:ext uri="{0D108BD9-81ED-4DB2-BD59-A6C34878D82A}">
                    <a16:rowId xmlns:a16="http://schemas.microsoft.com/office/drawing/2014/main" val="1620658251"/>
                  </a:ext>
                </a:extLst>
              </a:tr>
              <a:tr h="353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nextDouble()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double 0–1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Monte Carlo weighting</a:t>
                      </a:r>
                    </a:p>
                  </a:txBody>
                  <a:tcPr marL="82680" marR="82680" marT="41340" marB="41340" anchor="ctr"/>
                </a:tc>
                <a:extLst>
                  <a:ext uri="{0D108BD9-81ED-4DB2-BD59-A6C34878D82A}">
                    <a16:rowId xmlns:a16="http://schemas.microsoft.com/office/drawing/2014/main" val="2925206009"/>
                  </a:ext>
                </a:extLst>
              </a:tr>
              <a:tr h="258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nextBoolean()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 dirty="0"/>
                        <a:t>true/false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random choices</a:t>
                      </a:r>
                    </a:p>
                  </a:txBody>
                  <a:tcPr marL="82680" marR="82680" marT="41340" marB="41340" anchor="ctr"/>
                </a:tc>
                <a:extLst>
                  <a:ext uri="{0D108BD9-81ED-4DB2-BD59-A6C34878D82A}">
                    <a16:rowId xmlns:a16="http://schemas.microsoft.com/office/drawing/2014/main" val="959616779"/>
                  </a:ext>
                </a:extLst>
              </a:tr>
              <a:tr h="258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nextFloat()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float 0–1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graphics/games</a:t>
                      </a:r>
                    </a:p>
                  </a:txBody>
                  <a:tcPr marL="82680" marR="82680" marT="41340" marB="41340" anchor="ctr"/>
                </a:tc>
                <a:extLst>
                  <a:ext uri="{0D108BD9-81ED-4DB2-BD59-A6C34878D82A}">
                    <a16:rowId xmlns:a16="http://schemas.microsoft.com/office/drawing/2014/main" val="877640547"/>
                  </a:ext>
                </a:extLst>
              </a:tr>
              <a:tr h="353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nextLong()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any long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large random numbers</a:t>
                      </a:r>
                    </a:p>
                  </a:txBody>
                  <a:tcPr marL="82680" marR="82680" marT="41340" marB="41340" anchor="ctr"/>
                </a:tc>
                <a:extLst>
                  <a:ext uri="{0D108BD9-81ED-4DB2-BD59-A6C34878D82A}">
                    <a16:rowId xmlns:a16="http://schemas.microsoft.com/office/drawing/2014/main" val="3723799474"/>
                  </a:ext>
                </a:extLst>
              </a:tr>
              <a:tr h="258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nextGaussian()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normal distribution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scientific simulations</a:t>
                      </a:r>
                    </a:p>
                  </a:txBody>
                  <a:tcPr marL="82680" marR="82680" marT="41340" marB="41340" anchor="ctr"/>
                </a:tc>
                <a:extLst>
                  <a:ext uri="{0D108BD9-81ED-4DB2-BD59-A6C34878D82A}">
                    <a16:rowId xmlns:a16="http://schemas.microsoft.com/office/drawing/2014/main" val="4142530561"/>
                  </a:ext>
                </a:extLst>
              </a:tr>
              <a:tr h="452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setSeed(seed)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void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reproducible randomness</a:t>
                      </a:r>
                    </a:p>
                  </a:txBody>
                  <a:tcPr marL="82680" marR="82680" marT="41340" marB="41340" anchor="ctr"/>
                </a:tc>
                <a:extLst>
                  <a:ext uri="{0D108BD9-81ED-4DB2-BD59-A6C34878D82A}">
                    <a16:rowId xmlns:a16="http://schemas.microsoft.com/office/drawing/2014/main" val="957023561"/>
                  </a:ext>
                </a:extLst>
              </a:tr>
              <a:tr h="258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nextBytes(arr)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/>
                        <a:t>void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 dirty="0"/>
                        <a:t>random data blocks</a:t>
                      </a:r>
                    </a:p>
                  </a:txBody>
                  <a:tcPr marL="82680" marR="82680" marT="41340" marB="41340" anchor="ctr"/>
                </a:tc>
                <a:extLst>
                  <a:ext uri="{0D108BD9-81ED-4DB2-BD59-A6C34878D82A}">
                    <a16:rowId xmlns:a16="http://schemas.microsoft.com/office/drawing/2014/main" val="1031539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90868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5AC85-8A7D-771B-5279-E121D320E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990600"/>
          </a:xfrm>
        </p:spPr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 in java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6847F-61EA-061E-0A06-DCDA755CF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95400"/>
            <a:ext cx="2743200" cy="4876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Dynamic arrays (based on linked lists..)</a:t>
            </a:r>
          </a:p>
          <a:p>
            <a:r>
              <a:rPr lang="en-US" dirty="0"/>
              <a:t>import </a:t>
            </a:r>
            <a:r>
              <a:rPr lang="en-US" dirty="0" err="1"/>
              <a:t>java.util.ArrayList</a:t>
            </a:r>
            <a:r>
              <a:rPr lang="en-US" dirty="0"/>
              <a:t>;</a:t>
            </a:r>
          </a:p>
          <a:p>
            <a:r>
              <a:rPr lang="en-US" dirty="0"/>
              <a:t>Unlike regular arrays (int[] </a:t>
            </a:r>
            <a:r>
              <a:rPr lang="en-US" dirty="0" err="1"/>
              <a:t>arr</a:t>
            </a:r>
            <a:r>
              <a:rPr lang="en-US" dirty="0"/>
              <a:t>), an </a:t>
            </a:r>
            <a:r>
              <a:rPr lang="en-US" dirty="0" err="1"/>
              <a:t>ArrayList</a:t>
            </a:r>
            <a:r>
              <a:rPr lang="en-US" dirty="0"/>
              <a:t> can:</a:t>
            </a:r>
          </a:p>
          <a:p>
            <a:pPr lvl="1"/>
            <a:r>
              <a:rPr lang="en-US" dirty="0"/>
              <a:t>Grow or shrink automatically</a:t>
            </a:r>
          </a:p>
          <a:p>
            <a:pPr lvl="1"/>
            <a:r>
              <a:rPr lang="en-US" dirty="0"/>
              <a:t>Store objects (not primitives)</a:t>
            </a:r>
          </a:p>
          <a:p>
            <a:pPr lvl="1"/>
            <a:r>
              <a:rPr lang="en-US" dirty="0"/>
              <a:t>Provide many useful methods for insertion, removal, searching,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 err="1"/>
              <a:t>ArrayList</a:t>
            </a:r>
            <a:r>
              <a:rPr lang="en-US" dirty="0"/>
              <a:t>&lt;String&gt; names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endParaRPr lang="en-IE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C1FCB2-FB8C-F06E-4F03-1C5608827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874681"/>
              </p:ext>
            </p:extLst>
          </p:nvPr>
        </p:nvGraphicFramePr>
        <p:xfrm>
          <a:off x="3276600" y="1295400"/>
          <a:ext cx="5707917" cy="385683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02639">
                  <a:extLst>
                    <a:ext uri="{9D8B030D-6E8A-4147-A177-3AD203B41FA5}">
                      <a16:colId xmlns:a16="http://schemas.microsoft.com/office/drawing/2014/main" val="1452039742"/>
                    </a:ext>
                  </a:extLst>
                </a:gridCol>
                <a:gridCol w="1902639">
                  <a:extLst>
                    <a:ext uri="{9D8B030D-6E8A-4147-A177-3AD203B41FA5}">
                      <a16:colId xmlns:a16="http://schemas.microsoft.com/office/drawing/2014/main" val="2390518229"/>
                    </a:ext>
                  </a:extLst>
                </a:gridCol>
                <a:gridCol w="1902639">
                  <a:extLst>
                    <a:ext uri="{9D8B030D-6E8A-4147-A177-3AD203B41FA5}">
                      <a16:colId xmlns:a16="http://schemas.microsoft.com/office/drawing/2014/main" val="455904348"/>
                    </a:ext>
                  </a:extLst>
                </a:gridCol>
              </a:tblGrid>
              <a:tr h="238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dirty="0"/>
                        <a:t>Method</a:t>
                      </a:r>
                    </a:p>
                  </a:txBody>
                  <a:tcPr marL="77910" marR="77910" marT="38955" marB="3895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dirty="0"/>
                        <a:t>Meaning</a:t>
                      </a:r>
                    </a:p>
                  </a:txBody>
                  <a:tcPr marL="77910" marR="77910" marT="38955" marB="3895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dirty="0"/>
                        <a:t>Example</a:t>
                      </a:r>
                    </a:p>
                  </a:txBody>
                  <a:tcPr marL="77910" marR="77910" marT="38955" marB="3895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66529"/>
                  </a:ext>
                </a:extLst>
              </a:tr>
              <a:tr h="238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add(value)</a:t>
                      </a:r>
                    </a:p>
                  </a:txBody>
                  <a:tcPr marL="77910" marR="77910" marT="38955" marB="38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Add element to end</a:t>
                      </a:r>
                    </a:p>
                  </a:txBody>
                  <a:tcPr marL="77910" marR="77910" marT="38955" marB="38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list.add("Bob");</a:t>
                      </a:r>
                    </a:p>
                  </a:txBody>
                  <a:tcPr marL="77910" marR="77910" marT="38955" marB="38955" anchor="ctr"/>
                </a:tc>
                <a:extLst>
                  <a:ext uri="{0D108BD9-81ED-4DB2-BD59-A6C34878D82A}">
                    <a16:rowId xmlns:a16="http://schemas.microsoft.com/office/drawing/2014/main" val="2486469758"/>
                  </a:ext>
                </a:extLst>
              </a:tr>
              <a:tr h="418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dirty="0"/>
                        <a:t>add(index, value)</a:t>
                      </a:r>
                    </a:p>
                  </a:txBody>
                  <a:tcPr marL="77910" marR="77910" marT="38955" marB="38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Insert at position</a:t>
                      </a:r>
                    </a:p>
                  </a:txBody>
                  <a:tcPr marL="77910" marR="77910" marT="38955" marB="38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list.add(1, "Alice");</a:t>
                      </a:r>
                    </a:p>
                  </a:txBody>
                  <a:tcPr marL="77910" marR="77910" marT="38955" marB="38955" anchor="ctr"/>
                </a:tc>
                <a:extLst>
                  <a:ext uri="{0D108BD9-81ED-4DB2-BD59-A6C34878D82A}">
                    <a16:rowId xmlns:a16="http://schemas.microsoft.com/office/drawing/2014/main" val="3664884293"/>
                  </a:ext>
                </a:extLst>
              </a:tr>
              <a:tr h="238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get(index)</a:t>
                      </a:r>
                    </a:p>
                  </a:txBody>
                  <a:tcPr marL="77910" marR="77910" marT="38955" marB="38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Read element</a:t>
                      </a:r>
                    </a:p>
                  </a:txBody>
                  <a:tcPr marL="77910" marR="77910" marT="38955" marB="38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list.get(0);</a:t>
                      </a:r>
                    </a:p>
                  </a:txBody>
                  <a:tcPr marL="77910" marR="77910" marT="38955" marB="38955" anchor="ctr"/>
                </a:tc>
                <a:extLst>
                  <a:ext uri="{0D108BD9-81ED-4DB2-BD59-A6C34878D82A}">
                    <a16:rowId xmlns:a16="http://schemas.microsoft.com/office/drawing/2014/main" val="4061851005"/>
                  </a:ext>
                </a:extLst>
              </a:tr>
              <a:tr h="418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set(index, value)</a:t>
                      </a:r>
                    </a:p>
                  </a:txBody>
                  <a:tcPr marL="77910" marR="77910" marT="38955" marB="38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Modify element</a:t>
                      </a:r>
                    </a:p>
                  </a:txBody>
                  <a:tcPr marL="77910" marR="77910" marT="38955" marB="38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list.set(0, "Tom");</a:t>
                      </a:r>
                    </a:p>
                  </a:txBody>
                  <a:tcPr marL="77910" marR="77910" marT="38955" marB="38955" anchor="ctr"/>
                </a:tc>
                <a:extLst>
                  <a:ext uri="{0D108BD9-81ED-4DB2-BD59-A6C34878D82A}">
                    <a16:rowId xmlns:a16="http://schemas.microsoft.com/office/drawing/2014/main" val="321169576"/>
                  </a:ext>
                </a:extLst>
              </a:tr>
              <a:tr h="238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dirty="0"/>
                        <a:t>remove(index)</a:t>
                      </a:r>
                    </a:p>
                  </a:txBody>
                  <a:tcPr marL="77910" marR="77910" marT="38955" marB="38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Remove by index</a:t>
                      </a:r>
                    </a:p>
                  </a:txBody>
                  <a:tcPr marL="77910" marR="77910" marT="38955" marB="38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list.remove(2);</a:t>
                      </a:r>
                    </a:p>
                  </a:txBody>
                  <a:tcPr marL="77910" marR="77910" marT="38955" marB="38955" anchor="ctr"/>
                </a:tc>
                <a:extLst>
                  <a:ext uri="{0D108BD9-81ED-4DB2-BD59-A6C34878D82A}">
                    <a16:rowId xmlns:a16="http://schemas.microsoft.com/office/drawing/2014/main" val="1583095622"/>
                  </a:ext>
                </a:extLst>
              </a:tr>
              <a:tr h="418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remove(Object)</a:t>
                      </a:r>
                    </a:p>
                  </a:txBody>
                  <a:tcPr marL="77910" marR="77910" marT="38955" marB="38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Remove first matching value</a:t>
                      </a:r>
                    </a:p>
                  </a:txBody>
                  <a:tcPr marL="77910" marR="77910" marT="38955" marB="38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list.remove("Bob");</a:t>
                      </a:r>
                    </a:p>
                  </a:txBody>
                  <a:tcPr marL="77910" marR="77910" marT="38955" marB="38955" anchor="ctr"/>
                </a:tc>
                <a:extLst>
                  <a:ext uri="{0D108BD9-81ED-4DB2-BD59-A6C34878D82A}">
                    <a16:rowId xmlns:a16="http://schemas.microsoft.com/office/drawing/2014/main" val="941387083"/>
                  </a:ext>
                </a:extLst>
              </a:tr>
              <a:tr h="238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size()</a:t>
                      </a:r>
                    </a:p>
                  </a:txBody>
                  <a:tcPr marL="77910" marR="77910" marT="38955" marB="38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Number of items</a:t>
                      </a:r>
                    </a:p>
                  </a:txBody>
                  <a:tcPr marL="77910" marR="77910" marT="38955" marB="38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list.size();</a:t>
                      </a:r>
                    </a:p>
                  </a:txBody>
                  <a:tcPr marL="77910" marR="77910" marT="38955" marB="38955" anchor="ctr"/>
                </a:tc>
                <a:extLst>
                  <a:ext uri="{0D108BD9-81ED-4DB2-BD59-A6C34878D82A}">
                    <a16:rowId xmlns:a16="http://schemas.microsoft.com/office/drawing/2014/main" val="3697485425"/>
                  </a:ext>
                </a:extLst>
              </a:tr>
              <a:tr h="418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contains(x)</a:t>
                      </a:r>
                    </a:p>
                  </a:txBody>
                  <a:tcPr marL="77910" marR="77910" marT="38955" marB="38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Check existence</a:t>
                      </a:r>
                    </a:p>
                  </a:txBody>
                  <a:tcPr marL="77910" marR="77910" marT="38955" marB="38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list.contains("Bob");</a:t>
                      </a:r>
                    </a:p>
                  </a:txBody>
                  <a:tcPr marL="77910" marR="77910" marT="38955" marB="38955" anchor="ctr"/>
                </a:tc>
                <a:extLst>
                  <a:ext uri="{0D108BD9-81ED-4DB2-BD59-A6C34878D82A}">
                    <a16:rowId xmlns:a16="http://schemas.microsoft.com/office/drawing/2014/main" val="2375022611"/>
                  </a:ext>
                </a:extLst>
              </a:tr>
              <a:tr h="410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dirty="0"/>
                        <a:t>clear()</a:t>
                      </a:r>
                    </a:p>
                  </a:txBody>
                  <a:tcPr marL="77910" marR="77910" marT="38955" marB="38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/>
                        <a:t>Remove all elements</a:t>
                      </a:r>
                    </a:p>
                  </a:txBody>
                  <a:tcPr marL="77910" marR="77910" marT="38955" marB="38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500" dirty="0" err="1"/>
                        <a:t>list.clear</a:t>
                      </a:r>
                      <a:r>
                        <a:rPr lang="en-IE" sz="1500" dirty="0"/>
                        <a:t>();</a:t>
                      </a:r>
                    </a:p>
                  </a:txBody>
                  <a:tcPr marL="77910" marR="77910" marT="38955" marB="38955" anchor="ctr"/>
                </a:tc>
                <a:extLst>
                  <a:ext uri="{0D108BD9-81ED-4DB2-BD59-A6C34878D82A}">
                    <a16:rowId xmlns:a16="http://schemas.microsoft.com/office/drawing/2014/main" val="228707138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8831D09-4501-514A-6666-7B6ACDD94219}"/>
              </a:ext>
            </a:extLst>
          </p:cNvPr>
          <p:cNvSpPr txBox="1"/>
          <p:nvPr/>
        </p:nvSpPr>
        <p:spPr>
          <a:xfrm>
            <a:off x="3505200" y="5486400"/>
            <a:ext cx="4876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shuffle an </a:t>
            </a:r>
            <a:r>
              <a:rPr lang="en-US" dirty="0" err="1"/>
              <a:t>ArrayList</a:t>
            </a:r>
            <a:r>
              <a:rPr lang="en-US" dirty="0"/>
              <a:t>, use the shuffle() method of the class Collections (see demo </a:t>
            </a:r>
            <a:r>
              <a:rPr lang="en-US" dirty="0" err="1"/>
              <a:t>ArrayList</a:t>
            </a:r>
            <a:r>
              <a:rPr lang="en-US" dirty="0"/>
              <a:t> in java)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49989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9D82B-1031-8E21-8F7A-A673306F4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1774F-24CE-F150-D475-CC0FCEF5E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115568"/>
          </a:xfrm>
        </p:spPr>
        <p:txBody>
          <a:bodyPr/>
          <a:lstStyle/>
          <a:p>
            <a:r>
              <a:rPr lang="en-US" dirty="0"/>
              <a:t>Java demos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52733-C138-D309-0522-318805797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457200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800" dirty="0"/>
              <a:t>RandomTest.java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800" dirty="0"/>
              <a:t>ArrayListDemo.java</a:t>
            </a:r>
          </a:p>
          <a:p>
            <a:pPr lvl="0">
              <a:lnSpc>
                <a:spcPct val="110000"/>
              </a:lnSpc>
              <a:spcBef>
                <a:spcPts val="600"/>
              </a:spcBef>
            </a:pPr>
            <a:r>
              <a:rPr lang="en-US" sz="1800" dirty="0"/>
              <a:t>FourOfAKindMonteCarlo.java  </a:t>
            </a:r>
            <a:endParaRPr lang="en-IE" sz="1800" dirty="0"/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dirty="0"/>
              <a:t>MM simulation to find the probability to get a 4-of-a-kind  at Texas </a:t>
            </a:r>
            <a:r>
              <a:rPr lang="en-US" dirty="0" err="1"/>
              <a:t>Hold’em</a:t>
            </a:r>
            <a:endParaRPr lang="en-US" dirty="0"/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dirty="0"/>
              <a:t>The exact solution (from </a:t>
            </a:r>
            <a:r>
              <a:rPr lang="en-US" dirty="0" err="1"/>
              <a:t>maths</a:t>
            </a:r>
            <a:r>
              <a:rPr lang="en-US" dirty="0"/>
              <a:t>) is about 0.168% (1 over 594):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800" dirty="0"/>
          </a:p>
          <a:p>
            <a:pPr lvl="0">
              <a:lnSpc>
                <a:spcPct val="110000"/>
              </a:lnSpc>
              <a:spcBef>
                <a:spcPts val="600"/>
              </a:spcBef>
            </a:pPr>
            <a:r>
              <a:rPr lang="en-US" sz="1800" dirty="0"/>
              <a:t>RandomTest.java</a:t>
            </a:r>
            <a:endParaRPr lang="en-IE" sz="1800" dirty="0"/>
          </a:p>
          <a:p>
            <a:pPr lvl="0">
              <a:lnSpc>
                <a:spcPct val="110000"/>
              </a:lnSpc>
              <a:spcBef>
                <a:spcPts val="600"/>
              </a:spcBef>
            </a:pPr>
            <a:r>
              <a:rPr lang="en-US" sz="1800" dirty="0"/>
              <a:t>ArrayListDemo.java</a:t>
            </a:r>
            <a:endParaRPr lang="en-IE" sz="1800" dirty="0"/>
          </a:p>
          <a:p>
            <a:pPr lvl="0">
              <a:lnSpc>
                <a:spcPct val="110000"/>
              </a:lnSpc>
              <a:spcBef>
                <a:spcPts val="600"/>
              </a:spcBef>
            </a:pPr>
            <a:endParaRPr lang="en-US" sz="1800" dirty="0"/>
          </a:p>
          <a:p>
            <a:pPr lvl="0">
              <a:lnSpc>
                <a:spcPct val="110000"/>
              </a:lnSpc>
              <a:spcBef>
                <a:spcPts val="600"/>
              </a:spcBef>
            </a:pPr>
            <a:r>
              <a:rPr lang="en-US" sz="1800" dirty="0"/>
              <a:t>MonteCarloPI.java</a:t>
            </a:r>
            <a:endParaRPr lang="en-IE" sz="1800" dirty="0"/>
          </a:p>
          <a:p>
            <a:pPr lvl="0">
              <a:lnSpc>
                <a:spcPct val="110000"/>
              </a:lnSpc>
              <a:spcBef>
                <a:spcPts val="600"/>
              </a:spcBef>
            </a:pPr>
            <a:r>
              <a:rPr lang="en-US" sz="1800" dirty="0"/>
              <a:t>DiceMonteCarloCI.java</a:t>
            </a:r>
            <a:endParaRPr lang="en-IE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1C8258-0721-0A72-A10D-281B405A6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191000"/>
            <a:ext cx="8014858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5398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2667</Words>
  <Application>Microsoft Office PowerPoint</Application>
  <PresentationFormat>On-screen Show (4:3)</PresentationFormat>
  <Paragraphs>401</Paragraphs>
  <Slides>42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Aptos</vt:lpstr>
      <vt:lpstr>Arial</vt:lpstr>
      <vt:lpstr>Cambria Math</vt:lpstr>
      <vt:lpstr>Rockwell</vt:lpstr>
      <vt:lpstr>Rockwell Condensed</vt:lpstr>
      <vt:lpstr>Symbol</vt:lpstr>
      <vt:lpstr>Wingdings</vt:lpstr>
      <vt:lpstr>Wood Type</vt:lpstr>
      <vt:lpstr>Microsoft Equation 3.0</vt:lpstr>
      <vt:lpstr>Adobe Photoshop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Ways to Study System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Estimating GREEK PI (π) via MM</vt:lpstr>
      <vt:lpstr>GREEK PI (π)</vt:lpstr>
      <vt:lpstr>CONFIDENCE INTERVAL</vt:lpstr>
      <vt:lpstr>Probability to throw Dice</vt:lpstr>
      <vt:lpstr>Probability of a Straight Flush</vt:lpstr>
      <vt:lpstr>How Randomess is generated in computers?</vt:lpstr>
      <vt:lpstr>Random versus Pseudo-random</vt:lpstr>
      <vt:lpstr>Properties of an Ideal RNG</vt:lpstr>
      <vt:lpstr>No RNG Is Ideal</vt:lpstr>
      <vt:lpstr>Linear Congruential RNGs</vt:lpstr>
      <vt:lpstr>Period of Linear Congruential RNG</vt:lpstr>
      <vt:lpstr>Producing Floating-Point Numbers</vt:lpstr>
      <vt:lpstr>Lagged Fibonacci RNGs</vt:lpstr>
      <vt:lpstr>Random number in java</vt:lpstr>
      <vt:lpstr>Randomness in JavA</vt:lpstr>
      <vt:lpstr>The random java class</vt:lpstr>
      <vt:lpstr>Arraylist in java</vt:lpstr>
      <vt:lpstr>Java demos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Week1(CS380).pptx</dc:title>
  <dc:creator>pierpaolodondio</dc:creator>
  <cp:lastModifiedBy>Pierpaolo Dondio</cp:lastModifiedBy>
  <cp:revision>30</cp:revision>
  <dcterms:created xsi:type="dcterms:W3CDTF">2025-09-19T16:19:52Z</dcterms:created>
  <dcterms:modified xsi:type="dcterms:W3CDTF">2025-11-24T12:33:21Z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2025-09-19T00:00:00Z</vt:filetime>
  </property>
  <property fmtid="{D5CDD505-2E9C-101B-9397-08002B2CF9AE}" pid="3" name="Creator">
    <vt:lpwstr>Google</vt:lpwstr>
  </property>
  <property fmtid="{D5CDD505-2E9C-101B-9397-08002B2CF9AE}" pid="4" name="LastSaved">
    <vt:filetime>2025-09-19T00:00:00Z</vt:filetime>
  </property>
  <property fmtid="{D5CDD505-2E9C-101B-9397-08002B2CF9AE}" pid="5" name="Producer">
    <vt:lpwstr>3-Heights(TM) PDF Security Shell 4.8.25.2 (http://www.pdf-tools.com)</vt:lpwstr>
  </property>
</Properties>
</file>