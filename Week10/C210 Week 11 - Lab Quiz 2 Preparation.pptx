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20"/>
  </p:notesMasterIdLst>
  <p:sldIdLst>
    <p:sldId id="331" r:id="rId2"/>
    <p:sldId id="332" r:id="rId3"/>
    <p:sldId id="411" r:id="rId4"/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08" r:id="rId17"/>
    <p:sldId id="409" r:id="rId18"/>
    <p:sldId id="410" r:id="rId1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94660"/>
  </p:normalViewPr>
  <p:slideViewPr>
    <p:cSldViewPr>
      <p:cViewPr>
        <p:scale>
          <a:sx n="70" d="100"/>
          <a:sy n="70" d="100"/>
        </p:scale>
        <p:origin x="12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173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6F994-E567-4E2A-9CC6-7124331350FA}" type="datetimeFigureOut">
              <a:rPr lang="en-IE" smtClean="0"/>
              <a:t>27/11/2025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E376-2C33-490B-A7D6-FF41E95A2A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108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C85A79-8F4E-4293-A84B-133598B629DB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9873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DE376-2C33-490B-A7D6-FF41E95A2AB4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9409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08E6-AC14-F726-B7F6-F86649581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D90D2-666A-D55A-EC55-8E3A61B0C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A6C8D-7582-687E-78DC-2A47B6D3F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3744C-357C-8D94-3746-85C8EB83D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DE376-2C33-490B-A7D6-FF41E95A2AB4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190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AA21-092E-4CC0-D2E4-A63FF9BC5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CD2F0-9767-BF79-1A6C-6B1E990FA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E2D82-6DF8-FFBB-BBD2-38A86A83E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2DA05-8E45-FEB0-25DF-29CB806F3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DE376-2C33-490B-A7D6-FF41E95A2AB4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7982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18099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32865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74163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39014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97355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285461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392569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02626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414431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87619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858313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539750" y="6453188"/>
            <a:ext cx="3203575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Rectangle 5"/>
          <p:cNvSpPr/>
          <p:nvPr/>
        </p:nvSpPr>
        <p:spPr>
          <a:xfrm flipV="1">
            <a:off x="4008438" y="6453188"/>
            <a:ext cx="4679950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9" name="Picture 2" descr="C:\Users\Rowan\Documents\Maynooth\Powerpoint Template\K7917 - Maynooth University_PowerPoint (Burgundy) Option 1-2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0" t="-320" r="27138"/>
          <a:stretch>
            <a:fillRect/>
          </a:stretch>
        </p:blipFill>
        <p:spPr bwMode="auto">
          <a:xfrm>
            <a:off x="4008438" y="549275"/>
            <a:ext cx="4679950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C:\Users\Rowan\Documents\Maynooth\Powerpoint Template\K7384 Maynooth University Logo_RGB_300dp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5888"/>
            <a:ext cx="314325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11560" y="3140968"/>
            <a:ext cx="3024336" cy="223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822327"/>
                </a:solidFill>
                <a:latin typeface="+mn-lt"/>
              </a:defRPr>
            </a:lvl1pPr>
            <a:lvl3pPr>
              <a:defRPr>
                <a:solidFill>
                  <a:srgbClr val="822327"/>
                </a:solidFill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11189" y="5661025"/>
            <a:ext cx="3024708" cy="720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82232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3745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172325" y="6448425"/>
            <a:ext cx="15128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GB" altLang="en-US" sz="1100" b="1" dirty="0"/>
              <a:t>maynoothuniversity.ie</a:t>
            </a:r>
            <a:endParaRPr lang="en-GB" altLang="en-US" b="1" dirty="0"/>
          </a:p>
        </p:txBody>
      </p:sp>
      <p:sp>
        <p:nvSpPr>
          <p:cNvPr id="5" name="Rectangle 4"/>
          <p:cNvSpPr/>
          <p:nvPr/>
        </p:nvSpPr>
        <p:spPr>
          <a:xfrm flipV="1">
            <a:off x="395288" y="5884863"/>
            <a:ext cx="8316912" cy="71437"/>
          </a:xfrm>
          <a:prstGeom prst="rect">
            <a:avLst/>
          </a:prstGeom>
          <a:solidFill>
            <a:srgbClr val="822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6" name="Picture 3" descr="C:\Users\Rowan\Desktop\K7384 Maynooth University Logo_RGB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092825"/>
            <a:ext cx="147637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746311" y="620688"/>
            <a:ext cx="7560890" cy="1008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822327"/>
                </a:solidFill>
                <a:latin typeface="+mn-lt"/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/>
          </p:nvPr>
        </p:nvSpPr>
        <p:spPr>
          <a:xfrm>
            <a:off x="755650" y="1844675"/>
            <a:ext cx="7561263" cy="381635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70056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E" spc="-25" smtClean="0"/>
              <a:t>‹#›</a:t>
            </a:fld>
            <a:endParaRPr lang="en-IE" spc="-25" dirty="0"/>
          </a:p>
        </p:txBody>
      </p:sp>
    </p:spTree>
    <p:extLst>
      <p:ext uri="{BB962C8B-B14F-4D97-AF65-F5344CB8AC3E}">
        <p14:creationId xmlns:p14="http://schemas.microsoft.com/office/powerpoint/2010/main" val="145367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9552" y="1916832"/>
            <a:ext cx="3346648" cy="2232025"/>
          </a:xfrm>
        </p:spPr>
        <p:txBody>
          <a:bodyPr>
            <a:normAutofit/>
          </a:bodyPr>
          <a:lstStyle/>
          <a:p>
            <a:r>
              <a:rPr lang="en-GB" sz="3000" dirty="0"/>
              <a:t>CS210</a:t>
            </a:r>
          </a:p>
          <a:p>
            <a:r>
              <a:rPr lang="en-GB" sz="3000" dirty="0"/>
              <a:t>Algorithms and Data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39552" y="4221088"/>
            <a:ext cx="3168352" cy="2103512"/>
          </a:xfrm>
        </p:spPr>
        <p:txBody>
          <a:bodyPr>
            <a:normAutofit/>
          </a:bodyPr>
          <a:lstStyle/>
          <a:p>
            <a:r>
              <a:rPr lang="en-GB" sz="2000" dirty="0"/>
              <a:t>Lab Quiz 2</a:t>
            </a:r>
          </a:p>
          <a:p>
            <a:r>
              <a:rPr lang="en-GB" sz="2000" dirty="0"/>
              <a:t>Week 11</a:t>
            </a:r>
          </a:p>
          <a:p>
            <a:r>
              <a:rPr lang="en-GB" sz="2000" dirty="0"/>
              <a:t>Semester 1 2025</a:t>
            </a:r>
          </a:p>
          <a:p>
            <a:endParaRPr lang="en-GB" sz="2000" dirty="0"/>
          </a:p>
          <a:p>
            <a:r>
              <a:rPr lang="en-GB" sz="2000" dirty="0"/>
              <a:t>Dr. Pierpaolo Dondio</a:t>
            </a:r>
          </a:p>
        </p:txBody>
      </p:sp>
    </p:spTree>
    <p:extLst>
      <p:ext uri="{BB962C8B-B14F-4D97-AF65-F5344CB8AC3E}">
        <p14:creationId xmlns:p14="http://schemas.microsoft.com/office/powerpoint/2010/main" val="391929436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85BBDE-771D-F4A9-FCA5-E9F7555B79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Lab Quiz 2 //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EF77D-BE3B-A573-31AB-5C3329CA38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371600"/>
            <a:ext cx="7999040" cy="43433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IE" sz="1900" i="1" dirty="0"/>
              <a:t>MCQ (as the first lab)</a:t>
            </a:r>
          </a:p>
          <a:p>
            <a:pPr>
              <a:buFont typeface="Wingdings" pitchFamily="2" charset="2"/>
              <a:buChar char="§"/>
            </a:pPr>
            <a:r>
              <a:rPr lang="en-IE" sz="1900" i="1" dirty="0"/>
              <a:t>Week 12 (Tuesday and Friday)</a:t>
            </a:r>
          </a:p>
          <a:p>
            <a:pPr>
              <a:buFont typeface="Wingdings" pitchFamily="2" charset="2"/>
              <a:buChar char="§"/>
            </a:pPr>
            <a:r>
              <a:rPr lang="en-IE" sz="1900" i="1" dirty="0"/>
              <a:t>Topics</a:t>
            </a:r>
          </a:p>
          <a:p>
            <a:pPr lvl="1"/>
            <a:r>
              <a:rPr lang="en-IE" sz="1900" i="1" dirty="0"/>
              <a:t>Stacks</a:t>
            </a:r>
          </a:p>
          <a:p>
            <a:pPr lvl="1"/>
            <a:r>
              <a:rPr lang="en-IE" sz="1900" i="1" dirty="0"/>
              <a:t>Queues</a:t>
            </a:r>
          </a:p>
          <a:p>
            <a:pPr lvl="2"/>
            <a:r>
              <a:rPr lang="en-IE" sz="1900" i="1" dirty="0"/>
              <a:t>NO CPU SCHEDULING</a:t>
            </a:r>
          </a:p>
          <a:p>
            <a:pPr lvl="1"/>
            <a:r>
              <a:rPr lang="en-IE" sz="1900" i="1" dirty="0" err="1"/>
              <a:t>HashMaps</a:t>
            </a:r>
            <a:endParaRPr lang="en-IE" sz="1900" i="1" dirty="0"/>
          </a:p>
          <a:p>
            <a:pPr lvl="1"/>
            <a:r>
              <a:rPr lang="en-IE" sz="1900" i="1" dirty="0"/>
              <a:t>LinkedList</a:t>
            </a:r>
          </a:p>
          <a:p>
            <a:pPr lvl="1"/>
            <a:r>
              <a:rPr lang="en-IE" sz="1900" i="1" dirty="0"/>
              <a:t>Graphs </a:t>
            </a:r>
          </a:p>
          <a:p>
            <a:pPr lvl="2"/>
            <a:r>
              <a:rPr lang="en-IE" sz="1900" i="1" dirty="0"/>
              <a:t>(components, DFS, BFS only)</a:t>
            </a:r>
          </a:p>
          <a:p>
            <a:pPr lvl="2"/>
            <a:r>
              <a:rPr lang="en-IE" sz="1900" i="1" dirty="0"/>
              <a:t>NO shortest path and NO trees</a:t>
            </a:r>
          </a:p>
          <a:p>
            <a:pPr lvl="1"/>
            <a:endParaRPr lang="en-IE" sz="2800" i="1" dirty="0"/>
          </a:p>
        </p:txBody>
      </p:sp>
    </p:spTree>
    <p:extLst>
      <p:ext uri="{BB962C8B-B14F-4D97-AF65-F5344CB8AC3E}">
        <p14:creationId xmlns:p14="http://schemas.microsoft.com/office/powerpoint/2010/main" val="115105945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2F3859-6F9D-30E3-A0C8-9A6EB37BDE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0C68F-654A-0E93-224A-8C23C222DC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Which Java interface represents a FIFO data structure?</a:t>
            </a:r>
            <a:br>
              <a:rPr lang="en-US" dirty="0"/>
            </a:br>
            <a:r>
              <a:rPr lang="en-US" dirty="0"/>
              <a:t>A) List</a:t>
            </a:r>
            <a:br>
              <a:rPr lang="en-US" dirty="0"/>
            </a:br>
            <a:r>
              <a:rPr lang="en-US" b="1" dirty="0"/>
              <a:t>B) Queue</a:t>
            </a:r>
            <a:br>
              <a:rPr lang="en-US" dirty="0"/>
            </a:br>
            <a:r>
              <a:rPr lang="en-US" dirty="0"/>
              <a:t>C) Set</a:t>
            </a:r>
            <a:br>
              <a:rPr lang="en-US" dirty="0"/>
            </a:br>
            <a:r>
              <a:rPr lang="en-US" dirty="0"/>
              <a:t>D) Stack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840884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FE80CF-0F86-BCD7-1E1A-A8998CB81A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/2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2A6B0-1863-A68A-95E7-7C190209C6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is the time complexity of accessing the middle element in a stack implemented using an array?</a:t>
            </a:r>
            <a:br>
              <a:rPr lang="en-US" dirty="0"/>
            </a:br>
            <a:r>
              <a:rPr lang="en-US" dirty="0"/>
              <a:t>A) O(1)</a:t>
            </a:r>
            <a:br>
              <a:rPr lang="en-US" dirty="0"/>
            </a:br>
            <a:r>
              <a:rPr lang="en-US" dirty="0"/>
              <a:t>B) O(log n)</a:t>
            </a:r>
            <a:br>
              <a:rPr lang="en-US" dirty="0"/>
            </a:br>
            <a:r>
              <a:rPr lang="en-US" b="1" dirty="0"/>
              <a:t>C) O(n)</a:t>
            </a:r>
            <a:br>
              <a:rPr lang="en-US" dirty="0"/>
            </a:br>
            <a:r>
              <a:rPr lang="en-US" dirty="0"/>
              <a:t>D) O(n log n)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163159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CBAF59-5415-AC15-9EEF-C760DDFA37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/3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964A4-DCA7-7867-1AE8-1B687BFB7A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73370" y="1520825"/>
            <a:ext cx="6541829" cy="38163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A stack has the following content: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What would be the number returned by the following set of instructions: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Push 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Pop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Pop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Pop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/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5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Stack Overflow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Nothing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3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/>
              <a:t>6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5</a:t>
            </a:r>
          </a:p>
          <a:p>
            <a:endParaRPr lang="en-IE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F5E18E-759C-0AFA-69F6-C566EC84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124779"/>
              </p:ext>
            </p:extLst>
          </p:nvPr>
        </p:nvGraphicFramePr>
        <p:xfrm>
          <a:off x="7772400" y="914400"/>
          <a:ext cx="8382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420727163"/>
                    </a:ext>
                  </a:extLst>
                </a:gridCol>
              </a:tblGrid>
              <a:tr h="168019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261478"/>
                  </a:ext>
                </a:extLst>
              </a:tr>
              <a:tr h="168019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649936"/>
                  </a:ext>
                </a:extLst>
              </a:tr>
              <a:tr h="168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541073"/>
                  </a:ext>
                </a:extLst>
              </a:tr>
              <a:tr h="168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200394"/>
                  </a:ext>
                </a:extLst>
              </a:tr>
              <a:tr h="168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122609"/>
                  </a:ext>
                </a:extLst>
              </a:tr>
              <a:tr h="168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86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486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D2D944-1A5E-1CC0-D738-767A5918E3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/4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FAC3B-14CB-2C1B-2BEA-3373E580EA2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Which of the following operations is most expensive in a singly linked list?</a:t>
            </a:r>
            <a:br>
              <a:rPr lang="en-US" dirty="0"/>
            </a:br>
            <a:r>
              <a:rPr lang="en-US" dirty="0"/>
              <a:t>A) Insert at head</a:t>
            </a:r>
            <a:br>
              <a:rPr lang="en-US" dirty="0"/>
            </a:br>
            <a:r>
              <a:rPr lang="en-US" b="1" dirty="0"/>
              <a:t>B) Insert at tail (without tail pointer)</a:t>
            </a:r>
            <a:br>
              <a:rPr lang="en-US" b="1" dirty="0"/>
            </a:br>
            <a:r>
              <a:rPr lang="en-US" dirty="0"/>
              <a:t>C) Delete head</a:t>
            </a:r>
            <a:br>
              <a:rPr lang="en-US" dirty="0"/>
            </a:br>
            <a:r>
              <a:rPr lang="en-US" dirty="0"/>
              <a:t>D) Traverse the list</a:t>
            </a:r>
          </a:p>
          <a:p>
            <a:endParaRPr lang="en-US" dirty="0"/>
          </a:p>
          <a:p>
            <a:r>
              <a:rPr lang="en-US" dirty="0"/>
              <a:t>Note D is also acceptable. B and D they both have a complexity of O(n)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9549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575BB5-73B6-29B6-5685-C0D172CB88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/5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077AC-D876-6AFC-75C0-AA354A0AA9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happens when two keys in a HashMap have the same hash code?</a:t>
            </a:r>
            <a:br>
              <a:rPr lang="en-US" dirty="0"/>
            </a:br>
            <a:r>
              <a:rPr lang="en-US" dirty="0"/>
              <a:t>A) One key will overwrite the other</a:t>
            </a:r>
            <a:br>
              <a:rPr lang="en-US" dirty="0"/>
            </a:br>
            <a:r>
              <a:rPr lang="en-US" dirty="0"/>
              <a:t>B) </a:t>
            </a:r>
            <a:r>
              <a:rPr lang="en-US" b="1" dirty="0"/>
              <a:t>A collision occurs, handled internally</a:t>
            </a:r>
            <a:br>
              <a:rPr lang="en-US" dirty="0"/>
            </a:br>
            <a:r>
              <a:rPr lang="en-US" dirty="0"/>
              <a:t>C) An exception is thrown</a:t>
            </a:r>
            <a:br>
              <a:rPr lang="en-US" dirty="0"/>
            </a:br>
            <a:r>
              <a:rPr lang="en-US" dirty="0"/>
              <a:t>D) HashMap resizes immediately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7661211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3DA4BB-195E-A18C-56B8-6D6AB7FD3D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/6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F6377-E2D9-8023-CA0B-6926F98A300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In open addressing (probing) for collision resolution, which of the following is </a:t>
            </a:r>
            <a:r>
              <a:rPr lang="en-US" b="1" dirty="0"/>
              <a:t>linear probing</a:t>
            </a:r>
            <a:r>
              <a:rPr lang="en-US" dirty="0"/>
              <a:t>?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A) index = (hash + </a:t>
            </a:r>
            <a:r>
              <a:rPr lang="en-US" b="1" dirty="0" err="1"/>
              <a:t>i</a:t>
            </a:r>
            <a:r>
              <a:rPr lang="en-US" b="1" dirty="0"/>
              <a:t>) % </a:t>
            </a:r>
            <a:r>
              <a:rPr lang="en-US" b="1" dirty="0" err="1"/>
              <a:t>tableSize</a:t>
            </a:r>
            <a:br>
              <a:rPr lang="en-US" dirty="0"/>
            </a:br>
            <a:r>
              <a:rPr lang="en-US" dirty="0"/>
              <a:t>B) index = (hash + i^2) % </a:t>
            </a:r>
            <a:r>
              <a:rPr lang="en-US" dirty="0" err="1"/>
              <a:t>tableSize</a:t>
            </a:r>
            <a:br>
              <a:rPr lang="en-US" dirty="0"/>
            </a:br>
            <a:r>
              <a:rPr lang="en-US" dirty="0"/>
              <a:t>C) index = hash % </a:t>
            </a:r>
            <a:r>
              <a:rPr lang="en-US" dirty="0" err="1"/>
              <a:t>tableSize</a:t>
            </a:r>
            <a:br>
              <a:rPr lang="en-US" dirty="0"/>
            </a:br>
            <a:r>
              <a:rPr lang="en-US" dirty="0"/>
              <a:t>D) index = (hash + random(</a:t>
            </a:r>
            <a:r>
              <a:rPr lang="en-US" dirty="0" err="1"/>
              <a:t>i</a:t>
            </a:r>
            <a:r>
              <a:rPr lang="en-US" dirty="0"/>
              <a:t>)) % </a:t>
            </a:r>
            <a:r>
              <a:rPr lang="en-US" dirty="0" err="1"/>
              <a:t>tableSize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3059696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CF853D-6375-3778-8412-BEC0C3CE73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/7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2CBB9-A76C-FF1A-B1C0-D2B464CBC26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happens internally in a HashMap when the </a:t>
            </a:r>
            <a:r>
              <a:rPr lang="en-US" b="1" dirty="0"/>
              <a:t>load factor exceeds a threshold</a:t>
            </a:r>
            <a:r>
              <a:rPr lang="en-US" dirty="0"/>
              <a:t> (default 0.75)?</a:t>
            </a:r>
            <a:br>
              <a:rPr lang="en-US" dirty="0"/>
            </a:br>
            <a:endParaRPr lang="en-US" dirty="0"/>
          </a:p>
          <a:p>
            <a:r>
              <a:rPr lang="en-US" dirty="0"/>
              <a:t>A) HashMap deletes half of the entries</a:t>
            </a:r>
            <a:br>
              <a:rPr lang="en-US" dirty="0"/>
            </a:br>
            <a:r>
              <a:rPr lang="en-US" b="1" dirty="0"/>
              <a:t>B) HashMap rehashes and resizes the table</a:t>
            </a:r>
            <a:br>
              <a:rPr lang="en-US" dirty="0"/>
            </a:br>
            <a:r>
              <a:rPr lang="en-US" dirty="0"/>
              <a:t>C) HashMap throws an exception</a:t>
            </a:r>
            <a:br>
              <a:rPr lang="en-US" dirty="0"/>
            </a:br>
            <a:r>
              <a:rPr lang="en-US" dirty="0"/>
              <a:t>D) Nothing happens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3001472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4A3F05-D2F5-13E8-0438-936463E6A2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/8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0AEBF-B61C-992B-B065-33BEDF9996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5650" y="1524000"/>
            <a:ext cx="7561263" cy="41370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hash table of size 10 uses </a:t>
            </a:r>
            <a:r>
              <a:rPr lang="en-US" b="1" dirty="0"/>
              <a:t>double hashing</a:t>
            </a:r>
            <a:r>
              <a:rPr lang="en-US" dirty="0"/>
              <a:t>. Hash functions:</a:t>
            </a:r>
          </a:p>
          <a:p>
            <a:r>
              <a:rPr lang="en-US" dirty="0"/>
              <a:t>h1(x) = x % 10</a:t>
            </a:r>
          </a:p>
          <a:p>
            <a:r>
              <a:rPr lang="en-US" dirty="0"/>
              <a:t>h2(x) = 7 - (x % 7)</a:t>
            </a:r>
          </a:p>
          <a:p>
            <a:r>
              <a:rPr lang="en-US" dirty="0"/>
              <a:t>Insertion rule: index = (h1(x) + </a:t>
            </a:r>
            <a:r>
              <a:rPr lang="en-US" dirty="0" err="1"/>
              <a:t>i</a:t>
            </a:r>
            <a:r>
              <a:rPr lang="en-US" dirty="0"/>
              <a:t> * h2(x)) % 10. Table currently has index 2 occupied. Where will </a:t>
            </a:r>
            <a:r>
              <a:rPr lang="en-US" b="1" dirty="0"/>
              <a:t>22</a:t>
            </a:r>
            <a:r>
              <a:rPr lang="en-US" dirty="0"/>
              <a:t> go?</a:t>
            </a:r>
          </a:p>
          <a:p>
            <a:pPr marL="0" indent="0">
              <a:buNone/>
            </a:pPr>
            <a:r>
              <a:rPr lang="en-IE" dirty="0"/>
              <a:t>Solution:</a:t>
            </a:r>
          </a:p>
          <a:p>
            <a:r>
              <a:rPr lang="en-IE" dirty="0"/>
              <a:t>h1(22) = 22 % 10 = 2</a:t>
            </a:r>
          </a:p>
          <a:p>
            <a:r>
              <a:rPr lang="en-IE" dirty="0"/>
              <a:t>h2(22) = 7- (22 % 7) = 7 – 1 = 6</a:t>
            </a:r>
          </a:p>
          <a:p>
            <a:r>
              <a:rPr lang="en-IE" dirty="0"/>
              <a:t>h1+h2 = 2+6=</a:t>
            </a:r>
            <a:r>
              <a:rPr lang="en-IE" b="1" u="sng" dirty="0"/>
              <a:t>8</a:t>
            </a:r>
            <a:r>
              <a:rPr lang="en-IE" dirty="0"/>
              <a:t>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328738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83A800-47ED-B401-A0FD-18EF84C82F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400200"/>
          </a:xfrm>
        </p:spPr>
        <p:txBody>
          <a:bodyPr/>
          <a:lstStyle/>
          <a:p>
            <a:r>
              <a:rPr lang="en-IE" dirty="0"/>
              <a:t>Sample questions /9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EA7CC-F6AB-3C52-53EC-BF36D81868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5650" y="1219200"/>
            <a:ext cx="7561263" cy="4441825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A hash table of size 7 uses linear probing. </a:t>
            </a:r>
          </a:p>
          <a:p>
            <a:r>
              <a:rPr lang="en-US" sz="2000" dirty="0"/>
              <a:t>Hash function: </a:t>
            </a:r>
            <a:r>
              <a:rPr lang="en-US" sz="2000" b="1" dirty="0"/>
              <a:t>h(x) = x % 7</a:t>
            </a:r>
            <a:endParaRPr lang="en-US" sz="2000" dirty="0"/>
          </a:p>
          <a:p>
            <a:r>
              <a:rPr lang="en-US" sz="2000" dirty="0"/>
              <a:t>Where will the number 17 be inserted?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4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6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No space under linear probing</a:t>
            </a:r>
          </a:p>
          <a:p>
            <a:pPr marL="457200" indent="-457200">
              <a:buFont typeface="+mj-lt"/>
              <a:buAutoNum type="arabicPeriod"/>
            </a:pPr>
            <a:r>
              <a:rPr lang="en-IE" sz="2000" dirty="0"/>
              <a:t>We need to extend the table to add the collision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96F226-FAFB-E1E2-1943-A5CA8BBB4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15778"/>
              </p:ext>
            </p:extLst>
          </p:nvPr>
        </p:nvGraphicFramePr>
        <p:xfrm>
          <a:off x="6096001" y="1828800"/>
          <a:ext cx="229235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1531">
                  <a:extLst>
                    <a:ext uri="{9D8B030D-6E8A-4147-A177-3AD203B41FA5}">
                      <a16:colId xmlns:a16="http://schemas.microsoft.com/office/drawing/2014/main" val="4121336175"/>
                    </a:ext>
                  </a:extLst>
                </a:gridCol>
                <a:gridCol w="1110819">
                  <a:extLst>
                    <a:ext uri="{9D8B030D-6E8A-4147-A177-3AD203B41FA5}">
                      <a16:colId xmlns:a16="http://schemas.microsoft.com/office/drawing/2014/main" val="6685991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9202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</a:t>
                      </a:r>
                      <a:endParaRPr lang="en-I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69134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  <a:endParaRPr lang="en-I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79142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endParaRPr lang="en-I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36735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  <a:endParaRPr lang="en-I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24</a:t>
                      </a:r>
                      <a:endParaRPr lang="en-I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58043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  <a:endParaRPr lang="en-I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11</a:t>
                      </a:r>
                      <a:endParaRPr lang="en-I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8481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  <a:endParaRPr lang="en-I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40542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  <a:endParaRPr lang="en-I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229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68448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91B867-2A7B-8FA6-9A95-09D5661016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/10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BC43B-930E-19BF-B7DA-18B843BA57B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What is the time complexity of searching for an element in a singly linked list of size n?</a:t>
            </a:r>
            <a:br>
              <a:rPr lang="en-US" dirty="0"/>
            </a:br>
            <a:r>
              <a:rPr lang="en-US" dirty="0"/>
              <a:t>A) O(1)</a:t>
            </a:r>
            <a:br>
              <a:rPr lang="en-US" dirty="0"/>
            </a:br>
            <a:r>
              <a:rPr lang="en-US" b="1" dirty="0"/>
              <a:t>B) O(n)</a:t>
            </a:r>
            <a:br>
              <a:rPr lang="en-US" dirty="0"/>
            </a:br>
            <a:r>
              <a:rPr lang="en-US" dirty="0"/>
              <a:t>C) O(log n)</a:t>
            </a:r>
            <a:br>
              <a:rPr lang="en-US" dirty="0"/>
            </a:br>
            <a:r>
              <a:rPr lang="en-US" dirty="0"/>
              <a:t>D) O(n log n)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7530818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B93E56-6056-D708-1937-0B37CFE78A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/11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B4BF0-5C85-9D9E-0B1B-951FFAC9460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Which data structure is </a:t>
            </a:r>
            <a:r>
              <a:rPr lang="en-US" b="1" dirty="0"/>
              <a:t>more memory-efficient</a:t>
            </a:r>
            <a:r>
              <a:rPr lang="en-US" dirty="0"/>
              <a:t> for storing sequences of unknown size?</a:t>
            </a:r>
            <a:br>
              <a:rPr lang="en-US" dirty="0"/>
            </a:br>
            <a:r>
              <a:rPr lang="en-US" dirty="0"/>
              <a:t>A) Array</a:t>
            </a:r>
            <a:br>
              <a:rPr lang="en-US" dirty="0"/>
            </a:br>
            <a:r>
              <a:rPr lang="en-US" b="1" dirty="0"/>
              <a:t>B) Singly linked list</a:t>
            </a:r>
            <a:br>
              <a:rPr lang="en-US" dirty="0"/>
            </a:br>
            <a:r>
              <a:rPr lang="en-US" dirty="0"/>
              <a:t>C) HashMap</a:t>
            </a:r>
            <a:br>
              <a:rPr lang="en-US" dirty="0"/>
            </a:br>
            <a:r>
              <a:rPr lang="en-US" dirty="0"/>
              <a:t>D) They are all the same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5342710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FC2B3A-5730-0E0F-CA1A-A2CED83835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/12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11F5C-AC5A-F9BD-EA73-0C56FE3EE4F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 operations takes </a:t>
            </a:r>
            <a:r>
              <a:rPr lang="en-US" b="1" dirty="0"/>
              <a:t>O(n) time</a:t>
            </a:r>
            <a:r>
              <a:rPr lang="en-US" dirty="0"/>
              <a:t> in a singly linked list?</a:t>
            </a:r>
            <a:br>
              <a:rPr lang="en-US" dirty="0"/>
            </a:br>
            <a:endParaRPr lang="en-US" dirty="0"/>
          </a:p>
          <a:p>
            <a:r>
              <a:rPr lang="en-US" dirty="0"/>
              <a:t>A) Insertion at head</a:t>
            </a:r>
          </a:p>
          <a:p>
            <a:r>
              <a:rPr lang="en-US" dirty="0"/>
              <a:t>B) Deletion at head</a:t>
            </a:r>
          </a:p>
          <a:p>
            <a:r>
              <a:rPr lang="en-US" b="1" dirty="0"/>
              <a:t>C) Insertion at the end</a:t>
            </a:r>
          </a:p>
          <a:p>
            <a:r>
              <a:rPr lang="en-US" dirty="0"/>
              <a:t>D) Insertion at head when list is empty</a:t>
            </a:r>
          </a:p>
          <a:p>
            <a:r>
              <a:rPr lang="en-US" dirty="0"/>
              <a:t>E) Cancel the entire list</a:t>
            </a:r>
          </a:p>
        </p:txBody>
      </p:sp>
    </p:spTree>
    <p:extLst>
      <p:ext uri="{BB962C8B-B14F-4D97-AF65-F5344CB8AC3E}">
        <p14:creationId xmlns:p14="http://schemas.microsoft.com/office/powerpoint/2010/main" val="24537302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9A9FC-F01E-4CC1-CF0D-518DF2EC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EDB3AD-689A-DDA3-A71F-C7050D6FDD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E" dirty="0"/>
              <a:t>Sample questions /13</a:t>
            </a:r>
          </a:p>
          <a:p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03F79-0B1C-DD5A-D0EC-2C84E060C1B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is the output of this JAVA code?</a:t>
            </a:r>
          </a:p>
          <a:p>
            <a:pPr marL="274320" lvl="1" indent="0">
              <a:buNone/>
            </a:pP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lvl="1" indent="0">
              <a:buNone/>
            </a:pP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Stack&lt;Integer&gt; s = new Stack&lt;&gt;();</a:t>
            </a:r>
          </a:p>
          <a:p>
            <a:pPr marL="274320" lvl="1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pPr marL="274320" lvl="1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s.push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</a:p>
          <a:p>
            <a:pPr marL="274320" lvl="1" indent="0">
              <a:buNone/>
            </a:pP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IE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IE" dirty="0"/>
          </a:p>
          <a:p>
            <a:pPr marL="457200" indent="-457200">
              <a:buFont typeface="+mj-lt"/>
              <a:buAutoNum type="arabicPeriod"/>
            </a:pPr>
            <a:r>
              <a:rPr lang="en-IE" dirty="0"/>
              <a:t>Null</a:t>
            </a:r>
          </a:p>
          <a:p>
            <a:pPr marL="457200" indent="-457200">
              <a:buFont typeface="+mj-lt"/>
              <a:buAutoNum type="arabicPeriod"/>
            </a:pPr>
            <a:r>
              <a:rPr lang="en-IE" dirty="0"/>
              <a:t>5</a:t>
            </a:r>
          </a:p>
          <a:p>
            <a:pPr marL="457200" indent="-457200">
              <a:buFont typeface="+mj-lt"/>
              <a:buAutoNum type="arabicPeriod"/>
            </a:pPr>
            <a:r>
              <a:rPr lang="en-IE" b="1" dirty="0"/>
              <a:t>10</a:t>
            </a:r>
          </a:p>
          <a:p>
            <a:pPr marL="457200" indent="-457200">
              <a:buFont typeface="+mj-lt"/>
              <a:buAutoNum type="arabicPeriod"/>
            </a:pPr>
            <a:r>
              <a:rPr lang="en-IE" dirty="0"/>
              <a:t>Stack overflow</a:t>
            </a:r>
          </a:p>
        </p:txBody>
      </p:sp>
    </p:spTree>
    <p:extLst>
      <p:ext uri="{BB962C8B-B14F-4D97-AF65-F5344CB8AC3E}">
        <p14:creationId xmlns:p14="http://schemas.microsoft.com/office/powerpoint/2010/main" val="64010335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E0C00-B7A4-8C4C-D591-A3C823C6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5FBBEC-5D85-628B-F7C6-96B5855AA7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IE" dirty="0"/>
              <a:t>ample questions /14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88652-32B4-E7DD-7386-0D108131C1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990601"/>
            <a:ext cx="7999040" cy="4572000"/>
          </a:xfrm>
        </p:spPr>
        <p:txBody>
          <a:bodyPr>
            <a:normAutofit/>
          </a:bodyPr>
          <a:lstStyle/>
          <a:p>
            <a:pPr marL="0" indent="0" defTabSz="857250">
              <a:lnSpc>
                <a:spcPct val="100000"/>
              </a:lnSpc>
              <a:buNone/>
            </a:pPr>
            <a:r>
              <a:rPr lang="en-US" altLang="en-US" sz="1800" dirty="0"/>
              <a:t>Consider the graph below.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{2,4,5} is a strongly connected component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b="1" dirty="0"/>
              <a:t>{1,2,4,5} is a strongly connected component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{4,5} is a strongly connected component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Node 3 is disconnected from the graph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{1,2,3} is a strongly connected component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None of them</a:t>
            </a:r>
          </a:p>
          <a:p>
            <a:pPr marL="0" indent="0" defTabSz="857250">
              <a:lnSpc>
                <a:spcPct val="100000"/>
              </a:lnSpc>
              <a:buNone/>
            </a:pPr>
            <a:endParaRPr lang="en-US" altLang="en-US" sz="1800" dirty="0"/>
          </a:p>
          <a:p>
            <a:pPr marL="0" indent="0" defTabSz="857250">
              <a:lnSpc>
                <a:spcPct val="100000"/>
              </a:lnSpc>
              <a:buNone/>
            </a:pPr>
            <a:endParaRPr lang="en-US" altLang="en-US" sz="1800" dirty="0"/>
          </a:p>
        </p:txBody>
      </p:sp>
      <p:pic>
        <p:nvPicPr>
          <p:cNvPr id="58" name="Picture 57" descr="A brief introduction of Tarjan and SCC - Codeforces">
            <a:extLst>
              <a:ext uri="{FF2B5EF4-FFF2-40B4-BE49-F238E27FC236}">
                <a16:creationId xmlns:a16="http://schemas.microsoft.com/office/drawing/2014/main" id="{C4333787-E855-E3FF-5400-6DD9F9FBE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514600"/>
            <a:ext cx="2520280" cy="25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10219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180C-69E8-76AC-6E2E-E961E50F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9766E9-F8C2-3944-47B2-A37BB7CABF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IE" dirty="0"/>
              <a:t>ample questions /15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D8C6-56B2-AF42-BA16-F1E531D9C4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990601"/>
            <a:ext cx="7999040" cy="4572000"/>
          </a:xfrm>
        </p:spPr>
        <p:txBody>
          <a:bodyPr>
            <a:normAutofit/>
          </a:bodyPr>
          <a:lstStyle/>
          <a:p>
            <a:pPr marL="0" indent="0" defTabSz="857250">
              <a:lnSpc>
                <a:spcPct val="100000"/>
              </a:lnSpc>
              <a:buNone/>
            </a:pPr>
            <a:r>
              <a:rPr lang="en-US" altLang="en-US" sz="1800" dirty="0"/>
              <a:t>What is the sequence of nodes visited by BFS if we start visiting the graph from node b?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000" b="1" dirty="0" err="1"/>
              <a:t>b,c,f,a,d,e</a:t>
            </a:r>
            <a:endParaRPr lang="en-US" altLang="en-US" sz="2000" b="1" dirty="0"/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 err="1"/>
              <a:t>b,f,c,d,e,a,g,h,i,j</a:t>
            </a:r>
            <a:endParaRPr lang="en-US" altLang="en-US" sz="1800" dirty="0"/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 err="1"/>
              <a:t>b,c,f,a,d,e,g,h,j,I</a:t>
            </a:r>
            <a:endParaRPr lang="en-US" altLang="en-US" sz="1800" dirty="0"/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 err="1"/>
              <a:t>b,c,d,a,d,e,f</a:t>
            </a:r>
            <a:r>
              <a:rPr lang="en-US" altLang="en-US" sz="1800" dirty="0"/>
              <a:t> (not BFS!!)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b, </a:t>
            </a:r>
            <a:r>
              <a:rPr lang="en-US" altLang="en-US" sz="1800" dirty="0" err="1"/>
              <a:t>a,c,d,e,f,g,h,i</a:t>
            </a:r>
            <a:endParaRPr lang="en-US" altLang="en-US" sz="1800" dirty="0"/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None of them</a:t>
            </a:r>
          </a:p>
          <a:p>
            <a:pPr marL="0" indent="0" defTabSz="857250">
              <a:lnSpc>
                <a:spcPct val="100000"/>
              </a:lnSpc>
              <a:buNone/>
            </a:pPr>
            <a:endParaRPr lang="en-US" altLang="en-US" sz="1800" dirty="0"/>
          </a:p>
          <a:p>
            <a:pPr marL="0" indent="0" defTabSz="857250">
              <a:lnSpc>
                <a:spcPct val="100000"/>
              </a:lnSpc>
              <a:buNone/>
            </a:pPr>
            <a:endParaRPr lang="en-US" altLang="en-US" sz="1800" dirty="0"/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7BCBD77A-6620-DD82-45F0-8618F66F5584}"/>
              </a:ext>
            </a:extLst>
          </p:cNvPr>
          <p:cNvGrpSpPr>
            <a:grpSpLocks/>
          </p:cNvGrpSpPr>
          <p:nvPr/>
        </p:nvGrpSpPr>
        <p:grpSpPr bwMode="auto">
          <a:xfrm>
            <a:off x="4143375" y="3429001"/>
            <a:ext cx="3600153" cy="2324695"/>
            <a:chOff x="2544" y="2736"/>
            <a:chExt cx="2160" cy="1344"/>
          </a:xfrm>
        </p:grpSpPr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F8ECDEEA-06A5-6936-04CC-F5095760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6" name="Oval 19">
              <a:extLst>
                <a:ext uri="{FF2B5EF4-FFF2-40B4-BE49-F238E27FC236}">
                  <a16:creationId xmlns:a16="http://schemas.microsoft.com/office/drawing/2014/main" id="{17415FB1-47DB-36B4-E1B0-7A26E2F24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7" name="Oval 20">
              <a:extLst>
                <a:ext uri="{FF2B5EF4-FFF2-40B4-BE49-F238E27FC236}">
                  <a16:creationId xmlns:a16="http://schemas.microsoft.com/office/drawing/2014/main" id="{8D3484D0-18D4-1F73-5E4D-7352E88B8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8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8" name="Oval 21">
              <a:extLst>
                <a:ext uri="{FF2B5EF4-FFF2-40B4-BE49-F238E27FC236}">
                  <a16:creationId xmlns:a16="http://schemas.microsoft.com/office/drawing/2014/main" id="{EECFF788-0B46-E4C1-8F68-70C2D2959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9" name="Oval 22">
              <a:extLst>
                <a:ext uri="{FF2B5EF4-FFF2-40B4-BE49-F238E27FC236}">
                  <a16:creationId xmlns:a16="http://schemas.microsoft.com/office/drawing/2014/main" id="{EB54CB59-5B0C-D2C1-6E7B-F16DFC6E8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BFBDC159-1117-24B9-7A50-7B54AD562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11" name="Oval 24">
              <a:extLst>
                <a:ext uri="{FF2B5EF4-FFF2-40B4-BE49-F238E27FC236}">
                  <a16:creationId xmlns:a16="http://schemas.microsoft.com/office/drawing/2014/main" id="{5BF44481-ACFE-F9E0-3482-A964F3392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88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3A8C1380-EFFE-E953-C91E-9C98EBD74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13" name="Oval 26">
              <a:extLst>
                <a:ext uri="{FF2B5EF4-FFF2-40B4-BE49-F238E27FC236}">
                  <a16:creationId xmlns:a16="http://schemas.microsoft.com/office/drawing/2014/main" id="{ACA4F1C5-2C1C-A194-94E2-845B66E5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14" name="Oval 27">
              <a:extLst>
                <a:ext uri="{FF2B5EF4-FFF2-40B4-BE49-F238E27FC236}">
                  <a16:creationId xmlns:a16="http://schemas.microsoft.com/office/drawing/2014/main" id="{3DCE9511-9A51-0FD8-6387-07BDFE803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88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i</a:t>
              </a:r>
            </a:p>
          </p:txBody>
        </p:sp>
        <p:cxnSp>
          <p:nvCxnSpPr>
            <p:cNvPr id="15" name="AutoShape 28">
              <a:extLst>
                <a:ext uri="{FF2B5EF4-FFF2-40B4-BE49-F238E27FC236}">
                  <a16:creationId xmlns:a16="http://schemas.microsoft.com/office/drawing/2014/main" id="{CB1A8280-E9A1-13FD-2DE9-495158CECFEB}"/>
                </a:ext>
              </a:extLst>
            </p:cNvPr>
            <p:cNvCxnSpPr>
              <a:cxnSpLocks noChangeShapeType="1"/>
              <a:stCxn id="5" idx="4"/>
              <a:endCxn id="6" idx="0"/>
            </p:cNvCxnSpPr>
            <p:nvPr/>
          </p:nvCxnSpPr>
          <p:spPr bwMode="auto">
            <a:xfrm>
              <a:off x="2640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29">
              <a:extLst>
                <a:ext uri="{FF2B5EF4-FFF2-40B4-BE49-F238E27FC236}">
                  <a16:creationId xmlns:a16="http://schemas.microsoft.com/office/drawing/2014/main" id="{445398AE-B112-F030-9739-DF79A0177BC6}"/>
                </a:ext>
              </a:extLst>
            </p:cNvPr>
            <p:cNvCxnSpPr>
              <a:cxnSpLocks noChangeShapeType="1"/>
              <a:stCxn id="5" idx="6"/>
              <a:endCxn id="8" idx="2"/>
            </p:cNvCxnSpPr>
            <p:nvPr/>
          </p:nvCxnSpPr>
          <p:spPr bwMode="auto">
            <a:xfrm>
              <a:off x="2736" y="288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30">
              <a:extLst>
                <a:ext uri="{FF2B5EF4-FFF2-40B4-BE49-F238E27FC236}">
                  <a16:creationId xmlns:a16="http://schemas.microsoft.com/office/drawing/2014/main" id="{E6957F06-F67B-740D-0B5F-4EE19604EE74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3312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31">
              <a:extLst>
                <a:ext uri="{FF2B5EF4-FFF2-40B4-BE49-F238E27FC236}">
                  <a16:creationId xmlns:a16="http://schemas.microsoft.com/office/drawing/2014/main" id="{161E5A00-B34A-EA6C-6C4E-9245A46D91F7}"/>
                </a:ext>
              </a:extLst>
            </p:cNvPr>
            <p:cNvCxnSpPr>
              <a:cxnSpLocks noChangeShapeType="1"/>
              <a:stCxn id="9" idx="1"/>
              <a:endCxn id="5" idx="5"/>
            </p:cNvCxnSpPr>
            <p:nvPr/>
          </p:nvCxnSpPr>
          <p:spPr bwMode="auto">
            <a:xfrm flipH="1" flipV="1">
              <a:off x="2708" y="2948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32">
              <a:extLst>
                <a:ext uri="{FF2B5EF4-FFF2-40B4-BE49-F238E27FC236}">
                  <a16:creationId xmlns:a16="http://schemas.microsoft.com/office/drawing/2014/main" id="{902F7970-7C90-A9BE-AD48-C3142CF2B40A}"/>
                </a:ext>
              </a:extLst>
            </p:cNvPr>
            <p:cNvCxnSpPr>
              <a:cxnSpLocks noChangeShapeType="1"/>
              <a:stCxn id="9" idx="2"/>
              <a:endCxn id="6" idx="6"/>
            </p:cNvCxnSpPr>
            <p:nvPr/>
          </p:nvCxnSpPr>
          <p:spPr bwMode="auto">
            <a:xfrm flipH="1">
              <a:off x="2736" y="340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AutoShape 33">
              <a:extLst>
                <a:ext uri="{FF2B5EF4-FFF2-40B4-BE49-F238E27FC236}">
                  <a16:creationId xmlns:a16="http://schemas.microsoft.com/office/drawing/2014/main" id="{753C125D-9BD1-DC5A-C0E5-812115D5C0B9}"/>
                </a:ext>
              </a:extLst>
            </p:cNvPr>
            <p:cNvCxnSpPr>
              <a:cxnSpLocks noChangeShapeType="1"/>
              <a:stCxn id="9" idx="3"/>
              <a:endCxn id="7" idx="7"/>
            </p:cNvCxnSpPr>
            <p:nvPr/>
          </p:nvCxnSpPr>
          <p:spPr bwMode="auto">
            <a:xfrm flipH="1">
              <a:off x="2708" y="347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1" name="AutoShape 34">
              <a:extLst>
                <a:ext uri="{FF2B5EF4-FFF2-40B4-BE49-F238E27FC236}">
                  <a16:creationId xmlns:a16="http://schemas.microsoft.com/office/drawing/2014/main" id="{8B03C130-BF38-1C3E-B318-05FF77805113}"/>
                </a:ext>
              </a:extLst>
            </p:cNvPr>
            <p:cNvCxnSpPr>
              <a:cxnSpLocks noChangeShapeType="1"/>
              <a:stCxn id="6" idx="4"/>
              <a:endCxn id="7" idx="0"/>
            </p:cNvCxnSpPr>
            <p:nvPr/>
          </p:nvCxnSpPr>
          <p:spPr bwMode="auto">
            <a:xfrm>
              <a:off x="2640" y="3504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35">
              <a:extLst>
                <a:ext uri="{FF2B5EF4-FFF2-40B4-BE49-F238E27FC236}">
                  <a16:creationId xmlns:a16="http://schemas.microsoft.com/office/drawing/2014/main" id="{263CF7A8-BE44-6772-21C9-2F060A022A82}"/>
                </a:ext>
              </a:extLst>
            </p:cNvPr>
            <p:cNvCxnSpPr>
              <a:cxnSpLocks noChangeShapeType="1"/>
              <a:stCxn id="8" idx="5"/>
              <a:endCxn id="10" idx="1"/>
            </p:cNvCxnSpPr>
            <p:nvPr/>
          </p:nvCxnSpPr>
          <p:spPr bwMode="auto">
            <a:xfrm>
              <a:off x="3380" y="2948"/>
              <a:ext cx="538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36">
              <a:extLst>
                <a:ext uri="{FF2B5EF4-FFF2-40B4-BE49-F238E27FC236}">
                  <a16:creationId xmlns:a16="http://schemas.microsoft.com/office/drawing/2014/main" id="{CF7B025F-8ACE-5351-86CE-A550967DDCDD}"/>
                </a:ext>
              </a:extLst>
            </p:cNvPr>
            <p:cNvCxnSpPr>
              <a:cxnSpLocks noChangeShapeType="1"/>
              <a:stCxn id="10" idx="2"/>
              <a:endCxn id="9" idx="6"/>
            </p:cNvCxnSpPr>
            <p:nvPr/>
          </p:nvCxnSpPr>
          <p:spPr bwMode="auto">
            <a:xfrm flipH="1">
              <a:off x="3408" y="340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37">
              <a:extLst>
                <a:ext uri="{FF2B5EF4-FFF2-40B4-BE49-F238E27FC236}">
                  <a16:creationId xmlns:a16="http://schemas.microsoft.com/office/drawing/2014/main" id="{B346F035-9B99-F0F3-F4FF-0A5EDA36847A}"/>
                </a:ext>
              </a:extLst>
            </p:cNvPr>
            <p:cNvCxnSpPr>
              <a:cxnSpLocks noChangeShapeType="1"/>
              <a:stCxn id="13" idx="3"/>
              <a:endCxn id="10" idx="7"/>
            </p:cNvCxnSpPr>
            <p:nvPr/>
          </p:nvCxnSpPr>
          <p:spPr bwMode="auto">
            <a:xfrm flipH="1">
              <a:off x="4052" y="2900"/>
              <a:ext cx="488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38">
              <a:extLst>
                <a:ext uri="{FF2B5EF4-FFF2-40B4-BE49-F238E27FC236}">
                  <a16:creationId xmlns:a16="http://schemas.microsoft.com/office/drawing/2014/main" id="{2491BCAA-A112-A5AD-BE7C-E7D57003C81E}"/>
                </a:ext>
              </a:extLst>
            </p:cNvPr>
            <p:cNvCxnSpPr>
              <a:cxnSpLocks noChangeShapeType="1"/>
              <a:stCxn id="13" idx="4"/>
              <a:endCxn id="12" idx="0"/>
            </p:cNvCxnSpPr>
            <p:nvPr/>
          </p:nvCxnSpPr>
          <p:spPr bwMode="auto">
            <a:xfrm>
              <a:off x="4608" y="292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39">
              <a:extLst>
                <a:ext uri="{FF2B5EF4-FFF2-40B4-BE49-F238E27FC236}">
                  <a16:creationId xmlns:a16="http://schemas.microsoft.com/office/drawing/2014/main" id="{14756249-79B0-AC63-19E8-79E55677B24D}"/>
                </a:ext>
              </a:extLst>
            </p:cNvPr>
            <p:cNvCxnSpPr>
              <a:cxnSpLocks noChangeShapeType="1"/>
              <a:stCxn id="12" idx="3"/>
              <a:endCxn id="11" idx="7"/>
            </p:cNvCxnSpPr>
            <p:nvPr/>
          </p:nvCxnSpPr>
          <p:spPr bwMode="auto">
            <a:xfrm flipH="1">
              <a:off x="4052" y="3476"/>
              <a:ext cx="488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40">
              <a:extLst>
                <a:ext uri="{FF2B5EF4-FFF2-40B4-BE49-F238E27FC236}">
                  <a16:creationId xmlns:a16="http://schemas.microsoft.com/office/drawing/2014/main" id="{189416ED-DC2E-6DAD-102E-3D8C6938C6F7}"/>
                </a:ext>
              </a:extLst>
            </p:cNvPr>
            <p:cNvCxnSpPr>
              <a:cxnSpLocks noChangeShapeType="1"/>
              <a:stCxn id="11" idx="6"/>
              <a:endCxn id="14" idx="2"/>
            </p:cNvCxnSpPr>
            <p:nvPr/>
          </p:nvCxnSpPr>
          <p:spPr bwMode="auto">
            <a:xfrm>
              <a:off x="4080" y="3984"/>
              <a:ext cx="43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41">
              <a:extLst>
                <a:ext uri="{FF2B5EF4-FFF2-40B4-BE49-F238E27FC236}">
                  <a16:creationId xmlns:a16="http://schemas.microsoft.com/office/drawing/2014/main" id="{CD5A00FB-4CEA-5A73-346D-381EA2D1785B}"/>
                </a:ext>
              </a:extLst>
            </p:cNvPr>
            <p:cNvCxnSpPr>
              <a:cxnSpLocks noChangeShapeType="1"/>
              <a:stCxn id="14" idx="0"/>
              <a:endCxn id="12" idx="4"/>
            </p:cNvCxnSpPr>
            <p:nvPr/>
          </p:nvCxnSpPr>
          <p:spPr bwMode="auto">
            <a:xfrm flipV="1">
              <a:off x="4608" y="3504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42">
              <a:extLst>
                <a:ext uri="{FF2B5EF4-FFF2-40B4-BE49-F238E27FC236}">
                  <a16:creationId xmlns:a16="http://schemas.microsoft.com/office/drawing/2014/main" id="{D12264E7-26F4-ABDD-DCF9-C13081342629}"/>
                </a:ext>
              </a:extLst>
            </p:cNvPr>
            <p:cNvCxnSpPr>
              <a:cxnSpLocks noChangeShapeType="1"/>
              <a:stCxn id="12" idx="2"/>
              <a:endCxn id="10" idx="6"/>
            </p:cNvCxnSpPr>
            <p:nvPr/>
          </p:nvCxnSpPr>
          <p:spPr bwMode="auto">
            <a:xfrm flipH="1">
              <a:off x="4080" y="3408"/>
              <a:ext cx="43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4192506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4DBF-27E8-D2A7-2C3A-9EBA2C571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D40DC8-3403-DADB-9D34-5D4C640862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311" y="228600"/>
            <a:ext cx="7560890" cy="1127523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IE" dirty="0"/>
              <a:t>ample questions /16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ED43-8B14-9D8B-F84A-0D1CD0C67C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990601"/>
            <a:ext cx="7999040" cy="4572000"/>
          </a:xfrm>
        </p:spPr>
        <p:txBody>
          <a:bodyPr>
            <a:normAutofit/>
          </a:bodyPr>
          <a:lstStyle/>
          <a:p>
            <a:pPr marL="0" indent="0" defTabSz="857250">
              <a:lnSpc>
                <a:spcPct val="100000"/>
              </a:lnSpc>
              <a:buNone/>
            </a:pPr>
            <a:r>
              <a:rPr lang="en-US" altLang="en-US" sz="1800" dirty="0"/>
              <a:t>What is the density D of the following graph?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D=1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2000" b="1" dirty="0"/>
              <a:t>D=0.25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D=0.5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D less than 0.1</a:t>
            </a:r>
          </a:p>
          <a:p>
            <a:pPr defTabSz="857250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dirty="0"/>
              <a:t>None of the answers is correct</a:t>
            </a:r>
          </a:p>
          <a:p>
            <a:pPr marL="0" indent="0" defTabSz="857250">
              <a:lnSpc>
                <a:spcPct val="100000"/>
              </a:lnSpc>
              <a:buNone/>
            </a:pPr>
            <a:endParaRPr lang="en-US" altLang="en-US" sz="1800" dirty="0"/>
          </a:p>
          <a:p>
            <a:pPr marL="0" indent="0" defTabSz="857250">
              <a:lnSpc>
                <a:spcPct val="100000"/>
              </a:lnSpc>
              <a:buNone/>
            </a:pPr>
            <a:endParaRPr lang="en-US" altLang="en-US" sz="1800" dirty="0"/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FC5540F6-349F-78B6-535D-641FC53B8B1F}"/>
              </a:ext>
            </a:extLst>
          </p:cNvPr>
          <p:cNvGrpSpPr>
            <a:grpSpLocks/>
          </p:cNvGrpSpPr>
          <p:nvPr/>
        </p:nvGrpSpPr>
        <p:grpSpPr bwMode="auto">
          <a:xfrm>
            <a:off x="4143375" y="3429001"/>
            <a:ext cx="3600153" cy="2241670"/>
            <a:chOff x="2544" y="2736"/>
            <a:chExt cx="2160" cy="1296"/>
          </a:xfrm>
        </p:grpSpPr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29EC4C65-7E1D-7D3A-A049-0BB1EBFC2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6" name="Oval 19">
              <a:extLst>
                <a:ext uri="{FF2B5EF4-FFF2-40B4-BE49-F238E27FC236}">
                  <a16:creationId xmlns:a16="http://schemas.microsoft.com/office/drawing/2014/main" id="{1BC48F60-2D9E-9B75-B2E9-58BEA941A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7" name="Oval 20">
              <a:extLst>
                <a:ext uri="{FF2B5EF4-FFF2-40B4-BE49-F238E27FC236}">
                  <a16:creationId xmlns:a16="http://schemas.microsoft.com/office/drawing/2014/main" id="{A19FD4EA-1ED3-D505-AB9F-4150B76E7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8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8" name="Oval 21">
              <a:extLst>
                <a:ext uri="{FF2B5EF4-FFF2-40B4-BE49-F238E27FC236}">
                  <a16:creationId xmlns:a16="http://schemas.microsoft.com/office/drawing/2014/main" id="{C45F7887-CF49-2D15-1F6E-ACF4D20D7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8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9" name="Oval 22">
              <a:extLst>
                <a:ext uri="{FF2B5EF4-FFF2-40B4-BE49-F238E27FC236}">
                  <a16:creationId xmlns:a16="http://schemas.microsoft.com/office/drawing/2014/main" id="{23A9279E-D924-96F4-A9E7-71D76B625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39855C0F-1617-AABC-B997-042215D73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2993D1E5-B299-817A-1A8A-53EEDDB17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312"/>
              <a:ext cx="192" cy="19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13" name="Oval 26">
              <a:extLst>
                <a:ext uri="{FF2B5EF4-FFF2-40B4-BE49-F238E27FC236}">
                  <a16:creationId xmlns:a16="http://schemas.microsoft.com/office/drawing/2014/main" id="{49B5AC70-486F-0125-3DA0-251E280A7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620" tIns="45310" rIns="90620" bIns="45310" anchor="ctr"/>
            <a:lstStyle/>
            <a:p>
              <a:pPr algn="ctr" defTabSz="906364">
                <a:defRPr/>
              </a:pPr>
              <a:r>
                <a:rPr lang="en-US" sz="1969" i="1"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cxnSp>
          <p:nvCxnSpPr>
            <p:cNvPr id="15" name="AutoShape 28">
              <a:extLst>
                <a:ext uri="{FF2B5EF4-FFF2-40B4-BE49-F238E27FC236}">
                  <a16:creationId xmlns:a16="http://schemas.microsoft.com/office/drawing/2014/main" id="{87A0E10B-0453-DC07-F6BC-CB9BE5964904}"/>
                </a:ext>
              </a:extLst>
            </p:cNvPr>
            <p:cNvCxnSpPr>
              <a:cxnSpLocks noChangeShapeType="1"/>
              <a:stCxn id="5" idx="4"/>
              <a:endCxn id="6" idx="0"/>
            </p:cNvCxnSpPr>
            <p:nvPr/>
          </p:nvCxnSpPr>
          <p:spPr bwMode="auto">
            <a:xfrm>
              <a:off x="2640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29">
              <a:extLst>
                <a:ext uri="{FF2B5EF4-FFF2-40B4-BE49-F238E27FC236}">
                  <a16:creationId xmlns:a16="http://schemas.microsoft.com/office/drawing/2014/main" id="{4E3A73FB-CE55-BC68-72BE-818C39F6156E}"/>
                </a:ext>
              </a:extLst>
            </p:cNvPr>
            <p:cNvCxnSpPr>
              <a:cxnSpLocks noChangeShapeType="1"/>
              <a:stCxn id="5" idx="6"/>
              <a:endCxn id="8" idx="2"/>
            </p:cNvCxnSpPr>
            <p:nvPr/>
          </p:nvCxnSpPr>
          <p:spPr bwMode="auto">
            <a:xfrm>
              <a:off x="2736" y="2880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30">
              <a:extLst>
                <a:ext uri="{FF2B5EF4-FFF2-40B4-BE49-F238E27FC236}">
                  <a16:creationId xmlns:a16="http://schemas.microsoft.com/office/drawing/2014/main" id="{A99B2D76-3694-9C3A-04E5-8BF7B0508BAB}"/>
                </a:ext>
              </a:extLst>
            </p:cNvPr>
            <p:cNvCxnSpPr>
              <a:cxnSpLocks noChangeShapeType="1"/>
              <a:stCxn id="8" idx="4"/>
              <a:endCxn id="9" idx="0"/>
            </p:cNvCxnSpPr>
            <p:nvPr/>
          </p:nvCxnSpPr>
          <p:spPr bwMode="auto">
            <a:xfrm>
              <a:off x="3312" y="2976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31">
              <a:extLst>
                <a:ext uri="{FF2B5EF4-FFF2-40B4-BE49-F238E27FC236}">
                  <a16:creationId xmlns:a16="http://schemas.microsoft.com/office/drawing/2014/main" id="{125558EC-E39D-14B2-59DF-A96F78AF11A9}"/>
                </a:ext>
              </a:extLst>
            </p:cNvPr>
            <p:cNvCxnSpPr>
              <a:cxnSpLocks noChangeShapeType="1"/>
              <a:stCxn id="9" idx="1"/>
              <a:endCxn id="5" idx="5"/>
            </p:cNvCxnSpPr>
            <p:nvPr/>
          </p:nvCxnSpPr>
          <p:spPr bwMode="auto">
            <a:xfrm flipH="1" flipV="1">
              <a:off x="2708" y="2948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32">
              <a:extLst>
                <a:ext uri="{FF2B5EF4-FFF2-40B4-BE49-F238E27FC236}">
                  <a16:creationId xmlns:a16="http://schemas.microsoft.com/office/drawing/2014/main" id="{FCA2D9BA-63C0-5FA4-8217-51D70C5C610B}"/>
                </a:ext>
              </a:extLst>
            </p:cNvPr>
            <p:cNvCxnSpPr>
              <a:cxnSpLocks noChangeShapeType="1"/>
              <a:stCxn id="9" idx="2"/>
              <a:endCxn id="6" idx="6"/>
            </p:cNvCxnSpPr>
            <p:nvPr/>
          </p:nvCxnSpPr>
          <p:spPr bwMode="auto">
            <a:xfrm flipH="1">
              <a:off x="2736" y="340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AutoShape 33">
              <a:extLst>
                <a:ext uri="{FF2B5EF4-FFF2-40B4-BE49-F238E27FC236}">
                  <a16:creationId xmlns:a16="http://schemas.microsoft.com/office/drawing/2014/main" id="{C0030610-AAA7-EE46-9FD4-1A087DE6CDE3}"/>
                </a:ext>
              </a:extLst>
            </p:cNvPr>
            <p:cNvCxnSpPr>
              <a:cxnSpLocks noChangeShapeType="1"/>
              <a:stCxn id="9" idx="3"/>
              <a:endCxn id="7" idx="7"/>
            </p:cNvCxnSpPr>
            <p:nvPr/>
          </p:nvCxnSpPr>
          <p:spPr bwMode="auto">
            <a:xfrm flipH="1">
              <a:off x="2708" y="3476"/>
              <a:ext cx="536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1" name="AutoShape 34">
              <a:extLst>
                <a:ext uri="{FF2B5EF4-FFF2-40B4-BE49-F238E27FC236}">
                  <a16:creationId xmlns:a16="http://schemas.microsoft.com/office/drawing/2014/main" id="{22755B87-E8D5-2746-CD63-6D64B19BFDDE}"/>
                </a:ext>
              </a:extLst>
            </p:cNvPr>
            <p:cNvCxnSpPr>
              <a:cxnSpLocks noChangeShapeType="1"/>
              <a:stCxn id="6" idx="4"/>
              <a:endCxn id="7" idx="0"/>
            </p:cNvCxnSpPr>
            <p:nvPr/>
          </p:nvCxnSpPr>
          <p:spPr bwMode="auto">
            <a:xfrm>
              <a:off x="2640" y="3504"/>
              <a:ext cx="0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35">
              <a:extLst>
                <a:ext uri="{FF2B5EF4-FFF2-40B4-BE49-F238E27FC236}">
                  <a16:creationId xmlns:a16="http://schemas.microsoft.com/office/drawing/2014/main" id="{AF959D5B-BB5F-38CA-6E1B-981D40BA93ED}"/>
                </a:ext>
              </a:extLst>
            </p:cNvPr>
            <p:cNvCxnSpPr>
              <a:cxnSpLocks noChangeShapeType="1"/>
              <a:stCxn id="8" idx="5"/>
              <a:endCxn id="10" idx="1"/>
            </p:cNvCxnSpPr>
            <p:nvPr/>
          </p:nvCxnSpPr>
          <p:spPr bwMode="auto">
            <a:xfrm>
              <a:off x="3380" y="2948"/>
              <a:ext cx="538" cy="3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36">
              <a:extLst>
                <a:ext uri="{FF2B5EF4-FFF2-40B4-BE49-F238E27FC236}">
                  <a16:creationId xmlns:a16="http://schemas.microsoft.com/office/drawing/2014/main" id="{BD2BA84E-E9E2-A168-42EF-0EB13B3DD7C3}"/>
                </a:ext>
              </a:extLst>
            </p:cNvPr>
            <p:cNvCxnSpPr>
              <a:cxnSpLocks noChangeShapeType="1"/>
              <a:stCxn id="10" idx="2"/>
              <a:endCxn id="9" idx="6"/>
            </p:cNvCxnSpPr>
            <p:nvPr/>
          </p:nvCxnSpPr>
          <p:spPr bwMode="auto">
            <a:xfrm flipH="1">
              <a:off x="3408" y="3408"/>
              <a:ext cx="48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37">
              <a:extLst>
                <a:ext uri="{FF2B5EF4-FFF2-40B4-BE49-F238E27FC236}">
                  <a16:creationId xmlns:a16="http://schemas.microsoft.com/office/drawing/2014/main" id="{8FCAB6E5-4334-A5FF-9021-BAE41877C51B}"/>
                </a:ext>
              </a:extLst>
            </p:cNvPr>
            <p:cNvCxnSpPr>
              <a:cxnSpLocks noChangeShapeType="1"/>
              <a:stCxn id="13" idx="3"/>
              <a:endCxn id="10" idx="7"/>
            </p:cNvCxnSpPr>
            <p:nvPr/>
          </p:nvCxnSpPr>
          <p:spPr bwMode="auto">
            <a:xfrm flipH="1">
              <a:off x="4052" y="2900"/>
              <a:ext cx="488" cy="4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38">
              <a:extLst>
                <a:ext uri="{FF2B5EF4-FFF2-40B4-BE49-F238E27FC236}">
                  <a16:creationId xmlns:a16="http://schemas.microsoft.com/office/drawing/2014/main" id="{D480C842-6AD3-0807-B9FC-E4F02F9EE803}"/>
                </a:ext>
              </a:extLst>
            </p:cNvPr>
            <p:cNvCxnSpPr>
              <a:cxnSpLocks noChangeShapeType="1"/>
              <a:stCxn id="13" idx="4"/>
              <a:endCxn id="12" idx="0"/>
            </p:cNvCxnSpPr>
            <p:nvPr/>
          </p:nvCxnSpPr>
          <p:spPr bwMode="auto">
            <a:xfrm>
              <a:off x="4608" y="2928"/>
              <a:ext cx="0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39">
              <a:extLst>
                <a:ext uri="{FF2B5EF4-FFF2-40B4-BE49-F238E27FC236}">
                  <a16:creationId xmlns:a16="http://schemas.microsoft.com/office/drawing/2014/main" id="{7B3237CC-CA35-47AB-ECCE-84AF95E03FF1}"/>
                </a:ext>
              </a:extLst>
            </p:cNvPr>
            <p:cNvCxnSpPr>
              <a:cxnSpLocks noChangeShapeType="1"/>
              <a:stCxn id="12" idx="3"/>
              <a:endCxn id="7" idx="6"/>
            </p:cNvCxnSpPr>
            <p:nvPr/>
          </p:nvCxnSpPr>
          <p:spPr bwMode="auto">
            <a:xfrm flipH="1">
              <a:off x="2736" y="3478"/>
              <a:ext cx="1804" cy="4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42">
              <a:extLst>
                <a:ext uri="{FF2B5EF4-FFF2-40B4-BE49-F238E27FC236}">
                  <a16:creationId xmlns:a16="http://schemas.microsoft.com/office/drawing/2014/main" id="{BCF78F84-AC41-3FAB-5559-280BBD8B2D4A}"/>
                </a:ext>
              </a:extLst>
            </p:cNvPr>
            <p:cNvCxnSpPr>
              <a:cxnSpLocks noChangeShapeType="1"/>
              <a:stCxn id="12" idx="2"/>
              <a:endCxn id="10" idx="6"/>
            </p:cNvCxnSpPr>
            <p:nvPr/>
          </p:nvCxnSpPr>
          <p:spPr bwMode="auto">
            <a:xfrm flipH="1">
              <a:off x="4080" y="3408"/>
              <a:ext cx="43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cxnSp>
        <p:nvCxnSpPr>
          <p:cNvPr id="31" name="AutoShape 36">
            <a:extLst>
              <a:ext uri="{FF2B5EF4-FFF2-40B4-BE49-F238E27FC236}">
                <a16:creationId xmlns:a16="http://schemas.microsoft.com/office/drawing/2014/main" id="{7331B1C2-0EC2-6FBB-4A1A-E3DB411FEC77}"/>
              </a:ext>
            </a:extLst>
          </p:cNvPr>
          <p:cNvCxnSpPr>
            <a:cxnSpLocks noChangeShapeType="1"/>
            <a:stCxn id="10" idx="3"/>
            <a:endCxn id="7" idx="7"/>
          </p:cNvCxnSpPr>
          <p:nvPr/>
        </p:nvCxnSpPr>
        <p:spPr bwMode="auto">
          <a:xfrm flipH="1">
            <a:off x="4416524" y="4711717"/>
            <a:ext cx="2013811" cy="6754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41499023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997</Words>
  <Application>Microsoft Office PowerPoint</Application>
  <PresentationFormat>On-screen Show (4:3)</PresentationFormat>
  <Paragraphs>158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Courier New</vt:lpstr>
      <vt:lpstr>Rockwell</vt:lpstr>
      <vt:lpstr>Rockwell Condensed</vt:lpstr>
      <vt:lpstr>Times New Roman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Week1(CS380).pptx</dc:title>
  <dc:creator>pierpaolodondio</dc:creator>
  <cp:lastModifiedBy>Pierpaolo Dondio</cp:lastModifiedBy>
  <cp:revision>35</cp:revision>
  <dcterms:created xsi:type="dcterms:W3CDTF">2025-09-19T16:19:52Z</dcterms:created>
  <dcterms:modified xsi:type="dcterms:W3CDTF">2025-12-01T20:42:53Z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2025-09-19T00:00:00Z</vt:filetime>
  </property>
  <property fmtid="{D5CDD505-2E9C-101B-9397-08002B2CF9AE}" pid="5" name="Producer">
    <vt:lpwstr>3-Heights(TM) PDF Security Shell 4.8.25.2 (http://www.pdf-tools.com)</vt:lpwstr>
  </property>
</Properties>
</file>