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80"/>
  </p:notesMasterIdLst>
  <p:sldIdLst>
    <p:sldId id="331" r:id="rId2"/>
    <p:sldId id="332" r:id="rId3"/>
    <p:sldId id="408" r:id="rId4"/>
    <p:sldId id="409" r:id="rId5"/>
    <p:sldId id="410" r:id="rId6"/>
    <p:sldId id="411" r:id="rId7"/>
    <p:sldId id="412" r:id="rId8"/>
    <p:sldId id="790" r:id="rId9"/>
    <p:sldId id="794" r:id="rId10"/>
    <p:sldId id="413" r:id="rId11"/>
    <p:sldId id="414" r:id="rId12"/>
    <p:sldId id="789" r:id="rId13"/>
    <p:sldId id="420" r:id="rId14"/>
    <p:sldId id="774" r:id="rId15"/>
    <p:sldId id="453" r:id="rId16"/>
    <p:sldId id="776" r:id="rId17"/>
    <p:sldId id="777" r:id="rId18"/>
    <p:sldId id="778" r:id="rId19"/>
    <p:sldId id="779" r:id="rId20"/>
    <p:sldId id="780" r:id="rId21"/>
    <p:sldId id="781" r:id="rId22"/>
    <p:sldId id="782" r:id="rId23"/>
    <p:sldId id="783" r:id="rId24"/>
    <p:sldId id="784" r:id="rId25"/>
    <p:sldId id="785" r:id="rId26"/>
    <p:sldId id="786" r:id="rId27"/>
    <p:sldId id="787" r:id="rId28"/>
    <p:sldId id="415" r:id="rId29"/>
    <p:sldId id="422" r:id="rId30"/>
    <p:sldId id="423" r:id="rId31"/>
    <p:sldId id="425" r:id="rId32"/>
    <p:sldId id="427" r:id="rId33"/>
    <p:sldId id="428" r:id="rId34"/>
    <p:sldId id="429" r:id="rId35"/>
    <p:sldId id="430" r:id="rId36"/>
    <p:sldId id="431" r:id="rId37"/>
    <p:sldId id="432" r:id="rId38"/>
    <p:sldId id="436" r:id="rId39"/>
    <p:sldId id="435" r:id="rId40"/>
    <p:sldId id="437" r:id="rId41"/>
    <p:sldId id="439" r:id="rId42"/>
    <p:sldId id="440" r:id="rId43"/>
    <p:sldId id="441" r:id="rId44"/>
    <p:sldId id="442" r:id="rId45"/>
    <p:sldId id="443" r:id="rId46"/>
    <p:sldId id="444" r:id="rId47"/>
    <p:sldId id="445" r:id="rId48"/>
    <p:sldId id="446" r:id="rId49"/>
    <p:sldId id="447" r:id="rId50"/>
    <p:sldId id="448" r:id="rId51"/>
    <p:sldId id="449" r:id="rId52"/>
    <p:sldId id="450" r:id="rId53"/>
    <p:sldId id="451" r:id="rId54"/>
    <p:sldId id="344" r:id="rId55"/>
    <p:sldId id="345" r:id="rId56"/>
    <p:sldId id="346" r:id="rId57"/>
    <p:sldId id="347" r:id="rId58"/>
    <p:sldId id="381" r:id="rId59"/>
    <p:sldId id="348" r:id="rId60"/>
    <p:sldId id="380" r:id="rId61"/>
    <p:sldId id="349" r:id="rId62"/>
    <p:sldId id="382" r:id="rId63"/>
    <p:sldId id="350" r:id="rId64"/>
    <p:sldId id="383" r:id="rId65"/>
    <p:sldId id="351" r:id="rId66"/>
    <p:sldId id="352" r:id="rId67"/>
    <p:sldId id="362" r:id="rId68"/>
    <p:sldId id="363" r:id="rId69"/>
    <p:sldId id="364" r:id="rId70"/>
    <p:sldId id="365" r:id="rId71"/>
    <p:sldId id="366" r:id="rId72"/>
    <p:sldId id="367" r:id="rId73"/>
    <p:sldId id="368" r:id="rId74"/>
    <p:sldId id="369" r:id="rId75"/>
    <p:sldId id="370" r:id="rId76"/>
    <p:sldId id="353" r:id="rId77"/>
    <p:sldId id="452" r:id="rId78"/>
    <p:sldId id="788" r:id="rId7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660"/>
  </p:normalViewPr>
  <p:slideViewPr>
    <p:cSldViewPr>
      <p:cViewPr varScale="1">
        <p:scale>
          <a:sx n="70" d="100"/>
          <a:sy n="70" d="100"/>
        </p:scale>
        <p:origin x="12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7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6F994-E567-4E2A-9CC6-7124331350FA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E376-2C33-490B-A7D6-FF41E95A2A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108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C85A79-8F4E-4293-A84B-133598B629DB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987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DE376-2C33-490B-A7D6-FF41E95A2AB4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281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18099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32865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74163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39014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97355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85461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392569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02626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414431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7619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5831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539750" y="6453188"/>
            <a:ext cx="3203575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 flipV="1">
            <a:off x="4008438" y="6453188"/>
            <a:ext cx="4679950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9" name="Picture 2" descr="C:\Users\Rowan\Documents\Maynooth\Powerpoint Template\K7917 - Maynooth University_PowerPoint (Burgundy) Option 1-2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t="-320" r="27138"/>
          <a:stretch>
            <a:fillRect/>
          </a:stretch>
        </p:blipFill>
        <p:spPr bwMode="auto">
          <a:xfrm>
            <a:off x="4008438" y="549275"/>
            <a:ext cx="4679950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Rowan\Documents\Maynooth\Powerpoint Template\K7384 Maynooth University Logo_RGB_300dp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5888"/>
            <a:ext cx="314325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1560" y="3140968"/>
            <a:ext cx="3024336" cy="223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rgbClr val="822327"/>
                </a:solidFill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1189" y="5661025"/>
            <a:ext cx="3024708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8223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3745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72325" y="6448425"/>
            <a:ext cx="1512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GB" altLang="en-US" sz="1100" b="1" dirty="0"/>
              <a:t>maynoothuniversity.ie</a:t>
            </a:r>
            <a:endParaRPr lang="en-GB" altLang="en-US" b="1" dirty="0"/>
          </a:p>
        </p:txBody>
      </p:sp>
      <p:sp>
        <p:nvSpPr>
          <p:cNvPr id="5" name="Rectangle 4"/>
          <p:cNvSpPr/>
          <p:nvPr/>
        </p:nvSpPr>
        <p:spPr>
          <a:xfrm flipV="1">
            <a:off x="395288" y="5884863"/>
            <a:ext cx="8316912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6" name="Picture 3" descr="C:\Users\Rowan\Desktop\K7384 Maynooth University Logo_RGB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092825"/>
            <a:ext cx="147637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46311" y="620688"/>
            <a:ext cx="7560890" cy="1008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/>
          </p:nvPr>
        </p:nvSpPr>
        <p:spPr>
          <a:xfrm>
            <a:off x="755650" y="1844675"/>
            <a:ext cx="7561263" cy="381635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005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45367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9552" y="1916832"/>
            <a:ext cx="3346648" cy="2232025"/>
          </a:xfrm>
        </p:spPr>
        <p:txBody>
          <a:bodyPr>
            <a:normAutofit/>
          </a:bodyPr>
          <a:lstStyle/>
          <a:p>
            <a:r>
              <a:rPr lang="en-GB" sz="3000" dirty="0"/>
              <a:t>CS210</a:t>
            </a:r>
          </a:p>
          <a:p>
            <a:r>
              <a:rPr lang="en-GB" sz="3000" dirty="0"/>
              <a:t>Algorithms and Data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9552" y="4221088"/>
            <a:ext cx="3168352" cy="2103512"/>
          </a:xfrm>
        </p:spPr>
        <p:txBody>
          <a:bodyPr>
            <a:normAutofit/>
          </a:bodyPr>
          <a:lstStyle/>
          <a:p>
            <a:r>
              <a:rPr lang="en-GB" sz="2000" dirty="0"/>
              <a:t>Graphs </a:t>
            </a:r>
          </a:p>
          <a:p>
            <a:r>
              <a:rPr lang="en-GB" sz="2000" dirty="0"/>
              <a:t>Week 11</a:t>
            </a:r>
          </a:p>
          <a:p>
            <a:r>
              <a:rPr lang="en-GB" sz="2000" dirty="0"/>
              <a:t>Semester 1 2025</a:t>
            </a:r>
          </a:p>
          <a:p>
            <a:endParaRPr lang="en-GB" sz="2000" dirty="0"/>
          </a:p>
          <a:p>
            <a:r>
              <a:rPr lang="en-GB" sz="2000" dirty="0"/>
              <a:t>Dr. Pierpaolo Dondio</a:t>
            </a:r>
          </a:p>
        </p:txBody>
      </p:sp>
    </p:spTree>
    <p:extLst>
      <p:ext uri="{BB962C8B-B14F-4D97-AF65-F5344CB8AC3E}">
        <p14:creationId xmlns:p14="http://schemas.microsoft.com/office/powerpoint/2010/main" val="39192943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5BBDE-771D-F4A9-FCA5-E9F7555B79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Week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F77D-BE3B-A573-31AB-5C3329CA38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00201"/>
            <a:ext cx="7999040" cy="3962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IE" sz="2800" i="1" dirty="0"/>
              <a:t>Graph: definition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Representation of Graphs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Components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Searching in a Graph (DFS vs. BFS)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Shortest Path Algorithm</a:t>
            </a:r>
          </a:p>
        </p:txBody>
      </p:sp>
    </p:spTree>
    <p:extLst>
      <p:ext uri="{BB962C8B-B14F-4D97-AF65-F5344CB8AC3E}">
        <p14:creationId xmlns:p14="http://schemas.microsoft.com/office/powerpoint/2010/main" val="115105945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0C00-B7A4-8C4C-D591-A3C823C6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5FBBEC-5D85-628B-F7C6-96B5855AA7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/>
          <a:lstStyle/>
          <a:p>
            <a:r>
              <a:rPr lang="en-IE" dirty="0"/>
              <a:t>Graph: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88652-32B4-E7DD-7386-0D108131C1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990601"/>
            <a:ext cx="7999040" cy="4572000"/>
          </a:xfrm>
        </p:spPr>
        <p:txBody>
          <a:bodyPr>
            <a:normAutofit/>
          </a:bodyPr>
          <a:lstStyle/>
          <a:p>
            <a:pPr marL="266403" indent="-266403" defTabSz="857250">
              <a:lnSpc>
                <a:spcPct val="100000"/>
              </a:lnSpc>
            </a:pPr>
            <a:r>
              <a:rPr lang="en-US" altLang="en-US" sz="1800" i="1" dirty="0"/>
              <a:t>A is a data structure defined as GRAPH G = (V, E) where</a:t>
            </a:r>
          </a:p>
          <a:p>
            <a:pPr marL="590848" lvl="1" indent="-217289" defTabSz="857250">
              <a:lnSpc>
                <a:spcPct val="100000"/>
              </a:lnSpc>
              <a:buNone/>
            </a:pPr>
            <a:r>
              <a:rPr lang="en-US" altLang="en-US" i="1" dirty="0"/>
              <a:t>	V is a set of vertices (nodes), and</a:t>
            </a:r>
          </a:p>
          <a:p>
            <a:pPr marL="590848" lvl="1" indent="-217289" defTabSz="857250">
              <a:lnSpc>
                <a:spcPct val="100000"/>
              </a:lnSpc>
              <a:buNone/>
            </a:pPr>
            <a:r>
              <a:rPr lang="en-US" altLang="en-US" i="1" dirty="0"/>
              <a:t>	E is a set of edges (arcs), i.e., pairs of vertices</a:t>
            </a:r>
          </a:p>
          <a:p>
            <a:pPr marL="266403" indent="-266403" defTabSz="857250">
              <a:lnSpc>
                <a:spcPct val="100000"/>
              </a:lnSpc>
            </a:pPr>
            <a:r>
              <a:rPr lang="en-US" altLang="en-US" sz="1800" i="1" dirty="0"/>
              <a:t>DIRECTED graphs (digraphs): edges are directed</a:t>
            </a:r>
          </a:p>
          <a:p>
            <a:pPr marL="266403" indent="-266403" defTabSz="857250">
              <a:lnSpc>
                <a:spcPct val="100000"/>
              </a:lnSpc>
            </a:pPr>
            <a:r>
              <a:rPr lang="en-US" altLang="en-US" sz="1800" i="1" dirty="0"/>
              <a:t>UNDIRECTED graphs: edges are undirected</a:t>
            </a:r>
          </a:p>
          <a:p>
            <a:pPr marL="266403" indent="-266403" defTabSz="857250">
              <a:lnSpc>
                <a:spcPct val="100000"/>
              </a:lnSpc>
            </a:pPr>
            <a:r>
              <a:rPr lang="en-US" altLang="en-US" sz="1800" i="1" dirty="0"/>
              <a:t>Labeled graphs: edges have labels, directed or undirected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26DCC0B6-4699-34A4-9978-621DCE3A2108}"/>
              </a:ext>
            </a:extLst>
          </p:cNvPr>
          <p:cNvGrpSpPr>
            <a:grpSpLocks/>
          </p:cNvGrpSpPr>
          <p:nvPr/>
        </p:nvGrpSpPr>
        <p:grpSpPr bwMode="auto">
          <a:xfrm>
            <a:off x="4143375" y="3429001"/>
            <a:ext cx="3600153" cy="2324695"/>
            <a:chOff x="2544" y="2736"/>
            <a:chExt cx="2160" cy="1344"/>
          </a:xfrm>
        </p:grpSpPr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1022648E-698A-F3E2-AF65-6C85C0695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6" name="Oval 19">
              <a:extLst>
                <a:ext uri="{FF2B5EF4-FFF2-40B4-BE49-F238E27FC236}">
                  <a16:creationId xmlns:a16="http://schemas.microsoft.com/office/drawing/2014/main" id="{85323C66-DB88-0038-5F49-CC0984D7B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7" name="Oval 20">
              <a:extLst>
                <a:ext uri="{FF2B5EF4-FFF2-40B4-BE49-F238E27FC236}">
                  <a16:creationId xmlns:a16="http://schemas.microsoft.com/office/drawing/2014/main" id="{C069D8D0-D691-1B72-0F12-7E3A1C9BA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8" name="Oval 21">
              <a:extLst>
                <a:ext uri="{FF2B5EF4-FFF2-40B4-BE49-F238E27FC236}">
                  <a16:creationId xmlns:a16="http://schemas.microsoft.com/office/drawing/2014/main" id="{758EE520-5086-708F-8C1A-3121A87E5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C6DBC769-9C97-AB06-ED3F-7083A5769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DBD20AEC-13B9-1F1D-BF4C-866D58D66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1" name="Oval 24">
              <a:extLst>
                <a:ext uri="{FF2B5EF4-FFF2-40B4-BE49-F238E27FC236}">
                  <a16:creationId xmlns:a16="http://schemas.microsoft.com/office/drawing/2014/main" id="{FC035989-CD79-CFDE-0AD3-A0EEE28C9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88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69A0A63D-5411-36B5-1A6C-BBC040A0F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3" name="Oval 26">
              <a:extLst>
                <a:ext uri="{FF2B5EF4-FFF2-40B4-BE49-F238E27FC236}">
                  <a16:creationId xmlns:a16="http://schemas.microsoft.com/office/drawing/2014/main" id="{74DE9BAB-4A62-B0D7-D786-78E8E5779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14" name="Oval 27">
              <a:extLst>
                <a:ext uri="{FF2B5EF4-FFF2-40B4-BE49-F238E27FC236}">
                  <a16:creationId xmlns:a16="http://schemas.microsoft.com/office/drawing/2014/main" id="{5FAF7255-E512-8830-DBF9-317BDA18C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88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15" name="AutoShape 28">
              <a:extLst>
                <a:ext uri="{FF2B5EF4-FFF2-40B4-BE49-F238E27FC236}">
                  <a16:creationId xmlns:a16="http://schemas.microsoft.com/office/drawing/2014/main" id="{8D625F1A-1037-CC35-B75A-29519E892FBD}"/>
                </a:ext>
              </a:extLst>
            </p:cNvPr>
            <p:cNvCxnSpPr>
              <a:cxnSpLocks noChangeShapeType="1"/>
              <a:stCxn id="5" idx="4"/>
              <a:endCxn id="6" idx="0"/>
            </p:cNvCxnSpPr>
            <p:nvPr/>
          </p:nvCxnSpPr>
          <p:spPr bwMode="auto">
            <a:xfrm>
              <a:off x="2640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29">
              <a:extLst>
                <a:ext uri="{FF2B5EF4-FFF2-40B4-BE49-F238E27FC236}">
                  <a16:creationId xmlns:a16="http://schemas.microsoft.com/office/drawing/2014/main" id="{E865D795-CC77-C010-3010-6E1633CA3A32}"/>
                </a:ext>
              </a:extLst>
            </p:cNvPr>
            <p:cNvCxnSpPr>
              <a:cxnSpLocks noChangeShapeType="1"/>
              <a:stCxn id="5" idx="6"/>
              <a:endCxn id="8" idx="2"/>
            </p:cNvCxnSpPr>
            <p:nvPr/>
          </p:nvCxnSpPr>
          <p:spPr bwMode="auto">
            <a:xfrm>
              <a:off x="2736" y="288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4C82079F-3E43-A334-F8F3-05C738A1470B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3312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31">
              <a:extLst>
                <a:ext uri="{FF2B5EF4-FFF2-40B4-BE49-F238E27FC236}">
                  <a16:creationId xmlns:a16="http://schemas.microsoft.com/office/drawing/2014/main" id="{FC5F56ED-A6F3-F841-9E0D-ED97D03CE694}"/>
                </a:ext>
              </a:extLst>
            </p:cNvPr>
            <p:cNvCxnSpPr>
              <a:cxnSpLocks noChangeShapeType="1"/>
              <a:stCxn id="9" idx="1"/>
              <a:endCxn id="5" idx="5"/>
            </p:cNvCxnSpPr>
            <p:nvPr/>
          </p:nvCxnSpPr>
          <p:spPr bwMode="auto">
            <a:xfrm flipH="1" flipV="1">
              <a:off x="2708" y="2948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32">
              <a:extLst>
                <a:ext uri="{FF2B5EF4-FFF2-40B4-BE49-F238E27FC236}">
                  <a16:creationId xmlns:a16="http://schemas.microsoft.com/office/drawing/2014/main" id="{5ACE034C-BA5D-FD3C-091A-7B76892D1B15}"/>
                </a:ext>
              </a:extLst>
            </p:cNvPr>
            <p:cNvCxnSpPr>
              <a:cxnSpLocks noChangeShapeType="1"/>
              <a:stCxn id="9" idx="2"/>
              <a:endCxn id="6" idx="6"/>
            </p:cNvCxnSpPr>
            <p:nvPr/>
          </p:nvCxnSpPr>
          <p:spPr bwMode="auto">
            <a:xfrm flipH="1">
              <a:off x="2736" y="340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33">
              <a:extLst>
                <a:ext uri="{FF2B5EF4-FFF2-40B4-BE49-F238E27FC236}">
                  <a16:creationId xmlns:a16="http://schemas.microsoft.com/office/drawing/2014/main" id="{8B7F94EF-2D63-FA39-EA48-0CE4CEE4FC98}"/>
                </a:ext>
              </a:extLst>
            </p:cNvPr>
            <p:cNvCxnSpPr>
              <a:cxnSpLocks noChangeShapeType="1"/>
              <a:stCxn id="9" idx="3"/>
              <a:endCxn id="7" idx="7"/>
            </p:cNvCxnSpPr>
            <p:nvPr/>
          </p:nvCxnSpPr>
          <p:spPr bwMode="auto">
            <a:xfrm flipH="1">
              <a:off x="2708" y="347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34">
              <a:extLst>
                <a:ext uri="{FF2B5EF4-FFF2-40B4-BE49-F238E27FC236}">
                  <a16:creationId xmlns:a16="http://schemas.microsoft.com/office/drawing/2014/main" id="{C241C7C9-7B61-2B78-A52A-005229626974}"/>
                </a:ext>
              </a:extLst>
            </p:cNvPr>
            <p:cNvCxnSpPr>
              <a:cxnSpLocks noChangeShapeType="1"/>
              <a:stCxn id="6" idx="4"/>
              <a:endCxn id="7" idx="0"/>
            </p:cNvCxnSpPr>
            <p:nvPr/>
          </p:nvCxnSpPr>
          <p:spPr bwMode="auto">
            <a:xfrm>
              <a:off x="2640" y="3504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35">
              <a:extLst>
                <a:ext uri="{FF2B5EF4-FFF2-40B4-BE49-F238E27FC236}">
                  <a16:creationId xmlns:a16="http://schemas.microsoft.com/office/drawing/2014/main" id="{9186EAFD-559D-DBB2-798C-EB50F1C9A3C5}"/>
                </a:ext>
              </a:extLst>
            </p:cNvPr>
            <p:cNvCxnSpPr>
              <a:cxnSpLocks noChangeShapeType="1"/>
              <a:stCxn id="8" idx="5"/>
              <a:endCxn id="10" idx="1"/>
            </p:cNvCxnSpPr>
            <p:nvPr/>
          </p:nvCxnSpPr>
          <p:spPr bwMode="auto">
            <a:xfrm>
              <a:off x="3380" y="2948"/>
              <a:ext cx="538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36">
              <a:extLst>
                <a:ext uri="{FF2B5EF4-FFF2-40B4-BE49-F238E27FC236}">
                  <a16:creationId xmlns:a16="http://schemas.microsoft.com/office/drawing/2014/main" id="{97F8B2C7-8947-D3DB-8A42-7841DDEF1810}"/>
                </a:ext>
              </a:extLst>
            </p:cNvPr>
            <p:cNvCxnSpPr>
              <a:cxnSpLocks noChangeShapeType="1"/>
              <a:stCxn id="10" idx="2"/>
              <a:endCxn id="9" idx="6"/>
            </p:cNvCxnSpPr>
            <p:nvPr/>
          </p:nvCxnSpPr>
          <p:spPr bwMode="auto">
            <a:xfrm flipH="1">
              <a:off x="3408" y="340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37">
              <a:extLst>
                <a:ext uri="{FF2B5EF4-FFF2-40B4-BE49-F238E27FC236}">
                  <a16:creationId xmlns:a16="http://schemas.microsoft.com/office/drawing/2014/main" id="{59463524-E598-0063-8896-E5F345F6873B}"/>
                </a:ext>
              </a:extLst>
            </p:cNvPr>
            <p:cNvCxnSpPr>
              <a:cxnSpLocks noChangeShapeType="1"/>
              <a:stCxn id="13" idx="3"/>
              <a:endCxn id="10" idx="7"/>
            </p:cNvCxnSpPr>
            <p:nvPr/>
          </p:nvCxnSpPr>
          <p:spPr bwMode="auto">
            <a:xfrm flipH="1">
              <a:off x="4052" y="2900"/>
              <a:ext cx="488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38">
              <a:extLst>
                <a:ext uri="{FF2B5EF4-FFF2-40B4-BE49-F238E27FC236}">
                  <a16:creationId xmlns:a16="http://schemas.microsoft.com/office/drawing/2014/main" id="{B40FCB2A-B7AF-E896-7FAD-25EB639D8697}"/>
                </a:ext>
              </a:extLst>
            </p:cNvPr>
            <p:cNvCxnSpPr>
              <a:cxnSpLocks noChangeShapeType="1"/>
              <a:stCxn id="13" idx="4"/>
              <a:endCxn id="12" idx="0"/>
            </p:cNvCxnSpPr>
            <p:nvPr/>
          </p:nvCxnSpPr>
          <p:spPr bwMode="auto">
            <a:xfrm>
              <a:off x="4608" y="292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39">
              <a:extLst>
                <a:ext uri="{FF2B5EF4-FFF2-40B4-BE49-F238E27FC236}">
                  <a16:creationId xmlns:a16="http://schemas.microsoft.com/office/drawing/2014/main" id="{8DB29161-C13B-7099-E826-96C0BEBDB763}"/>
                </a:ext>
              </a:extLst>
            </p:cNvPr>
            <p:cNvCxnSpPr>
              <a:cxnSpLocks noChangeShapeType="1"/>
              <a:stCxn id="12" idx="3"/>
              <a:endCxn id="11" idx="7"/>
            </p:cNvCxnSpPr>
            <p:nvPr/>
          </p:nvCxnSpPr>
          <p:spPr bwMode="auto">
            <a:xfrm flipH="1">
              <a:off x="4052" y="3476"/>
              <a:ext cx="488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40">
              <a:extLst>
                <a:ext uri="{FF2B5EF4-FFF2-40B4-BE49-F238E27FC236}">
                  <a16:creationId xmlns:a16="http://schemas.microsoft.com/office/drawing/2014/main" id="{59B0D5A9-BADB-A119-FF15-E531F45C3137}"/>
                </a:ext>
              </a:extLst>
            </p:cNvPr>
            <p:cNvCxnSpPr>
              <a:cxnSpLocks noChangeShapeType="1"/>
              <a:stCxn id="11" idx="6"/>
              <a:endCxn id="14" idx="2"/>
            </p:cNvCxnSpPr>
            <p:nvPr/>
          </p:nvCxnSpPr>
          <p:spPr bwMode="auto">
            <a:xfrm>
              <a:off x="4080" y="3984"/>
              <a:ext cx="43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41">
              <a:extLst>
                <a:ext uri="{FF2B5EF4-FFF2-40B4-BE49-F238E27FC236}">
                  <a16:creationId xmlns:a16="http://schemas.microsoft.com/office/drawing/2014/main" id="{C6266B2A-9EFC-36C8-480D-D75B101E193C}"/>
                </a:ext>
              </a:extLst>
            </p:cNvPr>
            <p:cNvCxnSpPr>
              <a:cxnSpLocks noChangeShapeType="1"/>
              <a:stCxn id="14" idx="0"/>
              <a:endCxn id="12" idx="4"/>
            </p:cNvCxnSpPr>
            <p:nvPr/>
          </p:nvCxnSpPr>
          <p:spPr bwMode="auto">
            <a:xfrm flipV="1">
              <a:off x="4608" y="3504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42">
              <a:extLst>
                <a:ext uri="{FF2B5EF4-FFF2-40B4-BE49-F238E27FC236}">
                  <a16:creationId xmlns:a16="http://schemas.microsoft.com/office/drawing/2014/main" id="{85602CF6-06B0-C864-DB2A-9D0F34765252}"/>
                </a:ext>
              </a:extLst>
            </p:cNvPr>
            <p:cNvCxnSpPr>
              <a:cxnSpLocks noChangeShapeType="1"/>
              <a:stCxn id="12" idx="2"/>
              <a:endCxn id="10" idx="6"/>
            </p:cNvCxnSpPr>
            <p:nvPr/>
          </p:nvCxnSpPr>
          <p:spPr bwMode="auto">
            <a:xfrm flipH="1">
              <a:off x="4080" y="3408"/>
              <a:ext cx="43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30" name="Group 43">
            <a:extLst>
              <a:ext uri="{FF2B5EF4-FFF2-40B4-BE49-F238E27FC236}">
                <a16:creationId xmlns:a16="http://schemas.microsoft.com/office/drawing/2014/main" id="{CCFACEDE-DD03-4D78-EBEC-E652742BEE5D}"/>
              </a:ext>
            </a:extLst>
          </p:cNvPr>
          <p:cNvGrpSpPr>
            <a:grpSpLocks/>
          </p:cNvGrpSpPr>
          <p:nvPr/>
        </p:nvGrpSpPr>
        <p:grpSpPr bwMode="auto">
          <a:xfrm>
            <a:off x="857251" y="3500438"/>
            <a:ext cx="2242840" cy="2247305"/>
            <a:chOff x="528" y="2352"/>
            <a:chExt cx="1507" cy="1510"/>
          </a:xfrm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E3D01525-B1D6-60C1-DCB0-52B8A8C67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2352"/>
              <a:ext cx="231" cy="2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32" name="Oval 6">
              <a:extLst>
                <a:ext uri="{FF2B5EF4-FFF2-40B4-BE49-F238E27FC236}">
                  <a16:creationId xmlns:a16="http://schemas.microsoft.com/office/drawing/2014/main" id="{1F977B9C-0022-63D2-CD30-EAF0DE8FC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991"/>
              <a:ext cx="232" cy="2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33" name="Oval 7">
              <a:extLst>
                <a:ext uri="{FF2B5EF4-FFF2-40B4-BE49-F238E27FC236}">
                  <a16:creationId xmlns:a16="http://schemas.microsoft.com/office/drawing/2014/main" id="{BDC171A4-8DBA-A83C-7106-8BD50821B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3630"/>
              <a:ext cx="231" cy="2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34" name="Oval 9">
              <a:extLst>
                <a:ext uri="{FF2B5EF4-FFF2-40B4-BE49-F238E27FC236}">
                  <a16:creationId xmlns:a16="http://schemas.microsoft.com/office/drawing/2014/main" id="{62C5238A-5FB8-737C-AEE4-5B8727AD6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3" y="2991"/>
              <a:ext cx="232" cy="2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cxnSp>
          <p:nvCxnSpPr>
            <p:cNvPr id="35" name="AutoShape 10">
              <a:extLst>
                <a:ext uri="{FF2B5EF4-FFF2-40B4-BE49-F238E27FC236}">
                  <a16:creationId xmlns:a16="http://schemas.microsoft.com/office/drawing/2014/main" id="{448B0A04-C99C-AA14-0CCE-6436877E08ED}"/>
                </a:ext>
              </a:extLst>
            </p:cNvPr>
            <p:cNvCxnSpPr>
              <a:cxnSpLocks noChangeShapeType="1"/>
              <a:stCxn id="31" idx="4"/>
              <a:endCxn id="33" idx="0"/>
            </p:cNvCxnSpPr>
            <p:nvPr/>
          </p:nvCxnSpPr>
          <p:spPr bwMode="auto">
            <a:xfrm>
              <a:off x="1282" y="2584"/>
              <a:ext cx="0" cy="10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12">
              <a:extLst>
                <a:ext uri="{FF2B5EF4-FFF2-40B4-BE49-F238E27FC236}">
                  <a16:creationId xmlns:a16="http://schemas.microsoft.com/office/drawing/2014/main" id="{00FACE93-631B-A087-8E19-DCDB9A85F2EC}"/>
                </a:ext>
              </a:extLst>
            </p:cNvPr>
            <p:cNvCxnSpPr>
              <a:cxnSpLocks noChangeShapeType="1"/>
              <a:stCxn id="32" idx="6"/>
              <a:endCxn id="41" idx="2"/>
            </p:cNvCxnSpPr>
            <p:nvPr/>
          </p:nvCxnSpPr>
          <p:spPr bwMode="auto">
            <a:xfrm>
              <a:off x="760" y="3107"/>
              <a:ext cx="40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13">
              <a:extLst>
                <a:ext uri="{FF2B5EF4-FFF2-40B4-BE49-F238E27FC236}">
                  <a16:creationId xmlns:a16="http://schemas.microsoft.com/office/drawing/2014/main" id="{4CE816DF-6E88-36D9-7EC5-46A02979C393}"/>
                </a:ext>
              </a:extLst>
            </p:cNvPr>
            <p:cNvCxnSpPr>
              <a:cxnSpLocks noChangeShapeType="1"/>
              <a:stCxn id="31" idx="3"/>
              <a:endCxn id="32" idx="7"/>
            </p:cNvCxnSpPr>
            <p:nvPr/>
          </p:nvCxnSpPr>
          <p:spPr bwMode="auto">
            <a:xfrm flipH="1">
              <a:off x="726" y="2550"/>
              <a:ext cx="473" cy="4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14">
              <a:extLst>
                <a:ext uri="{FF2B5EF4-FFF2-40B4-BE49-F238E27FC236}">
                  <a16:creationId xmlns:a16="http://schemas.microsoft.com/office/drawing/2014/main" id="{813DB777-B4C7-FB73-81E4-208C50D0B3DB}"/>
                </a:ext>
              </a:extLst>
            </p:cNvPr>
            <p:cNvCxnSpPr>
              <a:cxnSpLocks noChangeShapeType="1"/>
              <a:stCxn id="31" idx="5"/>
              <a:endCxn id="34" idx="1"/>
            </p:cNvCxnSpPr>
            <p:nvPr/>
          </p:nvCxnSpPr>
          <p:spPr bwMode="auto">
            <a:xfrm>
              <a:off x="1364" y="2550"/>
              <a:ext cx="473" cy="4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5">
              <a:extLst>
                <a:ext uri="{FF2B5EF4-FFF2-40B4-BE49-F238E27FC236}">
                  <a16:creationId xmlns:a16="http://schemas.microsoft.com/office/drawing/2014/main" id="{444040C8-8225-1C6D-4B74-B89E37F00DDC}"/>
                </a:ext>
              </a:extLst>
            </p:cNvPr>
            <p:cNvCxnSpPr>
              <a:cxnSpLocks noChangeShapeType="1"/>
              <a:stCxn id="34" idx="3"/>
              <a:endCxn id="33" idx="7"/>
            </p:cNvCxnSpPr>
            <p:nvPr/>
          </p:nvCxnSpPr>
          <p:spPr bwMode="auto">
            <a:xfrm flipH="1">
              <a:off x="1364" y="3189"/>
              <a:ext cx="473" cy="4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6">
              <a:extLst>
                <a:ext uri="{FF2B5EF4-FFF2-40B4-BE49-F238E27FC236}">
                  <a16:creationId xmlns:a16="http://schemas.microsoft.com/office/drawing/2014/main" id="{39BA01BF-C586-9B8C-DA4A-DAD7B8D23180}"/>
                </a:ext>
              </a:extLst>
            </p:cNvPr>
            <p:cNvCxnSpPr>
              <a:cxnSpLocks noChangeShapeType="1"/>
              <a:stCxn id="33" idx="1"/>
              <a:endCxn id="32" idx="5"/>
            </p:cNvCxnSpPr>
            <p:nvPr/>
          </p:nvCxnSpPr>
          <p:spPr bwMode="auto">
            <a:xfrm flipH="1" flipV="1">
              <a:off x="726" y="3189"/>
              <a:ext cx="473" cy="4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" name="Oval 8">
              <a:extLst>
                <a:ext uri="{FF2B5EF4-FFF2-40B4-BE49-F238E27FC236}">
                  <a16:creationId xmlns:a16="http://schemas.microsoft.com/office/drawing/2014/main" id="{56BBDBDA-63CF-90AF-B4FD-2BEBFB1CE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2991"/>
              <a:ext cx="231" cy="2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010219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FCDA-3F9C-5A60-4062-41F249B3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42B55-AA07-7342-08B1-CACCBA485D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 lnSpcReduction="10000"/>
          </a:bodyPr>
          <a:lstStyle/>
          <a:p>
            <a:r>
              <a:rPr lang="en-IE" dirty="0"/>
              <a:t>Graph representation: Adjacency Matrix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58BD1740-11CF-1C50-9917-2760B14BA615}"/>
              </a:ext>
            </a:extLst>
          </p:cNvPr>
          <p:cNvSpPr txBox="1">
            <a:spLocks noChangeArrowheads="1"/>
          </p:cNvSpPr>
          <p:nvPr/>
        </p:nvSpPr>
        <p:spPr>
          <a:xfrm>
            <a:off x="821559" y="1374411"/>
            <a:ext cx="7560890" cy="2357438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00" dirty="0"/>
              <a:t>Use a square matrix (2d-array) where cell at position (</a:t>
            </a:r>
            <a:r>
              <a:rPr lang="en-US" altLang="en-US" sz="1900" dirty="0" err="1"/>
              <a:t>i,j</a:t>
            </a:r>
            <a:r>
              <a:rPr lang="en-US" altLang="en-US" sz="1900" dirty="0"/>
              <a:t>) is 1 if there is a link from node </a:t>
            </a:r>
            <a:r>
              <a:rPr lang="en-US" altLang="en-US" sz="1900" dirty="0" err="1"/>
              <a:t>i</a:t>
            </a:r>
            <a:r>
              <a:rPr lang="en-US" altLang="en-US" sz="1900" dirty="0"/>
              <a:t> to node j, 0 otherwise.</a:t>
            </a:r>
          </a:p>
          <a:p>
            <a:r>
              <a:rPr lang="en-US" altLang="en-US" sz="1900" dirty="0"/>
              <a:t>G=(V,E) and V={v</a:t>
            </a:r>
            <a:r>
              <a:rPr lang="en-US" altLang="en-US" sz="1900" baseline="-25000" dirty="0"/>
              <a:t>1</a:t>
            </a:r>
            <a:r>
              <a:rPr lang="en-US" altLang="en-US" sz="1900" dirty="0"/>
              <a:t>,…,</a:t>
            </a:r>
            <a:r>
              <a:rPr lang="en-US" altLang="en-US" sz="1900" dirty="0" err="1"/>
              <a:t>v</a:t>
            </a:r>
            <a:r>
              <a:rPr lang="en-US" altLang="en-US" sz="1900" baseline="-25000" dirty="0" err="1"/>
              <a:t>N</a:t>
            </a:r>
            <a:r>
              <a:rPr lang="en-US" altLang="en-US" sz="1900" dirty="0"/>
              <a:t>}</a:t>
            </a:r>
          </a:p>
          <a:p>
            <a:r>
              <a:rPr lang="en-US" altLang="en-US" sz="1900" dirty="0"/>
              <a:t>A(</a:t>
            </a:r>
            <a:r>
              <a:rPr lang="en-US" altLang="en-US" sz="1900" dirty="0" err="1"/>
              <a:t>i,j</a:t>
            </a:r>
            <a:r>
              <a:rPr lang="en-US" altLang="en-US" sz="1900" dirty="0"/>
              <a:t>) = 1 if (</a:t>
            </a:r>
            <a:r>
              <a:rPr lang="en-US" altLang="en-US" sz="1900" dirty="0" err="1"/>
              <a:t>v</a:t>
            </a:r>
            <a:r>
              <a:rPr lang="en-US" altLang="en-US" sz="1900" baseline="-25000" dirty="0" err="1"/>
              <a:t>i</a:t>
            </a:r>
            <a:r>
              <a:rPr lang="en-US" altLang="en-US" sz="1900" dirty="0" err="1"/>
              <a:t>,v</a:t>
            </a:r>
            <a:r>
              <a:rPr lang="en-US" altLang="en-US" sz="1900" baseline="-25000" dirty="0" err="1"/>
              <a:t>j</a:t>
            </a:r>
            <a:r>
              <a:rPr lang="en-US" altLang="en-US" sz="1900" dirty="0"/>
              <a:t>) is in E,  A(</a:t>
            </a:r>
            <a:r>
              <a:rPr lang="en-US" altLang="en-US" sz="1900" dirty="0" err="1"/>
              <a:t>i,j</a:t>
            </a:r>
            <a:r>
              <a:rPr lang="en-US" altLang="en-US" sz="1900" dirty="0"/>
              <a:t>) = 0 otherwise</a:t>
            </a:r>
          </a:p>
          <a:p>
            <a:pPr lvl="1"/>
            <a:r>
              <a:rPr lang="en-US" altLang="en-US" sz="1900" dirty="0"/>
              <a:t>Space: O(N</a:t>
            </a:r>
            <a:r>
              <a:rPr lang="en-US" altLang="en-US" sz="1900" baseline="30000" dirty="0"/>
              <a:t>2</a:t>
            </a:r>
            <a:r>
              <a:rPr lang="en-US" altLang="en-US" sz="1900" dirty="0"/>
              <a:t>)</a:t>
            </a:r>
          </a:p>
          <a:p>
            <a:pPr lvl="1"/>
            <a:r>
              <a:rPr lang="en-US" altLang="en-US" sz="1900" dirty="0"/>
              <a:t>Edge insertion/deletion: O(1)</a:t>
            </a:r>
          </a:p>
          <a:p>
            <a:pPr lvl="1"/>
            <a:r>
              <a:rPr lang="en-US" altLang="en-US" sz="1900" dirty="0"/>
              <a:t>Find all adjacent vertices to a vertex: O(N)</a:t>
            </a:r>
          </a:p>
          <a:p>
            <a:r>
              <a:rPr lang="en-US" altLang="en-US" sz="1900" dirty="0"/>
              <a:t>If the graph is undirected, the matrix is always symmetrical</a:t>
            </a:r>
          </a:p>
          <a:p>
            <a:r>
              <a:rPr lang="en-US" altLang="en-US" sz="1900" dirty="0"/>
              <a:t>If we want to show weights on the edges, we use them in the matrix instead of using only 0 or 1</a:t>
            </a:r>
          </a:p>
          <a:p>
            <a:endParaRPr lang="en-US" altLang="en-US" sz="1900" dirty="0"/>
          </a:p>
          <a:p>
            <a:r>
              <a:rPr lang="en-US" altLang="en-US" sz="1900" dirty="0"/>
              <a:t>Examples?</a:t>
            </a:r>
            <a:endParaRPr lang="en-US" altLang="en-US" sz="1900" dirty="0">
              <a:latin typeface="Comic Sans MS" panose="030F0702030302020204" pitchFamily="66" charset="0"/>
            </a:endParaRPr>
          </a:p>
          <a:p>
            <a:pPr lvl="1"/>
            <a:endParaRPr lang="en-US" altLang="en-US" sz="19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608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9EBA-32D2-32CA-1063-89D6DC8B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3872EC-EFDF-289F-2608-B08E9A6942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IE" dirty="0"/>
              <a:t>Adjacency Matrix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C976FCD-7B8B-924E-2D52-ED3AA6C64484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227111"/>
            <a:ext cx="1828800" cy="1900673"/>
            <a:chOff x="576" y="2784"/>
            <a:chExt cx="1248" cy="1248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CAE63585-8FA8-0119-BB04-5E68E1BF7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B13ABDDC-4883-A6EC-B55F-E3DCF5ADF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E4C15C13-3418-BE74-9346-57B6B7C10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738B38D3-E890-C479-6529-C3CE9609A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0D6813A3-D80D-DE96-94EB-58E39CF71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cxnSp>
          <p:nvCxnSpPr>
            <p:cNvPr id="9" name="AutoShape 10">
              <a:extLst>
                <a:ext uri="{FF2B5EF4-FFF2-40B4-BE49-F238E27FC236}">
                  <a16:creationId xmlns:a16="http://schemas.microsoft.com/office/drawing/2014/main" id="{311BC638-A0F8-2675-BCF9-C6E1EDDB3F53}"/>
                </a:ext>
              </a:extLst>
            </p:cNvPr>
            <p:cNvCxnSpPr>
              <a:cxnSpLocks noChangeShapeType="1"/>
              <a:stCxn id="4" idx="4"/>
              <a:endCxn id="7" idx="0"/>
            </p:cNvCxnSpPr>
            <p:nvPr/>
          </p:nvCxnSpPr>
          <p:spPr bwMode="auto">
            <a:xfrm>
              <a:off x="1200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0" name="AutoShape 11">
              <a:extLst>
                <a:ext uri="{FF2B5EF4-FFF2-40B4-BE49-F238E27FC236}">
                  <a16:creationId xmlns:a16="http://schemas.microsoft.com/office/drawing/2014/main" id="{3FFFF627-5499-FB1E-57F1-62BBF233A2C5}"/>
                </a:ext>
              </a:extLst>
            </p:cNvPr>
            <p:cNvCxnSpPr>
              <a:cxnSpLocks noChangeShapeType="1"/>
              <a:stCxn id="7" idx="4"/>
              <a:endCxn id="6" idx="0"/>
            </p:cNvCxnSpPr>
            <p:nvPr/>
          </p:nvCxnSpPr>
          <p:spPr bwMode="auto">
            <a:xfrm>
              <a:off x="1200" y="3504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F0E42255-DE2C-7DAB-AABA-08B20EEE7238}"/>
                </a:ext>
              </a:extLst>
            </p:cNvPr>
            <p:cNvCxnSpPr>
              <a:cxnSpLocks noChangeShapeType="1"/>
              <a:stCxn id="5" idx="6"/>
              <a:endCxn id="7" idx="2"/>
            </p:cNvCxnSpPr>
            <p:nvPr/>
          </p:nvCxnSpPr>
          <p:spPr bwMode="auto">
            <a:xfrm>
              <a:off x="768" y="3408"/>
              <a:ext cx="33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3">
              <a:extLst>
                <a:ext uri="{FF2B5EF4-FFF2-40B4-BE49-F238E27FC236}">
                  <a16:creationId xmlns:a16="http://schemas.microsoft.com/office/drawing/2014/main" id="{D801117C-455F-32BE-5FF2-A8698B40F5C6}"/>
                </a:ext>
              </a:extLst>
            </p:cNvPr>
            <p:cNvCxnSpPr>
              <a:cxnSpLocks noChangeShapeType="1"/>
              <a:stCxn id="4" idx="3"/>
              <a:endCxn id="5" idx="7"/>
            </p:cNvCxnSpPr>
            <p:nvPr/>
          </p:nvCxnSpPr>
          <p:spPr bwMode="auto">
            <a:xfrm flipH="1">
              <a:off x="740" y="2948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C8844A97-23F4-7A25-51D0-D64CCD14D937}"/>
                </a:ext>
              </a:extLst>
            </p:cNvPr>
            <p:cNvCxnSpPr>
              <a:cxnSpLocks noChangeShapeType="1"/>
              <a:stCxn id="4" idx="5"/>
              <a:endCxn id="8" idx="1"/>
            </p:cNvCxnSpPr>
            <p:nvPr/>
          </p:nvCxnSpPr>
          <p:spPr bwMode="auto">
            <a:xfrm>
              <a:off x="1268" y="2948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5">
              <a:extLst>
                <a:ext uri="{FF2B5EF4-FFF2-40B4-BE49-F238E27FC236}">
                  <a16:creationId xmlns:a16="http://schemas.microsoft.com/office/drawing/2014/main" id="{2E72D161-8CA0-6D0D-801F-478CC49D0D21}"/>
                </a:ext>
              </a:extLst>
            </p:cNvPr>
            <p:cNvCxnSpPr>
              <a:cxnSpLocks noChangeShapeType="1"/>
              <a:stCxn id="8" idx="3"/>
              <a:endCxn id="6" idx="7"/>
            </p:cNvCxnSpPr>
            <p:nvPr/>
          </p:nvCxnSpPr>
          <p:spPr bwMode="auto">
            <a:xfrm flipH="1">
              <a:off x="1268" y="3476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6">
              <a:extLst>
                <a:ext uri="{FF2B5EF4-FFF2-40B4-BE49-F238E27FC236}">
                  <a16:creationId xmlns:a16="http://schemas.microsoft.com/office/drawing/2014/main" id="{B491FED9-FA64-F744-E1C9-5A49FE50F58C}"/>
                </a:ext>
              </a:extLst>
            </p:cNvPr>
            <p:cNvCxnSpPr>
              <a:cxnSpLocks noChangeShapeType="1"/>
              <a:stCxn id="6" idx="1"/>
              <a:endCxn id="5" idx="5"/>
            </p:cNvCxnSpPr>
            <p:nvPr/>
          </p:nvCxnSpPr>
          <p:spPr bwMode="auto">
            <a:xfrm flipH="1" flipV="1">
              <a:off x="740" y="3476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6" name="Group 233">
            <a:extLst>
              <a:ext uri="{FF2B5EF4-FFF2-40B4-BE49-F238E27FC236}">
                <a16:creationId xmlns:a16="http://schemas.microsoft.com/office/drawing/2014/main" id="{E11BBB53-CEC4-F146-124A-3E4FFA35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906966"/>
              </p:ext>
            </p:extLst>
          </p:nvPr>
        </p:nvGraphicFramePr>
        <p:xfrm>
          <a:off x="3121969" y="1064640"/>
          <a:ext cx="1599752" cy="2098200"/>
        </p:xfrm>
        <a:graphic>
          <a:graphicData uri="http://schemas.openxmlformats.org/drawingml/2006/table">
            <a:tbl>
              <a:tblPr/>
              <a:tblGrid>
                <a:gridCol w="270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</a:p>
                  </a:txBody>
                  <a:tcPr marL="90620" marR="90620" marT="45310" marB="453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</a:p>
                  </a:txBody>
                  <a:tcPr marL="90620" marR="90620" marT="45310" marB="453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</a:p>
                  </a:txBody>
                  <a:tcPr marL="90620" marR="90620" marT="45310" marB="453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</a:t>
                      </a:r>
                    </a:p>
                  </a:txBody>
                  <a:tcPr marL="90620" marR="90620" marT="45310" marB="453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</a:t>
                      </a:r>
                    </a:p>
                  </a:txBody>
                  <a:tcPr marL="90620" marR="90620" marT="45310" marB="4531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</a:p>
                  </a:txBody>
                  <a:tcPr marL="90620" marR="90620" marT="45310" marB="453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</a:p>
                  </a:txBody>
                  <a:tcPr marL="90620" marR="90620" marT="45310" marB="453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</a:p>
                  </a:txBody>
                  <a:tcPr marL="90620" marR="90620" marT="45310" marB="453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</a:t>
                      </a:r>
                    </a:p>
                  </a:txBody>
                  <a:tcPr marL="90620" marR="90620" marT="45310" marB="453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5C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</a:t>
                      </a:r>
                    </a:p>
                  </a:txBody>
                  <a:tcPr marL="90620" marR="90620" marT="45310" marB="453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310" marB="453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7" name="Group 17">
            <a:extLst>
              <a:ext uri="{FF2B5EF4-FFF2-40B4-BE49-F238E27FC236}">
                <a16:creationId xmlns:a16="http://schemas.microsoft.com/office/drawing/2014/main" id="{F5FA51ED-6C0F-B518-57D0-7DF303093031}"/>
              </a:ext>
            </a:extLst>
          </p:cNvPr>
          <p:cNvGrpSpPr>
            <a:grpSpLocks/>
          </p:cNvGrpSpPr>
          <p:nvPr/>
        </p:nvGrpSpPr>
        <p:grpSpPr bwMode="auto">
          <a:xfrm>
            <a:off x="1196578" y="3429000"/>
            <a:ext cx="3375422" cy="2058293"/>
            <a:chOff x="2544" y="2256"/>
            <a:chExt cx="2160" cy="1296"/>
          </a:xfrm>
        </p:grpSpPr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FBFD9845-6CA3-B687-8194-2D25CB2A0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40292C83-2ED2-36A5-4BF1-FC25C80AF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D67388C4-6F92-E132-84E6-C0B3466F9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21" name="Oval 21">
              <a:extLst>
                <a:ext uri="{FF2B5EF4-FFF2-40B4-BE49-F238E27FC236}">
                  <a16:creationId xmlns:a16="http://schemas.microsoft.com/office/drawing/2014/main" id="{C1D133FC-9F9B-79BC-872D-21F011FBE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22" name="Oval 22">
              <a:extLst>
                <a:ext uri="{FF2B5EF4-FFF2-40B4-BE49-F238E27FC236}">
                  <a16:creationId xmlns:a16="http://schemas.microsoft.com/office/drawing/2014/main" id="{D8267B92-9359-A4B3-17F2-B212A9EA4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FAE1DAB7-DF8D-ABCD-FF14-2CBE6A50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E80C57A2-9AE4-D3A6-9D3C-20A24C20A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id="{7FCCF39D-D449-B48A-AD78-753EC1D5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26" name="Oval 26">
              <a:extLst>
                <a:ext uri="{FF2B5EF4-FFF2-40B4-BE49-F238E27FC236}">
                  <a16:creationId xmlns:a16="http://schemas.microsoft.com/office/drawing/2014/main" id="{CD15E4D3-A178-84D4-410A-91438A210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5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A54A4B1D-A2C6-FA1B-2DC0-79A6F8CAD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28" name="AutoShape 28">
              <a:extLst>
                <a:ext uri="{FF2B5EF4-FFF2-40B4-BE49-F238E27FC236}">
                  <a16:creationId xmlns:a16="http://schemas.microsoft.com/office/drawing/2014/main" id="{565FCCD7-5486-7067-79A9-78DD4E3B24D1}"/>
                </a:ext>
              </a:extLst>
            </p:cNvPr>
            <p:cNvCxnSpPr>
              <a:cxnSpLocks noChangeShapeType="1"/>
              <a:stCxn id="18" idx="4"/>
              <a:endCxn id="1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29">
              <a:extLst>
                <a:ext uri="{FF2B5EF4-FFF2-40B4-BE49-F238E27FC236}">
                  <a16:creationId xmlns:a16="http://schemas.microsoft.com/office/drawing/2014/main" id="{401A6F22-8CDC-60C1-1C01-87AF7C31F60B}"/>
                </a:ext>
              </a:extLst>
            </p:cNvPr>
            <p:cNvCxnSpPr>
              <a:cxnSpLocks noChangeShapeType="1"/>
              <a:stCxn id="18" idx="6"/>
              <a:endCxn id="2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30">
              <a:extLst>
                <a:ext uri="{FF2B5EF4-FFF2-40B4-BE49-F238E27FC236}">
                  <a16:creationId xmlns:a16="http://schemas.microsoft.com/office/drawing/2014/main" id="{75D880CD-7DF4-21B8-7C62-0704DE903A32}"/>
                </a:ext>
              </a:extLst>
            </p:cNvPr>
            <p:cNvCxnSpPr>
              <a:cxnSpLocks noChangeShapeType="1"/>
              <a:stCxn id="21" idx="4"/>
              <a:endCxn id="2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31">
              <a:extLst>
                <a:ext uri="{FF2B5EF4-FFF2-40B4-BE49-F238E27FC236}">
                  <a16:creationId xmlns:a16="http://schemas.microsoft.com/office/drawing/2014/main" id="{A5C57D9F-B4AE-0A0E-9361-E70094661863}"/>
                </a:ext>
              </a:extLst>
            </p:cNvPr>
            <p:cNvCxnSpPr>
              <a:cxnSpLocks noChangeShapeType="1"/>
              <a:stCxn id="22" idx="1"/>
              <a:endCxn id="1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32">
              <a:extLst>
                <a:ext uri="{FF2B5EF4-FFF2-40B4-BE49-F238E27FC236}">
                  <a16:creationId xmlns:a16="http://schemas.microsoft.com/office/drawing/2014/main" id="{AABEF7A6-34EF-F98F-F380-AAD4BAEA0AF6}"/>
                </a:ext>
              </a:extLst>
            </p:cNvPr>
            <p:cNvCxnSpPr>
              <a:cxnSpLocks noChangeShapeType="1"/>
              <a:stCxn id="22" idx="2"/>
              <a:endCxn id="1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3">
              <a:extLst>
                <a:ext uri="{FF2B5EF4-FFF2-40B4-BE49-F238E27FC236}">
                  <a16:creationId xmlns:a16="http://schemas.microsoft.com/office/drawing/2014/main" id="{1E93D419-3EDC-17FF-C48D-477B6C267E36}"/>
                </a:ext>
              </a:extLst>
            </p:cNvPr>
            <p:cNvCxnSpPr>
              <a:cxnSpLocks noChangeShapeType="1"/>
              <a:stCxn id="22" idx="3"/>
              <a:endCxn id="2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34">
              <a:extLst>
                <a:ext uri="{FF2B5EF4-FFF2-40B4-BE49-F238E27FC236}">
                  <a16:creationId xmlns:a16="http://schemas.microsoft.com/office/drawing/2014/main" id="{A08FCECD-EE12-7976-6563-267ACB1EF20A}"/>
                </a:ext>
              </a:extLst>
            </p:cNvPr>
            <p:cNvCxnSpPr>
              <a:cxnSpLocks noChangeShapeType="1"/>
              <a:stCxn id="19" idx="4"/>
              <a:endCxn id="2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35">
              <a:extLst>
                <a:ext uri="{FF2B5EF4-FFF2-40B4-BE49-F238E27FC236}">
                  <a16:creationId xmlns:a16="http://schemas.microsoft.com/office/drawing/2014/main" id="{3FBB7634-62E9-2B4C-1BB0-CC943769B9FD}"/>
                </a:ext>
              </a:extLst>
            </p:cNvPr>
            <p:cNvCxnSpPr>
              <a:cxnSpLocks noChangeShapeType="1"/>
              <a:stCxn id="21" idx="5"/>
              <a:endCxn id="2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36">
              <a:extLst>
                <a:ext uri="{FF2B5EF4-FFF2-40B4-BE49-F238E27FC236}">
                  <a16:creationId xmlns:a16="http://schemas.microsoft.com/office/drawing/2014/main" id="{F0D89211-97D2-6788-1001-DDA1C8566A25}"/>
                </a:ext>
              </a:extLst>
            </p:cNvPr>
            <p:cNvCxnSpPr>
              <a:cxnSpLocks noChangeShapeType="1"/>
              <a:stCxn id="23" idx="2"/>
              <a:endCxn id="2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37">
              <a:extLst>
                <a:ext uri="{FF2B5EF4-FFF2-40B4-BE49-F238E27FC236}">
                  <a16:creationId xmlns:a16="http://schemas.microsoft.com/office/drawing/2014/main" id="{46BF0688-AB78-B564-E1B8-9EB70D0EF772}"/>
                </a:ext>
              </a:extLst>
            </p:cNvPr>
            <p:cNvCxnSpPr>
              <a:cxnSpLocks noChangeShapeType="1"/>
              <a:stCxn id="26" idx="3"/>
              <a:endCxn id="23" idx="7"/>
            </p:cNvCxnSpPr>
            <p:nvPr/>
          </p:nvCxnSpPr>
          <p:spPr bwMode="auto">
            <a:xfrm flipH="1">
              <a:off x="4052" y="2420"/>
              <a:ext cx="490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38">
              <a:extLst>
                <a:ext uri="{FF2B5EF4-FFF2-40B4-BE49-F238E27FC236}">
                  <a16:creationId xmlns:a16="http://schemas.microsoft.com/office/drawing/2014/main" id="{311E9598-E614-DCFE-41BB-539D561C89A7}"/>
                </a:ext>
              </a:extLst>
            </p:cNvPr>
            <p:cNvCxnSpPr>
              <a:cxnSpLocks noChangeShapeType="1"/>
              <a:stCxn id="26" idx="4"/>
              <a:endCxn id="25" idx="0"/>
            </p:cNvCxnSpPr>
            <p:nvPr/>
          </p:nvCxnSpPr>
          <p:spPr bwMode="auto">
            <a:xfrm>
              <a:off x="4608" y="244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39">
              <a:extLst>
                <a:ext uri="{FF2B5EF4-FFF2-40B4-BE49-F238E27FC236}">
                  <a16:creationId xmlns:a16="http://schemas.microsoft.com/office/drawing/2014/main" id="{CEC11A72-2FD5-5D26-D5EB-DFB2C485B9CB}"/>
                </a:ext>
              </a:extLst>
            </p:cNvPr>
            <p:cNvCxnSpPr>
              <a:cxnSpLocks noChangeShapeType="1"/>
              <a:stCxn id="25" idx="3"/>
              <a:endCxn id="24" idx="7"/>
            </p:cNvCxnSpPr>
            <p:nvPr/>
          </p:nvCxnSpPr>
          <p:spPr bwMode="auto">
            <a:xfrm flipH="1">
              <a:off x="4052" y="2996"/>
              <a:ext cx="490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40">
              <a:extLst>
                <a:ext uri="{FF2B5EF4-FFF2-40B4-BE49-F238E27FC236}">
                  <a16:creationId xmlns:a16="http://schemas.microsoft.com/office/drawing/2014/main" id="{AE8F3947-478D-8669-2401-492BFCFF2E89}"/>
                </a:ext>
              </a:extLst>
            </p:cNvPr>
            <p:cNvCxnSpPr>
              <a:cxnSpLocks noChangeShapeType="1"/>
              <a:stCxn id="24" idx="6"/>
              <a:endCxn id="27" idx="2"/>
            </p:cNvCxnSpPr>
            <p:nvPr/>
          </p:nvCxnSpPr>
          <p:spPr bwMode="auto">
            <a:xfrm>
              <a:off x="4080" y="3456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41">
              <a:extLst>
                <a:ext uri="{FF2B5EF4-FFF2-40B4-BE49-F238E27FC236}">
                  <a16:creationId xmlns:a16="http://schemas.microsoft.com/office/drawing/2014/main" id="{DA2D5050-4AF5-2597-E4E1-1F257D1779F2}"/>
                </a:ext>
              </a:extLst>
            </p:cNvPr>
            <p:cNvCxnSpPr>
              <a:cxnSpLocks noChangeShapeType="1"/>
              <a:stCxn id="27" idx="0"/>
              <a:endCxn id="25" idx="4"/>
            </p:cNvCxnSpPr>
            <p:nvPr/>
          </p:nvCxnSpPr>
          <p:spPr bwMode="auto">
            <a:xfrm flipV="1">
              <a:off x="4608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42">
              <a:extLst>
                <a:ext uri="{FF2B5EF4-FFF2-40B4-BE49-F238E27FC236}">
                  <a16:creationId xmlns:a16="http://schemas.microsoft.com/office/drawing/2014/main" id="{0F5E0DAA-C0BD-678F-2C98-1BCE44177D7D}"/>
                </a:ext>
              </a:extLst>
            </p:cNvPr>
            <p:cNvCxnSpPr>
              <a:cxnSpLocks noChangeShapeType="1"/>
              <a:stCxn id="25" idx="2"/>
              <a:endCxn id="23" idx="6"/>
            </p:cNvCxnSpPr>
            <p:nvPr/>
          </p:nvCxnSpPr>
          <p:spPr bwMode="auto">
            <a:xfrm flipH="1">
              <a:off x="4080" y="2928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43" name="Group 235">
            <a:extLst>
              <a:ext uri="{FF2B5EF4-FFF2-40B4-BE49-F238E27FC236}">
                <a16:creationId xmlns:a16="http://schemas.microsoft.com/office/drawing/2014/main" id="{DC8D259F-1C45-1690-86C0-6E14EF198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91556"/>
              </p:ext>
            </p:extLst>
          </p:nvPr>
        </p:nvGraphicFramePr>
        <p:xfrm>
          <a:off x="5672499" y="2140188"/>
          <a:ext cx="3000379" cy="3511134"/>
        </p:xfrm>
        <a:graphic>
          <a:graphicData uri="http://schemas.openxmlformats.org/drawingml/2006/table">
            <a:tbl>
              <a:tblPr/>
              <a:tblGrid>
                <a:gridCol w="27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8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5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3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53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f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g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h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i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j</a:t>
                      </a:r>
                    </a:p>
                  </a:txBody>
                  <a:tcPr marL="90620" marR="90620" marT="45297" marB="4529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f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g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h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i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19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j</a:t>
                      </a:r>
                    </a:p>
                  </a:txBody>
                  <a:tcPr marL="90620" marR="90620" marT="45297" marB="4529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620" marR="90620" marT="45297" marB="45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7794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67A4-0DB7-7925-75ED-D66725EF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A888C8-3CA3-80B3-9782-C613D981B4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IE" dirty="0"/>
              <a:t>Adjacency List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82B55E6A-7752-FCFE-D91B-B71C84AA2D00}"/>
              </a:ext>
            </a:extLst>
          </p:cNvPr>
          <p:cNvSpPr txBox="1">
            <a:spLocks noChangeArrowheads="1"/>
          </p:cNvSpPr>
          <p:nvPr/>
        </p:nvSpPr>
        <p:spPr>
          <a:xfrm>
            <a:off x="488156" y="1143000"/>
            <a:ext cx="8655844" cy="19288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00" dirty="0"/>
              <a:t>All vertices adjacent to vi are stored in the list adj(v</a:t>
            </a:r>
            <a:r>
              <a:rPr lang="en-US" altLang="en-US" sz="1900" baseline="-25000" dirty="0"/>
              <a:t>i</a:t>
            </a:r>
            <a:r>
              <a:rPr lang="en-US" altLang="en-US" sz="1900" dirty="0"/>
              <a:t>)</a:t>
            </a:r>
          </a:p>
          <a:p>
            <a:pPr lvl="1"/>
            <a:r>
              <a:rPr lang="en-US" altLang="en-US" sz="1900" dirty="0"/>
              <a:t>Space: O(N+|E|)</a:t>
            </a:r>
          </a:p>
          <a:p>
            <a:pPr lvl="1"/>
            <a:r>
              <a:rPr lang="en-US" altLang="en-US" sz="1900" dirty="0"/>
              <a:t>Edge insertion: O(1)</a:t>
            </a:r>
          </a:p>
          <a:p>
            <a:pPr lvl="1"/>
            <a:r>
              <a:rPr lang="en-US" altLang="en-US" sz="1900" dirty="0"/>
              <a:t>Deletions: O(v), where v is the degree of the node</a:t>
            </a:r>
          </a:p>
          <a:p>
            <a:pPr lvl="1"/>
            <a:r>
              <a:rPr lang="en-US" altLang="en-US" sz="1900" dirty="0"/>
              <a:t>Find all adjacent vertices to a vertex O(v)</a:t>
            </a:r>
          </a:p>
        </p:txBody>
      </p:sp>
      <p:sp>
        <p:nvSpPr>
          <p:cNvPr id="46" name="Text Box 31">
            <a:extLst>
              <a:ext uri="{FF2B5EF4-FFF2-40B4-BE49-F238E27FC236}">
                <a16:creationId xmlns:a16="http://schemas.microsoft.com/office/drawing/2014/main" id="{517997DA-9AC5-7F8C-E334-C76E21718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6639" y="2472695"/>
            <a:ext cx="2161489" cy="320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a</a:t>
            </a:r>
            <a:r>
              <a:rPr kumimoji="1" lang="en-US" sz="2250" dirty="0"/>
              <a:t>)	= (</a:t>
            </a:r>
            <a:r>
              <a:rPr kumimoji="1" lang="en-US" sz="2250" i="1" dirty="0"/>
              <a:t>b, d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b</a:t>
            </a:r>
            <a:r>
              <a:rPr kumimoji="1" lang="en-US" sz="2250" dirty="0"/>
              <a:t>)	= (</a:t>
            </a:r>
            <a:r>
              <a:rPr kumimoji="1" lang="en-US" sz="2250" i="1" dirty="0"/>
              <a:t>c, f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c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a, d, e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d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e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e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f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c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g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f, h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h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f, j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 err="1"/>
              <a:t>i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h</a:t>
            </a:r>
            <a:r>
              <a:rPr kumimoji="1" lang="en-US" sz="2250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adj</a:t>
            </a:r>
            <a:r>
              <a:rPr kumimoji="1" lang="en-US" sz="2250" dirty="0"/>
              <a:t>(</a:t>
            </a:r>
            <a:r>
              <a:rPr kumimoji="1" lang="en-US" sz="2250" i="1" dirty="0"/>
              <a:t>j</a:t>
            </a:r>
            <a:r>
              <a:rPr kumimoji="1" lang="en-US" sz="2250" dirty="0"/>
              <a:t>)	</a:t>
            </a:r>
            <a:r>
              <a:rPr kumimoji="1" lang="en-US" sz="2250" i="1" dirty="0"/>
              <a:t>= </a:t>
            </a:r>
            <a:r>
              <a:rPr kumimoji="1" lang="en-US" sz="2250" dirty="0"/>
              <a:t>(</a:t>
            </a:r>
            <a:r>
              <a:rPr kumimoji="1" lang="en-US" sz="2250" i="1" dirty="0"/>
              <a:t>I</a:t>
            </a:r>
            <a:r>
              <a:rPr kumimoji="1" lang="en-US" sz="2250" dirty="0"/>
              <a:t>)</a:t>
            </a:r>
          </a:p>
        </p:txBody>
      </p:sp>
      <p:grpSp>
        <p:nvGrpSpPr>
          <p:cNvPr id="47" name="Group 17">
            <a:extLst>
              <a:ext uri="{FF2B5EF4-FFF2-40B4-BE49-F238E27FC236}">
                <a16:creationId xmlns:a16="http://schemas.microsoft.com/office/drawing/2014/main" id="{059BCC0D-DE2B-ABAB-0AFA-B11883EAC38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933533"/>
            <a:ext cx="3750306" cy="2286893"/>
            <a:chOff x="2544" y="2256"/>
            <a:chExt cx="2160" cy="1296"/>
          </a:xfrm>
        </p:grpSpPr>
        <p:sp>
          <p:nvSpPr>
            <p:cNvPr id="48" name="Oval 18">
              <a:extLst>
                <a:ext uri="{FF2B5EF4-FFF2-40B4-BE49-F238E27FC236}">
                  <a16:creationId xmlns:a16="http://schemas.microsoft.com/office/drawing/2014/main" id="{ECFCD31F-3011-6E4F-C8BA-968D04626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9" name="Oval 19">
              <a:extLst>
                <a:ext uri="{FF2B5EF4-FFF2-40B4-BE49-F238E27FC236}">
                  <a16:creationId xmlns:a16="http://schemas.microsoft.com/office/drawing/2014/main" id="{3EC87615-AAF1-D9E3-41CA-290EA76CC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50" name="Oval 20">
              <a:extLst>
                <a:ext uri="{FF2B5EF4-FFF2-40B4-BE49-F238E27FC236}">
                  <a16:creationId xmlns:a16="http://schemas.microsoft.com/office/drawing/2014/main" id="{F0F67B06-6D29-FAC4-DC5C-0BF824858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1" name="Oval 21">
              <a:extLst>
                <a:ext uri="{FF2B5EF4-FFF2-40B4-BE49-F238E27FC236}">
                  <a16:creationId xmlns:a16="http://schemas.microsoft.com/office/drawing/2014/main" id="{612F9C00-12A2-2D1B-3D62-0AB054B25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2" name="Oval 22">
              <a:extLst>
                <a:ext uri="{FF2B5EF4-FFF2-40B4-BE49-F238E27FC236}">
                  <a16:creationId xmlns:a16="http://schemas.microsoft.com/office/drawing/2014/main" id="{6636C737-A4CD-D5A1-1191-A9223424E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3" name="Oval 23">
              <a:extLst>
                <a:ext uri="{FF2B5EF4-FFF2-40B4-BE49-F238E27FC236}">
                  <a16:creationId xmlns:a16="http://schemas.microsoft.com/office/drawing/2014/main" id="{714288EC-7D76-0743-EEA9-DA4507D54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727E9CB2-B285-7D64-9C56-BC2BBCCA2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55" name="Oval 25">
              <a:extLst>
                <a:ext uri="{FF2B5EF4-FFF2-40B4-BE49-F238E27FC236}">
                  <a16:creationId xmlns:a16="http://schemas.microsoft.com/office/drawing/2014/main" id="{7AFA9984-B576-B30F-52B0-8868B2518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56" name="Oval 26">
              <a:extLst>
                <a:ext uri="{FF2B5EF4-FFF2-40B4-BE49-F238E27FC236}">
                  <a16:creationId xmlns:a16="http://schemas.microsoft.com/office/drawing/2014/main" id="{826F89FE-10C4-D7F1-26F3-CF5F2B9EF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5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57" name="Oval 27">
              <a:extLst>
                <a:ext uri="{FF2B5EF4-FFF2-40B4-BE49-F238E27FC236}">
                  <a16:creationId xmlns:a16="http://schemas.microsoft.com/office/drawing/2014/main" id="{075222BA-BB5A-4AE5-6326-FC1D4CD9F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58" name="AutoShape 28">
              <a:extLst>
                <a:ext uri="{FF2B5EF4-FFF2-40B4-BE49-F238E27FC236}">
                  <a16:creationId xmlns:a16="http://schemas.microsoft.com/office/drawing/2014/main" id="{B4FD66B5-C2AA-2D57-43D2-52CA40E7EDAC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29">
              <a:extLst>
                <a:ext uri="{FF2B5EF4-FFF2-40B4-BE49-F238E27FC236}">
                  <a16:creationId xmlns:a16="http://schemas.microsoft.com/office/drawing/2014/main" id="{C0CB31BC-63B1-71B5-A113-E45DD701771B}"/>
                </a:ext>
              </a:extLst>
            </p:cNvPr>
            <p:cNvCxnSpPr>
              <a:cxnSpLocks noChangeShapeType="1"/>
              <a:stCxn id="48" idx="6"/>
              <a:endCxn id="5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0">
              <a:extLst>
                <a:ext uri="{FF2B5EF4-FFF2-40B4-BE49-F238E27FC236}">
                  <a16:creationId xmlns:a16="http://schemas.microsoft.com/office/drawing/2014/main" id="{29347561-77A3-8922-50FE-306BC8AEAF54}"/>
                </a:ext>
              </a:extLst>
            </p:cNvPr>
            <p:cNvCxnSpPr>
              <a:cxnSpLocks noChangeShapeType="1"/>
              <a:stCxn id="51" idx="4"/>
              <a:endCxn id="5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1">
              <a:extLst>
                <a:ext uri="{FF2B5EF4-FFF2-40B4-BE49-F238E27FC236}">
                  <a16:creationId xmlns:a16="http://schemas.microsoft.com/office/drawing/2014/main" id="{8E755C98-802F-D23E-6B3B-6C55EF6BBE83}"/>
                </a:ext>
              </a:extLst>
            </p:cNvPr>
            <p:cNvCxnSpPr>
              <a:cxnSpLocks noChangeShapeType="1"/>
              <a:stCxn id="52" idx="1"/>
              <a:endCxn id="4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32">
              <a:extLst>
                <a:ext uri="{FF2B5EF4-FFF2-40B4-BE49-F238E27FC236}">
                  <a16:creationId xmlns:a16="http://schemas.microsoft.com/office/drawing/2014/main" id="{5E56DF08-3170-2262-9A05-11BC27530039}"/>
                </a:ext>
              </a:extLst>
            </p:cNvPr>
            <p:cNvCxnSpPr>
              <a:cxnSpLocks noChangeShapeType="1"/>
              <a:stCxn id="52" idx="2"/>
              <a:endCxn id="4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33">
              <a:extLst>
                <a:ext uri="{FF2B5EF4-FFF2-40B4-BE49-F238E27FC236}">
                  <a16:creationId xmlns:a16="http://schemas.microsoft.com/office/drawing/2014/main" id="{88881F5C-3689-CA26-50C0-6EDDCE0A57D1}"/>
                </a:ext>
              </a:extLst>
            </p:cNvPr>
            <p:cNvCxnSpPr>
              <a:cxnSpLocks noChangeShapeType="1"/>
              <a:stCxn id="52" idx="3"/>
              <a:endCxn id="5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34">
              <a:extLst>
                <a:ext uri="{FF2B5EF4-FFF2-40B4-BE49-F238E27FC236}">
                  <a16:creationId xmlns:a16="http://schemas.microsoft.com/office/drawing/2014/main" id="{B2BB835A-003E-728C-37C5-9BEF4E212D44}"/>
                </a:ext>
              </a:extLst>
            </p:cNvPr>
            <p:cNvCxnSpPr>
              <a:cxnSpLocks noChangeShapeType="1"/>
              <a:stCxn id="49" idx="4"/>
              <a:endCxn id="5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35">
              <a:extLst>
                <a:ext uri="{FF2B5EF4-FFF2-40B4-BE49-F238E27FC236}">
                  <a16:creationId xmlns:a16="http://schemas.microsoft.com/office/drawing/2014/main" id="{77B650A2-6CA9-2C51-D8D3-E75C8D12673C}"/>
                </a:ext>
              </a:extLst>
            </p:cNvPr>
            <p:cNvCxnSpPr>
              <a:cxnSpLocks noChangeShapeType="1"/>
              <a:stCxn id="51" idx="5"/>
              <a:endCxn id="5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36">
              <a:extLst>
                <a:ext uri="{FF2B5EF4-FFF2-40B4-BE49-F238E27FC236}">
                  <a16:creationId xmlns:a16="http://schemas.microsoft.com/office/drawing/2014/main" id="{8F0A5BCC-B2AD-25D1-B2AC-9F161CF9B87D}"/>
                </a:ext>
              </a:extLst>
            </p:cNvPr>
            <p:cNvCxnSpPr>
              <a:cxnSpLocks noChangeShapeType="1"/>
              <a:stCxn id="53" idx="2"/>
              <a:endCxn id="5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37">
              <a:extLst>
                <a:ext uri="{FF2B5EF4-FFF2-40B4-BE49-F238E27FC236}">
                  <a16:creationId xmlns:a16="http://schemas.microsoft.com/office/drawing/2014/main" id="{8AFE6874-4196-408D-42B8-E85BB8167572}"/>
                </a:ext>
              </a:extLst>
            </p:cNvPr>
            <p:cNvCxnSpPr>
              <a:cxnSpLocks noChangeShapeType="1"/>
              <a:stCxn id="56" idx="3"/>
              <a:endCxn id="53" idx="7"/>
            </p:cNvCxnSpPr>
            <p:nvPr/>
          </p:nvCxnSpPr>
          <p:spPr bwMode="auto">
            <a:xfrm flipH="1">
              <a:off x="4052" y="2420"/>
              <a:ext cx="490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38">
              <a:extLst>
                <a:ext uri="{FF2B5EF4-FFF2-40B4-BE49-F238E27FC236}">
                  <a16:creationId xmlns:a16="http://schemas.microsoft.com/office/drawing/2014/main" id="{0D7BCA65-636A-0CBE-B041-56702670E823}"/>
                </a:ext>
              </a:extLst>
            </p:cNvPr>
            <p:cNvCxnSpPr>
              <a:cxnSpLocks noChangeShapeType="1"/>
              <a:stCxn id="56" idx="4"/>
              <a:endCxn id="55" idx="0"/>
            </p:cNvCxnSpPr>
            <p:nvPr/>
          </p:nvCxnSpPr>
          <p:spPr bwMode="auto">
            <a:xfrm>
              <a:off x="4608" y="244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AutoShape 39">
              <a:extLst>
                <a:ext uri="{FF2B5EF4-FFF2-40B4-BE49-F238E27FC236}">
                  <a16:creationId xmlns:a16="http://schemas.microsoft.com/office/drawing/2014/main" id="{ADCC4F17-CC67-1C26-7AB4-3E338F323A71}"/>
                </a:ext>
              </a:extLst>
            </p:cNvPr>
            <p:cNvCxnSpPr>
              <a:cxnSpLocks noChangeShapeType="1"/>
              <a:stCxn id="55" idx="3"/>
              <a:endCxn id="54" idx="7"/>
            </p:cNvCxnSpPr>
            <p:nvPr/>
          </p:nvCxnSpPr>
          <p:spPr bwMode="auto">
            <a:xfrm flipH="1">
              <a:off x="4052" y="2996"/>
              <a:ext cx="490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AutoShape 40">
              <a:extLst>
                <a:ext uri="{FF2B5EF4-FFF2-40B4-BE49-F238E27FC236}">
                  <a16:creationId xmlns:a16="http://schemas.microsoft.com/office/drawing/2014/main" id="{CC4220BA-A8BA-6FF0-2827-4354347818A0}"/>
                </a:ext>
              </a:extLst>
            </p:cNvPr>
            <p:cNvCxnSpPr>
              <a:cxnSpLocks noChangeShapeType="1"/>
              <a:stCxn id="54" idx="6"/>
              <a:endCxn id="57" idx="2"/>
            </p:cNvCxnSpPr>
            <p:nvPr/>
          </p:nvCxnSpPr>
          <p:spPr bwMode="auto">
            <a:xfrm>
              <a:off x="4080" y="3456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41">
              <a:extLst>
                <a:ext uri="{FF2B5EF4-FFF2-40B4-BE49-F238E27FC236}">
                  <a16:creationId xmlns:a16="http://schemas.microsoft.com/office/drawing/2014/main" id="{ACD063EC-7D45-5994-9CAA-2B32A13BA46F}"/>
                </a:ext>
              </a:extLst>
            </p:cNvPr>
            <p:cNvCxnSpPr>
              <a:cxnSpLocks noChangeShapeType="1"/>
              <a:stCxn id="57" idx="0"/>
              <a:endCxn id="55" idx="4"/>
            </p:cNvCxnSpPr>
            <p:nvPr/>
          </p:nvCxnSpPr>
          <p:spPr bwMode="auto">
            <a:xfrm flipV="1">
              <a:off x="4608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42">
              <a:extLst>
                <a:ext uri="{FF2B5EF4-FFF2-40B4-BE49-F238E27FC236}">
                  <a16:creationId xmlns:a16="http://schemas.microsoft.com/office/drawing/2014/main" id="{DB5A88F5-986D-0D36-12B3-4940FC0DAF80}"/>
                </a:ext>
              </a:extLst>
            </p:cNvPr>
            <p:cNvCxnSpPr>
              <a:cxnSpLocks noChangeShapeType="1"/>
              <a:stCxn id="55" idx="2"/>
              <a:endCxn id="53" idx="6"/>
            </p:cNvCxnSpPr>
            <p:nvPr/>
          </p:nvCxnSpPr>
          <p:spPr bwMode="auto">
            <a:xfrm flipH="1">
              <a:off x="4080" y="2928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6190928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2FCC-FA2F-A6DD-4EF9-11269119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A4435D-8BCB-1F39-6E5B-D71FB27C4C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IE" dirty="0"/>
              <a:t>Edge List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5481DE17-453F-2A6E-07AE-CEA82E0FB442}"/>
              </a:ext>
            </a:extLst>
          </p:cNvPr>
          <p:cNvSpPr txBox="1">
            <a:spLocks noChangeArrowheads="1"/>
          </p:cNvSpPr>
          <p:nvPr/>
        </p:nvSpPr>
        <p:spPr>
          <a:xfrm>
            <a:off x="488156" y="1143000"/>
            <a:ext cx="8655844" cy="19288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00" dirty="0"/>
              <a:t>It is a list of all the edges in the graph in the form </a:t>
            </a:r>
            <a:r>
              <a:rPr lang="en-US" altLang="en-US" sz="1900" dirty="0" err="1"/>
              <a:t>i,j</a:t>
            </a:r>
            <a:endParaRPr lang="en-US" altLang="en-US" sz="1900" dirty="0"/>
          </a:p>
          <a:p>
            <a:r>
              <a:rPr lang="en-US" altLang="en-US" sz="1900" dirty="0"/>
              <a:t>The number of entries is the number of edges</a:t>
            </a:r>
          </a:p>
          <a:p>
            <a:pPr lvl="1"/>
            <a:r>
              <a:rPr lang="en-US" altLang="en-US" sz="1900" dirty="0"/>
              <a:t>Edge insertion: O(1)</a:t>
            </a:r>
          </a:p>
          <a:p>
            <a:pPr lvl="1"/>
            <a:r>
              <a:rPr lang="en-US" altLang="en-US" sz="1900" dirty="0"/>
              <a:t>Edge deletion: O(N)</a:t>
            </a:r>
          </a:p>
          <a:p>
            <a:pPr lvl="1"/>
            <a:r>
              <a:rPr lang="en-US" altLang="en-US" sz="1900" dirty="0"/>
              <a:t>Find all adjacent vertices to a vertex: O(N)</a:t>
            </a:r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6" name="Text Box 31">
            <a:extLst>
              <a:ext uri="{FF2B5EF4-FFF2-40B4-BE49-F238E27FC236}">
                <a16:creationId xmlns:a16="http://schemas.microsoft.com/office/drawing/2014/main" id="{7EEF3B82-D01B-F22C-3A9C-AE6B03EC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958" y="1356123"/>
            <a:ext cx="745717" cy="4455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defTabSz="8048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defTabSz="804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a,b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buFont typeface="Monotype Sorts" charset="0"/>
              <a:buNone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a,d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b,c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b,f</a:t>
            </a:r>
            <a:r>
              <a:rPr kumimoji="1" lang="en-US" sz="2250" i="1" dirty="0"/>
              <a:t>) 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c,a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c,d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c,e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d,e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f,c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g,f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g,h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h,j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j,i</a:t>
            </a:r>
            <a:r>
              <a:rPr kumimoji="1" lang="en-US" sz="2250" i="1" dirty="0"/>
              <a:t>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65000"/>
              <a:defRPr/>
            </a:pPr>
            <a:r>
              <a:rPr kumimoji="1" lang="en-US" sz="2250" i="1" dirty="0"/>
              <a:t>(</a:t>
            </a:r>
            <a:r>
              <a:rPr kumimoji="1" lang="en-US" sz="2250" i="1" dirty="0" err="1"/>
              <a:t>i,h</a:t>
            </a:r>
            <a:r>
              <a:rPr kumimoji="1" lang="en-US" sz="2250" i="1" dirty="0"/>
              <a:t>)</a:t>
            </a:r>
          </a:p>
        </p:txBody>
      </p:sp>
      <p:grpSp>
        <p:nvGrpSpPr>
          <p:cNvPr id="47" name="Group 17">
            <a:extLst>
              <a:ext uri="{FF2B5EF4-FFF2-40B4-BE49-F238E27FC236}">
                <a16:creationId xmlns:a16="http://schemas.microsoft.com/office/drawing/2014/main" id="{3B3C904D-A9C8-3A95-02B5-CC7FFC4A2A7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933533"/>
            <a:ext cx="3750306" cy="2286893"/>
            <a:chOff x="2544" y="2256"/>
            <a:chExt cx="2160" cy="1296"/>
          </a:xfrm>
        </p:grpSpPr>
        <p:sp>
          <p:nvSpPr>
            <p:cNvPr id="48" name="Oval 18">
              <a:extLst>
                <a:ext uri="{FF2B5EF4-FFF2-40B4-BE49-F238E27FC236}">
                  <a16:creationId xmlns:a16="http://schemas.microsoft.com/office/drawing/2014/main" id="{4672FC86-0719-1944-335C-887954F7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9" name="Oval 19">
              <a:extLst>
                <a:ext uri="{FF2B5EF4-FFF2-40B4-BE49-F238E27FC236}">
                  <a16:creationId xmlns:a16="http://schemas.microsoft.com/office/drawing/2014/main" id="{09AF931D-3038-1BBF-4484-2C5302933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50" name="Oval 20">
              <a:extLst>
                <a:ext uri="{FF2B5EF4-FFF2-40B4-BE49-F238E27FC236}">
                  <a16:creationId xmlns:a16="http://schemas.microsoft.com/office/drawing/2014/main" id="{B53A3544-3872-08BE-1893-5214099C2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1" name="Oval 21">
              <a:extLst>
                <a:ext uri="{FF2B5EF4-FFF2-40B4-BE49-F238E27FC236}">
                  <a16:creationId xmlns:a16="http://schemas.microsoft.com/office/drawing/2014/main" id="{4E1270C7-D6CD-C139-00E2-BC5E6CB74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2" name="Oval 22">
              <a:extLst>
                <a:ext uri="{FF2B5EF4-FFF2-40B4-BE49-F238E27FC236}">
                  <a16:creationId xmlns:a16="http://schemas.microsoft.com/office/drawing/2014/main" id="{A4F7F354-BF98-6D84-7371-E20E5BC8C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3" name="Oval 23">
              <a:extLst>
                <a:ext uri="{FF2B5EF4-FFF2-40B4-BE49-F238E27FC236}">
                  <a16:creationId xmlns:a16="http://schemas.microsoft.com/office/drawing/2014/main" id="{037CE8E6-8D61-91A5-CC3E-E8D6F691E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EB196038-CF50-562E-CE7B-9BFE9C770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55" name="Oval 25">
              <a:extLst>
                <a:ext uri="{FF2B5EF4-FFF2-40B4-BE49-F238E27FC236}">
                  <a16:creationId xmlns:a16="http://schemas.microsoft.com/office/drawing/2014/main" id="{02B6776D-599B-BDB7-9B7D-C874158D4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56" name="Oval 26">
              <a:extLst>
                <a:ext uri="{FF2B5EF4-FFF2-40B4-BE49-F238E27FC236}">
                  <a16:creationId xmlns:a16="http://schemas.microsoft.com/office/drawing/2014/main" id="{DD1FE05C-3C62-1347-653C-4E05C13B1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5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57" name="Oval 27">
              <a:extLst>
                <a:ext uri="{FF2B5EF4-FFF2-40B4-BE49-F238E27FC236}">
                  <a16:creationId xmlns:a16="http://schemas.microsoft.com/office/drawing/2014/main" id="{CE7ED3F7-C317-73F3-D19C-3FBC3453A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58" name="AutoShape 28">
              <a:extLst>
                <a:ext uri="{FF2B5EF4-FFF2-40B4-BE49-F238E27FC236}">
                  <a16:creationId xmlns:a16="http://schemas.microsoft.com/office/drawing/2014/main" id="{49817DDE-C001-27B9-AEC9-8E5CC49A64D4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29">
              <a:extLst>
                <a:ext uri="{FF2B5EF4-FFF2-40B4-BE49-F238E27FC236}">
                  <a16:creationId xmlns:a16="http://schemas.microsoft.com/office/drawing/2014/main" id="{D4F4426A-C926-BB6A-D605-F7F11675CCF3}"/>
                </a:ext>
              </a:extLst>
            </p:cNvPr>
            <p:cNvCxnSpPr>
              <a:cxnSpLocks noChangeShapeType="1"/>
              <a:stCxn id="48" idx="6"/>
              <a:endCxn id="5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0">
              <a:extLst>
                <a:ext uri="{FF2B5EF4-FFF2-40B4-BE49-F238E27FC236}">
                  <a16:creationId xmlns:a16="http://schemas.microsoft.com/office/drawing/2014/main" id="{45212E54-68AA-93F5-2FDB-7EA9085A95D8}"/>
                </a:ext>
              </a:extLst>
            </p:cNvPr>
            <p:cNvCxnSpPr>
              <a:cxnSpLocks noChangeShapeType="1"/>
              <a:stCxn id="51" idx="4"/>
              <a:endCxn id="5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1">
              <a:extLst>
                <a:ext uri="{FF2B5EF4-FFF2-40B4-BE49-F238E27FC236}">
                  <a16:creationId xmlns:a16="http://schemas.microsoft.com/office/drawing/2014/main" id="{E0BE9402-9396-AC2B-CD3C-B4892CB18464}"/>
                </a:ext>
              </a:extLst>
            </p:cNvPr>
            <p:cNvCxnSpPr>
              <a:cxnSpLocks noChangeShapeType="1"/>
              <a:stCxn id="52" idx="1"/>
              <a:endCxn id="4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32">
              <a:extLst>
                <a:ext uri="{FF2B5EF4-FFF2-40B4-BE49-F238E27FC236}">
                  <a16:creationId xmlns:a16="http://schemas.microsoft.com/office/drawing/2014/main" id="{FFCD5F59-0A6B-6837-5FA6-B72E309B119D}"/>
                </a:ext>
              </a:extLst>
            </p:cNvPr>
            <p:cNvCxnSpPr>
              <a:cxnSpLocks noChangeShapeType="1"/>
              <a:stCxn id="52" idx="2"/>
              <a:endCxn id="4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33">
              <a:extLst>
                <a:ext uri="{FF2B5EF4-FFF2-40B4-BE49-F238E27FC236}">
                  <a16:creationId xmlns:a16="http://schemas.microsoft.com/office/drawing/2014/main" id="{7EE9B350-4DA3-79C2-81EA-62E88BD8412D}"/>
                </a:ext>
              </a:extLst>
            </p:cNvPr>
            <p:cNvCxnSpPr>
              <a:cxnSpLocks noChangeShapeType="1"/>
              <a:stCxn id="52" idx="3"/>
              <a:endCxn id="5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34">
              <a:extLst>
                <a:ext uri="{FF2B5EF4-FFF2-40B4-BE49-F238E27FC236}">
                  <a16:creationId xmlns:a16="http://schemas.microsoft.com/office/drawing/2014/main" id="{9FF155EF-FDB0-C87E-03BA-A2734D8649C5}"/>
                </a:ext>
              </a:extLst>
            </p:cNvPr>
            <p:cNvCxnSpPr>
              <a:cxnSpLocks noChangeShapeType="1"/>
              <a:stCxn id="49" idx="4"/>
              <a:endCxn id="5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35">
              <a:extLst>
                <a:ext uri="{FF2B5EF4-FFF2-40B4-BE49-F238E27FC236}">
                  <a16:creationId xmlns:a16="http://schemas.microsoft.com/office/drawing/2014/main" id="{519B4709-039C-00FF-2310-0523D2062C61}"/>
                </a:ext>
              </a:extLst>
            </p:cNvPr>
            <p:cNvCxnSpPr>
              <a:cxnSpLocks noChangeShapeType="1"/>
              <a:stCxn id="51" idx="5"/>
              <a:endCxn id="5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36">
              <a:extLst>
                <a:ext uri="{FF2B5EF4-FFF2-40B4-BE49-F238E27FC236}">
                  <a16:creationId xmlns:a16="http://schemas.microsoft.com/office/drawing/2014/main" id="{A6390F35-4CBD-A43C-81AD-4F9404631B63}"/>
                </a:ext>
              </a:extLst>
            </p:cNvPr>
            <p:cNvCxnSpPr>
              <a:cxnSpLocks noChangeShapeType="1"/>
              <a:stCxn id="53" idx="2"/>
              <a:endCxn id="5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37">
              <a:extLst>
                <a:ext uri="{FF2B5EF4-FFF2-40B4-BE49-F238E27FC236}">
                  <a16:creationId xmlns:a16="http://schemas.microsoft.com/office/drawing/2014/main" id="{FE1228B4-6339-6AB7-B4B6-1725D551F749}"/>
                </a:ext>
              </a:extLst>
            </p:cNvPr>
            <p:cNvCxnSpPr>
              <a:cxnSpLocks noChangeShapeType="1"/>
              <a:stCxn id="56" idx="3"/>
              <a:endCxn id="53" idx="7"/>
            </p:cNvCxnSpPr>
            <p:nvPr/>
          </p:nvCxnSpPr>
          <p:spPr bwMode="auto">
            <a:xfrm flipH="1">
              <a:off x="4052" y="2420"/>
              <a:ext cx="490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38">
              <a:extLst>
                <a:ext uri="{FF2B5EF4-FFF2-40B4-BE49-F238E27FC236}">
                  <a16:creationId xmlns:a16="http://schemas.microsoft.com/office/drawing/2014/main" id="{8F3A0B44-AA41-D13C-19EF-0F0E7ABF30EF}"/>
                </a:ext>
              </a:extLst>
            </p:cNvPr>
            <p:cNvCxnSpPr>
              <a:cxnSpLocks noChangeShapeType="1"/>
              <a:stCxn id="56" idx="4"/>
              <a:endCxn id="55" idx="0"/>
            </p:cNvCxnSpPr>
            <p:nvPr/>
          </p:nvCxnSpPr>
          <p:spPr bwMode="auto">
            <a:xfrm>
              <a:off x="4608" y="244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AutoShape 39">
              <a:extLst>
                <a:ext uri="{FF2B5EF4-FFF2-40B4-BE49-F238E27FC236}">
                  <a16:creationId xmlns:a16="http://schemas.microsoft.com/office/drawing/2014/main" id="{20AEA5E0-98D5-93DE-DA35-DF90B585028B}"/>
                </a:ext>
              </a:extLst>
            </p:cNvPr>
            <p:cNvCxnSpPr>
              <a:cxnSpLocks noChangeShapeType="1"/>
              <a:stCxn id="55" idx="3"/>
              <a:endCxn id="54" idx="7"/>
            </p:cNvCxnSpPr>
            <p:nvPr/>
          </p:nvCxnSpPr>
          <p:spPr bwMode="auto">
            <a:xfrm flipH="1">
              <a:off x="4052" y="2996"/>
              <a:ext cx="490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AutoShape 40">
              <a:extLst>
                <a:ext uri="{FF2B5EF4-FFF2-40B4-BE49-F238E27FC236}">
                  <a16:creationId xmlns:a16="http://schemas.microsoft.com/office/drawing/2014/main" id="{BDAD6498-F485-0FE3-6AA6-E959F23293C4}"/>
                </a:ext>
              </a:extLst>
            </p:cNvPr>
            <p:cNvCxnSpPr>
              <a:cxnSpLocks noChangeShapeType="1"/>
              <a:stCxn id="54" idx="6"/>
              <a:endCxn id="57" idx="2"/>
            </p:cNvCxnSpPr>
            <p:nvPr/>
          </p:nvCxnSpPr>
          <p:spPr bwMode="auto">
            <a:xfrm>
              <a:off x="4080" y="3456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41">
              <a:extLst>
                <a:ext uri="{FF2B5EF4-FFF2-40B4-BE49-F238E27FC236}">
                  <a16:creationId xmlns:a16="http://schemas.microsoft.com/office/drawing/2014/main" id="{80C9A85A-569F-85E4-8D11-9F285CA55F19}"/>
                </a:ext>
              </a:extLst>
            </p:cNvPr>
            <p:cNvCxnSpPr>
              <a:cxnSpLocks noChangeShapeType="1"/>
              <a:stCxn id="57" idx="0"/>
              <a:endCxn id="55" idx="4"/>
            </p:cNvCxnSpPr>
            <p:nvPr/>
          </p:nvCxnSpPr>
          <p:spPr bwMode="auto">
            <a:xfrm flipV="1">
              <a:off x="4608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42">
              <a:extLst>
                <a:ext uri="{FF2B5EF4-FFF2-40B4-BE49-F238E27FC236}">
                  <a16:creationId xmlns:a16="http://schemas.microsoft.com/office/drawing/2014/main" id="{0CC18705-2A94-2AB8-2859-A46EF134A169}"/>
                </a:ext>
              </a:extLst>
            </p:cNvPr>
            <p:cNvCxnSpPr>
              <a:cxnSpLocks noChangeShapeType="1"/>
              <a:stCxn id="55" idx="2"/>
              <a:endCxn id="53" idx="6"/>
            </p:cNvCxnSpPr>
            <p:nvPr/>
          </p:nvCxnSpPr>
          <p:spPr bwMode="auto">
            <a:xfrm flipH="1">
              <a:off x="4080" y="2928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5033971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3324-F578-1793-A55A-67E9ACB8F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722590-AA4F-7394-6A60-63A761FFDF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IE" dirty="0" err="1"/>
              <a:t>ome</a:t>
            </a:r>
            <a:r>
              <a:rPr lang="en-IE" dirty="0"/>
              <a:t> measurements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E131528C-7A25-C3F2-C884-D1FF488D720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88156" y="952501"/>
                <a:ext cx="8655844" cy="1928813"/>
              </a:xfrm>
              <a:prstGeom prst="rect">
                <a:avLst/>
              </a:prstGeom>
            </p:spPr>
            <p:txBody>
              <a:bodyPr/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sz="1900" b="1" dirty="0"/>
                  <a:t>Density</a:t>
                </a:r>
                <a:r>
                  <a:rPr lang="en-US" altLang="en-US" sz="1900" dirty="0"/>
                  <a:t> of a graph: number of links divided by the theoretical maximum number of links (=fully connected graph). If l is the number of links:</a:t>
                </a:r>
              </a:p>
              <a:p>
                <a:pPr marL="0" indent="0">
                  <a:buNone/>
                </a:pPr>
                <a:endParaRPr lang="en-US" alt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9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9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sz="1900" dirty="0"/>
              </a:p>
              <a:p>
                <a:r>
                  <a:rPr lang="en-US" altLang="en-US" sz="1900" dirty="0"/>
                  <a:t>How many links in a fully connected graph of N nodes?</a:t>
                </a:r>
              </a:p>
              <a:p>
                <a:r>
                  <a:rPr lang="en-US" altLang="en-US" sz="1900" dirty="0"/>
                  <a:t>Undirected:</a:t>
                </a:r>
              </a:p>
              <a:p>
                <a:endParaRPr lang="en-US" altLang="en-US" sz="1900" dirty="0"/>
              </a:p>
              <a:p>
                <a:r>
                  <a:rPr lang="en-US" altLang="en-US" sz="1900" dirty="0"/>
                  <a:t>Directed</a:t>
                </a:r>
              </a:p>
              <a:p>
                <a:pPr marL="0" indent="0">
                  <a:buNone/>
                </a:pPr>
                <a:r>
                  <a:rPr lang="en-US" altLang="en-US" sz="1900" b="1" dirty="0"/>
                  <a:t>Degree</a:t>
                </a:r>
              </a:p>
              <a:p>
                <a:r>
                  <a:rPr lang="en-US" altLang="en-US" sz="1900" dirty="0"/>
                  <a:t>Number of links for a node.</a:t>
                </a:r>
              </a:p>
              <a:p>
                <a:r>
                  <a:rPr lang="en-US" altLang="en-US" sz="1900" dirty="0"/>
                  <a:t>Total degree</a:t>
                </a:r>
              </a:p>
              <a:p>
                <a:r>
                  <a:rPr lang="en-US" altLang="en-US" sz="1900" dirty="0"/>
                  <a:t>In a directed graph:</a:t>
                </a:r>
              </a:p>
              <a:p>
                <a:pPr lvl="1"/>
                <a:r>
                  <a:rPr lang="en-US" altLang="en-US" sz="1700" dirty="0"/>
                  <a:t>out-degree, in-degree</a:t>
                </a:r>
              </a:p>
              <a:p>
                <a:endParaRPr lang="en-US" altLang="en-US" sz="1900" dirty="0"/>
              </a:p>
            </p:txBody>
          </p:sp>
        </mc:Choice>
        <mc:Fallback xmlns=""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E131528C-7A25-C3F2-C884-D1FF488D7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6" y="952501"/>
                <a:ext cx="8655844" cy="1928813"/>
              </a:xfrm>
              <a:prstGeom prst="rect">
                <a:avLst/>
              </a:prstGeom>
              <a:blipFill>
                <a:blip r:embed="rId2"/>
                <a:stretch>
                  <a:fillRect l="-634" t="-3155" b="-16088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17">
            <a:extLst>
              <a:ext uri="{FF2B5EF4-FFF2-40B4-BE49-F238E27FC236}">
                <a16:creationId xmlns:a16="http://schemas.microsoft.com/office/drawing/2014/main" id="{EB99C3B4-7D36-11D1-4A8F-CF7C0521A2D2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786188"/>
            <a:ext cx="3064506" cy="1753493"/>
            <a:chOff x="2544" y="2256"/>
            <a:chExt cx="2160" cy="1296"/>
          </a:xfrm>
        </p:grpSpPr>
        <p:sp>
          <p:nvSpPr>
            <p:cNvPr id="48" name="Oval 18">
              <a:extLst>
                <a:ext uri="{FF2B5EF4-FFF2-40B4-BE49-F238E27FC236}">
                  <a16:creationId xmlns:a16="http://schemas.microsoft.com/office/drawing/2014/main" id="{1B20A48B-A313-55EC-C5B5-1B3D641C4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9" name="Oval 19">
              <a:extLst>
                <a:ext uri="{FF2B5EF4-FFF2-40B4-BE49-F238E27FC236}">
                  <a16:creationId xmlns:a16="http://schemas.microsoft.com/office/drawing/2014/main" id="{63B8BA5A-5220-5697-B06B-3D99C0012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50" name="Oval 20">
              <a:extLst>
                <a:ext uri="{FF2B5EF4-FFF2-40B4-BE49-F238E27FC236}">
                  <a16:creationId xmlns:a16="http://schemas.microsoft.com/office/drawing/2014/main" id="{05BF85AD-B075-7F22-E86C-B69535DFD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1" name="Oval 21">
              <a:extLst>
                <a:ext uri="{FF2B5EF4-FFF2-40B4-BE49-F238E27FC236}">
                  <a16:creationId xmlns:a16="http://schemas.microsoft.com/office/drawing/2014/main" id="{2DC666D1-22CE-21A7-5AB6-8A4BF676B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2" name="Oval 22">
              <a:extLst>
                <a:ext uri="{FF2B5EF4-FFF2-40B4-BE49-F238E27FC236}">
                  <a16:creationId xmlns:a16="http://schemas.microsoft.com/office/drawing/2014/main" id="{6453582C-71AB-3045-D165-86935EA52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3" name="Oval 23">
              <a:extLst>
                <a:ext uri="{FF2B5EF4-FFF2-40B4-BE49-F238E27FC236}">
                  <a16:creationId xmlns:a16="http://schemas.microsoft.com/office/drawing/2014/main" id="{884195AA-34DF-79D0-36DB-2DA685D8F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42E8DF42-E97E-71CF-33F0-1C167F5F7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55" name="Oval 25">
              <a:extLst>
                <a:ext uri="{FF2B5EF4-FFF2-40B4-BE49-F238E27FC236}">
                  <a16:creationId xmlns:a16="http://schemas.microsoft.com/office/drawing/2014/main" id="{1DEF41A9-C3AC-F071-2B4A-2DE6375DB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56" name="Oval 26">
              <a:extLst>
                <a:ext uri="{FF2B5EF4-FFF2-40B4-BE49-F238E27FC236}">
                  <a16:creationId xmlns:a16="http://schemas.microsoft.com/office/drawing/2014/main" id="{647CCB4D-8B44-B9BB-803E-E75D1B7B7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5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57" name="Oval 27">
              <a:extLst>
                <a:ext uri="{FF2B5EF4-FFF2-40B4-BE49-F238E27FC236}">
                  <a16:creationId xmlns:a16="http://schemas.microsoft.com/office/drawing/2014/main" id="{EF0CE199-4225-3FA5-AA8C-E6A0A11D3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500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58" name="AutoShape 28">
              <a:extLst>
                <a:ext uri="{FF2B5EF4-FFF2-40B4-BE49-F238E27FC236}">
                  <a16:creationId xmlns:a16="http://schemas.microsoft.com/office/drawing/2014/main" id="{E927124C-15C6-E327-B6A6-D0DD3DE6E500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29">
              <a:extLst>
                <a:ext uri="{FF2B5EF4-FFF2-40B4-BE49-F238E27FC236}">
                  <a16:creationId xmlns:a16="http://schemas.microsoft.com/office/drawing/2014/main" id="{5C81CBEC-70E7-02F0-B4DE-0204B42ADE71}"/>
                </a:ext>
              </a:extLst>
            </p:cNvPr>
            <p:cNvCxnSpPr>
              <a:cxnSpLocks noChangeShapeType="1"/>
              <a:stCxn id="48" idx="6"/>
              <a:endCxn id="5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0">
              <a:extLst>
                <a:ext uri="{FF2B5EF4-FFF2-40B4-BE49-F238E27FC236}">
                  <a16:creationId xmlns:a16="http://schemas.microsoft.com/office/drawing/2014/main" id="{54861697-D08E-14DB-10F3-17FE505A4FDD}"/>
                </a:ext>
              </a:extLst>
            </p:cNvPr>
            <p:cNvCxnSpPr>
              <a:cxnSpLocks noChangeShapeType="1"/>
              <a:stCxn id="51" idx="4"/>
              <a:endCxn id="5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1">
              <a:extLst>
                <a:ext uri="{FF2B5EF4-FFF2-40B4-BE49-F238E27FC236}">
                  <a16:creationId xmlns:a16="http://schemas.microsoft.com/office/drawing/2014/main" id="{BF0EA20B-AC9A-1C09-01B5-8B2FD661623F}"/>
                </a:ext>
              </a:extLst>
            </p:cNvPr>
            <p:cNvCxnSpPr>
              <a:cxnSpLocks noChangeShapeType="1"/>
              <a:stCxn id="52" idx="1"/>
              <a:endCxn id="4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32">
              <a:extLst>
                <a:ext uri="{FF2B5EF4-FFF2-40B4-BE49-F238E27FC236}">
                  <a16:creationId xmlns:a16="http://schemas.microsoft.com/office/drawing/2014/main" id="{7542C4A6-1677-9059-F060-C7A908632E76}"/>
                </a:ext>
              </a:extLst>
            </p:cNvPr>
            <p:cNvCxnSpPr>
              <a:cxnSpLocks noChangeShapeType="1"/>
              <a:stCxn id="52" idx="2"/>
              <a:endCxn id="4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33">
              <a:extLst>
                <a:ext uri="{FF2B5EF4-FFF2-40B4-BE49-F238E27FC236}">
                  <a16:creationId xmlns:a16="http://schemas.microsoft.com/office/drawing/2014/main" id="{B1D25E05-5AA9-E651-D08A-4C3DEB4C0FED}"/>
                </a:ext>
              </a:extLst>
            </p:cNvPr>
            <p:cNvCxnSpPr>
              <a:cxnSpLocks noChangeShapeType="1"/>
              <a:stCxn id="52" idx="3"/>
              <a:endCxn id="5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34">
              <a:extLst>
                <a:ext uri="{FF2B5EF4-FFF2-40B4-BE49-F238E27FC236}">
                  <a16:creationId xmlns:a16="http://schemas.microsoft.com/office/drawing/2014/main" id="{BAF874E8-4176-3063-8FA3-A9557B325BFB}"/>
                </a:ext>
              </a:extLst>
            </p:cNvPr>
            <p:cNvCxnSpPr>
              <a:cxnSpLocks noChangeShapeType="1"/>
              <a:stCxn id="49" idx="4"/>
              <a:endCxn id="5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35">
              <a:extLst>
                <a:ext uri="{FF2B5EF4-FFF2-40B4-BE49-F238E27FC236}">
                  <a16:creationId xmlns:a16="http://schemas.microsoft.com/office/drawing/2014/main" id="{1CAF7D76-1188-0039-7F07-E86EBC4E3E96}"/>
                </a:ext>
              </a:extLst>
            </p:cNvPr>
            <p:cNvCxnSpPr>
              <a:cxnSpLocks noChangeShapeType="1"/>
              <a:stCxn id="51" idx="5"/>
              <a:endCxn id="5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36">
              <a:extLst>
                <a:ext uri="{FF2B5EF4-FFF2-40B4-BE49-F238E27FC236}">
                  <a16:creationId xmlns:a16="http://schemas.microsoft.com/office/drawing/2014/main" id="{B36C9D65-C59D-49E7-F1E2-13945883C864}"/>
                </a:ext>
              </a:extLst>
            </p:cNvPr>
            <p:cNvCxnSpPr>
              <a:cxnSpLocks noChangeShapeType="1"/>
              <a:stCxn id="53" idx="2"/>
              <a:endCxn id="5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37">
              <a:extLst>
                <a:ext uri="{FF2B5EF4-FFF2-40B4-BE49-F238E27FC236}">
                  <a16:creationId xmlns:a16="http://schemas.microsoft.com/office/drawing/2014/main" id="{95FCFC51-121A-C647-5414-3564DAC59513}"/>
                </a:ext>
              </a:extLst>
            </p:cNvPr>
            <p:cNvCxnSpPr>
              <a:cxnSpLocks noChangeShapeType="1"/>
              <a:stCxn id="56" idx="3"/>
              <a:endCxn id="53" idx="7"/>
            </p:cNvCxnSpPr>
            <p:nvPr/>
          </p:nvCxnSpPr>
          <p:spPr bwMode="auto">
            <a:xfrm flipH="1">
              <a:off x="4052" y="2420"/>
              <a:ext cx="490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38">
              <a:extLst>
                <a:ext uri="{FF2B5EF4-FFF2-40B4-BE49-F238E27FC236}">
                  <a16:creationId xmlns:a16="http://schemas.microsoft.com/office/drawing/2014/main" id="{9C95B6AD-FA67-327B-6292-A5018778C728}"/>
                </a:ext>
              </a:extLst>
            </p:cNvPr>
            <p:cNvCxnSpPr>
              <a:cxnSpLocks noChangeShapeType="1"/>
              <a:stCxn id="56" idx="4"/>
              <a:endCxn id="55" idx="0"/>
            </p:cNvCxnSpPr>
            <p:nvPr/>
          </p:nvCxnSpPr>
          <p:spPr bwMode="auto">
            <a:xfrm>
              <a:off x="4608" y="244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AutoShape 39">
              <a:extLst>
                <a:ext uri="{FF2B5EF4-FFF2-40B4-BE49-F238E27FC236}">
                  <a16:creationId xmlns:a16="http://schemas.microsoft.com/office/drawing/2014/main" id="{AD892EAD-A20A-80D0-E4EA-0FC3D7D6CA60}"/>
                </a:ext>
              </a:extLst>
            </p:cNvPr>
            <p:cNvCxnSpPr>
              <a:cxnSpLocks noChangeShapeType="1"/>
              <a:stCxn id="55" idx="3"/>
              <a:endCxn id="54" idx="7"/>
            </p:cNvCxnSpPr>
            <p:nvPr/>
          </p:nvCxnSpPr>
          <p:spPr bwMode="auto">
            <a:xfrm flipH="1">
              <a:off x="4052" y="2996"/>
              <a:ext cx="490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AutoShape 40">
              <a:extLst>
                <a:ext uri="{FF2B5EF4-FFF2-40B4-BE49-F238E27FC236}">
                  <a16:creationId xmlns:a16="http://schemas.microsoft.com/office/drawing/2014/main" id="{77967FF0-2F26-7A8A-68CF-4EEFC282FA93}"/>
                </a:ext>
              </a:extLst>
            </p:cNvPr>
            <p:cNvCxnSpPr>
              <a:cxnSpLocks noChangeShapeType="1"/>
              <a:stCxn id="54" idx="6"/>
              <a:endCxn id="57" idx="2"/>
            </p:cNvCxnSpPr>
            <p:nvPr/>
          </p:nvCxnSpPr>
          <p:spPr bwMode="auto">
            <a:xfrm>
              <a:off x="4080" y="3456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41">
              <a:extLst>
                <a:ext uri="{FF2B5EF4-FFF2-40B4-BE49-F238E27FC236}">
                  <a16:creationId xmlns:a16="http://schemas.microsoft.com/office/drawing/2014/main" id="{82C05A46-A19D-CFB9-63B9-E4CA742D8DBB}"/>
                </a:ext>
              </a:extLst>
            </p:cNvPr>
            <p:cNvCxnSpPr>
              <a:cxnSpLocks noChangeShapeType="1"/>
              <a:stCxn id="57" idx="0"/>
              <a:endCxn id="55" idx="4"/>
            </p:cNvCxnSpPr>
            <p:nvPr/>
          </p:nvCxnSpPr>
          <p:spPr bwMode="auto">
            <a:xfrm flipV="1">
              <a:off x="4608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42">
              <a:extLst>
                <a:ext uri="{FF2B5EF4-FFF2-40B4-BE49-F238E27FC236}">
                  <a16:creationId xmlns:a16="http://schemas.microsoft.com/office/drawing/2014/main" id="{2FE6F5BF-ECDE-D8C8-E25A-D105A46D7AC7}"/>
                </a:ext>
              </a:extLst>
            </p:cNvPr>
            <p:cNvCxnSpPr>
              <a:cxnSpLocks noChangeShapeType="1"/>
              <a:stCxn id="55" idx="2"/>
              <a:endCxn id="53" idx="6"/>
            </p:cNvCxnSpPr>
            <p:nvPr/>
          </p:nvCxnSpPr>
          <p:spPr bwMode="auto">
            <a:xfrm flipH="1">
              <a:off x="4080" y="2928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42D997-91F3-3B36-5B2B-0F3FA2FA1F01}"/>
                  </a:ext>
                </a:extLst>
              </p:cNvPr>
              <p:cNvSpPr txBox="1"/>
              <p:nvPr/>
            </p:nvSpPr>
            <p:spPr>
              <a:xfrm>
                <a:off x="2132106" y="3639077"/>
                <a:ext cx="16778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42D997-91F3-3B36-5B2B-0F3FA2FA1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106" y="3639077"/>
                <a:ext cx="1677895" cy="276999"/>
              </a:xfrm>
              <a:prstGeom prst="rect">
                <a:avLst/>
              </a:prstGeom>
              <a:blipFill>
                <a:blip r:embed="rId3"/>
                <a:stretch>
                  <a:fillRect l="-2909" r="-4727" b="-37778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16CA88-A237-01A2-D2D8-6D2B9D9C2F39}"/>
                  </a:ext>
                </a:extLst>
              </p:cNvPr>
              <p:cNvSpPr txBox="1"/>
              <p:nvPr/>
            </p:nvSpPr>
            <p:spPr>
              <a:xfrm>
                <a:off x="2286000" y="2830499"/>
                <a:ext cx="1677126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16CA88-A237-01A2-D2D8-6D2B9D9C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830499"/>
                <a:ext cx="1677126" cy="5357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0647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144B70-1D32-CDC6-EECB-9C11310B8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Degree distribution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C056F-E3B2-0849-2078-8E9A73B1A29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5938" y="1520825"/>
            <a:ext cx="7561263" cy="3816350"/>
          </a:xfrm>
        </p:spPr>
        <p:txBody>
          <a:bodyPr>
            <a:normAutofit/>
          </a:bodyPr>
          <a:lstStyle/>
          <a:p>
            <a:r>
              <a:rPr lang="en-US" sz="2000" dirty="0"/>
              <a:t>It gives information about how degrees are distributed.</a:t>
            </a:r>
          </a:p>
          <a:p>
            <a:r>
              <a:rPr lang="en-US" sz="2000" dirty="0"/>
              <a:t>It is important to classify the type of graph/network</a:t>
            </a:r>
            <a:endParaRPr lang="en-IE" sz="2000" dirty="0"/>
          </a:p>
        </p:txBody>
      </p:sp>
      <p:pic>
        <p:nvPicPr>
          <p:cNvPr id="1026" name="Picture 2" descr="scale-free network - node degree distribution - power law">
            <a:extLst>
              <a:ext uri="{FF2B5EF4-FFF2-40B4-BE49-F238E27FC236}">
                <a16:creationId xmlns:a16="http://schemas.microsoft.com/office/drawing/2014/main" id="{AB7FFF6D-2CA2-2842-4DC7-D340A9FC7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41600"/>
            <a:ext cx="84296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4766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D14B-A45A-F416-9C48-8CF379FA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C62077-9A2F-2E01-91FE-AF3BA316C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en-IE" dirty="0" err="1"/>
              <a:t>aths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393CA9A4-E566-CEA9-0865-2A9B5094E16E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0"/>
            <a:ext cx="8145364" cy="19288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A PATH is a sequence of vertices v</a:t>
            </a:r>
            <a:r>
              <a:rPr lang="en-US" altLang="en-US" sz="1900" baseline="-25000" dirty="0"/>
              <a:t>1</a:t>
            </a:r>
            <a:r>
              <a:rPr lang="en-US" altLang="en-US" sz="1900" dirty="0"/>
              <a:t>, …, </a:t>
            </a:r>
            <a:r>
              <a:rPr lang="en-US" altLang="en-US" sz="1900" dirty="0" err="1"/>
              <a:t>v</a:t>
            </a:r>
            <a:r>
              <a:rPr lang="en-US" altLang="en-US" sz="1900" baseline="-25000" dirty="0" err="1"/>
              <a:t>k</a:t>
            </a:r>
            <a:br>
              <a:rPr lang="en-US" altLang="en-US" sz="1900" dirty="0"/>
            </a:br>
            <a:r>
              <a:rPr lang="en-US" altLang="en-US" sz="1900" dirty="0"/>
              <a:t>where each (vi , vi+1) is an edge</a:t>
            </a:r>
          </a:p>
          <a:p>
            <a:pPr lvl="1"/>
            <a:r>
              <a:rPr lang="en-US" altLang="en-US" sz="1900" dirty="0"/>
              <a:t>SIMPLE path: vi ¹ </a:t>
            </a:r>
            <a:r>
              <a:rPr lang="en-US" altLang="en-US" sz="1900" dirty="0" err="1"/>
              <a:t>vj</a:t>
            </a:r>
            <a:r>
              <a:rPr lang="en-US" altLang="en-US" sz="1900" dirty="0"/>
              <a:t>, except that v1 may be equal to </a:t>
            </a:r>
            <a:r>
              <a:rPr lang="en-US" altLang="en-US" sz="1900" dirty="0" err="1"/>
              <a:t>v</a:t>
            </a:r>
            <a:r>
              <a:rPr lang="en-US" altLang="en-US" sz="1900" baseline="-25000" dirty="0" err="1"/>
              <a:t>k</a:t>
            </a:r>
            <a:endParaRPr lang="en-US" altLang="en-US" sz="1900" dirty="0"/>
          </a:p>
          <a:p>
            <a:pPr lvl="1"/>
            <a:r>
              <a:rPr lang="en-US" altLang="en-US" sz="1900" dirty="0"/>
              <a:t>Path LENGTH : number of edges in the path</a:t>
            </a:r>
          </a:p>
          <a:p>
            <a:pPr lvl="1"/>
            <a:r>
              <a:rPr lang="en-US" altLang="en-US" sz="1900" dirty="0"/>
              <a:t>A CYCLE: a path v</a:t>
            </a:r>
            <a:r>
              <a:rPr lang="en-US" altLang="en-US" sz="1900" baseline="-25000" dirty="0"/>
              <a:t>1</a:t>
            </a:r>
            <a:r>
              <a:rPr lang="en-US" altLang="en-US" sz="1900" dirty="0"/>
              <a:t>, …, </a:t>
            </a:r>
            <a:r>
              <a:rPr lang="en-US" altLang="en-US" sz="1900" dirty="0" err="1"/>
              <a:t>v</a:t>
            </a:r>
            <a:r>
              <a:rPr lang="en-US" altLang="en-US" sz="1900" baseline="-25000" dirty="0" err="1"/>
              <a:t>k</a:t>
            </a:r>
            <a:r>
              <a:rPr lang="en-US" altLang="en-US" sz="1900" dirty="0"/>
              <a:t> such that v</a:t>
            </a:r>
            <a:r>
              <a:rPr lang="en-US" altLang="en-US" sz="1900" baseline="-25000" dirty="0"/>
              <a:t>1</a:t>
            </a:r>
            <a:r>
              <a:rPr lang="en-US" altLang="en-US" sz="1900" dirty="0"/>
              <a:t> = </a:t>
            </a:r>
            <a:r>
              <a:rPr lang="en-US" altLang="en-US" sz="1900" dirty="0" err="1"/>
              <a:t>v</a:t>
            </a:r>
            <a:r>
              <a:rPr lang="en-US" altLang="en-US" sz="1900" baseline="-25000" dirty="0" err="1"/>
              <a:t>k</a:t>
            </a:r>
            <a:endParaRPr lang="en-US" altLang="en-US" sz="1900" dirty="0"/>
          </a:p>
          <a:p>
            <a:pPr lvl="1"/>
            <a:r>
              <a:rPr lang="en-US" altLang="en-US" sz="1900" dirty="0"/>
              <a:t>Examples: </a:t>
            </a:r>
            <a:r>
              <a:rPr lang="en-US" altLang="en-US" sz="1900" dirty="0" err="1"/>
              <a:t>abdcea</a:t>
            </a:r>
            <a:r>
              <a:rPr lang="en-US" altLang="en-US" sz="1900" dirty="0"/>
              <a:t> (undirected), </a:t>
            </a:r>
            <a:r>
              <a:rPr lang="en-US" altLang="en-US" sz="1900" dirty="0" err="1"/>
              <a:t>hjihfcad</a:t>
            </a:r>
            <a:r>
              <a:rPr lang="en-US" altLang="en-US" sz="1900" dirty="0"/>
              <a:t> (directed)</a:t>
            </a:r>
          </a:p>
          <a:p>
            <a:pPr lvl="1"/>
            <a:r>
              <a:rPr lang="en-US" altLang="en-US" sz="1900" dirty="0"/>
              <a:t>The geodesic distance between 2 nodes: length of the shortest path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F9E4291-56FB-474D-7B49-F82DB309F58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734097"/>
            <a:ext cx="1949648" cy="1980903"/>
            <a:chOff x="576" y="2784"/>
            <a:chExt cx="1248" cy="1248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A972DCA2-DC1E-725A-206B-D67802E71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7C212F17-C501-E6F3-ACDF-7B64192AE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053E3A04-0325-7842-34B2-15A460F4F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A99AB8EF-4CB8-1B9D-802B-E4D071CB9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A5AF461D-F59E-4ED7-B46A-3ED728F0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cxnSp>
          <p:nvCxnSpPr>
            <p:cNvPr id="9" name="AutoShape 10">
              <a:extLst>
                <a:ext uri="{FF2B5EF4-FFF2-40B4-BE49-F238E27FC236}">
                  <a16:creationId xmlns:a16="http://schemas.microsoft.com/office/drawing/2014/main" id="{97535410-966E-4091-AAF0-A7D296E4FC4A}"/>
                </a:ext>
              </a:extLst>
            </p:cNvPr>
            <p:cNvCxnSpPr>
              <a:cxnSpLocks noChangeShapeType="1"/>
              <a:stCxn id="4" idx="4"/>
              <a:endCxn id="7" idx="0"/>
            </p:cNvCxnSpPr>
            <p:nvPr/>
          </p:nvCxnSpPr>
          <p:spPr bwMode="auto">
            <a:xfrm>
              <a:off x="1200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0" name="AutoShape 11">
              <a:extLst>
                <a:ext uri="{FF2B5EF4-FFF2-40B4-BE49-F238E27FC236}">
                  <a16:creationId xmlns:a16="http://schemas.microsoft.com/office/drawing/2014/main" id="{093E8832-C85C-46D9-5075-4A94AABA3AA7}"/>
                </a:ext>
              </a:extLst>
            </p:cNvPr>
            <p:cNvCxnSpPr>
              <a:cxnSpLocks noChangeShapeType="1"/>
              <a:stCxn id="7" idx="4"/>
              <a:endCxn id="6" idx="0"/>
            </p:cNvCxnSpPr>
            <p:nvPr/>
          </p:nvCxnSpPr>
          <p:spPr bwMode="auto">
            <a:xfrm>
              <a:off x="1200" y="3504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20DA3C0F-5D62-60A6-8E9E-98DBA7432AD2}"/>
                </a:ext>
              </a:extLst>
            </p:cNvPr>
            <p:cNvCxnSpPr>
              <a:cxnSpLocks noChangeShapeType="1"/>
              <a:stCxn id="5" idx="6"/>
              <a:endCxn id="7" idx="2"/>
            </p:cNvCxnSpPr>
            <p:nvPr/>
          </p:nvCxnSpPr>
          <p:spPr bwMode="auto">
            <a:xfrm>
              <a:off x="768" y="3408"/>
              <a:ext cx="33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3">
              <a:extLst>
                <a:ext uri="{FF2B5EF4-FFF2-40B4-BE49-F238E27FC236}">
                  <a16:creationId xmlns:a16="http://schemas.microsoft.com/office/drawing/2014/main" id="{BD21FD9D-8959-E4C0-698F-2D841137085D}"/>
                </a:ext>
              </a:extLst>
            </p:cNvPr>
            <p:cNvCxnSpPr>
              <a:cxnSpLocks noChangeShapeType="1"/>
              <a:stCxn id="4" idx="3"/>
              <a:endCxn id="5" idx="7"/>
            </p:cNvCxnSpPr>
            <p:nvPr/>
          </p:nvCxnSpPr>
          <p:spPr bwMode="auto">
            <a:xfrm flipH="1">
              <a:off x="740" y="2948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5BC1F0D3-4F99-FA16-F0B3-A9164243EEC6}"/>
                </a:ext>
              </a:extLst>
            </p:cNvPr>
            <p:cNvCxnSpPr>
              <a:cxnSpLocks noChangeShapeType="1"/>
              <a:stCxn id="4" idx="5"/>
              <a:endCxn id="8" idx="1"/>
            </p:cNvCxnSpPr>
            <p:nvPr/>
          </p:nvCxnSpPr>
          <p:spPr bwMode="auto">
            <a:xfrm>
              <a:off x="1268" y="2948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5">
              <a:extLst>
                <a:ext uri="{FF2B5EF4-FFF2-40B4-BE49-F238E27FC236}">
                  <a16:creationId xmlns:a16="http://schemas.microsoft.com/office/drawing/2014/main" id="{9D7F0B11-4412-4F42-8254-6865EE69895B}"/>
                </a:ext>
              </a:extLst>
            </p:cNvPr>
            <p:cNvCxnSpPr>
              <a:cxnSpLocks noChangeShapeType="1"/>
              <a:stCxn id="8" idx="3"/>
              <a:endCxn id="6" idx="7"/>
            </p:cNvCxnSpPr>
            <p:nvPr/>
          </p:nvCxnSpPr>
          <p:spPr bwMode="auto">
            <a:xfrm flipH="1">
              <a:off x="1268" y="3476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6">
              <a:extLst>
                <a:ext uri="{FF2B5EF4-FFF2-40B4-BE49-F238E27FC236}">
                  <a16:creationId xmlns:a16="http://schemas.microsoft.com/office/drawing/2014/main" id="{4F143F23-C612-30AB-D977-9AF61E504FA5}"/>
                </a:ext>
              </a:extLst>
            </p:cNvPr>
            <p:cNvCxnSpPr>
              <a:cxnSpLocks noChangeShapeType="1"/>
              <a:stCxn id="6" idx="1"/>
              <a:endCxn id="5" idx="5"/>
            </p:cNvCxnSpPr>
            <p:nvPr/>
          </p:nvCxnSpPr>
          <p:spPr bwMode="auto">
            <a:xfrm flipH="1" flipV="1">
              <a:off x="740" y="3476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3F71A8DA-EEBD-5ED0-B546-096C2121F84F}"/>
              </a:ext>
            </a:extLst>
          </p:cNvPr>
          <p:cNvGrpSpPr>
            <a:grpSpLocks/>
          </p:cNvGrpSpPr>
          <p:nvPr/>
        </p:nvGrpSpPr>
        <p:grpSpPr bwMode="auto">
          <a:xfrm>
            <a:off x="4221658" y="3656706"/>
            <a:ext cx="3375422" cy="2058293"/>
            <a:chOff x="2544" y="2256"/>
            <a:chExt cx="2160" cy="1296"/>
          </a:xfrm>
        </p:grpSpPr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67983AF3-3F8E-173F-DA6D-D36584796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4086A50C-BB3B-BFAE-173C-7E8B192DD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202A2E67-AE70-D23D-7D44-746BC373D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E463813A-64A9-ECC2-936F-7ACCF224A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D8108761-F674-3CEE-2A8E-F4DD40B5C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A79E551F-08D7-1962-2C24-4B4497A69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4ECD1D6D-27AC-C90D-BAB5-5EC0D5AD3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E5E2B6A1-A375-4255-8700-FB76FC876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25" name="Oval 26">
              <a:extLst>
                <a:ext uri="{FF2B5EF4-FFF2-40B4-BE49-F238E27FC236}">
                  <a16:creationId xmlns:a16="http://schemas.microsoft.com/office/drawing/2014/main" id="{6E5685B1-5205-C630-9A1D-24422056E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5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9C603FBD-B17B-5869-0310-B791CD3D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27" name="AutoShape 28">
              <a:extLst>
                <a:ext uri="{FF2B5EF4-FFF2-40B4-BE49-F238E27FC236}">
                  <a16:creationId xmlns:a16="http://schemas.microsoft.com/office/drawing/2014/main" id="{2FC39D17-7B30-E7B5-CF51-A8C3E1EB7B23}"/>
                </a:ext>
              </a:extLst>
            </p:cNvPr>
            <p:cNvCxnSpPr>
              <a:cxnSpLocks noChangeShapeType="1"/>
              <a:stCxn id="17" idx="4"/>
              <a:endCxn id="1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29">
              <a:extLst>
                <a:ext uri="{FF2B5EF4-FFF2-40B4-BE49-F238E27FC236}">
                  <a16:creationId xmlns:a16="http://schemas.microsoft.com/office/drawing/2014/main" id="{C2521FD9-06C3-9683-3387-270825B97C62}"/>
                </a:ext>
              </a:extLst>
            </p:cNvPr>
            <p:cNvCxnSpPr>
              <a:cxnSpLocks noChangeShapeType="1"/>
              <a:stCxn id="17" idx="6"/>
              <a:endCxn id="2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30">
              <a:extLst>
                <a:ext uri="{FF2B5EF4-FFF2-40B4-BE49-F238E27FC236}">
                  <a16:creationId xmlns:a16="http://schemas.microsoft.com/office/drawing/2014/main" id="{839FD577-9891-CA01-1F99-19245DAB2999}"/>
                </a:ext>
              </a:extLst>
            </p:cNvPr>
            <p:cNvCxnSpPr>
              <a:cxnSpLocks noChangeShapeType="1"/>
              <a:stCxn id="20" idx="4"/>
              <a:endCxn id="2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31">
              <a:extLst>
                <a:ext uri="{FF2B5EF4-FFF2-40B4-BE49-F238E27FC236}">
                  <a16:creationId xmlns:a16="http://schemas.microsoft.com/office/drawing/2014/main" id="{FFF74D77-D5F9-A0AC-580C-D77B594D6D46}"/>
                </a:ext>
              </a:extLst>
            </p:cNvPr>
            <p:cNvCxnSpPr>
              <a:cxnSpLocks noChangeShapeType="1"/>
              <a:stCxn id="21" idx="1"/>
              <a:endCxn id="1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32">
              <a:extLst>
                <a:ext uri="{FF2B5EF4-FFF2-40B4-BE49-F238E27FC236}">
                  <a16:creationId xmlns:a16="http://schemas.microsoft.com/office/drawing/2014/main" id="{7110C586-5A7C-CDA9-3BFD-F95E5AA65A61}"/>
                </a:ext>
              </a:extLst>
            </p:cNvPr>
            <p:cNvCxnSpPr>
              <a:cxnSpLocks noChangeShapeType="1"/>
              <a:stCxn id="21" idx="2"/>
              <a:endCxn id="1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33">
              <a:extLst>
                <a:ext uri="{FF2B5EF4-FFF2-40B4-BE49-F238E27FC236}">
                  <a16:creationId xmlns:a16="http://schemas.microsoft.com/office/drawing/2014/main" id="{C5309D0B-BBFD-FB16-F623-4AED08600824}"/>
                </a:ext>
              </a:extLst>
            </p:cNvPr>
            <p:cNvCxnSpPr>
              <a:cxnSpLocks noChangeShapeType="1"/>
              <a:stCxn id="21" idx="3"/>
              <a:endCxn id="1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4">
              <a:extLst>
                <a:ext uri="{FF2B5EF4-FFF2-40B4-BE49-F238E27FC236}">
                  <a16:creationId xmlns:a16="http://schemas.microsoft.com/office/drawing/2014/main" id="{FD870DDB-6ACE-CDEA-B96D-263259A00727}"/>
                </a:ext>
              </a:extLst>
            </p:cNvPr>
            <p:cNvCxnSpPr>
              <a:cxnSpLocks noChangeShapeType="1"/>
              <a:stCxn id="18" idx="4"/>
              <a:endCxn id="1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35">
              <a:extLst>
                <a:ext uri="{FF2B5EF4-FFF2-40B4-BE49-F238E27FC236}">
                  <a16:creationId xmlns:a16="http://schemas.microsoft.com/office/drawing/2014/main" id="{05B9C617-B374-CFB1-5D09-A828C0E29F89}"/>
                </a:ext>
              </a:extLst>
            </p:cNvPr>
            <p:cNvCxnSpPr>
              <a:cxnSpLocks noChangeShapeType="1"/>
              <a:stCxn id="20" idx="5"/>
              <a:endCxn id="2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36">
              <a:extLst>
                <a:ext uri="{FF2B5EF4-FFF2-40B4-BE49-F238E27FC236}">
                  <a16:creationId xmlns:a16="http://schemas.microsoft.com/office/drawing/2014/main" id="{F3F9889B-291F-DC25-9E21-E01CF2E84F2B}"/>
                </a:ext>
              </a:extLst>
            </p:cNvPr>
            <p:cNvCxnSpPr>
              <a:cxnSpLocks noChangeShapeType="1"/>
              <a:stCxn id="22" idx="2"/>
              <a:endCxn id="2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37">
              <a:extLst>
                <a:ext uri="{FF2B5EF4-FFF2-40B4-BE49-F238E27FC236}">
                  <a16:creationId xmlns:a16="http://schemas.microsoft.com/office/drawing/2014/main" id="{54B71B1D-5D17-DA61-86C4-EF90152F6058}"/>
                </a:ext>
              </a:extLst>
            </p:cNvPr>
            <p:cNvCxnSpPr>
              <a:cxnSpLocks noChangeShapeType="1"/>
              <a:stCxn id="25" idx="3"/>
              <a:endCxn id="22" idx="7"/>
            </p:cNvCxnSpPr>
            <p:nvPr/>
          </p:nvCxnSpPr>
          <p:spPr bwMode="auto">
            <a:xfrm flipH="1">
              <a:off x="4052" y="2420"/>
              <a:ext cx="490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38">
              <a:extLst>
                <a:ext uri="{FF2B5EF4-FFF2-40B4-BE49-F238E27FC236}">
                  <a16:creationId xmlns:a16="http://schemas.microsoft.com/office/drawing/2014/main" id="{AD35D4B4-8771-4657-81DA-EF8B9659A11E}"/>
                </a:ext>
              </a:extLst>
            </p:cNvPr>
            <p:cNvCxnSpPr>
              <a:cxnSpLocks noChangeShapeType="1"/>
              <a:stCxn id="25" idx="4"/>
              <a:endCxn id="24" idx="0"/>
            </p:cNvCxnSpPr>
            <p:nvPr/>
          </p:nvCxnSpPr>
          <p:spPr bwMode="auto">
            <a:xfrm>
              <a:off x="4608" y="244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39">
              <a:extLst>
                <a:ext uri="{FF2B5EF4-FFF2-40B4-BE49-F238E27FC236}">
                  <a16:creationId xmlns:a16="http://schemas.microsoft.com/office/drawing/2014/main" id="{01DD8E66-E236-B014-237C-A938960F53BA}"/>
                </a:ext>
              </a:extLst>
            </p:cNvPr>
            <p:cNvCxnSpPr>
              <a:cxnSpLocks noChangeShapeType="1"/>
              <a:stCxn id="24" idx="3"/>
              <a:endCxn id="23" idx="7"/>
            </p:cNvCxnSpPr>
            <p:nvPr/>
          </p:nvCxnSpPr>
          <p:spPr bwMode="auto">
            <a:xfrm flipH="1">
              <a:off x="4052" y="2996"/>
              <a:ext cx="490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40">
              <a:extLst>
                <a:ext uri="{FF2B5EF4-FFF2-40B4-BE49-F238E27FC236}">
                  <a16:creationId xmlns:a16="http://schemas.microsoft.com/office/drawing/2014/main" id="{B9F5E3C8-8352-3BC9-6E25-DAE52F3DD498}"/>
                </a:ext>
              </a:extLst>
            </p:cNvPr>
            <p:cNvCxnSpPr>
              <a:cxnSpLocks noChangeShapeType="1"/>
              <a:stCxn id="23" idx="6"/>
              <a:endCxn id="26" idx="2"/>
            </p:cNvCxnSpPr>
            <p:nvPr/>
          </p:nvCxnSpPr>
          <p:spPr bwMode="auto">
            <a:xfrm>
              <a:off x="4080" y="3456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41">
              <a:extLst>
                <a:ext uri="{FF2B5EF4-FFF2-40B4-BE49-F238E27FC236}">
                  <a16:creationId xmlns:a16="http://schemas.microsoft.com/office/drawing/2014/main" id="{BCCC6F8D-14B7-18D0-7AB4-CF21793700BF}"/>
                </a:ext>
              </a:extLst>
            </p:cNvPr>
            <p:cNvCxnSpPr>
              <a:cxnSpLocks noChangeShapeType="1"/>
              <a:stCxn id="26" idx="0"/>
              <a:endCxn id="24" idx="4"/>
            </p:cNvCxnSpPr>
            <p:nvPr/>
          </p:nvCxnSpPr>
          <p:spPr bwMode="auto">
            <a:xfrm flipV="1">
              <a:off x="4608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42">
              <a:extLst>
                <a:ext uri="{FF2B5EF4-FFF2-40B4-BE49-F238E27FC236}">
                  <a16:creationId xmlns:a16="http://schemas.microsoft.com/office/drawing/2014/main" id="{7BB1A6AE-9033-8000-EB4D-4231972455CB}"/>
                </a:ext>
              </a:extLst>
            </p:cNvPr>
            <p:cNvCxnSpPr>
              <a:cxnSpLocks noChangeShapeType="1"/>
              <a:stCxn id="24" idx="2"/>
              <a:endCxn id="22" idx="6"/>
            </p:cNvCxnSpPr>
            <p:nvPr/>
          </p:nvCxnSpPr>
          <p:spPr bwMode="auto">
            <a:xfrm flipH="1">
              <a:off x="4080" y="2928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2451419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E2E5-451F-7559-A2FB-2EE0619F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262B5-49A8-2BC4-B22C-EC93CD170D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Components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F8EF726-41B6-92C5-AAC6-DE32C55F98A9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0"/>
            <a:ext cx="8145364" cy="19288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Reachable: Vertex a is reachable from b if a path exists from a to b.</a:t>
            </a:r>
          </a:p>
          <a:p>
            <a:pPr lvl="1"/>
            <a:r>
              <a:rPr lang="en-US" altLang="en-US" sz="1900" dirty="0"/>
              <a:t>Connected: A graph is connected if every vertex is reachable from any other.</a:t>
            </a:r>
          </a:p>
          <a:p>
            <a:pPr lvl="1"/>
            <a:r>
              <a:rPr lang="en-US" altLang="en-US" sz="1900" dirty="0"/>
              <a:t>Component: </a:t>
            </a:r>
            <a:r>
              <a:rPr lang="en-US" sz="1900" dirty="0"/>
              <a:t>a set of vertices where every vertex can reach every other vertex by a directed path</a:t>
            </a:r>
            <a:endParaRPr lang="en-US" altLang="en-US" sz="1900" dirty="0"/>
          </a:p>
          <a:p>
            <a:pPr lvl="1"/>
            <a:endParaRPr lang="en-US" sz="1900" dirty="0"/>
          </a:p>
          <a:p>
            <a:pPr lvl="1"/>
            <a:r>
              <a:rPr lang="en-US" sz="1900" dirty="0"/>
              <a:t>A strongly connected component is a </a:t>
            </a:r>
            <a:r>
              <a:rPr lang="en-US" sz="1900" b="1" dirty="0"/>
              <a:t>maximal</a:t>
            </a:r>
            <a:r>
              <a:rPr lang="en-US" sz="1900" dirty="0"/>
              <a:t> set of vertices where every vertex can reach every other vertex by a directed path.</a:t>
            </a:r>
          </a:p>
          <a:p>
            <a:pPr lvl="1"/>
            <a:r>
              <a:rPr lang="en-US" sz="1900" dirty="0"/>
              <a:t>A weakly connected component is a </a:t>
            </a:r>
            <a:r>
              <a:rPr lang="en-US" sz="1900" b="1" dirty="0"/>
              <a:t>maximal</a:t>
            </a:r>
            <a:r>
              <a:rPr lang="en-US" sz="1900" dirty="0"/>
              <a:t> set of vertices that become connected if you ignore edge directions.</a:t>
            </a:r>
          </a:p>
          <a:p>
            <a:pPr lvl="1"/>
            <a:r>
              <a:rPr lang="en-US" altLang="en-US" sz="1900" dirty="0"/>
              <a:t>In an undirected path, weakly and strongly c. components are the same</a:t>
            </a:r>
          </a:p>
          <a:p>
            <a:endParaRPr lang="en-US" altLang="en-US" sz="1900" dirty="0"/>
          </a:p>
          <a:p>
            <a:endParaRPr lang="en-US" altLang="en-US" sz="1900" dirty="0"/>
          </a:p>
        </p:txBody>
      </p:sp>
    </p:spTree>
    <p:extLst>
      <p:ext uri="{BB962C8B-B14F-4D97-AF65-F5344CB8AC3E}">
        <p14:creationId xmlns:p14="http://schemas.microsoft.com/office/powerpoint/2010/main" val="3484234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3527-194B-62CA-4A19-FDEA9BD4F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945E6D-AE23-2616-5DDD-2255B0CC1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228600"/>
            <a:ext cx="9296399" cy="1127523"/>
          </a:xfrm>
        </p:spPr>
        <p:txBody>
          <a:bodyPr>
            <a:normAutofit/>
          </a:bodyPr>
          <a:lstStyle/>
          <a:p>
            <a:r>
              <a:rPr lang="en-US" sz="3900" dirty="0"/>
              <a:t>Connected Components (formally)</a:t>
            </a:r>
            <a:endParaRPr lang="en-IE" sz="3900" dirty="0"/>
          </a:p>
        </p:txBody>
      </p:sp>
      <p:sp>
        <p:nvSpPr>
          <p:cNvPr id="44" name="object 3">
            <a:extLst>
              <a:ext uri="{FF2B5EF4-FFF2-40B4-BE49-F238E27FC236}">
                <a16:creationId xmlns:a16="http://schemas.microsoft.com/office/drawing/2014/main" id="{FF181F84-16F6-0AF1-B77C-F094C1EBC942}"/>
              </a:ext>
            </a:extLst>
          </p:cNvPr>
          <p:cNvSpPr txBox="1"/>
          <p:nvPr/>
        </p:nvSpPr>
        <p:spPr>
          <a:xfrm>
            <a:off x="464616" y="1265253"/>
            <a:ext cx="78308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FFAD5D"/>
              </a:buClr>
              <a:buSzPct val="73913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connecte</a:t>
            </a:r>
            <a:r>
              <a:rPr sz="2000" dirty="0">
                <a:latin typeface="Tahoma"/>
                <a:cs typeface="Tahoma"/>
              </a:rPr>
              <a:t>d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componen</a:t>
            </a:r>
            <a:r>
              <a:rPr sz="2000" dirty="0">
                <a:latin typeface="Tahoma"/>
                <a:cs typeface="Tahoma"/>
              </a:rPr>
              <a:t>t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graph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Cambria Math"/>
                <a:cs typeface="Cambria Math"/>
              </a:rPr>
              <a:t>G </a:t>
            </a:r>
            <a:r>
              <a:rPr sz="2000" spc="-5" dirty="0">
                <a:latin typeface="Cambria Math"/>
                <a:cs typeface="Cambria Math"/>
              </a:rPr>
              <a:t>=</a:t>
            </a:r>
            <a:r>
              <a:rPr sz="2000" spc="5" dirty="0">
                <a:latin typeface="Cambria Math"/>
                <a:cs typeface="Cambria Math"/>
              </a:rPr>
              <a:t>(</a:t>
            </a:r>
            <a:r>
              <a:rPr sz="2000" i="1" spc="-60" dirty="0">
                <a:latin typeface="Cambria Math"/>
                <a:cs typeface="Cambria Math"/>
              </a:rPr>
              <a:t>V</a:t>
            </a:r>
            <a:r>
              <a:rPr sz="2000" spc="-5" dirty="0">
                <a:latin typeface="Cambria Math"/>
                <a:cs typeface="Cambria Math"/>
              </a:rPr>
              <a:t>,</a:t>
            </a:r>
            <a:r>
              <a:rPr sz="2000" i="1" spc="-55" dirty="0">
                <a:latin typeface="Cambria Math"/>
                <a:cs typeface="Cambria Math"/>
              </a:rPr>
              <a:t>E</a:t>
            </a:r>
            <a:r>
              <a:rPr sz="2000" i="1" spc="-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) </a:t>
            </a:r>
            <a:r>
              <a:rPr sz="2000" spc="-5" dirty="0">
                <a:latin typeface="Tahoma"/>
                <a:cs typeface="Tahoma"/>
              </a:rPr>
              <a:t>wit</a:t>
            </a:r>
            <a:r>
              <a:rPr sz="2000" dirty="0">
                <a:latin typeface="Tahoma"/>
                <a:cs typeface="Tahoma"/>
              </a:rPr>
              <a:t>h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regar</a:t>
            </a:r>
            <a:r>
              <a:rPr sz="2000" dirty="0">
                <a:latin typeface="Tahoma"/>
                <a:cs typeface="Tahoma"/>
              </a:rPr>
              <a:t>d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o</a:t>
            </a:r>
          </a:p>
        </p:txBody>
      </p:sp>
      <p:sp>
        <p:nvSpPr>
          <p:cNvPr id="45" name="object 4">
            <a:extLst>
              <a:ext uri="{FF2B5EF4-FFF2-40B4-BE49-F238E27FC236}">
                <a16:creationId xmlns:a16="http://schemas.microsoft.com/office/drawing/2014/main" id="{FF065631-094B-8927-600E-896307D57552}"/>
              </a:ext>
            </a:extLst>
          </p:cNvPr>
          <p:cNvSpPr txBox="1"/>
          <p:nvPr/>
        </p:nvSpPr>
        <p:spPr>
          <a:xfrm>
            <a:off x="807516" y="1615773"/>
            <a:ext cx="1066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verte</a:t>
            </a:r>
            <a:r>
              <a:rPr sz="2000" dirty="0">
                <a:latin typeface="Tahoma"/>
                <a:cs typeface="Tahoma"/>
              </a:rPr>
              <a:t>x </a:t>
            </a:r>
            <a:r>
              <a:rPr sz="2000" i="1" spc="-50" dirty="0">
                <a:latin typeface="Cambria Math"/>
                <a:cs typeface="Cambria Math"/>
              </a:rPr>
              <a:t>v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46" name="object 5">
            <a:extLst>
              <a:ext uri="{FF2B5EF4-FFF2-40B4-BE49-F238E27FC236}">
                <a16:creationId xmlns:a16="http://schemas.microsoft.com/office/drawing/2014/main" id="{F4FAEB36-7C13-2976-A8D6-0D7578672D6F}"/>
              </a:ext>
            </a:extLst>
          </p:cNvPr>
          <p:cNvSpPr txBox="1"/>
          <p:nvPr/>
        </p:nvSpPr>
        <p:spPr>
          <a:xfrm>
            <a:off x="2033142" y="1623219"/>
            <a:ext cx="942975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is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et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7" name="object 6">
            <a:extLst>
              <a:ext uri="{FF2B5EF4-FFF2-40B4-BE49-F238E27FC236}">
                <a16:creationId xmlns:a16="http://schemas.microsoft.com/office/drawing/2014/main" id="{5CF688B6-8474-6FBF-5BBF-DA28F6607451}"/>
              </a:ext>
            </a:extLst>
          </p:cNvPr>
          <p:cNvSpPr/>
          <p:nvPr/>
        </p:nvSpPr>
        <p:spPr>
          <a:xfrm>
            <a:off x="995337" y="3733800"/>
            <a:ext cx="1581141" cy="2016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D454A6F7-5062-3AC3-369A-2594FA5DD5F2}"/>
              </a:ext>
            </a:extLst>
          </p:cNvPr>
          <p:cNvSpPr txBox="1"/>
          <p:nvPr/>
        </p:nvSpPr>
        <p:spPr>
          <a:xfrm>
            <a:off x="464616" y="2141674"/>
            <a:ext cx="8020050" cy="3424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75335" algn="ctr">
              <a:lnSpc>
                <a:spcPct val="100000"/>
              </a:lnSpc>
              <a:tabLst>
                <a:tab pos="5821045" algn="l"/>
              </a:tabLst>
            </a:pPr>
            <a:r>
              <a:rPr sz="2000" i="1" spc="-60" dirty="0">
                <a:latin typeface="Cambria Math"/>
                <a:cs typeface="Cambria Math"/>
              </a:rPr>
              <a:t>C</a:t>
            </a:r>
            <a:r>
              <a:rPr sz="2000" dirty="0">
                <a:latin typeface="Cambria Math"/>
                <a:cs typeface="Cambria Math"/>
              </a:rPr>
              <a:t>(</a:t>
            </a:r>
            <a:r>
              <a:rPr sz="2000" i="1" spc="-50" dirty="0">
                <a:latin typeface="Cambria Math"/>
                <a:cs typeface="Cambria Math"/>
              </a:rPr>
              <a:t>v</a:t>
            </a:r>
            <a:r>
              <a:rPr sz="2000" i="1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) </a:t>
            </a:r>
            <a:r>
              <a:rPr sz="2000" spc="5" dirty="0">
                <a:latin typeface="Cambria Math"/>
                <a:cs typeface="Cambria Math"/>
              </a:rPr>
              <a:t>=</a:t>
            </a:r>
            <a:r>
              <a:rPr sz="2000" spc="-10" dirty="0">
                <a:latin typeface="Cambria Math"/>
                <a:cs typeface="Cambria Math"/>
              </a:rPr>
              <a:t> {</a:t>
            </a:r>
            <a:r>
              <a:rPr sz="2000" i="1" spc="-55" dirty="0">
                <a:latin typeface="Cambria Math"/>
                <a:cs typeface="Cambria Math"/>
              </a:rPr>
              <a:t>u</a:t>
            </a:r>
            <a:r>
              <a:rPr sz="2000" i="1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∈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i="1" spc="-60" dirty="0">
                <a:latin typeface="Cambria Math"/>
                <a:cs typeface="Cambria Math"/>
              </a:rPr>
              <a:t>V</a:t>
            </a:r>
            <a:r>
              <a:rPr sz="2000" i="1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| </a:t>
            </a:r>
            <a:r>
              <a:rPr sz="2000" spc="-5" dirty="0">
                <a:latin typeface="Cambria Math"/>
                <a:cs typeface="Cambria Math"/>
              </a:rPr>
              <a:t>ther</a:t>
            </a:r>
            <a:r>
              <a:rPr sz="2000" dirty="0">
                <a:latin typeface="Cambria Math"/>
                <a:cs typeface="Cambria Math"/>
              </a:rPr>
              <a:t>e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exists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 </a:t>
            </a:r>
            <a:r>
              <a:rPr sz="2000" spc="-5" dirty="0">
                <a:latin typeface="Cambria Math"/>
                <a:cs typeface="Cambria Math"/>
              </a:rPr>
              <a:t>pat</a:t>
            </a:r>
            <a:r>
              <a:rPr sz="2000" dirty="0">
                <a:latin typeface="Cambria Math"/>
                <a:cs typeface="Cambria Math"/>
              </a:rPr>
              <a:t>h </a:t>
            </a:r>
            <a:r>
              <a:rPr sz="2000" spc="-5" dirty="0">
                <a:latin typeface="Cambria Math"/>
                <a:cs typeface="Cambria Math"/>
              </a:rPr>
              <a:t>i</a:t>
            </a:r>
            <a:r>
              <a:rPr sz="2000" dirty="0">
                <a:latin typeface="Cambria Math"/>
                <a:cs typeface="Cambria Math"/>
              </a:rPr>
              <a:t>n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G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f</a:t>
            </a:r>
            <a:r>
              <a:rPr sz="2000" spc="-10" dirty="0">
                <a:latin typeface="Cambria Math"/>
                <a:cs typeface="Cambria Math"/>
              </a:rPr>
              <a:t>r</a:t>
            </a:r>
            <a:r>
              <a:rPr sz="2000" dirty="0">
                <a:latin typeface="Cambria Math"/>
                <a:cs typeface="Cambria Math"/>
              </a:rPr>
              <a:t>om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i="1" spc="-55" dirty="0">
                <a:latin typeface="Cambria Math"/>
                <a:cs typeface="Cambria Math"/>
              </a:rPr>
              <a:t>u</a:t>
            </a:r>
            <a:r>
              <a:rPr sz="2000" i="1" dirty="0">
                <a:latin typeface="Cambria Math"/>
                <a:cs typeface="Cambria Math"/>
              </a:rPr>
              <a:t>	</a:t>
            </a:r>
            <a:r>
              <a:rPr sz="2000" spc="-5" dirty="0">
                <a:latin typeface="Cambria Math"/>
                <a:cs typeface="Cambria Math"/>
              </a:rPr>
              <a:t>t</a:t>
            </a:r>
            <a:r>
              <a:rPr sz="2000" dirty="0">
                <a:latin typeface="Cambria Math"/>
                <a:cs typeface="Cambria Math"/>
              </a:rPr>
              <a:t>o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i="1" spc="-50" dirty="0">
                <a:latin typeface="Cambria Math"/>
                <a:cs typeface="Cambria Math"/>
              </a:rPr>
              <a:t>v</a:t>
            </a:r>
            <a:r>
              <a:rPr sz="2000" i="1" spc="-10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}.</a:t>
            </a:r>
            <a:endParaRPr sz="2000" dirty="0">
              <a:latin typeface="Cambria Math"/>
              <a:cs typeface="Cambria Math"/>
            </a:endParaRPr>
          </a:p>
          <a:p>
            <a:pPr marL="355600" marR="5080" indent="-342900">
              <a:lnSpc>
                <a:spcPts val="2760"/>
              </a:lnSpc>
              <a:spcBef>
                <a:spcPts val="1500"/>
              </a:spcBef>
              <a:buClr>
                <a:srgbClr val="FFAD5D"/>
              </a:buClr>
              <a:buSzPct val="73913"/>
              <a:buFont typeface="Wingdings"/>
              <a:buChar char=""/>
              <a:tabLst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I</a:t>
            </a:r>
            <a:r>
              <a:rPr sz="2000" dirty="0">
                <a:latin typeface="Tahoma"/>
                <a:cs typeface="Tahoma"/>
              </a:rPr>
              <a:t>n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other </a:t>
            </a:r>
            <a:r>
              <a:rPr sz="2000" spc="-5" dirty="0">
                <a:latin typeface="Tahoma"/>
                <a:cs typeface="Tahoma"/>
              </a:rPr>
              <a:t>word</a:t>
            </a:r>
            <a:r>
              <a:rPr sz="2000" spc="1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: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2000" dirty="0">
                <a:latin typeface="Tahoma"/>
                <a:cs typeface="Tahoma"/>
              </a:rPr>
              <a:t>f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 graph is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dis</a:t>
            </a:r>
            <a:r>
              <a:rPr sz="2000" spc="5" dirty="0">
                <a:latin typeface="Tahoma"/>
                <a:cs typeface="Tahoma"/>
              </a:rPr>
              <a:t>c</a:t>
            </a:r>
            <a:r>
              <a:rPr sz="2000" dirty="0">
                <a:latin typeface="Tahoma"/>
                <a:cs typeface="Tahoma"/>
              </a:rPr>
              <a:t>onnected,</a:t>
            </a:r>
            <a:r>
              <a:rPr sz="2000" spc="-5" dirty="0">
                <a:latin typeface="Tahoma"/>
                <a:cs typeface="Tahoma"/>
              </a:rPr>
              <a:t> the</a:t>
            </a:r>
            <a:r>
              <a:rPr sz="2000" dirty="0">
                <a:latin typeface="Tahoma"/>
                <a:cs typeface="Tahoma"/>
              </a:rPr>
              <a:t>n</a:t>
            </a:r>
            <a:r>
              <a:rPr sz="2000" spc="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parts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from whi</a:t>
            </a:r>
            <a:r>
              <a:rPr sz="2000" spc="10" dirty="0">
                <a:latin typeface="Tahoma"/>
                <a:cs typeface="Tahoma"/>
              </a:rPr>
              <a:t>c</a:t>
            </a:r>
            <a:r>
              <a:rPr sz="2000" dirty="0">
                <a:latin typeface="Tahoma"/>
                <a:cs typeface="Tahoma"/>
              </a:rPr>
              <a:t>h is</a:t>
            </a:r>
            <a:r>
              <a:rPr sz="2000" spc="-5" dirty="0">
                <a:latin typeface="Tahoma"/>
                <a:cs typeface="Tahoma"/>
              </a:rPr>
              <a:t> compose</a:t>
            </a:r>
            <a:r>
              <a:rPr sz="2000" dirty="0">
                <a:latin typeface="Tahoma"/>
                <a:cs typeface="Tahoma"/>
              </a:rPr>
              <a:t>d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</a:t>
            </a:r>
            <a:r>
              <a:rPr sz="2000" spc="-10" dirty="0">
                <a:latin typeface="Tahoma"/>
                <a:cs typeface="Tahoma"/>
              </a:rPr>
              <a:t>o</a:t>
            </a:r>
            <a:r>
              <a:rPr sz="2000" dirty="0">
                <a:latin typeface="Tahoma"/>
                <a:cs typeface="Tahoma"/>
              </a:rPr>
              <a:t>m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tha</a:t>
            </a:r>
            <a:r>
              <a:rPr sz="2000" dirty="0">
                <a:latin typeface="Tahoma"/>
                <a:cs typeface="Tahoma"/>
              </a:rPr>
              <a:t>t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are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themselves connected</a:t>
            </a:r>
            <a:r>
              <a:rPr sz="2000" dirty="0">
                <a:latin typeface="Tahoma"/>
                <a:cs typeface="Tahoma"/>
              </a:rPr>
              <a:t>,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are </a:t>
            </a:r>
            <a:r>
              <a:rPr sz="2000" spc="-5" dirty="0">
                <a:latin typeface="Tahoma"/>
                <a:cs typeface="Tahoma"/>
              </a:rPr>
              <a:t>calle</a:t>
            </a:r>
            <a:r>
              <a:rPr sz="2000" dirty="0">
                <a:latin typeface="Tahoma"/>
                <a:cs typeface="Tahoma"/>
              </a:rPr>
              <a:t>d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i="1" spc="-55" dirty="0">
                <a:latin typeface="Tahoma"/>
                <a:cs typeface="Tahoma"/>
              </a:rPr>
              <a:t>connected</a:t>
            </a:r>
            <a:r>
              <a:rPr sz="2000" i="1" spc="-30" dirty="0">
                <a:latin typeface="Tahoma"/>
                <a:cs typeface="Tahoma"/>
              </a:rPr>
              <a:t> </a:t>
            </a:r>
            <a:r>
              <a:rPr sz="2000" i="1" spc="-65" dirty="0">
                <a:latin typeface="Tahoma"/>
                <a:cs typeface="Tahoma"/>
              </a:rPr>
              <a:t>comp</a:t>
            </a:r>
            <a:r>
              <a:rPr sz="2000" i="1" spc="-55" dirty="0">
                <a:latin typeface="Tahoma"/>
                <a:cs typeface="Tahoma"/>
              </a:rPr>
              <a:t>o</a:t>
            </a:r>
            <a:r>
              <a:rPr sz="2000" i="1" spc="-65" dirty="0">
                <a:latin typeface="Tahoma"/>
                <a:cs typeface="Tahoma"/>
              </a:rPr>
              <a:t>n</a:t>
            </a:r>
            <a:r>
              <a:rPr sz="2000" i="1" spc="-50" dirty="0">
                <a:latin typeface="Tahoma"/>
                <a:cs typeface="Tahoma"/>
              </a:rPr>
              <a:t>ent</a:t>
            </a:r>
            <a:r>
              <a:rPr sz="2000" i="1" spc="-45" dirty="0">
                <a:latin typeface="Tahoma"/>
                <a:cs typeface="Tahoma"/>
              </a:rPr>
              <a:t>s</a:t>
            </a:r>
            <a:r>
              <a:rPr sz="2000" i="1" spc="-30" dirty="0">
                <a:latin typeface="Tahoma"/>
                <a:cs typeface="Tahoma"/>
              </a:rPr>
              <a:t>.</a:t>
            </a:r>
            <a:endParaRPr sz="2000" dirty="0">
              <a:latin typeface="Tahoma"/>
              <a:cs typeface="Tahoma"/>
            </a:endParaRPr>
          </a:p>
          <a:p>
            <a:pPr marL="1055370">
              <a:lnSpc>
                <a:spcPts val="2155"/>
              </a:lnSpc>
              <a:spcBef>
                <a:spcPts val="370"/>
              </a:spcBef>
            </a:pPr>
            <a:r>
              <a:rPr sz="2000" dirty="0">
                <a:latin typeface="Arial"/>
                <a:cs typeface="Arial"/>
              </a:rPr>
              <a:t>b</a:t>
            </a:r>
          </a:p>
          <a:p>
            <a:pPr marR="655320" algn="ctr">
              <a:lnSpc>
                <a:spcPts val="2030"/>
              </a:lnSpc>
            </a:pPr>
            <a:r>
              <a:rPr sz="2000" i="1" spc="-65" dirty="0">
                <a:latin typeface="Cambria Math"/>
                <a:cs typeface="Cambria Math"/>
              </a:rPr>
              <a:t>C</a:t>
            </a:r>
            <a:r>
              <a:rPr sz="2000" spc="-5" dirty="0">
                <a:latin typeface="Cambria Math"/>
                <a:cs typeface="Cambria Math"/>
              </a:rPr>
              <a:t>(a)=</a:t>
            </a:r>
            <a:r>
              <a:rPr sz="2000" i="1" spc="-65" dirty="0">
                <a:latin typeface="Cambria Math"/>
                <a:cs typeface="Cambria Math"/>
              </a:rPr>
              <a:t>C</a:t>
            </a:r>
            <a:r>
              <a:rPr sz="2000" spc="-5" dirty="0">
                <a:latin typeface="Cambria Math"/>
                <a:cs typeface="Cambria Math"/>
              </a:rPr>
              <a:t>(b)={a,</a:t>
            </a:r>
            <a:r>
              <a:rPr sz="2000" dirty="0">
                <a:latin typeface="Cambria Math"/>
                <a:cs typeface="Cambria Math"/>
              </a:rPr>
              <a:t>b}</a:t>
            </a:r>
          </a:p>
          <a:p>
            <a:pPr marL="412750">
              <a:lnSpc>
                <a:spcPts val="1914"/>
              </a:lnSpc>
            </a:pPr>
            <a:r>
              <a:rPr sz="2000" dirty="0">
                <a:latin typeface="Arial"/>
                <a:cs typeface="Arial"/>
              </a:rPr>
              <a:t>c</a:t>
            </a:r>
          </a:p>
          <a:p>
            <a:pPr marL="2127250">
              <a:lnSpc>
                <a:spcPct val="100000"/>
              </a:lnSpc>
              <a:spcBef>
                <a:spcPts val="650"/>
              </a:spcBef>
            </a:pPr>
            <a:r>
              <a:rPr sz="2000" dirty="0">
                <a:latin typeface="Arial"/>
                <a:cs typeface="Arial"/>
              </a:rPr>
              <a:t>a</a:t>
            </a: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2913380">
              <a:lnSpc>
                <a:spcPct val="100000"/>
              </a:lnSpc>
            </a:pPr>
            <a:r>
              <a:rPr sz="2000" i="1" spc="-65" dirty="0">
                <a:latin typeface="Cambria Math"/>
                <a:cs typeface="Cambria Math"/>
              </a:rPr>
              <a:t>C</a:t>
            </a:r>
            <a:r>
              <a:rPr sz="2000" spc="-5" dirty="0">
                <a:latin typeface="Cambria Math"/>
                <a:cs typeface="Cambria Math"/>
              </a:rPr>
              <a:t>(</a:t>
            </a:r>
            <a:r>
              <a:rPr sz="2000" spc="-10" dirty="0">
                <a:latin typeface="Cambria Math"/>
                <a:cs typeface="Cambria Math"/>
              </a:rPr>
              <a:t>c</a:t>
            </a:r>
            <a:r>
              <a:rPr sz="2000" dirty="0">
                <a:latin typeface="Cambria Math"/>
                <a:cs typeface="Cambria Math"/>
              </a:rPr>
              <a:t>)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i="1" spc="-65" dirty="0">
                <a:latin typeface="Cambria Math"/>
                <a:cs typeface="Cambria Math"/>
              </a:rPr>
              <a:t>C</a:t>
            </a:r>
            <a:r>
              <a:rPr sz="2000" spc="-5" dirty="0">
                <a:latin typeface="Cambria Math"/>
                <a:cs typeface="Cambria Math"/>
              </a:rPr>
              <a:t>(</a:t>
            </a:r>
            <a:r>
              <a:rPr sz="2000" spc="-10" dirty="0">
                <a:latin typeface="Cambria Math"/>
                <a:cs typeface="Cambria Math"/>
              </a:rPr>
              <a:t>d</a:t>
            </a:r>
            <a:r>
              <a:rPr sz="2000" dirty="0">
                <a:latin typeface="Cambria Math"/>
                <a:cs typeface="Cambria Math"/>
              </a:rPr>
              <a:t>)</a:t>
            </a:r>
            <a:r>
              <a:rPr sz="2000" spc="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i="1" spc="-65" dirty="0">
                <a:latin typeface="Cambria Math"/>
                <a:cs typeface="Cambria Math"/>
              </a:rPr>
              <a:t>C</a:t>
            </a:r>
            <a:r>
              <a:rPr sz="2000" spc="-5" dirty="0">
                <a:latin typeface="Cambria Math"/>
                <a:cs typeface="Cambria Math"/>
              </a:rPr>
              <a:t>(</a:t>
            </a:r>
            <a:r>
              <a:rPr sz="2000" spc="-10" dirty="0">
                <a:latin typeface="Cambria Math"/>
                <a:cs typeface="Cambria Math"/>
              </a:rPr>
              <a:t>e</a:t>
            </a:r>
            <a:r>
              <a:rPr sz="2000" spc="-5" dirty="0">
                <a:latin typeface="Cambria Math"/>
                <a:cs typeface="Cambria Math"/>
              </a:rPr>
              <a:t>)={c,d,</a:t>
            </a:r>
            <a:r>
              <a:rPr sz="2000" spc="-10" dirty="0">
                <a:latin typeface="Cambria Math"/>
                <a:cs typeface="Cambria Math"/>
              </a:rPr>
              <a:t>e</a:t>
            </a:r>
            <a:r>
              <a:rPr sz="2000" dirty="0">
                <a:latin typeface="Cambria Math"/>
                <a:cs typeface="Cambria Math"/>
              </a:rPr>
              <a:t>}</a:t>
            </a:r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96E7E799-19FF-CA30-120B-B26804D06B67}"/>
              </a:ext>
            </a:extLst>
          </p:cNvPr>
          <p:cNvSpPr txBox="1"/>
          <p:nvPr/>
        </p:nvSpPr>
        <p:spPr>
          <a:xfrm>
            <a:off x="2650998" y="5574551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9">
            <a:extLst>
              <a:ext uri="{FF2B5EF4-FFF2-40B4-BE49-F238E27FC236}">
                <a16:creationId xmlns:a16="http://schemas.microsoft.com/office/drawing/2014/main" id="{87F1034A-E708-9176-C57D-02CD5CC82E04}"/>
              </a:ext>
            </a:extLst>
          </p:cNvPr>
          <p:cNvSpPr txBox="1"/>
          <p:nvPr/>
        </p:nvSpPr>
        <p:spPr>
          <a:xfrm>
            <a:off x="793191" y="5645874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442624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2F82-B240-99DC-239B-61F3A1AA4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92284C-AAB2-B131-1685-AC7AFDA21D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Components / Examples</a:t>
            </a:r>
            <a:endParaRPr lang="en-IE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E51864A-8A2F-A5EC-FF11-C278C225DE6C}"/>
              </a:ext>
            </a:extLst>
          </p:cNvPr>
          <p:cNvGrpSpPr>
            <a:grpSpLocks/>
          </p:cNvGrpSpPr>
          <p:nvPr/>
        </p:nvGrpSpPr>
        <p:grpSpPr bwMode="auto">
          <a:xfrm>
            <a:off x="885229" y="1143320"/>
            <a:ext cx="1949648" cy="1980903"/>
            <a:chOff x="576" y="2784"/>
            <a:chExt cx="1248" cy="1248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AB504DB2-D0E6-78DA-681D-CADC04780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16BF6377-DDBD-B6FF-C77B-A1F40C272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B668ABAE-A36F-B3A0-B491-60C6AC106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BEDFC6C4-AD55-B3BC-6CF2-4624C04F7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52757281-991D-BAC0-EDE9-A9943DEEE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3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cxnSp>
          <p:nvCxnSpPr>
            <p:cNvPr id="9" name="AutoShape 10">
              <a:extLst>
                <a:ext uri="{FF2B5EF4-FFF2-40B4-BE49-F238E27FC236}">
                  <a16:creationId xmlns:a16="http://schemas.microsoft.com/office/drawing/2014/main" id="{6FE291CB-6654-B901-1BE9-0A64E4BEE3E5}"/>
                </a:ext>
              </a:extLst>
            </p:cNvPr>
            <p:cNvCxnSpPr>
              <a:cxnSpLocks noChangeShapeType="1"/>
              <a:stCxn id="4" idx="4"/>
              <a:endCxn id="7" idx="0"/>
            </p:cNvCxnSpPr>
            <p:nvPr/>
          </p:nvCxnSpPr>
          <p:spPr bwMode="auto">
            <a:xfrm>
              <a:off x="1200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0" name="AutoShape 11">
              <a:extLst>
                <a:ext uri="{FF2B5EF4-FFF2-40B4-BE49-F238E27FC236}">
                  <a16:creationId xmlns:a16="http://schemas.microsoft.com/office/drawing/2014/main" id="{CC75CC49-0A3D-1509-B176-AA1EE09C13D8}"/>
                </a:ext>
              </a:extLst>
            </p:cNvPr>
            <p:cNvCxnSpPr>
              <a:cxnSpLocks noChangeShapeType="1"/>
              <a:stCxn id="7" idx="4"/>
              <a:endCxn id="6" idx="0"/>
            </p:cNvCxnSpPr>
            <p:nvPr/>
          </p:nvCxnSpPr>
          <p:spPr bwMode="auto">
            <a:xfrm>
              <a:off x="1200" y="3504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AD56A1E8-2300-C9B7-EF1C-F576B96330E0}"/>
                </a:ext>
              </a:extLst>
            </p:cNvPr>
            <p:cNvCxnSpPr>
              <a:cxnSpLocks noChangeShapeType="1"/>
              <a:stCxn id="5" idx="6"/>
              <a:endCxn id="7" idx="2"/>
            </p:cNvCxnSpPr>
            <p:nvPr/>
          </p:nvCxnSpPr>
          <p:spPr bwMode="auto">
            <a:xfrm>
              <a:off x="768" y="3408"/>
              <a:ext cx="33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3">
              <a:extLst>
                <a:ext uri="{FF2B5EF4-FFF2-40B4-BE49-F238E27FC236}">
                  <a16:creationId xmlns:a16="http://schemas.microsoft.com/office/drawing/2014/main" id="{C725E053-9232-E10D-0ECD-F6953C1A7D42}"/>
                </a:ext>
              </a:extLst>
            </p:cNvPr>
            <p:cNvCxnSpPr>
              <a:cxnSpLocks noChangeShapeType="1"/>
              <a:stCxn id="4" idx="3"/>
              <a:endCxn id="5" idx="7"/>
            </p:cNvCxnSpPr>
            <p:nvPr/>
          </p:nvCxnSpPr>
          <p:spPr bwMode="auto">
            <a:xfrm flipH="1">
              <a:off x="740" y="2948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B8EF1265-C841-A6EB-1985-443F30BACD0F}"/>
                </a:ext>
              </a:extLst>
            </p:cNvPr>
            <p:cNvCxnSpPr>
              <a:cxnSpLocks noChangeShapeType="1"/>
              <a:stCxn id="4" idx="5"/>
              <a:endCxn id="8" idx="1"/>
            </p:cNvCxnSpPr>
            <p:nvPr/>
          </p:nvCxnSpPr>
          <p:spPr bwMode="auto">
            <a:xfrm>
              <a:off x="1268" y="2948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5">
              <a:extLst>
                <a:ext uri="{FF2B5EF4-FFF2-40B4-BE49-F238E27FC236}">
                  <a16:creationId xmlns:a16="http://schemas.microsoft.com/office/drawing/2014/main" id="{1A7A496C-F1C7-5681-164D-4810135FD4AB}"/>
                </a:ext>
              </a:extLst>
            </p:cNvPr>
            <p:cNvCxnSpPr>
              <a:cxnSpLocks noChangeShapeType="1"/>
              <a:stCxn id="8" idx="3"/>
              <a:endCxn id="6" idx="7"/>
            </p:cNvCxnSpPr>
            <p:nvPr/>
          </p:nvCxnSpPr>
          <p:spPr bwMode="auto">
            <a:xfrm flipH="1">
              <a:off x="1268" y="3476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6">
              <a:extLst>
                <a:ext uri="{FF2B5EF4-FFF2-40B4-BE49-F238E27FC236}">
                  <a16:creationId xmlns:a16="http://schemas.microsoft.com/office/drawing/2014/main" id="{3BB1BDD7-655D-E554-0CAD-E14CAEE73D39}"/>
                </a:ext>
              </a:extLst>
            </p:cNvPr>
            <p:cNvCxnSpPr>
              <a:cxnSpLocks noChangeShapeType="1"/>
              <a:stCxn id="6" idx="1"/>
              <a:endCxn id="5" idx="5"/>
            </p:cNvCxnSpPr>
            <p:nvPr/>
          </p:nvCxnSpPr>
          <p:spPr bwMode="auto">
            <a:xfrm flipH="1" flipV="1">
              <a:off x="740" y="3476"/>
              <a:ext cx="393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5287158A-3854-01E0-9B2C-0279921AE052}"/>
              </a:ext>
            </a:extLst>
          </p:cNvPr>
          <p:cNvGrpSpPr>
            <a:grpSpLocks/>
          </p:cNvGrpSpPr>
          <p:nvPr/>
        </p:nvGrpSpPr>
        <p:grpSpPr bwMode="auto">
          <a:xfrm>
            <a:off x="434577" y="3456433"/>
            <a:ext cx="3375422" cy="2029968"/>
            <a:chOff x="2544" y="2256"/>
            <a:chExt cx="2160" cy="1296"/>
          </a:xfrm>
        </p:grpSpPr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02635F97-7F27-979F-A3DD-A886D1788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152C7D3F-0F55-6216-ACF2-A566A471B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CF57C95C-0157-3E37-CEE8-91E029F12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4C65B5B8-3C6E-A141-5BE3-F860F02F8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92D7021D-A852-514F-5287-20B66303C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A1A57CEB-272A-151F-9D24-E1E15EC24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F2A09009-B25D-95DA-1BFA-66B1C88A9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DCC9C1CA-3325-6777-5A48-B0EB50813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25" name="Oval 26">
              <a:extLst>
                <a:ext uri="{FF2B5EF4-FFF2-40B4-BE49-F238E27FC236}">
                  <a16:creationId xmlns:a16="http://schemas.microsoft.com/office/drawing/2014/main" id="{F4B36090-9AF8-87C3-F2F5-547C6AAD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5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D4EC3872-2015-9FBF-99AD-EF1C7FBF9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27" name="AutoShape 28">
              <a:extLst>
                <a:ext uri="{FF2B5EF4-FFF2-40B4-BE49-F238E27FC236}">
                  <a16:creationId xmlns:a16="http://schemas.microsoft.com/office/drawing/2014/main" id="{053B9A00-C158-02F4-4EA8-725692449587}"/>
                </a:ext>
              </a:extLst>
            </p:cNvPr>
            <p:cNvCxnSpPr>
              <a:cxnSpLocks noChangeShapeType="1"/>
              <a:stCxn id="17" idx="4"/>
              <a:endCxn id="1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29">
              <a:extLst>
                <a:ext uri="{FF2B5EF4-FFF2-40B4-BE49-F238E27FC236}">
                  <a16:creationId xmlns:a16="http://schemas.microsoft.com/office/drawing/2014/main" id="{B095771A-7C1E-9C79-CA88-2BEE3AD8425E}"/>
                </a:ext>
              </a:extLst>
            </p:cNvPr>
            <p:cNvCxnSpPr>
              <a:cxnSpLocks noChangeShapeType="1"/>
              <a:stCxn id="17" idx="6"/>
              <a:endCxn id="2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30">
              <a:extLst>
                <a:ext uri="{FF2B5EF4-FFF2-40B4-BE49-F238E27FC236}">
                  <a16:creationId xmlns:a16="http://schemas.microsoft.com/office/drawing/2014/main" id="{9FD0D86B-BFD6-877A-5EDD-9E5F824E1404}"/>
                </a:ext>
              </a:extLst>
            </p:cNvPr>
            <p:cNvCxnSpPr>
              <a:cxnSpLocks noChangeShapeType="1"/>
              <a:stCxn id="20" idx="4"/>
              <a:endCxn id="2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31">
              <a:extLst>
                <a:ext uri="{FF2B5EF4-FFF2-40B4-BE49-F238E27FC236}">
                  <a16:creationId xmlns:a16="http://schemas.microsoft.com/office/drawing/2014/main" id="{5350240D-36EE-35E5-8376-17023423214C}"/>
                </a:ext>
              </a:extLst>
            </p:cNvPr>
            <p:cNvCxnSpPr>
              <a:cxnSpLocks noChangeShapeType="1"/>
              <a:stCxn id="21" idx="1"/>
              <a:endCxn id="1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32">
              <a:extLst>
                <a:ext uri="{FF2B5EF4-FFF2-40B4-BE49-F238E27FC236}">
                  <a16:creationId xmlns:a16="http://schemas.microsoft.com/office/drawing/2014/main" id="{49FA1A16-F498-841D-376E-4EAC1F334901}"/>
                </a:ext>
              </a:extLst>
            </p:cNvPr>
            <p:cNvCxnSpPr>
              <a:cxnSpLocks noChangeShapeType="1"/>
              <a:stCxn id="21" idx="2"/>
              <a:endCxn id="1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33">
              <a:extLst>
                <a:ext uri="{FF2B5EF4-FFF2-40B4-BE49-F238E27FC236}">
                  <a16:creationId xmlns:a16="http://schemas.microsoft.com/office/drawing/2014/main" id="{24D82C38-D02D-EB30-049E-B8D6757FFAD9}"/>
                </a:ext>
              </a:extLst>
            </p:cNvPr>
            <p:cNvCxnSpPr>
              <a:cxnSpLocks noChangeShapeType="1"/>
              <a:stCxn id="21" idx="3"/>
              <a:endCxn id="1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4">
              <a:extLst>
                <a:ext uri="{FF2B5EF4-FFF2-40B4-BE49-F238E27FC236}">
                  <a16:creationId xmlns:a16="http://schemas.microsoft.com/office/drawing/2014/main" id="{D15819BB-F1E5-1D8E-DDBA-7B512F9795F0}"/>
                </a:ext>
              </a:extLst>
            </p:cNvPr>
            <p:cNvCxnSpPr>
              <a:cxnSpLocks noChangeShapeType="1"/>
              <a:stCxn id="18" idx="4"/>
              <a:endCxn id="1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35">
              <a:extLst>
                <a:ext uri="{FF2B5EF4-FFF2-40B4-BE49-F238E27FC236}">
                  <a16:creationId xmlns:a16="http://schemas.microsoft.com/office/drawing/2014/main" id="{8D0AAA1B-6825-00C3-AC03-E0E98507EBFD}"/>
                </a:ext>
              </a:extLst>
            </p:cNvPr>
            <p:cNvCxnSpPr>
              <a:cxnSpLocks noChangeShapeType="1"/>
              <a:stCxn id="20" idx="5"/>
              <a:endCxn id="2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36">
              <a:extLst>
                <a:ext uri="{FF2B5EF4-FFF2-40B4-BE49-F238E27FC236}">
                  <a16:creationId xmlns:a16="http://schemas.microsoft.com/office/drawing/2014/main" id="{40EB85C3-2198-4A99-6358-024860E402DD}"/>
                </a:ext>
              </a:extLst>
            </p:cNvPr>
            <p:cNvCxnSpPr>
              <a:cxnSpLocks noChangeShapeType="1"/>
              <a:stCxn id="22" idx="2"/>
              <a:endCxn id="2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37">
              <a:extLst>
                <a:ext uri="{FF2B5EF4-FFF2-40B4-BE49-F238E27FC236}">
                  <a16:creationId xmlns:a16="http://schemas.microsoft.com/office/drawing/2014/main" id="{84FC8CCF-C358-BAF2-2A83-8811FAACFD8E}"/>
                </a:ext>
              </a:extLst>
            </p:cNvPr>
            <p:cNvCxnSpPr>
              <a:cxnSpLocks noChangeShapeType="1"/>
              <a:stCxn id="25" idx="3"/>
              <a:endCxn id="22" idx="7"/>
            </p:cNvCxnSpPr>
            <p:nvPr/>
          </p:nvCxnSpPr>
          <p:spPr bwMode="auto">
            <a:xfrm flipH="1">
              <a:off x="4052" y="2420"/>
              <a:ext cx="490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38">
              <a:extLst>
                <a:ext uri="{FF2B5EF4-FFF2-40B4-BE49-F238E27FC236}">
                  <a16:creationId xmlns:a16="http://schemas.microsoft.com/office/drawing/2014/main" id="{C4A67D04-CB6B-309E-2685-F5276EFA683E}"/>
                </a:ext>
              </a:extLst>
            </p:cNvPr>
            <p:cNvCxnSpPr>
              <a:cxnSpLocks noChangeShapeType="1"/>
              <a:stCxn id="25" idx="4"/>
              <a:endCxn id="24" idx="0"/>
            </p:cNvCxnSpPr>
            <p:nvPr/>
          </p:nvCxnSpPr>
          <p:spPr bwMode="auto">
            <a:xfrm>
              <a:off x="4608" y="244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39">
              <a:extLst>
                <a:ext uri="{FF2B5EF4-FFF2-40B4-BE49-F238E27FC236}">
                  <a16:creationId xmlns:a16="http://schemas.microsoft.com/office/drawing/2014/main" id="{5A668CF4-3491-43FB-C546-176DD86132C0}"/>
                </a:ext>
              </a:extLst>
            </p:cNvPr>
            <p:cNvCxnSpPr>
              <a:cxnSpLocks noChangeShapeType="1"/>
              <a:stCxn id="24" idx="3"/>
              <a:endCxn id="23" idx="7"/>
            </p:cNvCxnSpPr>
            <p:nvPr/>
          </p:nvCxnSpPr>
          <p:spPr bwMode="auto">
            <a:xfrm flipH="1">
              <a:off x="4052" y="2996"/>
              <a:ext cx="490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40">
              <a:extLst>
                <a:ext uri="{FF2B5EF4-FFF2-40B4-BE49-F238E27FC236}">
                  <a16:creationId xmlns:a16="http://schemas.microsoft.com/office/drawing/2014/main" id="{A6968A0E-B230-9F2A-3A39-A73BE1E14A45}"/>
                </a:ext>
              </a:extLst>
            </p:cNvPr>
            <p:cNvCxnSpPr>
              <a:cxnSpLocks noChangeShapeType="1"/>
              <a:stCxn id="23" idx="6"/>
              <a:endCxn id="26" idx="2"/>
            </p:cNvCxnSpPr>
            <p:nvPr/>
          </p:nvCxnSpPr>
          <p:spPr bwMode="auto">
            <a:xfrm>
              <a:off x="4080" y="3456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41">
              <a:extLst>
                <a:ext uri="{FF2B5EF4-FFF2-40B4-BE49-F238E27FC236}">
                  <a16:creationId xmlns:a16="http://schemas.microsoft.com/office/drawing/2014/main" id="{F07824FB-A388-32CB-82F7-73D5BC50E42B}"/>
                </a:ext>
              </a:extLst>
            </p:cNvPr>
            <p:cNvCxnSpPr>
              <a:cxnSpLocks noChangeShapeType="1"/>
              <a:stCxn id="26" idx="0"/>
              <a:endCxn id="24" idx="4"/>
            </p:cNvCxnSpPr>
            <p:nvPr/>
          </p:nvCxnSpPr>
          <p:spPr bwMode="auto">
            <a:xfrm flipV="1">
              <a:off x="4608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42">
              <a:extLst>
                <a:ext uri="{FF2B5EF4-FFF2-40B4-BE49-F238E27FC236}">
                  <a16:creationId xmlns:a16="http://schemas.microsoft.com/office/drawing/2014/main" id="{653E583E-A452-9D6E-0747-D2909AA78AE3}"/>
                </a:ext>
              </a:extLst>
            </p:cNvPr>
            <p:cNvCxnSpPr>
              <a:cxnSpLocks noChangeShapeType="1"/>
              <a:stCxn id="24" idx="2"/>
              <a:endCxn id="22" idx="6"/>
            </p:cNvCxnSpPr>
            <p:nvPr/>
          </p:nvCxnSpPr>
          <p:spPr bwMode="auto">
            <a:xfrm flipH="1">
              <a:off x="4080" y="2928"/>
              <a:ext cx="4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97C3E77-3E47-B81D-F5A8-5B0776C8D5F9}"/>
              </a:ext>
            </a:extLst>
          </p:cNvPr>
          <p:cNvSpPr txBox="1"/>
          <p:nvPr/>
        </p:nvSpPr>
        <p:spPr>
          <a:xfrm>
            <a:off x="3461624" y="1916816"/>
            <a:ext cx="449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 = {</a:t>
            </a:r>
            <a:r>
              <a:rPr lang="en-US" dirty="0" err="1"/>
              <a:t>a,b,c,d,e</a:t>
            </a:r>
            <a:r>
              <a:rPr lang="en-US" dirty="0"/>
              <a:t>} (the entire graph)</a:t>
            </a:r>
            <a:endParaRPr lang="en-I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12DA77-3C13-854C-D7E1-6EDA9E04BA1A}"/>
              </a:ext>
            </a:extLst>
          </p:cNvPr>
          <p:cNvSpPr txBox="1"/>
          <p:nvPr/>
        </p:nvSpPr>
        <p:spPr>
          <a:xfrm>
            <a:off x="4021336" y="3832353"/>
            <a:ext cx="5122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 = {</a:t>
            </a:r>
            <a:r>
              <a:rPr lang="en-US" dirty="0" err="1"/>
              <a:t>a,b,c</a:t>
            </a:r>
            <a:r>
              <a:rPr lang="en-US" dirty="0"/>
              <a:t>} is a component, but not maximal</a:t>
            </a:r>
          </a:p>
          <a:p>
            <a:r>
              <a:rPr lang="en-US" dirty="0"/>
              <a:t>S={</a:t>
            </a:r>
            <a:r>
              <a:rPr lang="en-US" dirty="0" err="1"/>
              <a:t>a,b,c,f</a:t>
            </a:r>
            <a:r>
              <a:rPr lang="en-US" dirty="0"/>
              <a:t>} is a strongly connected component</a:t>
            </a:r>
          </a:p>
          <a:p>
            <a:r>
              <a:rPr lang="en-US" dirty="0"/>
              <a:t>S={</a:t>
            </a:r>
            <a:r>
              <a:rPr lang="en-US" dirty="0" err="1"/>
              <a:t>h,i,j</a:t>
            </a:r>
            <a:r>
              <a:rPr lang="en-US" dirty="0"/>
              <a:t>} is a strongly connected component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738314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6064-29CA-1B91-A700-145C47444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Any idea?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57C0C-7CC3-6A0E-7734-60A5E851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B0E39-F8AA-4982-923D-157BFA96FD10}" type="slidenum">
              <a:rPr lang="en-IE" smtClean="0"/>
              <a:pPr>
                <a:defRPr/>
              </a:pPr>
              <a:t>14</a:t>
            </a:fld>
            <a:endParaRPr lang="en-IE"/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82102E77-D5A7-83EE-B9CF-5BC89A1FC92C}"/>
              </a:ext>
            </a:extLst>
          </p:cNvPr>
          <p:cNvSpPr/>
          <p:nvPr/>
        </p:nvSpPr>
        <p:spPr>
          <a:xfrm>
            <a:off x="3617169" y="1544578"/>
            <a:ext cx="4949571" cy="2236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C87EC06B-155D-2491-F6FA-C824E6265429}"/>
              </a:ext>
            </a:extLst>
          </p:cNvPr>
          <p:cNvSpPr txBox="1"/>
          <p:nvPr/>
        </p:nvSpPr>
        <p:spPr>
          <a:xfrm>
            <a:off x="3770330" y="1769033"/>
            <a:ext cx="222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BF876984-1E5F-F027-133B-831FC66FDD48}"/>
              </a:ext>
            </a:extLst>
          </p:cNvPr>
          <p:cNvSpPr txBox="1"/>
          <p:nvPr/>
        </p:nvSpPr>
        <p:spPr>
          <a:xfrm>
            <a:off x="5210765" y="1769033"/>
            <a:ext cx="222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5DFE9F96-C64C-28B1-BA11-DE1BD0BBB395}"/>
              </a:ext>
            </a:extLst>
          </p:cNvPr>
          <p:cNvSpPr txBox="1"/>
          <p:nvPr/>
        </p:nvSpPr>
        <p:spPr>
          <a:xfrm>
            <a:off x="6661613" y="1769033"/>
            <a:ext cx="203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1A250AC6-66C9-6890-F604-86C06D7BF3C0}"/>
              </a:ext>
            </a:extLst>
          </p:cNvPr>
          <p:cNvSpPr txBox="1"/>
          <p:nvPr/>
        </p:nvSpPr>
        <p:spPr>
          <a:xfrm>
            <a:off x="8091506" y="1769033"/>
            <a:ext cx="222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d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8">
            <a:extLst>
              <a:ext uri="{FF2B5EF4-FFF2-40B4-BE49-F238E27FC236}">
                <a16:creationId xmlns:a16="http://schemas.microsoft.com/office/drawing/2014/main" id="{C06B8BBC-96C8-FAF2-5BF6-604E0F10A663}"/>
              </a:ext>
            </a:extLst>
          </p:cNvPr>
          <p:cNvSpPr txBox="1"/>
          <p:nvPr/>
        </p:nvSpPr>
        <p:spPr>
          <a:xfrm>
            <a:off x="3770330" y="3209220"/>
            <a:ext cx="22352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11764708-21BB-2211-D2EA-E1A5C69D8AF6}"/>
              </a:ext>
            </a:extLst>
          </p:cNvPr>
          <p:cNvSpPr txBox="1"/>
          <p:nvPr/>
        </p:nvSpPr>
        <p:spPr>
          <a:xfrm>
            <a:off x="5259914" y="3209220"/>
            <a:ext cx="1244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f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16032D85-C1F2-AD95-BA30-A4084C5FBF91}"/>
              </a:ext>
            </a:extLst>
          </p:cNvPr>
          <p:cNvSpPr txBox="1"/>
          <p:nvPr/>
        </p:nvSpPr>
        <p:spPr>
          <a:xfrm>
            <a:off x="6651326" y="3209220"/>
            <a:ext cx="22352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g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F5CE14A3-89C6-12CF-032E-96D1A4127DA4}"/>
              </a:ext>
            </a:extLst>
          </p:cNvPr>
          <p:cNvSpPr txBox="1"/>
          <p:nvPr/>
        </p:nvSpPr>
        <p:spPr>
          <a:xfrm>
            <a:off x="8091506" y="3209220"/>
            <a:ext cx="22352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A9808-4272-7C76-C892-38265F7BC31B}"/>
              </a:ext>
            </a:extLst>
          </p:cNvPr>
          <p:cNvSpPr txBox="1"/>
          <p:nvPr/>
        </p:nvSpPr>
        <p:spPr>
          <a:xfrm>
            <a:off x="449238" y="3941760"/>
            <a:ext cx="84432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900" dirty="0"/>
              <a:t>Easy but not completely efficient.</a:t>
            </a:r>
          </a:p>
          <a:p>
            <a:r>
              <a:rPr lang="en-IE" sz="1900" dirty="0"/>
              <a:t>SCCs are the same in a graph and in the transpose graph (why?)</a:t>
            </a:r>
          </a:p>
          <a:p>
            <a:endParaRPr lang="en-IE" sz="1900" dirty="0"/>
          </a:p>
          <a:p>
            <a:r>
              <a:rPr lang="en-IE" sz="1900" dirty="0"/>
              <a:t>For each node, mark the one that can be reached</a:t>
            </a:r>
          </a:p>
          <a:p>
            <a:r>
              <a:rPr lang="en-IE" sz="1900" dirty="0"/>
              <a:t>Transpose the graph</a:t>
            </a:r>
          </a:p>
          <a:p>
            <a:r>
              <a:rPr lang="en-IE" sz="1900" dirty="0"/>
              <a:t>For each node, mark the one that can be reached in the transpose graph</a:t>
            </a:r>
          </a:p>
          <a:p>
            <a:r>
              <a:rPr lang="en-IE" sz="1900" dirty="0"/>
              <a:t>For each node, the intersection of the 2 set of reachable nodes defines an SCC component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3C86A5B-D395-4369-29E9-DBCCF0D15AAA}"/>
              </a:ext>
            </a:extLst>
          </p:cNvPr>
          <p:cNvSpPr txBox="1">
            <a:spLocks/>
          </p:cNvSpPr>
          <p:nvPr/>
        </p:nvSpPr>
        <p:spPr>
          <a:xfrm>
            <a:off x="746311" y="228600"/>
            <a:ext cx="7560890" cy="1127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b="1" kern="1200" spc="-7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Connected Components (formally)</a:t>
            </a:r>
            <a:endParaRPr lang="en-IE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1F50DA9-4A89-8E50-8872-FBF714077180}"/>
              </a:ext>
            </a:extLst>
          </p:cNvPr>
          <p:cNvSpPr txBox="1">
            <a:spLocks/>
          </p:cNvSpPr>
          <p:nvPr/>
        </p:nvSpPr>
        <p:spPr>
          <a:xfrm>
            <a:off x="0" y="381000"/>
            <a:ext cx="9143999" cy="1127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b="1" kern="1200" spc="-7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822327"/>
                </a:solidFill>
              </a:rPr>
              <a:t>How to Find SCC</a:t>
            </a:r>
            <a:endParaRPr lang="en-IE" sz="4000" dirty="0">
              <a:solidFill>
                <a:srgbClr val="8223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45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530067-983D-4E63-9791-F0145943E4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07B1A8-87A3-0770-6CC7-B5C884C4E02E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91BF7069-024A-6356-77B4-A66CF8B235CC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ED612508-137B-7073-0394-4486EAF3EC21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E05A7C4-E26E-A0C5-7C5C-6271FA463620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970DD905-726B-43E5-FD54-B251FC4A59FB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6619E04-CF40-086A-B51B-BBFCB0B57256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61A23272-CE98-A83F-834B-B0E156004261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FB9675BE-7756-D03B-CB20-A4036AE8FD7F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FAA67E0-B9B8-4849-85BF-FBC79134617C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B3E4B696-47E4-09F4-B647-06A6F070DA37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B71711F-F378-728F-8980-073E81976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622304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74644A9B-90DC-27DC-B4E5-DCF9A7E78300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477FB8CA-A50C-9AFE-F479-53D49A135384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F08F42A5-C130-149F-D063-E023332F88F4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E5E17E98-00DD-FE5F-C941-C7D583D5F12C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5795970E-9AF4-1876-FE9F-31A0D2CE3291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B72F5457-3FC8-A36D-E1C1-31DDCFC60D28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3C6D8021-2040-269F-D15C-DADF137FABE5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32AB4A85-81C6-D5D7-6269-404A8468D164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9ADD3B35-3390-0172-B5D7-24D6963E435C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131C38EC-91E6-B108-50F7-EA2AE41272EA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651303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3915-8930-8E80-C88F-93AA835C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C3F9D3-76E3-585C-4A93-E8E0C00EA7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E710DB-038F-BD07-8C04-1863D112A852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B255F684-BFBE-0F1F-24B4-E69105320BB0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DA57B6B8-774D-68DB-BA08-D68B90A43182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CE8B0CF1-D1BC-CB36-88B9-5498AD6A8F3A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791EEBCA-7180-3D7D-334C-6BAE86750E90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B2ACE063-900F-B6EB-99C3-B7CEAB816C4F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4EF998A9-0E79-6746-C01F-59AB7693FEBA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957500CC-155E-EC0E-4E5F-8566297B52B0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F1F1613A-74FD-308E-79CA-6CA241F6A905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4B3465A6-F964-0CFE-AC2D-51243296E563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63752A3-73B9-7243-A859-BDD44A7CD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204173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C2AF6D79-A4AA-7E81-26F3-9EEE333C9E9B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014F6289-78C9-C855-55B4-B46D6D40453C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228C7641-71C3-DCD6-E97C-527DCF951EEC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0E671958-C418-766D-8F08-36FAFD7BABFC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CD43B7F0-94DC-6475-B88C-3D31132484E9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B73018D7-159C-8D44-98C6-30F2175C05B6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DB06F575-8B11-C88B-CCB5-E6FC91A55C0E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2D97B839-991F-4FD4-3421-16C5DD9BD024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CF601D6D-4AC9-9FD7-E49F-82EA26219A08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EB39DEAA-6120-99DC-8A99-3BE0F21B08D5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766018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F892-3982-6071-4A39-3E3E345A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82C5EF-1D9D-2228-6A24-DAF6833D23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AA4C3C-023F-ACDB-BE4D-3155CCEB6E6A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C45B01A5-3B47-1EEC-E7EE-09F5392A7624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FE24A17C-5745-681F-9B84-EDD295161B01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AC741BE-41D4-054C-58C9-60BA6E3C361C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0586EDA8-B228-7E52-BAED-1387578B7C01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BD48246-FACD-8AED-EBA9-D7D32F179ED7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EBC2CD1B-DAB9-5390-D027-2A8EED4662BF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20674F65-3617-0B37-7714-60050B5958B0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F72B8BC-176D-345E-6CAD-A28D2EF49E6B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1756BF2A-30B2-7D16-ABF2-FAA039B2B1B3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8C1E1D3A-A292-A48E-4B49-E213C40A6F56}"/>
              </a:ext>
            </a:extLst>
          </p:cNvPr>
          <p:cNvGraphicFramePr>
            <a:graphicFrameLocks noGrp="1"/>
          </p:cNvGraphicFramePr>
          <p:nvPr/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890D0190-F1FD-6419-34E2-743DB27EB352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4E93EE28-2112-7548-1710-AE6D0CC11C73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89858FA6-3EEC-4DDD-E3D8-A3038C04C0E6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77270D52-B37F-3A72-3537-68C49AD33366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47FF0C6D-225A-C972-D178-FA893AF16F5F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CEA8FAB3-83F8-8103-C8E4-D2949E0C6B5C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BC43DF35-D796-E3A6-63AE-A61730AF4652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2330696E-EA83-C623-84C5-13810FF25342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1EC1D86B-8DB6-83E0-9566-3E8F1CBFFAF6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71A87B11-4D48-9A02-1395-C47719A25ACF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964205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F66D-7FEE-9A9D-F797-48C2C71F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88D1E-AD71-33BA-9DF0-69E540B338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C964F1-E4F0-3D44-F168-85F64CD255BB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E08A176E-FB46-BBB4-2D32-357F24663E67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8C3FE592-93AB-CDAD-AF97-EEB270B12958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991AB19A-089F-4BB8-4D68-457AA84F5C79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F7A86AD-E2A0-012A-941F-04B65AD7699A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56B86A3-C99E-5556-3273-B58EE6258C81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B388D1F8-0FEA-C523-0A2B-11D2D1FFD199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CA1CB696-B324-7100-BC35-A7B6CC2F4BEF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E665F741-85CF-619B-BB8B-8C074D7AB5E6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14CFB1F4-18B9-726A-9761-1511A06DA992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1B6E501F-1BC0-1A0A-2DDF-16F9F316F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072324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6491F90B-9EC3-45B2-44AD-78CCE27504FA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5A908B61-3EC0-DCF2-C156-39A1BD71EF23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788F14D4-2BD6-E48D-A61B-B3A2E1509FC7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DDCC43B1-5AB0-CC15-EAB9-0F74C91790F7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07380C0D-98B3-0712-C2C6-D80EB8DF26DC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A3AFE653-99F8-2E9B-DD1B-5AE2881A6AF4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A1188A77-A51E-59F8-FAC5-F22CD057C198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9BC23FE3-12CA-9796-3473-6228122B8B62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8B760BF2-1DA6-E84C-76D3-22903B5E89C0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B44BB6F4-ECDB-00BE-03FF-D7FF64975620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214560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F452-2B72-0240-41FD-5BF701F2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969DA9-9F2F-300D-92AA-B6C496EC8D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52630F-A1FE-F10C-8AED-BFBD0FA1212E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BAA94AE2-93EB-DFAE-77CB-72D831B358B3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B39A9490-A335-AA74-4CCB-A3B09D3DCF25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048BDEBA-7659-5B4A-2609-D9D19F36E7CC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D97229B8-64B6-5254-AECF-8EE6BA143A82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EF7AE76-DDEB-C39D-9470-C20ABEBC386C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A7793B97-7C3A-4BAF-5D7D-F18648AB3F74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EC112C67-3B01-D0D1-72FD-1875DFDEEE52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5ABF950B-BD6A-4848-5FB7-A21CAC896812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C357055C-812E-313E-15C2-29736202A0CC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5BE97386-F636-75D8-FD30-1845DCAEB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154873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80ABCB8C-C0B3-BF6D-A045-5D0212A7F15D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FC0CAD0-6208-2FE4-6BE6-C4FCBF575313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00BC5338-73C7-AA95-4CDC-043B8EACD057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25710F1E-8009-57BD-F7DF-EE9AA2613D1A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3B72B270-10D8-B69E-7B5A-03FFB2DEE890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72068F7B-1204-34BC-6869-4BBD6659B624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B74120D7-8421-77FF-4AB0-10EE4A8931FD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DB3D8043-67B3-FE4F-00B9-9DDBFFEB83B4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35D67D1B-1E11-FE7A-AE83-F11F17D767C1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2FD0C3C4-9DB3-6B59-86FE-E9BA3FC1BC0B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439766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1990-5AAB-5DA5-5CF8-C826AB5D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94E7C4-DD12-5948-6DFE-9080725067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CE26B0-8DD1-EFF3-64DF-4F1A0E9C938B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67624DBC-1331-9A04-0DE5-F1FF75D83CE0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E19B05C-310F-9EFE-865C-9B1A3C643449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CC85D13C-DB9F-2987-20CA-8EB6DFFC2CD1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05846726-032D-52C8-8ED9-6D66F2529209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8316C85-E15C-598F-B6ED-56C3D594952A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16D51709-10F7-0D41-321B-391CB020607C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8AC04072-B585-D3A9-51F5-0BC4CF1E3751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D7DEB161-94CB-F320-92FB-442C792FA2BA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B71193A2-4679-E1A5-0CB8-9320D427930D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B66283E7-FA67-83B4-7729-5D505ADC3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34845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2E99C8EC-6222-0527-F6C6-68A3C8CBF6E4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4B7BC19-BEC7-7E9A-0568-E32134C89652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60803E17-EEE3-4B48-7C4B-2341C8EEDB5E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7C5D1BFB-17D8-8D98-9149-E3776C71241D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91AAB401-B946-E87A-D7A5-54CD23BB0166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DED96668-A19C-7433-DF2E-4D011DD3C07F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0EE12EB5-E54C-7D6D-4449-1474E9409552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C01B4477-4F4B-1601-550A-6ABD72D6F639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2FDBDF49-7B3C-5AFA-6E82-ADF5642E2F49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8AECB3A0-29AB-52E4-7E3E-05F505277862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845150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D9D24-4EE9-9012-8765-FBC331D5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B885EF-8871-B4AC-724C-04403AFA17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C4C571-1CA4-FA2B-47F4-9BB7B44635A7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3B348062-02BE-B6F5-EF8D-CCF18205AD74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9D78D50-5D92-570C-9BD9-5032CAE6F69A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932C4598-0A3F-3859-B9E0-FED4EFD3580D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D0CD0585-780D-045C-3A4A-F34A0D23AEF4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6481333-7519-562E-2C99-97F655E065E6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ED1CD77A-4931-59B2-FB2E-BA2713F16989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DBD196D5-9736-131C-C7FA-A9279FF9ED9F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DE3F1134-2A2B-0EF7-6935-F6A7851AA2DE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EE7A580B-C51C-E4C3-9B29-3AE9A13E2646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4ACB2184-6FD8-032C-39E4-BD93F867E3EF}"/>
              </a:ext>
            </a:extLst>
          </p:cNvPr>
          <p:cNvGraphicFramePr>
            <a:graphicFrameLocks noGrp="1"/>
          </p:cNvGraphicFramePr>
          <p:nvPr/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FD4552DB-F816-7D3F-77A9-0E3C64AE3CA2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CD8612DE-E2B7-79FA-1EDB-421C73529F6D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6A61CF94-02C0-2803-FA98-2FF7F645B457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10E71444-FE78-FC6F-51FD-5517C115B318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5C56E2E5-5755-DFAC-C9FB-5F1C49714EE5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5974557F-0AEE-1584-7B87-F1399F1A3EAC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6C977A5C-D11D-F64C-B9A9-6258A9E11EF5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39014F31-38E0-BD90-F8AB-152A79A06120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66B4B04A-E80A-8903-3235-B23B321CC568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03CD730E-66F8-D291-3985-CC57FB55F788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027045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492C-BF00-33FA-0577-E0D1AB5F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3D7ED5-6270-B588-93C6-C9D4DA041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4558AE-23A2-FE39-FE1B-DB07034C1A4D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118C9788-06AE-12B1-9A9F-101BC0C94E23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4D32045-953E-5266-B5C6-41454FA283A0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B05A289-00D7-49A3-961A-3362A6906819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F7566F0-CA89-628E-2261-E611755CA2FA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6774AAC-1A9A-B4C1-DBFA-6E97C16BC0EB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5D52B7F4-5953-63B7-429B-1F2EA3382AB7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FDA8F391-62C7-41D6-3371-3C7960AC7E75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CA9EA9B-D2B8-D5D7-E5AA-63C9C41032E7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A2F06132-B829-A35A-1509-ADF332327EFD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8E0CCEFF-2A1F-C8B9-94C4-C5EB78AB8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339702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26040ACD-5A2E-C4D6-5E65-45714752C034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FCA1C478-DAF3-C018-44C7-DA6B064C2D05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059066C6-EB89-2384-A387-65A82CB0AB35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D6234931-4388-E695-BF84-D5F0CD37FA1D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8B1A1B84-BE51-3310-A6B3-64E42DD15C1F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E0F15975-D0AC-40A4-A0C4-D7863216D65D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2877C790-7EC4-FEF6-F461-F15B03A00A6C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14546420-0C13-984F-0607-A38AC72AC97A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4C5C6273-ADE7-6A0B-01F4-D3DB4C5508A7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8EF48FE3-E652-8722-D1AD-EDC4A5FAE218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48115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8D53-9CA9-D481-AF89-04E2ABE3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D7367E-D4CB-E6A2-7FD0-1738A3C1D7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C0BBB1-16CD-C0E5-F0A8-F1F96C81063E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318476D4-2D36-B47A-D549-90D0C5A69823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11A95BC8-C74F-0D83-6F32-B89C0D6EA051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49931948-BA0E-5953-11AF-A6C3E956CE08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86E011C-4AAC-59A2-EF10-398506258C38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30A08BCC-D4A7-97AB-3281-36DA642CA851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B693FFE9-F0C4-2710-2C06-AC5140D0491A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BDDD06ED-0696-9AA0-48B3-0E30ADAC7260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66A36D39-4760-6573-2AEE-252BB29C865E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7718EA65-B439-9F66-71D1-93DE1724F873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6363692B-F3A5-7CC1-C177-27F3A0B4A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28986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64F683DF-BB52-160D-5E44-1A65B40AA2EA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410C3675-CE2E-1C89-FAE1-21051BBB6062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DEAD7C4D-37FD-7A5D-B8B7-76BC7E97C528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5557905E-C9C4-F827-4B99-471AD1E2C165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C7B281C4-98DD-B7DA-044C-1FA6B63EC8AA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757DC10D-BDA9-71D4-FF8A-F4A59320DBAA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CF518E7D-D1D9-DD81-C0DB-DA814596EFAD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DEE93FAE-D3D4-8F08-F01F-1793E5CB2132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43FCBBBB-7CAC-D545-AE4C-F00BE8B14259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78A04C1B-E1EE-3D17-8B6D-8C88C38EDE44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61366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AC4A-4711-0E5E-F861-A1F6565C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0F96A4-298B-4514-0A77-3D6BD1E1F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D370E-D8C9-2453-3CB8-9C6E8C1AEB7C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2B33868A-8D41-BEE3-A030-73AF1484919D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FB4B6EB7-7404-CA24-1316-3B1796AA0400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38686CB9-EDB3-40C2-BA4A-20CB0786F774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1C14E012-2DA0-3571-79CC-A1AA4C6F53A0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AF640DF-A974-5BC0-A59F-5633FC36BC5F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2BFFFFC5-6619-555D-CA30-9DF626FFFAED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795D3342-3EBC-83B2-458D-D6580DB55501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4884093E-BD11-2522-405A-5AEB07419B76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F94CBB26-7713-A2A3-8D6B-95B0D5C9BDDF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C4B1A92-5A00-7EED-C959-6279685E4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861924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F,G,E,B,A.H,D,C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32ECDFDB-E621-D381-1FEA-F8C074C909BA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4F845CF0-A83F-E40B-EF40-E56D720F578E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0CF25BDD-EC85-E661-9CB0-07276E3F4D43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00A901EC-B9D6-93BC-AD53-209AFDB7B13F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69AB6736-6DE6-3E04-4E34-4BAC46DFC8AD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1A0A238A-2E8D-BB18-EE85-81AFEFDCC4E0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468721AB-CCC5-169C-3FED-E2AC951C4991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C792114D-D1D7-04C3-0DBE-8EBC9F902673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0B002707-BAEC-81B1-25F3-2057001EABC5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6CF895AB-C947-164E-120A-113CA02AE6B1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880863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9E00-9A1E-DBD2-D1F8-238B3119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9DB6E2-645A-61C0-5E79-1907020C4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19F374-170F-745B-5766-AE5B64337F6E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A580408D-E6A1-0461-543F-FDF21AC188C4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77AFF216-C218-0C03-E1CF-A3ABC67DB76F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521ACAB-A03B-F891-2C4B-568141DCE993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8FFD4F7-F0A4-F37D-788B-718369D9E556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A479AD1-B8DB-CA06-1CC2-0133DAC75F59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75BD72F9-9C2D-C255-B5A0-865BAE5524FC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ADC49170-C797-7D15-6204-1FC804DA15CD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7A3974C5-FE29-9094-45E4-77E97F9A9435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DBB16BEE-A386-A08E-E623-970557B6853B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538434F-B1EF-1C03-7740-5167C4A2A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83334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F,G,E,B,A.H,D,C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8E7597A4-83DA-3757-2FF2-11657445B2F7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5987DF10-5FC3-AF44-9A42-1CBE4252CD49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ED9F326F-DB2E-8640-82AD-916D65DA8E62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C7D92EC9-45CE-33E3-A741-E655505AD3F8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85584B72-78C4-7764-69A1-036D640ACA7F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6681123B-4510-13BF-C4B1-22848133257F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829C2DE3-B0DA-986F-0A1F-E7967BAE27B2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1A44780F-4ADE-7347-01D7-A98908C02DA7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C81AE6D5-E81B-D667-D57C-D283F96250E9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AAAF3F29-5F00-BD86-AFED-6BC3FECB5D80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696557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0A58-53D7-6428-48C9-C5368BAB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575EF6-14EB-8215-50A7-36F8BEDBE4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09BF13-1135-7F68-5ABF-500CA32D7772}"/>
              </a:ext>
            </a:extLst>
          </p:cNvPr>
          <p:cNvGrpSpPr/>
          <p:nvPr/>
        </p:nvGrpSpPr>
        <p:grpSpPr>
          <a:xfrm>
            <a:off x="609600" y="1165708"/>
            <a:ext cx="3541833" cy="1600200"/>
            <a:chOff x="728499" y="1295400"/>
            <a:chExt cx="4949571" cy="2236216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EAAB0EA7-F7AD-1632-9687-37288D10C1CB}"/>
                </a:ext>
              </a:extLst>
            </p:cNvPr>
            <p:cNvSpPr/>
            <p:nvPr/>
          </p:nvSpPr>
          <p:spPr>
            <a:xfrm>
              <a:off x="728499" y="1295400"/>
              <a:ext cx="4949571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B3A8055E-91FA-8ACC-4394-4AB140B86E25}"/>
                </a:ext>
              </a:extLst>
            </p:cNvPr>
            <p:cNvSpPr txBox="1"/>
            <p:nvPr/>
          </p:nvSpPr>
          <p:spPr>
            <a:xfrm>
              <a:off x="881661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AF0DE4CA-46FC-4F95-8E98-447B5CD3AF45}"/>
                </a:ext>
              </a:extLst>
            </p:cNvPr>
            <p:cNvSpPr txBox="1"/>
            <p:nvPr/>
          </p:nvSpPr>
          <p:spPr>
            <a:xfrm>
              <a:off x="232209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B3A49A71-AD55-7A83-E7BD-1B5E96C3EEDC}"/>
                </a:ext>
              </a:extLst>
            </p:cNvPr>
            <p:cNvSpPr txBox="1"/>
            <p:nvPr/>
          </p:nvSpPr>
          <p:spPr>
            <a:xfrm>
              <a:off x="3772943" y="1519854"/>
              <a:ext cx="20320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1DCBDA12-C08A-4DB0-0253-ABC71C5DB0A2}"/>
                </a:ext>
              </a:extLst>
            </p:cNvPr>
            <p:cNvSpPr txBox="1"/>
            <p:nvPr/>
          </p:nvSpPr>
          <p:spPr>
            <a:xfrm>
              <a:off x="5202836" y="1519854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AAB550A6-2D35-D500-641B-B0972E45172B}"/>
                </a:ext>
              </a:extLst>
            </p:cNvPr>
            <p:cNvSpPr txBox="1"/>
            <p:nvPr/>
          </p:nvSpPr>
          <p:spPr>
            <a:xfrm>
              <a:off x="881661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66C3B6DE-56E1-6CD6-837E-FAADB05CB4F6}"/>
                </a:ext>
              </a:extLst>
            </p:cNvPr>
            <p:cNvSpPr txBox="1"/>
            <p:nvPr/>
          </p:nvSpPr>
          <p:spPr>
            <a:xfrm>
              <a:off x="2371244" y="2960042"/>
              <a:ext cx="124461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5FACF417-68E3-D6D0-0D62-0CEE0C0E14EE}"/>
                </a:ext>
              </a:extLst>
            </p:cNvPr>
            <p:cNvSpPr txBox="1"/>
            <p:nvPr/>
          </p:nvSpPr>
          <p:spPr>
            <a:xfrm>
              <a:off x="376265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80C8F5D5-F631-C202-C9C3-F9101975E7E1}"/>
                </a:ext>
              </a:extLst>
            </p:cNvPr>
            <p:cNvSpPr txBox="1"/>
            <p:nvPr/>
          </p:nvSpPr>
          <p:spPr>
            <a:xfrm>
              <a:off x="5202836" y="2960042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 dirty="0">
                <a:latin typeface="Arial"/>
                <a:cs typeface="Arial"/>
              </a:endParaRPr>
            </a:p>
          </p:txBody>
        </p:sp>
      </p:grp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9F0B4194-761A-979C-E504-4E5E3DAE2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18593"/>
              </p:ext>
            </p:extLst>
          </p:nvPr>
        </p:nvGraphicFramePr>
        <p:xfrm>
          <a:off x="1874184" y="289560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F,G,E,B,A.H,D,C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71B867A4-68D5-E81D-5893-BC1CA82C95B9}"/>
              </a:ext>
            </a:extLst>
          </p:cNvPr>
          <p:cNvGrpSpPr/>
          <p:nvPr/>
        </p:nvGrpSpPr>
        <p:grpSpPr>
          <a:xfrm>
            <a:off x="4572001" y="1143000"/>
            <a:ext cx="3962399" cy="1600200"/>
            <a:chOff x="4572000" y="1348892"/>
            <a:chExt cx="4941697" cy="2236216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40670D7-E4D9-9A87-D036-A542A6A592FF}"/>
                </a:ext>
              </a:extLst>
            </p:cNvPr>
            <p:cNvSpPr/>
            <p:nvPr/>
          </p:nvSpPr>
          <p:spPr>
            <a:xfrm>
              <a:off x="4572000" y="1348892"/>
              <a:ext cx="4941697" cy="22362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98334F13-DC9D-0233-789C-788D4B78187B}"/>
                </a:ext>
              </a:extLst>
            </p:cNvPr>
            <p:cNvSpPr txBox="1"/>
            <p:nvPr/>
          </p:nvSpPr>
          <p:spPr>
            <a:xfrm>
              <a:off x="4725161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a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E0E1F767-4456-10E2-EF5A-8961EAA9BCD8}"/>
                </a:ext>
              </a:extLst>
            </p:cNvPr>
            <p:cNvSpPr txBox="1"/>
            <p:nvPr/>
          </p:nvSpPr>
          <p:spPr>
            <a:xfrm>
              <a:off x="6165596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56102D00-616C-5ECE-30C4-31F2B6986BBB}"/>
                </a:ext>
              </a:extLst>
            </p:cNvPr>
            <p:cNvSpPr txBox="1"/>
            <p:nvPr/>
          </p:nvSpPr>
          <p:spPr>
            <a:xfrm>
              <a:off x="7616444" y="1573346"/>
              <a:ext cx="20320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c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9D957A86-8774-6791-EABC-B0F8C12AE968}"/>
                </a:ext>
              </a:extLst>
            </p:cNvPr>
            <p:cNvSpPr txBox="1"/>
            <p:nvPr/>
          </p:nvSpPr>
          <p:spPr>
            <a:xfrm>
              <a:off x="9046337" y="1573346"/>
              <a:ext cx="222885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61357C1F-F3D9-F4D0-FA79-EADEC55E089B}"/>
                </a:ext>
              </a:extLst>
            </p:cNvPr>
            <p:cNvSpPr txBox="1"/>
            <p:nvPr/>
          </p:nvSpPr>
          <p:spPr>
            <a:xfrm>
              <a:off x="4725161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1165F45A-3F5E-4D8D-12D1-3B135EDA1A65}"/>
                </a:ext>
              </a:extLst>
            </p:cNvPr>
            <p:cNvSpPr txBox="1"/>
            <p:nvPr/>
          </p:nvSpPr>
          <p:spPr>
            <a:xfrm>
              <a:off x="6214745" y="3013534"/>
              <a:ext cx="12446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f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576C0409-260A-F2EA-8F45-5D87195BBE6F}"/>
                </a:ext>
              </a:extLst>
            </p:cNvPr>
            <p:cNvSpPr txBox="1"/>
            <p:nvPr/>
          </p:nvSpPr>
          <p:spPr>
            <a:xfrm>
              <a:off x="760615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g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AFEB5875-330A-AECC-726C-F7AB3C07382C}"/>
                </a:ext>
              </a:extLst>
            </p:cNvPr>
            <p:cNvSpPr txBox="1"/>
            <p:nvPr/>
          </p:nvSpPr>
          <p:spPr>
            <a:xfrm>
              <a:off x="9046337" y="3013534"/>
              <a:ext cx="223520" cy="3440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h</a:t>
              </a:r>
              <a:endParaRPr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260694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CCF2-776C-C894-25A7-17403E6E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8D6D3-8205-B37C-76F8-19BC107A2A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762000"/>
          </a:xfrm>
        </p:spPr>
        <p:txBody>
          <a:bodyPr/>
          <a:lstStyle/>
          <a:p>
            <a:r>
              <a:rPr lang="en-US" dirty="0"/>
              <a:t>How can we find SCCs?</a:t>
            </a:r>
            <a:endParaRPr lang="en-IE" dirty="0"/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65785E6B-09E4-C855-BD8E-7CCA6B078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580583"/>
              </p:ext>
            </p:extLst>
          </p:nvPr>
        </p:nvGraphicFramePr>
        <p:xfrm>
          <a:off x="3417882" y="2987040"/>
          <a:ext cx="56337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40">
                  <a:extLst>
                    <a:ext uri="{9D8B030D-6E8A-4147-A177-3AD203B41FA5}">
                      <a16:colId xmlns:a16="http://schemas.microsoft.com/office/drawing/2014/main" val="354678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803768"/>
                    </a:ext>
                  </a:extLst>
                </a:gridCol>
                <a:gridCol w="1789632">
                  <a:extLst>
                    <a:ext uri="{9D8B030D-6E8A-4147-A177-3AD203B41FA5}">
                      <a16:colId xmlns:a16="http://schemas.microsoft.com/office/drawing/2014/main" val="319230890"/>
                    </a:ext>
                  </a:extLst>
                </a:gridCol>
                <a:gridCol w="1410768">
                  <a:extLst>
                    <a:ext uri="{9D8B030D-6E8A-4147-A177-3AD203B41FA5}">
                      <a16:colId xmlns:a16="http://schemas.microsoft.com/office/drawing/2014/main" val="3486541802"/>
                    </a:ext>
                  </a:extLst>
                </a:gridCol>
              </a:tblGrid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Original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Transpose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500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94895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500" dirty="0"/>
                        <a:t>A,B,F,E,C,D,H,G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A,E,B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4081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351088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C,D,H,G,F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C,B,A,E,D,H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C,D,H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9633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19392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0564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F,G,E,B,A.H,D,C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F,G</a:t>
                      </a: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17179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70564"/>
                  </a:ext>
                </a:extLst>
              </a:tr>
              <a:tr h="193820">
                <a:tc>
                  <a:txBody>
                    <a:bodyPr/>
                    <a:lstStyle/>
                    <a:p>
                      <a:r>
                        <a:rPr lang="en-IE" sz="15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Already found</a:t>
                      </a:r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304"/>
                  </a:ext>
                </a:extLst>
              </a:tr>
            </a:tbl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A66AF220-947A-EB11-4FD4-577D927ABABB}"/>
              </a:ext>
            </a:extLst>
          </p:cNvPr>
          <p:cNvGrpSpPr/>
          <p:nvPr/>
        </p:nvGrpSpPr>
        <p:grpSpPr>
          <a:xfrm>
            <a:off x="903733" y="933578"/>
            <a:ext cx="4125468" cy="1962022"/>
            <a:chOff x="903732" y="933578"/>
            <a:chExt cx="5364861" cy="2462656"/>
          </a:xfrm>
        </p:grpSpPr>
        <p:sp>
          <p:nvSpPr>
            <p:cNvPr id="3" name="object 2">
              <a:extLst>
                <a:ext uri="{FF2B5EF4-FFF2-40B4-BE49-F238E27FC236}">
                  <a16:creationId xmlns:a16="http://schemas.microsoft.com/office/drawing/2014/main" id="{EB51F4C8-37B4-F580-2BC5-2B94E20F8A3E}"/>
                </a:ext>
              </a:extLst>
            </p:cNvPr>
            <p:cNvSpPr/>
            <p:nvPr/>
          </p:nvSpPr>
          <p:spPr>
            <a:xfrm>
              <a:off x="2503551" y="2431669"/>
              <a:ext cx="2112010" cy="964565"/>
            </a:xfrm>
            <a:custGeom>
              <a:avLst/>
              <a:gdLst/>
              <a:ahLst/>
              <a:cxnLst/>
              <a:rect l="l" t="t" r="r" b="b"/>
              <a:pathLst>
                <a:path w="2112010" h="964564">
                  <a:moveTo>
                    <a:pt x="1055751" y="0"/>
                  </a:moveTo>
                  <a:lnTo>
                    <a:pt x="969165" y="1598"/>
                  </a:lnTo>
                  <a:lnTo>
                    <a:pt x="884507" y="6311"/>
                  </a:lnTo>
                  <a:lnTo>
                    <a:pt x="802047" y="14014"/>
                  </a:lnTo>
                  <a:lnTo>
                    <a:pt x="722059" y="24584"/>
                  </a:lnTo>
                  <a:lnTo>
                    <a:pt x="644812" y="37895"/>
                  </a:lnTo>
                  <a:lnTo>
                    <a:pt x="570580" y="53825"/>
                  </a:lnTo>
                  <a:lnTo>
                    <a:pt x="499634" y="72248"/>
                  </a:lnTo>
                  <a:lnTo>
                    <a:pt x="432246" y="93041"/>
                  </a:lnTo>
                  <a:lnTo>
                    <a:pt x="368686" y="116079"/>
                  </a:lnTo>
                  <a:lnTo>
                    <a:pt x="309229" y="141239"/>
                  </a:lnTo>
                  <a:lnTo>
                    <a:pt x="254144" y="168397"/>
                  </a:lnTo>
                  <a:lnTo>
                    <a:pt x="203703" y="197428"/>
                  </a:lnTo>
                  <a:lnTo>
                    <a:pt x="158180" y="228208"/>
                  </a:lnTo>
                  <a:lnTo>
                    <a:pt x="117844" y="260613"/>
                  </a:lnTo>
                  <a:lnTo>
                    <a:pt x="82968" y="294518"/>
                  </a:lnTo>
                  <a:lnTo>
                    <a:pt x="53824" y="329801"/>
                  </a:lnTo>
                  <a:lnTo>
                    <a:pt x="30683" y="366337"/>
                  </a:lnTo>
                  <a:lnTo>
                    <a:pt x="13818" y="404001"/>
                  </a:lnTo>
                  <a:lnTo>
                    <a:pt x="3499" y="442669"/>
                  </a:lnTo>
                  <a:lnTo>
                    <a:pt x="0" y="482219"/>
                  </a:lnTo>
                  <a:lnTo>
                    <a:pt x="3499" y="521768"/>
                  </a:lnTo>
                  <a:lnTo>
                    <a:pt x="13818" y="560436"/>
                  </a:lnTo>
                  <a:lnTo>
                    <a:pt x="30683" y="598100"/>
                  </a:lnTo>
                  <a:lnTo>
                    <a:pt x="53824" y="634636"/>
                  </a:lnTo>
                  <a:lnTo>
                    <a:pt x="82968" y="669919"/>
                  </a:lnTo>
                  <a:lnTo>
                    <a:pt x="117844" y="703824"/>
                  </a:lnTo>
                  <a:lnTo>
                    <a:pt x="158180" y="736229"/>
                  </a:lnTo>
                  <a:lnTo>
                    <a:pt x="203703" y="767009"/>
                  </a:lnTo>
                  <a:lnTo>
                    <a:pt x="254144" y="796040"/>
                  </a:lnTo>
                  <a:lnTo>
                    <a:pt x="309229" y="823198"/>
                  </a:lnTo>
                  <a:lnTo>
                    <a:pt x="368686" y="848358"/>
                  </a:lnTo>
                  <a:lnTo>
                    <a:pt x="432246" y="871396"/>
                  </a:lnTo>
                  <a:lnTo>
                    <a:pt x="499634" y="892189"/>
                  </a:lnTo>
                  <a:lnTo>
                    <a:pt x="570580" y="910612"/>
                  </a:lnTo>
                  <a:lnTo>
                    <a:pt x="644812" y="926542"/>
                  </a:lnTo>
                  <a:lnTo>
                    <a:pt x="722059" y="939853"/>
                  </a:lnTo>
                  <a:lnTo>
                    <a:pt x="802047" y="950423"/>
                  </a:lnTo>
                  <a:lnTo>
                    <a:pt x="884507" y="958126"/>
                  </a:lnTo>
                  <a:lnTo>
                    <a:pt x="969165" y="962839"/>
                  </a:lnTo>
                  <a:lnTo>
                    <a:pt x="1055751" y="964438"/>
                  </a:lnTo>
                  <a:lnTo>
                    <a:pt x="1142354" y="962839"/>
                  </a:lnTo>
                  <a:lnTo>
                    <a:pt x="1227029" y="958126"/>
                  </a:lnTo>
                  <a:lnTo>
                    <a:pt x="1309503" y="950423"/>
                  </a:lnTo>
                  <a:lnTo>
                    <a:pt x="1389504" y="939853"/>
                  </a:lnTo>
                  <a:lnTo>
                    <a:pt x="1466762" y="926542"/>
                  </a:lnTo>
                  <a:lnTo>
                    <a:pt x="1541004" y="910612"/>
                  </a:lnTo>
                  <a:lnTo>
                    <a:pt x="1611959" y="892189"/>
                  </a:lnTo>
                  <a:lnTo>
                    <a:pt x="1679355" y="871396"/>
                  </a:lnTo>
                  <a:lnTo>
                    <a:pt x="1742920" y="848358"/>
                  </a:lnTo>
                  <a:lnTo>
                    <a:pt x="1802383" y="823198"/>
                  </a:lnTo>
                  <a:lnTo>
                    <a:pt x="1857473" y="796040"/>
                  </a:lnTo>
                  <a:lnTo>
                    <a:pt x="1907916" y="767009"/>
                  </a:lnTo>
                  <a:lnTo>
                    <a:pt x="1953443" y="736229"/>
                  </a:lnTo>
                  <a:lnTo>
                    <a:pt x="1993781" y="703824"/>
                  </a:lnTo>
                  <a:lnTo>
                    <a:pt x="2028658" y="669919"/>
                  </a:lnTo>
                  <a:lnTo>
                    <a:pt x="2057803" y="634636"/>
                  </a:lnTo>
                  <a:lnTo>
                    <a:pt x="2080944" y="598100"/>
                  </a:lnTo>
                  <a:lnTo>
                    <a:pt x="2097810" y="560436"/>
                  </a:lnTo>
                  <a:lnTo>
                    <a:pt x="2108129" y="521768"/>
                  </a:lnTo>
                  <a:lnTo>
                    <a:pt x="2111629" y="482219"/>
                  </a:lnTo>
                  <a:lnTo>
                    <a:pt x="2108129" y="442669"/>
                  </a:lnTo>
                  <a:lnTo>
                    <a:pt x="2097810" y="404001"/>
                  </a:lnTo>
                  <a:lnTo>
                    <a:pt x="2080944" y="366337"/>
                  </a:lnTo>
                  <a:lnTo>
                    <a:pt x="2057803" y="329801"/>
                  </a:lnTo>
                  <a:lnTo>
                    <a:pt x="2028658" y="294518"/>
                  </a:lnTo>
                  <a:lnTo>
                    <a:pt x="1993781" y="260613"/>
                  </a:lnTo>
                  <a:lnTo>
                    <a:pt x="1953443" y="228208"/>
                  </a:lnTo>
                  <a:lnTo>
                    <a:pt x="1907916" y="197428"/>
                  </a:lnTo>
                  <a:lnTo>
                    <a:pt x="1857473" y="168397"/>
                  </a:lnTo>
                  <a:lnTo>
                    <a:pt x="1802383" y="141239"/>
                  </a:lnTo>
                  <a:lnTo>
                    <a:pt x="1742920" y="116079"/>
                  </a:lnTo>
                  <a:lnTo>
                    <a:pt x="1679355" y="93041"/>
                  </a:lnTo>
                  <a:lnTo>
                    <a:pt x="1611959" y="72248"/>
                  </a:lnTo>
                  <a:lnTo>
                    <a:pt x="1541004" y="53825"/>
                  </a:lnTo>
                  <a:lnTo>
                    <a:pt x="1466762" y="37895"/>
                  </a:lnTo>
                  <a:lnTo>
                    <a:pt x="1389504" y="24584"/>
                  </a:lnTo>
                  <a:lnTo>
                    <a:pt x="1309503" y="14014"/>
                  </a:lnTo>
                  <a:lnTo>
                    <a:pt x="1227029" y="6311"/>
                  </a:lnTo>
                  <a:lnTo>
                    <a:pt x="1142354" y="1598"/>
                  </a:lnTo>
                  <a:lnTo>
                    <a:pt x="1055751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700"/>
            </a:p>
          </p:txBody>
        </p:sp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E6F1A568-BC75-D86C-0F88-745DE84624D5}"/>
                </a:ext>
              </a:extLst>
            </p:cNvPr>
            <p:cNvSpPr/>
            <p:nvPr/>
          </p:nvSpPr>
          <p:spPr>
            <a:xfrm>
              <a:off x="3820033" y="969646"/>
              <a:ext cx="2448560" cy="2412365"/>
            </a:xfrm>
            <a:custGeom>
              <a:avLst/>
              <a:gdLst/>
              <a:ahLst/>
              <a:cxnLst/>
              <a:rect l="l" t="t" r="r" b="b"/>
              <a:pathLst>
                <a:path w="2448559" h="2412365">
                  <a:moveTo>
                    <a:pt x="2448305" y="0"/>
                  </a:moveTo>
                  <a:lnTo>
                    <a:pt x="0" y="1015"/>
                  </a:lnTo>
                  <a:lnTo>
                    <a:pt x="8120" y="197964"/>
                  </a:lnTo>
                  <a:lnTo>
                    <a:pt x="31915" y="390561"/>
                  </a:lnTo>
                  <a:lnTo>
                    <a:pt x="70765" y="578190"/>
                  </a:lnTo>
                  <a:lnTo>
                    <a:pt x="124049" y="760238"/>
                  </a:lnTo>
                  <a:lnTo>
                    <a:pt x="191146" y="936089"/>
                  </a:lnTo>
                  <a:lnTo>
                    <a:pt x="271437" y="1105128"/>
                  </a:lnTo>
                  <a:lnTo>
                    <a:pt x="364300" y="1266742"/>
                  </a:lnTo>
                  <a:lnTo>
                    <a:pt x="469115" y="1420315"/>
                  </a:lnTo>
                  <a:lnTo>
                    <a:pt x="585262" y="1565232"/>
                  </a:lnTo>
                  <a:lnTo>
                    <a:pt x="712120" y="1700879"/>
                  </a:lnTo>
                  <a:lnTo>
                    <a:pt x="849069" y="1826641"/>
                  </a:lnTo>
                  <a:lnTo>
                    <a:pt x="995488" y="1941903"/>
                  </a:lnTo>
                  <a:lnTo>
                    <a:pt x="1150758" y="2046050"/>
                  </a:lnTo>
                  <a:lnTo>
                    <a:pt x="1314256" y="2138468"/>
                  </a:lnTo>
                  <a:lnTo>
                    <a:pt x="1485364" y="2218543"/>
                  </a:lnTo>
                  <a:lnTo>
                    <a:pt x="1663460" y="2285658"/>
                  </a:lnTo>
                  <a:lnTo>
                    <a:pt x="1847924" y="2339200"/>
                  </a:lnTo>
                  <a:lnTo>
                    <a:pt x="2038135" y="2378554"/>
                  </a:lnTo>
                  <a:lnTo>
                    <a:pt x="2233474" y="2403105"/>
                  </a:lnTo>
                  <a:lnTo>
                    <a:pt x="2433320" y="2412237"/>
                  </a:lnTo>
                  <a:lnTo>
                    <a:pt x="244830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700"/>
            </a:p>
          </p:txBody>
        </p:sp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87EF1FC8-4D8D-1391-2C2C-6E96319D8953}"/>
                </a:ext>
              </a:extLst>
            </p:cNvPr>
            <p:cNvSpPr/>
            <p:nvPr/>
          </p:nvSpPr>
          <p:spPr>
            <a:xfrm>
              <a:off x="903732" y="933578"/>
              <a:ext cx="2412365" cy="2448560"/>
            </a:xfrm>
            <a:custGeom>
              <a:avLst/>
              <a:gdLst/>
              <a:ahLst/>
              <a:cxnLst/>
              <a:rect l="l" t="t" r="r" b="b"/>
              <a:pathLst>
                <a:path w="2412365" h="2448560">
                  <a:moveTo>
                    <a:pt x="0" y="0"/>
                  </a:moveTo>
                  <a:lnTo>
                    <a:pt x="1016" y="2448306"/>
                  </a:lnTo>
                  <a:lnTo>
                    <a:pt x="197964" y="2440185"/>
                  </a:lnTo>
                  <a:lnTo>
                    <a:pt x="390561" y="2416390"/>
                  </a:lnTo>
                  <a:lnTo>
                    <a:pt x="578190" y="2377540"/>
                  </a:lnTo>
                  <a:lnTo>
                    <a:pt x="760238" y="2324256"/>
                  </a:lnTo>
                  <a:lnTo>
                    <a:pt x="936089" y="2257159"/>
                  </a:lnTo>
                  <a:lnTo>
                    <a:pt x="1105128" y="2176868"/>
                  </a:lnTo>
                  <a:lnTo>
                    <a:pt x="1266742" y="2084005"/>
                  </a:lnTo>
                  <a:lnTo>
                    <a:pt x="1420315" y="1979190"/>
                  </a:lnTo>
                  <a:lnTo>
                    <a:pt x="1565232" y="1863043"/>
                  </a:lnTo>
                  <a:lnTo>
                    <a:pt x="1700879" y="1736185"/>
                  </a:lnTo>
                  <a:lnTo>
                    <a:pt x="1826641" y="1599236"/>
                  </a:lnTo>
                  <a:lnTo>
                    <a:pt x="1941903" y="1452817"/>
                  </a:lnTo>
                  <a:lnTo>
                    <a:pt x="2046050" y="1297547"/>
                  </a:lnTo>
                  <a:lnTo>
                    <a:pt x="2138468" y="1134049"/>
                  </a:lnTo>
                  <a:lnTo>
                    <a:pt x="2218543" y="962941"/>
                  </a:lnTo>
                  <a:lnTo>
                    <a:pt x="2285658" y="784845"/>
                  </a:lnTo>
                  <a:lnTo>
                    <a:pt x="2339200" y="600381"/>
                  </a:lnTo>
                  <a:lnTo>
                    <a:pt x="2378554" y="410170"/>
                  </a:lnTo>
                  <a:lnTo>
                    <a:pt x="2403105" y="214831"/>
                  </a:lnTo>
                  <a:lnTo>
                    <a:pt x="2412238" y="14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700"/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ACF1DA25-91CC-40E1-49CD-BCFA6D8E184F}"/>
                </a:ext>
              </a:extLst>
            </p:cNvPr>
            <p:cNvSpPr/>
            <p:nvPr/>
          </p:nvSpPr>
          <p:spPr>
            <a:xfrm>
              <a:off x="1143000" y="1082040"/>
              <a:ext cx="4941697" cy="223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700"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3CAFC26F-224E-C0E0-FC80-A9ADD0692B8C}"/>
                </a:ext>
              </a:extLst>
            </p:cNvPr>
            <p:cNvSpPr txBox="1"/>
            <p:nvPr/>
          </p:nvSpPr>
          <p:spPr>
            <a:xfrm>
              <a:off x="1296161" y="1306495"/>
              <a:ext cx="222885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a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82FAB8A3-03CC-17B9-9D6A-FCC567A4F538}"/>
                </a:ext>
              </a:extLst>
            </p:cNvPr>
            <p:cNvSpPr txBox="1"/>
            <p:nvPr/>
          </p:nvSpPr>
          <p:spPr>
            <a:xfrm>
              <a:off x="2736596" y="1306495"/>
              <a:ext cx="222885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b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F32128D1-0271-B1BC-0272-017E016B3E30}"/>
                </a:ext>
              </a:extLst>
            </p:cNvPr>
            <p:cNvSpPr txBox="1"/>
            <p:nvPr/>
          </p:nvSpPr>
          <p:spPr>
            <a:xfrm>
              <a:off x="4187444" y="1306495"/>
              <a:ext cx="203200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c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BEFA431A-F190-B7B0-E30E-661E6F45BB72}"/>
                </a:ext>
              </a:extLst>
            </p:cNvPr>
            <p:cNvSpPr txBox="1"/>
            <p:nvPr/>
          </p:nvSpPr>
          <p:spPr>
            <a:xfrm>
              <a:off x="5617338" y="1306495"/>
              <a:ext cx="222885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d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D1013A5E-6D21-A95C-E788-8009CC3B77B2}"/>
                </a:ext>
              </a:extLst>
            </p:cNvPr>
            <p:cNvSpPr txBox="1"/>
            <p:nvPr/>
          </p:nvSpPr>
          <p:spPr>
            <a:xfrm>
              <a:off x="1296161" y="2746683"/>
              <a:ext cx="223520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e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4A6ED448-1359-D44F-8DC5-07DADFC4D107}"/>
                </a:ext>
              </a:extLst>
            </p:cNvPr>
            <p:cNvSpPr txBox="1"/>
            <p:nvPr/>
          </p:nvSpPr>
          <p:spPr>
            <a:xfrm>
              <a:off x="2785745" y="2746683"/>
              <a:ext cx="124460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f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24" name="object 13">
              <a:extLst>
                <a:ext uri="{FF2B5EF4-FFF2-40B4-BE49-F238E27FC236}">
                  <a16:creationId xmlns:a16="http://schemas.microsoft.com/office/drawing/2014/main" id="{48F3BE24-F5A1-5624-5029-5505FD809CB2}"/>
                </a:ext>
              </a:extLst>
            </p:cNvPr>
            <p:cNvSpPr txBox="1"/>
            <p:nvPr/>
          </p:nvSpPr>
          <p:spPr>
            <a:xfrm>
              <a:off x="4177157" y="2746683"/>
              <a:ext cx="223520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g</a:t>
              </a:r>
              <a:endParaRPr sz="1700">
                <a:latin typeface="Arial"/>
                <a:cs typeface="Arial"/>
              </a:endParaRPr>
            </a:p>
          </p:txBody>
        </p:sp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F94CAF6A-8702-C62A-0C86-F27058593AE7}"/>
                </a:ext>
              </a:extLst>
            </p:cNvPr>
            <p:cNvSpPr txBox="1"/>
            <p:nvPr/>
          </p:nvSpPr>
          <p:spPr>
            <a:xfrm>
              <a:off x="5617338" y="2746683"/>
              <a:ext cx="223520" cy="3283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-5" dirty="0">
                  <a:latin typeface="Arial"/>
                  <a:cs typeface="Arial"/>
                </a:rPr>
                <a:t>h</a:t>
              </a:r>
              <a:endParaRPr sz="17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13928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69DC-34F0-D44A-9311-771C419B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438612-DFEC-3E4E-C9A4-75C128B888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9385F1E7-F645-07B2-53A9-3D052BC5A379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a level of the graph, then move to the “children” of each node that was not visited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79E9EA-582B-B8C8-A62E-09991F2CA32C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16C4F6-501F-751F-2765-733B1392C162}"/>
              </a:ext>
            </a:extLst>
          </p:cNvPr>
          <p:cNvSpPr txBox="1"/>
          <p:nvPr/>
        </p:nvSpPr>
        <p:spPr>
          <a:xfrm>
            <a:off x="4641803" y="5189095"/>
            <a:ext cx="353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Enqueue = add to the queue</a:t>
            </a:r>
            <a:endParaRPr lang="en-IE" i="1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937B808D-B125-2E86-C2FB-595F39BE8726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7D9A6695-9638-3E82-B72E-2F3C95A1A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7D4E3267-5A59-160A-FFFB-BE1685F54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2D753634-FA3C-43C1-497A-FFE83E73F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169E2515-3CD7-F1C8-9550-189A1AE63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040AC2CD-EB5A-4344-67FF-21AE95BC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CDB2E63C-A45A-8A94-FA17-6AAEDC4B1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26761037-F255-D647-4839-5C1444858940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FA57A767-1E80-CF0E-B1B7-4A0092CD9711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465BB71A-01E9-B4BB-089F-58277A69E6B7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6EC68786-95EE-7A40-9D15-FF9684285182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D2C9AAB4-B87A-1747-E6D9-A76C46AE77AF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7817801E-13F0-D46B-661A-A1B7AFDD331E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1EF72804-2795-E48A-42D5-7C54E736F65B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DD66FD41-8A55-724C-C2E9-800E12D7F61E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7D432F55-C8F8-6505-7E11-C7488DD714F5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69050756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EE47-4B31-8974-472C-F415CCA2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23E2CE-7679-A588-33AC-A126E68641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A531422-DFC5-1846-933A-F50C4D55172B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19FF2D-B214-3FF0-A3E1-ACC29DFCFFB4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2F49A4-833E-7905-E192-9DADC1B2B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740548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DE9200-FE5F-B031-F33C-ED2C3C06DD60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760890-7396-A037-DAFB-188C4D260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39269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0AD488-60E5-5805-75DD-601B32E6871F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ECC5AAE1-9D0A-1264-1BCC-3BA8E6390F2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5FDECA23-DE03-7279-642A-1BF50B05C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34502190-F082-CF8A-AED8-3778554F0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DE1D961F-1002-48EB-ECE9-C061E6D07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2B85B686-DD85-32DC-3A03-1B35E2EC0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9AD04E1B-CABA-E805-8EE6-77336233D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33E372F3-1C94-08CC-79BF-8618E0316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14" name="AutoShape 28">
              <a:extLst>
                <a:ext uri="{FF2B5EF4-FFF2-40B4-BE49-F238E27FC236}">
                  <a16:creationId xmlns:a16="http://schemas.microsoft.com/office/drawing/2014/main" id="{DFE25B22-14FD-94EF-B009-AF6CC63A4C52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29">
              <a:extLst>
                <a:ext uri="{FF2B5EF4-FFF2-40B4-BE49-F238E27FC236}">
                  <a16:creationId xmlns:a16="http://schemas.microsoft.com/office/drawing/2014/main" id="{B1CCAFF4-F224-5B91-559C-48AE27D7D1A2}"/>
                </a:ext>
              </a:extLst>
            </p:cNvPr>
            <p:cNvCxnSpPr>
              <a:cxnSpLocks noChangeShapeType="1"/>
              <a:stCxn id="8" idx="6"/>
              <a:endCxn id="1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0">
              <a:extLst>
                <a:ext uri="{FF2B5EF4-FFF2-40B4-BE49-F238E27FC236}">
                  <a16:creationId xmlns:a16="http://schemas.microsoft.com/office/drawing/2014/main" id="{BFAAD1C3-6ACA-B4E2-D87D-C27AF57D3786}"/>
                </a:ext>
              </a:extLst>
            </p:cNvPr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1">
              <a:extLst>
                <a:ext uri="{FF2B5EF4-FFF2-40B4-BE49-F238E27FC236}">
                  <a16:creationId xmlns:a16="http://schemas.microsoft.com/office/drawing/2014/main" id="{1E7B6B04-2A9B-6A30-C071-556B1AF0918D}"/>
                </a:ext>
              </a:extLst>
            </p:cNvPr>
            <p:cNvCxnSpPr>
              <a:cxnSpLocks noChangeShapeType="1"/>
              <a:stCxn id="12" idx="1"/>
              <a:endCxn id="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2">
              <a:extLst>
                <a:ext uri="{FF2B5EF4-FFF2-40B4-BE49-F238E27FC236}">
                  <a16:creationId xmlns:a16="http://schemas.microsoft.com/office/drawing/2014/main" id="{5DB7E98C-EB58-420B-3952-82334FFC3557}"/>
                </a:ext>
              </a:extLst>
            </p:cNvPr>
            <p:cNvCxnSpPr>
              <a:cxnSpLocks noChangeShapeType="1"/>
              <a:stCxn id="12" idx="2"/>
              <a:endCxn id="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3">
              <a:extLst>
                <a:ext uri="{FF2B5EF4-FFF2-40B4-BE49-F238E27FC236}">
                  <a16:creationId xmlns:a16="http://schemas.microsoft.com/office/drawing/2014/main" id="{2FC173EA-1CB6-302D-52FB-EE5403383096}"/>
                </a:ext>
              </a:extLst>
            </p:cNvPr>
            <p:cNvCxnSpPr>
              <a:cxnSpLocks noChangeShapeType="1"/>
              <a:stCxn id="12" idx="3"/>
              <a:endCxn id="1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34">
              <a:extLst>
                <a:ext uri="{FF2B5EF4-FFF2-40B4-BE49-F238E27FC236}">
                  <a16:creationId xmlns:a16="http://schemas.microsoft.com/office/drawing/2014/main" id="{0A8CA453-C0D0-9321-F32E-3BC4C3E488AD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35">
              <a:extLst>
                <a:ext uri="{FF2B5EF4-FFF2-40B4-BE49-F238E27FC236}">
                  <a16:creationId xmlns:a16="http://schemas.microsoft.com/office/drawing/2014/main" id="{47EDB660-F407-24CB-AA3C-5F2324D9BB2C}"/>
                </a:ext>
              </a:extLst>
            </p:cNvPr>
            <p:cNvCxnSpPr>
              <a:cxnSpLocks noChangeShapeType="1"/>
              <a:stCxn id="11" idx="5"/>
              <a:endCxn id="1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6">
              <a:extLst>
                <a:ext uri="{FF2B5EF4-FFF2-40B4-BE49-F238E27FC236}">
                  <a16:creationId xmlns:a16="http://schemas.microsoft.com/office/drawing/2014/main" id="{D9CCCAB8-97E6-324D-14B6-CDC68540ED87}"/>
                </a:ext>
              </a:extLst>
            </p:cNvPr>
            <p:cNvCxnSpPr>
              <a:cxnSpLocks noChangeShapeType="1"/>
              <a:stCxn id="13" idx="2"/>
              <a:endCxn id="1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6678618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5447-053C-23FC-C209-5367C7FCC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FE185B-38E1-3302-0B36-15F382C13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0442557A-1B22-DB9B-101B-C0398299027B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589A11-7591-1929-FF46-7EFBA3C942C0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07765C-56CE-585F-39D1-FC01F29A1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001220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84D9D6-B712-E718-A09D-83B6C4CBED53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3CC5E6-2506-3A68-77B5-E123A6F49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116705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247BB2-14C3-5E9E-92DD-080CA3E25DB4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E24A8FC6-C6B9-B2DF-C3A7-67C908B74A3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8A75F82C-4CA5-7128-D0A0-B26903965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C180D481-3F64-B8FD-CA58-7A5EBB69B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2EDDA62B-AB40-6D4D-D111-18DA1CC09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C66D0BD9-242B-92B4-AD20-42787BAB4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8900F08F-C92F-02DB-CAC0-B8D4B6FBF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505889C0-9CF1-30FF-D085-9C5F8D4E8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14" name="AutoShape 28">
              <a:extLst>
                <a:ext uri="{FF2B5EF4-FFF2-40B4-BE49-F238E27FC236}">
                  <a16:creationId xmlns:a16="http://schemas.microsoft.com/office/drawing/2014/main" id="{899E0266-15B7-6B00-4D8D-6E840C8F238C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29">
              <a:extLst>
                <a:ext uri="{FF2B5EF4-FFF2-40B4-BE49-F238E27FC236}">
                  <a16:creationId xmlns:a16="http://schemas.microsoft.com/office/drawing/2014/main" id="{08A7D072-DF25-77BB-778F-ECA3922BEFE7}"/>
                </a:ext>
              </a:extLst>
            </p:cNvPr>
            <p:cNvCxnSpPr>
              <a:cxnSpLocks noChangeShapeType="1"/>
              <a:stCxn id="8" idx="6"/>
              <a:endCxn id="1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0">
              <a:extLst>
                <a:ext uri="{FF2B5EF4-FFF2-40B4-BE49-F238E27FC236}">
                  <a16:creationId xmlns:a16="http://schemas.microsoft.com/office/drawing/2014/main" id="{1D1C3837-8BC8-10CB-7D49-951DF873DA58}"/>
                </a:ext>
              </a:extLst>
            </p:cNvPr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1">
              <a:extLst>
                <a:ext uri="{FF2B5EF4-FFF2-40B4-BE49-F238E27FC236}">
                  <a16:creationId xmlns:a16="http://schemas.microsoft.com/office/drawing/2014/main" id="{4D60E5F6-FD7A-BF9C-7B60-2A576F377171}"/>
                </a:ext>
              </a:extLst>
            </p:cNvPr>
            <p:cNvCxnSpPr>
              <a:cxnSpLocks noChangeShapeType="1"/>
              <a:stCxn id="12" idx="1"/>
              <a:endCxn id="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2">
              <a:extLst>
                <a:ext uri="{FF2B5EF4-FFF2-40B4-BE49-F238E27FC236}">
                  <a16:creationId xmlns:a16="http://schemas.microsoft.com/office/drawing/2014/main" id="{BFC50308-24E0-A375-1A6E-90D7CBEAD4F0}"/>
                </a:ext>
              </a:extLst>
            </p:cNvPr>
            <p:cNvCxnSpPr>
              <a:cxnSpLocks noChangeShapeType="1"/>
              <a:stCxn id="12" idx="2"/>
              <a:endCxn id="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3">
              <a:extLst>
                <a:ext uri="{FF2B5EF4-FFF2-40B4-BE49-F238E27FC236}">
                  <a16:creationId xmlns:a16="http://schemas.microsoft.com/office/drawing/2014/main" id="{F994CED8-B96D-234A-F71E-F736475BA12B}"/>
                </a:ext>
              </a:extLst>
            </p:cNvPr>
            <p:cNvCxnSpPr>
              <a:cxnSpLocks noChangeShapeType="1"/>
              <a:stCxn id="12" idx="3"/>
              <a:endCxn id="1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34">
              <a:extLst>
                <a:ext uri="{FF2B5EF4-FFF2-40B4-BE49-F238E27FC236}">
                  <a16:creationId xmlns:a16="http://schemas.microsoft.com/office/drawing/2014/main" id="{F8494B43-1924-A7FB-6995-2C320D83C848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35">
              <a:extLst>
                <a:ext uri="{FF2B5EF4-FFF2-40B4-BE49-F238E27FC236}">
                  <a16:creationId xmlns:a16="http://schemas.microsoft.com/office/drawing/2014/main" id="{B070131C-DCFD-840F-52C2-0B50A3503686}"/>
                </a:ext>
              </a:extLst>
            </p:cNvPr>
            <p:cNvCxnSpPr>
              <a:cxnSpLocks noChangeShapeType="1"/>
              <a:stCxn id="11" idx="5"/>
              <a:endCxn id="1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6">
              <a:extLst>
                <a:ext uri="{FF2B5EF4-FFF2-40B4-BE49-F238E27FC236}">
                  <a16:creationId xmlns:a16="http://schemas.microsoft.com/office/drawing/2014/main" id="{E211E3B0-1D2B-F715-E753-8C5F73AC8CF6}"/>
                </a:ext>
              </a:extLst>
            </p:cNvPr>
            <p:cNvCxnSpPr>
              <a:cxnSpLocks noChangeShapeType="1"/>
              <a:stCxn id="13" idx="2"/>
              <a:endCxn id="1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5169339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F5B2-8C5B-2F4A-7BA2-69601AB48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855FB5-BCDA-3F46-8BC3-FE677A9B82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8E99192C-4420-4FE1-6686-659A0B74328F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21794C-27EF-7369-FD58-2054C70B96AE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E7E62F-168D-26D8-9439-F4A8975A2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550152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C4EE6E-6E14-1158-A7EE-CF619FDB6292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ABE98B-3667-A088-A4F1-3FC65BFA5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13490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054E45-7E2C-AE0B-C890-2A195ADF939C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51" name="Group 17">
            <a:extLst>
              <a:ext uri="{FF2B5EF4-FFF2-40B4-BE49-F238E27FC236}">
                <a16:creationId xmlns:a16="http://schemas.microsoft.com/office/drawing/2014/main" id="{08FF4A62-4209-D2DF-B881-49B8FDD4DD3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52" name="Oval 18">
              <a:extLst>
                <a:ext uri="{FF2B5EF4-FFF2-40B4-BE49-F238E27FC236}">
                  <a16:creationId xmlns:a16="http://schemas.microsoft.com/office/drawing/2014/main" id="{7B5AA853-C5CB-CBAF-42C6-BE12A4988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53" name="Oval 19">
              <a:extLst>
                <a:ext uri="{FF2B5EF4-FFF2-40B4-BE49-F238E27FC236}">
                  <a16:creationId xmlns:a16="http://schemas.microsoft.com/office/drawing/2014/main" id="{D1C6ED38-C675-AF32-B386-76E277B93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54" name="Oval 20">
              <a:extLst>
                <a:ext uri="{FF2B5EF4-FFF2-40B4-BE49-F238E27FC236}">
                  <a16:creationId xmlns:a16="http://schemas.microsoft.com/office/drawing/2014/main" id="{77A21ACB-96DF-BBB4-1837-A258B0640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1083C3F2-E36F-0C5A-12DA-070B559F0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6" name="Oval 22">
              <a:extLst>
                <a:ext uri="{FF2B5EF4-FFF2-40B4-BE49-F238E27FC236}">
                  <a16:creationId xmlns:a16="http://schemas.microsoft.com/office/drawing/2014/main" id="{501A8C1A-B30D-69AC-1251-D6F40A5FE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7" name="Oval 23">
              <a:extLst>
                <a:ext uri="{FF2B5EF4-FFF2-40B4-BE49-F238E27FC236}">
                  <a16:creationId xmlns:a16="http://schemas.microsoft.com/office/drawing/2014/main" id="{075F4EAE-1E3A-E9B9-CAF8-6CC822B2B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8" name="AutoShape 28">
              <a:extLst>
                <a:ext uri="{FF2B5EF4-FFF2-40B4-BE49-F238E27FC236}">
                  <a16:creationId xmlns:a16="http://schemas.microsoft.com/office/drawing/2014/main" id="{92DB687F-E65A-4CD5-7276-57329043944F}"/>
                </a:ext>
              </a:extLst>
            </p:cNvPr>
            <p:cNvCxnSpPr>
              <a:cxnSpLocks noChangeShapeType="1"/>
              <a:stCxn id="52" idx="4"/>
              <a:endCxn id="53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29">
              <a:extLst>
                <a:ext uri="{FF2B5EF4-FFF2-40B4-BE49-F238E27FC236}">
                  <a16:creationId xmlns:a16="http://schemas.microsoft.com/office/drawing/2014/main" id="{C74D05CD-5916-F996-260C-7CE3E59E3D7B}"/>
                </a:ext>
              </a:extLst>
            </p:cNvPr>
            <p:cNvCxnSpPr>
              <a:cxnSpLocks noChangeShapeType="1"/>
              <a:stCxn id="52" idx="6"/>
              <a:endCxn id="55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0">
              <a:extLst>
                <a:ext uri="{FF2B5EF4-FFF2-40B4-BE49-F238E27FC236}">
                  <a16:creationId xmlns:a16="http://schemas.microsoft.com/office/drawing/2014/main" id="{EA3E54B2-8E23-59F0-C077-65D372E89E98}"/>
                </a:ext>
              </a:extLst>
            </p:cNvPr>
            <p:cNvCxnSpPr>
              <a:cxnSpLocks noChangeShapeType="1"/>
              <a:stCxn id="55" idx="4"/>
              <a:endCxn id="56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1">
              <a:extLst>
                <a:ext uri="{FF2B5EF4-FFF2-40B4-BE49-F238E27FC236}">
                  <a16:creationId xmlns:a16="http://schemas.microsoft.com/office/drawing/2014/main" id="{56D07C81-A90D-963D-5CC4-FB13DB345464}"/>
                </a:ext>
              </a:extLst>
            </p:cNvPr>
            <p:cNvCxnSpPr>
              <a:cxnSpLocks noChangeShapeType="1"/>
              <a:stCxn id="56" idx="1"/>
              <a:endCxn id="52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32">
              <a:extLst>
                <a:ext uri="{FF2B5EF4-FFF2-40B4-BE49-F238E27FC236}">
                  <a16:creationId xmlns:a16="http://schemas.microsoft.com/office/drawing/2014/main" id="{E6C33C6D-089B-295F-92C8-0DDE2E0A9927}"/>
                </a:ext>
              </a:extLst>
            </p:cNvPr>
            <p:cNvCxnSpPr>
              <a:cxnSpLocks noChangeShapeType="1"/>
              <a:stCxn id="56" idx="2"/>
              <a:endCxn id="53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33">
              <a:extLst>
                <a:ext uri="{FF2B5EF4-FFF2-40B4-BE49-F238E27FC236}">
                  <a16:creationId xmlns:a16="http://schemas.microsoft.com/office/drawing/2014/main" id="{6D92EBA1-A777-2CE0-5EEA-58CCDC0863CF}"/>
                </a:ext>
              </a:extLst>
            </p:cNvPr>
            <p:cNvCxnSpPr>
              <a:cxnSpLocks noChangeShapeType="1"/>
              <a:stCxn id="56" idx="3"/>
              <a:endCxn id="54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34">
              <a:extLst>
                <a:ext uri="{FF2B5EF4-FFF2-40B4-BE49-F238E27FC236}">
                  <a16:creationId xmlns:a16="http://schemas.microsoft.com/office/drawing/2014/main" id="{538BAAE2-3980-3C87-5F4A-EFA05D9AE558}"/>
                </a:ext>
              </a:extLst>
            </p:cNvPr>
            <p:cNvCxnSpPr>
              <a:cxnSpLocks noChangeShapeType="1"/>
              <a:stCxn id="53" idx="4"/>
              <a:endCxn id="54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35">
              <a:extLst>
                <a:ext uri="{FF2B5EF4-FFF2-40B4-BE49-F238E27FC236}">
                  <a16:creationId xmlns:a16="http://schemas.microsoft.com/office/drawing/2014/main" id="{8787675C-A487-A65C-C032-B1FA50E70543}"/>
                </a:ext>
              </a:extLst>
            </p:cNvPr>
            <p:cNvCxnSpPr>
              <a:cxnSpLocks noChangeShapeType="1"/>
              <a:stCxn id="55" idx="5"/>
              <a:endCxn id="57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36">
              <a:extLst>
                <a:ext uri="{FF2B5EF4-FFF2-40B4-BE49-F238E27FC236}">
                  <a16:creationId xmlns:a16="http://schemas.microsoft.com/office/drawing/2014/main" id="{76F6C08C-6649-9CED-1551-C0902803655C}"/>
                </a:ext>
              </a:extLst>
            </p:cNvPr>
            <p:cNvCxnSpPr>
              <a:cxnSpLocks noChangeShapeType="1"/>
              <a:stCxn id="57" idx="2"/>
              <a:endCxn id="56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CAE8267-62CE-A774-9649-493B844C8D73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a and add b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5126519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5AFB-DEA2-B32E-8BBB-1759678C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1A9D61-36EC-298B-B12B-1C6C2DA951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D219FCAB-8081-3947-7391-A8AEEF1D573E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93EFDC-F6DD-5FE5-84F3-02D24CA0A165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606DAC-85C6-DF04-91F9-7E0C5A414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159179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DB866E-36C4-54FE-0C5C-4595BBB780DD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C980D8-7448-FAF4-5E83-AF40E92DE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884927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8ADF30-CA56-CE60-C72D-2D9766318FAA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839A98F1-5E30-C2B8-945A-ED45F8301872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6C64E55C-6981-38FC-09E3-9958E64B5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75FF86E7-3EBE-1CE1-639E-2EB4EDFDD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4F8B1973-A8AA-C0FE-65B2-D53A7FFB7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DFEA2C9E-7686-5835-7C38-FC8E5BF2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D2226EB6-8AF0-48F3-FC02-F53D109E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8D7BC02B-232E-D008-8087-AF45100C8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14" name="AutoShape 28">
              <a:extLst>
                <a:ext uri="{FF2B5EF4-FFF2-40B4-BE49-F238E27FC236}">
                  <a16:creationId xmlns:a16="http://schemas.microsoft.com/office/drawing/2014/main" id="{732E3303-ED89-DEAA-4380-6A314DBA8BF7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29">
              <a:extLst>
                <a:ext uri="{FF2B5EF4-FFF2-40B4-BE49-F238E27FC236}">
                  <a16:creationId xmlns:a16="http://schemas.microsoft.com/office/drawing/2014/main" id="{C26697F6-D4D4-B012-2F2E-7A7F2651619B}"/>
                </a:ext>
              </a:extLst>
            </p:cNvPr>
            <p:cNvCxnSpPr>
              <a:cxnSpLocks noChangeShapeType="1"/>
              <a:stCxn id="8" idx="6"/>
              <a:endCxn id="1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0">
              <a:extLst>
                <a:ext uri="{FF2B5EF4-FFF2-40B4-BE49-F238E27FC236}">
                  <a16:creationId xmlns:a16="http://schemas.microsoft.com/office/drawing/2014/main" id="{B5B2D6DC-72C8-A84B-DD87-00A272E857B6}"/>
                </a:ext>
              </a:extLst>
            </p:cNvPr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1">
              <a:extLst>
                <a:ext uri="{FF2B5EF4-FFF2-40B4-BE49-F238E27FC236}">
                  <a16:creationId xmlns:a16="http://schemas.microsoft.com/office/drawing/2014/main" id="{08E8AEE6-D4C0-20BA-47F4-6C320C299E5F}"/>
                </a:ext>
              </a:extLst>
            </p:cNvPr>
            <p:cNvCxnSpPr>
              <a:cxnSpLocks noChangeShapeType="1"/>
              <a:stCxn id="12" idx="1"/>
              <a:endCxn id="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2">
              <a:extLst>
                <a:ext uri="{FF2B5EF4-FFF2-40B4-BE49-F238E27FC236}">
                  <a16:creationId xmlns:a16="http://schemas.microsoft.com/office/drawing/2014/main" id="{2DC22424-BFC9-AB73-8618-6D7C399012D9}"/>
                </a:ext>
              </a:extLst>
            </p:cNvPr>
            <p:cNvCxnSpPr>
              <a:cxnSpLocks noChangeShapeType="1"/>
              <a:stCxn id="12" idx="2"/>
              <a:endCxn id="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3">
              <a:extLst>
                <a:ext uri="{FF2B5EF4-FFF2-40B4-BE49-F238E27FC236}">
                  <a16:creationId xmlns:a16="http://schemas.microsoft.com/office/drawing/2014/main" id="{D480CB70-D4FE-4AA7-95B6-3E7DA822AD86}"/>
                </a:ext>
              </a:extLst>
            </p:cNvPr>
            <p:cNvCxnSpPr>
              <a:cxnSpLocks noChangeShapeType="1"/>
              <a:stCxn id="12" idx="3"/>
              <a:endCxn id="1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34">
              <a:extLst>
                <a:ext uri="{FF2B5EF4-FFF2-40B4-BE49-F238E27FC236}">
                  <a16:creationId xmlns:a16="http://schemas.microsoft.com/office/drawing/2014/main" id="{37515EBB-A0F1-8A71-88B8-530127C22020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35">
              <a:extLst>
                <a:ext uri="{FF2B5EF4-FFF2-40B4-BE49-F238E27FC236}">
                  <a16:creationId xmlns:a16="http://schemas.microsoft.com/office/drawing/2014/main" id="{1384C90D-CF10-3587-9966-65BEF441D288}"/>
                </a:ext>
              </a:extLst>
            </p:cNvPr>
            <p:cNvCxnSpPr>
              <a:cxnSpLocks noChangeShapeType="1"/>
              <a:stCxn id="11" idx="5"/>
              <a:endCxn id="1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6">
              <a:extLst>
                <a:ext uri="{FF2B5EF4-FFF2-40B4-BE49-F238E27FC236}">
                  <a16:creationId xmlns:a16="http://schemas.microsoft.com/office/drawing/2014/main" id="{BC79B545-9B62-A630-3DA4-4EB696553C16}"/>
                </a:ext>
              </a:extLst>
            </p:cNvPr>
            <p:cNvCxnSpPr>
              <a:cxnSpLocks noChangeShapeType="1"/>
              <a:stCxn id="13" idx="2"/>
              <a:endCxn id="1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628A7EF-1312-27A3-652F-D3B1406CFDE9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7056620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4ACC-D876-9966-AD66-C9091985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A343EB-75B1-C0C6-F3E2-1778321C5E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344F0213-BD1A-01D0-C0A6-99150C7D3A43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F0D979-C748-E1CE-9C7C-5AA0BE43BCE6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B3CCAD-E820-5708-8368-B4C39D32D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671775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C73C9E-390C-29FC-9666-55E22B471344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C292CD-85EF-6A20-C265-D94B45DCA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411952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00BDE3-1080-E15B-A4EC-0BE05BB81120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C56173BB-57EA-6A82-E695-FA3DE2D2D8FD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02E17771-4333-ECE2-C3CC-61561196D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009DF1A-BA82-58C5-406E-5B5BB994B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0CC73349-1055-82D0-3612-5C0CCD0F3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22CE14A1-E0EE-6992-E6AF-8A93C61D6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F7BCD8F4-A346-881A-317E-0BBEA64C2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E1B42948-8B4C-3371-077F-CA9795B30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14" name="AutoShape 28">
              <a:extLst>
                <a:ext uri="{FF2B5EF4-FFF2-40B4-BE49-F238E27FC236}">
                  <a16:creationId xmlns:a16="http://schemas.microsoft.com/office/drawing/2014/main" id="{BEFC18D5-6294-201E-C938-7E459D31CFD6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29">
              <a:extLst>
                <a:ext uri="{FF2B5EF4-FFF2-40B4-BE49-F238E27FC236}">
                  <a16:creationId xmlns:a16="http://schemas.microsoft.com/office/drawing/2014/main" id="{88E93B85-0A63-DAA3-29BD-ABEBEC1CB2EA}"/>
                </a:ext>
              </a:extLst>
            </p:cNvPr>
            <p:cNvCxnSpPr>
              <a:cxnSpLocks noChangeShapeType="1"/>
              <a:stCxn id="8" idx="6"/>
              <a:endCxn id="1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0">
              <a:extLst>
                <a:ext uri="{FF2B5EF4-FFF2-40B4-BE49-F238E27FC236}">
                  <a16:creationId xmlns:a16="http://schemas.microsoft.com/office/drawing/2014/main" id="{7B135AFE-779F-A0BA-4AD6-E49A62A70B47}"/>
                </a:ext>
              </a:extLst>
            </p:cNvPr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1">
              <a:extLst>
                <a:ext uri="{FF2B5EF4-FFF2-40B4-BE49-F238E27FC236}">
                  <a16:creationId xmlns:a16="http://schemas.microsoft.com/office/drawing/2014/main" id="{DAB9AF3B-EBC3-502D-C2FA-5B768FB9F3C6}"/>
                </a:ext>
              </a:extLst>
            </p:cNvPr>
            <p:cNvCxnSpPr>
              <a:cxnSpLocks noChangeShapeType="1"/>
              <a:stCxn id="12" idx="1"/>
              <a:endCxn id="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2">
              <a:extLst>
                <a:ext uri="{FF2B5EF4-FFF2-40B4-BE49-F238E27FC236}">
                  <a16:creationId xmlns:a16="http://schemas.microsoft.com/office/drawing/2014/main" id="{42A717DD-4A9D-02C8-409A-5F996FC0C2FF}"/>
                </a:ext>
              </a:extLst>
            </p:cNvPr>
            <p:cNvCxnSpPr>
              <a:cxnSpLocks noChangeShapeType="1"/>
              <a:stCxn id="12" idx="2"/>
              <a:endCxn id="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3">
              <a:extLst>
                <a:ext uri="{FF2B5EF4-FFF2-40B4-BE49-F238E27FC236}">
                  <a16:creationId xmlns:a16="http://schemas.microsoft.com/office/drawing/2014/main" id="{A6B2441D-E496-D5E4-9F9D-F7DE8B8E6771}"/>
                </a:ext>
              </a:extLst>
            </p:cNvPr>
            <p:cNvCxnSpPr>
              <a:cxnSpLocks noChangeShapeType="1"/>
              <a:stCxn id="12" idx="3"/>
              <a:endCxn id="1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34">
              <a:extLst>
                <a:ext uri="{FF2B5EF4-FFF2-40B4-BE49-F238E27FC236}">
                  <a16:creationId xmlns:a16="http://schemas.microsoft.com/office/drawing/2014/main" id="{4509A796-76FA-C77B-BEA8-5ECAE7AA22DD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35">
              <a:extLst>
                <a:ext uri="{FF2B5EF4-FFF2-40B4-BE49-F238E27FC236}">
                  <a16:creationId xmlns:a16="http://schemas.microsoft.com/office/drawing/2014/main" id="{0769BA7C-1764-996C-978D-3FB9B575C43B}"/>
                </a:ext>
              </a:extLst>
            </p:cNvPr>
            <p:cNvCxnSpPr>
              <a:cxnSpLocks noChangeShapeType="1"/>
              <a:stCxn id="11" idx="5"/>
              <a:endCxn id="1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6">
              <a:extLst>
                <a:ext uri="{FF2B5EF4-FFF2-40B4-BE49-F238E27FC236}">
                  <a16:creationId xmlns:a16="http://schemas.microsoft.com/office/drawing/2014/main" id="{A7C2BB42-73F5-A017-EDD2-0C2633484ED9}"/>
                </a:ext>
              </a:extLst>
            </p:cNvPr>
            <p:cNvCxnSpPr>
              <a:cxnSpLocks noChangeShapeType="1"/>
              <a:stCxn id="13" idx="2"/>
              <a:endCxn id="1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BF8BAB2-6619-DD69-EE94-9972E1E5A772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b and add c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2904434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0919-A302-B7A0-A7CE-860286EC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F23D86-D79D-2B52-7D28-4D7182883B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0C4DECD5-7B3D-B521-14E7-B157781FAB68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99D43C-8DA4-0CD6-D134-B15B7D742704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6DF6E3-852B-55A9-161C-3883D8B2B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98317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E17A93-4283-6E1D-3FAC-71D724E49080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416090-2B99-76B0-9D9D-AEDA047B3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638128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EC6AF1-12F2-B688-ECFF-A61541E44FA3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FC05E31B-2D06-3CCC-B9D8-E40661E1940F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60662BD5-86DB-7072-A74B-34968F037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3DDDF955-5196-3392-09EC-8B6485C34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2B76ECB6-45A0-4DE6-6891-0B368A07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F5C20EA0-2931-1092-10BA-28D21910F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AAF852D1-0FA3-366E-F754-408A04034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C1630083-6AF5-0CB2-CF5C-ABC83F2A1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14" name="AutoShape 28">
              <a:extLst>
                <a:ext uri="{FF2B5EF4-FFF2-40B4-BE49-F238E27FC236}">
                  <a16:creationId xmlns:a16="http://schemas.microsoft.com/office/drawing/2014/main" id="{0A61DCAE-B5CF-6609-55DE-DFB0FE9CC674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29">
              <a:extLst>
                <a:ext uri="{FF2B5EF4-FFF2-40B4-BE49-F238E27FC236}">
                  <a16:creationId xmlns:a16="http://schemas.microsoft.com/office/drawing/2014/main" id="{FBACD4CE-1740-C9F2-3374-E885E4F5390A}"/>
                </a:ext>
              </a:extLst>
            </p:cNvPr>
            <p:cNvCxnSpPr>
              <a:cxnSpLocks noChangeShapeType="1"/>
              <a:stCxn id="8" idx="6"/>
              <a:endCxn id="1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0">
              <a:extLst>
                <a:ext uri="{FF2B5EF4-FFF2-40B4-BE49-F238E27FC236}">
                  <a16:creationId xmlns:a16="http://schemas.microsoft.com/office/drawing/2014/main" id="{44CA3CB6-55E1-5B54-9488-C31902A1E8AF}"/>
                </a:ext>
              </a:extLst>
            </p:cNvPr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1">
              <a:extLst>
                <a:ext uri="{FF2B5EF4-FFF2-40B4-BE49-F238E27FC236}">
                  <a16:creationId xmlns:a16="http://schemas.microsoft.com/office/drawing/2014/main" id="{742CF6D7-48F3-384F-9A0C-EFED4991C024}"/>
                </a:ext>
              </a:extLst>
            </p:cNvPr>
            <p:cNvCxnSpPr>
              <a:cxnSpLocks noChangeShapeType="1"/>
              <a:stCxn id="12" idx="1"/>
              <a:endCxn id="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2">
              <a:extLst>
                <a:ext uri="{FF2B5EF4-FFF2-40B4-BE49-F238E27FC236}">
                  <a16:creationId xmlns:a16="http://schemas.microsoft.com/office/drawing/2014/main" id="{67DD3A79-7634-FE3D-7608-63681D9FE00B}"/>
                </a:ext>
              </a:extLst>
            </p:cNvPr>
            <p:cNvCxnSpPr>
              <a:cxnSpLocks noChangeShapeType="1"/>
              <a:stCxn id="12" idx="2"/>
              <a:endCxn id="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3">
              <a:extLst>
                <a:ext uri="{FF2B5EF4-FFF2-40B4-BE49-F238E27FC236}">
                  <a16:creationId xmlns:a16="http://schemas.microsoft.com/office/drawing/2014/main" id="{27D4F2B9-383E-7AB3-BC3F-0167C0069325}"/>
                </a:ext>
              </a:extLst>
            </p:cNvPr>
            <p:cNvCxnSpPr>
              <a:cxnSpLocks noChangeShapeType="1"/>
              <a:stCxn id="12" idx="3"/>
              <a:endCxn id="1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34">
              <a:extLst>
                <a:ext uri="{FF2B5EF4-FFF2-40B4-BE49-F238E27FC236}">
                  <a16:creationId xmlns:a16="http://schemas.microsoft.com/office/drawing/2014/main" id="{1C029822-50F2-2DB8-4C72-21CCFCA91134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35">
              <a:extLst>
                <a:ext uri="{FF2B5EF4-FFF2-40B4-BE49-F238E27FC236}">
                  <a16:creationId xmlns:a16="http://schemas.microsoft.com/office/drawing/2014/main" id="{7EFF1E97-5286-AA2E-45D9-F806449E5C4F}"/>
                </a:ext>
              </a:extLst>
            </p:cNvPr>
            <p:cNvCxnSpPr>
              <a:cxnSpLocks noChangeShapeType="1"/>
              <a:stCxn id="11" idx="5"/>
              <a:endCxn id="1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6">
              <a:extLst>
                <a:ext uri="{FF2B5EF4-FFF2-40B4-BE49-F238E27FC236}">
                  <a16:creationId xmlns:a16="http://schemas.microsoft.com/office/drawing/2014/main" id="{DFEB8A54-A0AA-8778-90AC-04ACF3928911}"/>
                </a:ext>
              </a:extLst>
            </p:cNvPr>
            <p:cNvCxnSpPr>
              <a:cxnSpLocks noChangeShapeType="1"/>
              <a:stCxn id="13" idx="2"/>
              <a:endCxn id="1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F1BEBB4-7698-E734-37DD-43BCFD425E0F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f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5175159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154C-D800-E2FC-6CE5-435AC796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0CF67-C45B-EEA2-B9A8-5E431F23C0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4842CEA0-665C-8810-1139-FC421A99DA43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B9C6C9-9BE8-1771-142A-3DDCCB72FABB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3C0D54-BA01-4F66-3412-F08B586B3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75226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8BCE178-EE48-9AE5-4EB0-C93AE62A8515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9B003E-DD43-0DCA-B8D2-EED82AC71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35907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8F2CD5-CD13-55AE-4B30-B53515F22B9C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53D2E84D-ECC5-FF14-2279-881B87FF5446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0B6984CD-6E34-8047-2880-08EDD0F5F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616A0D41-BBC8-8907-BDC9-68398E3C9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C4A67ACF-799D-13D4-52A5-31D93301D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C15544D8-08F4-A3C6-8679-71F79AAF2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0C6D1C2D-2477-D770-8319-AC828A0DA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D5F4048F-D83D-A003-1EE9-3E99498ED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14" name="AutoShape 28">
              <a:extLst>
                <a:ext uri="{FF2B5EF4-FFF2-40B4-BE49-F238E27FC236}">
                  <a16:creationId xmlns:a16="http://schemas.microsoft.com/office/drawing/2014/main" id="{56A20225-648A-933D-6019-0D01D0C5C81E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29">
              <a:extLst>
                <a:ext uri="{FF2B5EF4-FFF2-40B4-BE49-F238E27FC236}">
                  <a16:creationId xmlns:a16="http://schemas.microsoft.com/office/drawing/2014/main" id="{2CA1E04D-E11B-A189-FE8E-78761E8BF08E}"/>
                </a:ext>
              </a:extLst>
            </p:cNvPr>
            <p:cNvCxnSpPr>
              <a:cxnSpLocks noChangeShapeType="1"/>
              <a:stCxn id="8" idx="6"/>
              <a:endCxn id="11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0">
              <a:extLst>
                <a:ext uri="{FF2B5EF4-FFF2-40B4-BE49-F238E27FC236}">
                  <a16:creationId xmlns:a16="http://schemas.microsoft.com/office/drawing/2014/main" id="{7B71F78C-6BD9-E0F5-ADDF-F59BDEA186E2}"/>
                </a:ext>
              </a:extLst>
            </p:cNvPr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1">
              <a:extLst>
                <a:ext uri="{FF2B5EF4-FFF2-40B4-BE49-F238E27FC236}">
                  <a16:creationId xmlns:a16="http://schemas.microsoft.com/office/drawing/2014/main" id="{C69DB3F5-4002-3019-B99E-B087BF28C883}"/>
                </a:ext>
              </a:extLst>
            </p:cNvPr>
            <p:cNvCxnSpPr>
              <a:cxnSpLocks noChangeShapeType="1"/>
              <a:stCxn id="12" idx="1"/>
              <a:endCxn id="8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2">
              <a:extLst>
                <a:ext uri="{FF2B5EF4-FFF2-40B4-BE49-F238E27FC236}">
                  <a16:creationId xmlns:a16="http://schemas.microsoft.com/office/drawing/2014/main" id="{EF2E471F-A0CB-F692-2FAD-8F3971736563}"/>
                </a:ext>
              </a:extLst>
            </p:cNvPr>
            <p:cNvCxnSpPr>
              <a:cxnSpLocks noChangeShapeType="1"/>
              <a:stCxn id="12" idx="2"/>
              <a:endCxn id="9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3">
              <a:extLst>
                <a:ext uri="{FF2B5EF4-FFF2-40B4-BE49-F238E27FC236}">
                  <a16:creationId xmlns:a16="http://schemas.microsoft.com/office/drawing/2014/main" id="{5B9EB129-985E-9C03-3646-A15151FE0425}"/>
                </a:ext>
              </a:extLst>
            </p:cNvPr>
            <p:cNvCxnSpPr>
              <a:cxnSpLocks noChangeShapeType="1"/>
              <a:stCxn id="12" idx="3"/>
              <a:endCxn id="10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34">
              <a:extLst>
                <a:ext uri="{FF2B5EF4-FFF2-40B4-BE49-F238E27FC236}">
                  <a16:creationId xmlns:a16="http://schemas.microsoft.com/office/drawing/2014/main" id="{600AA349-69E3-BC85-E554-9C2FB5657BD7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35">
              <a:extLst>
                <a:ext uri="{FF2B5EF4-FFF2-40B4-BE49-F238E27FC236}">
                  <a16:creationId xmlns:a16="http://schemas.microsoft.com/office/drawing/2014/main" id="{6747286F-7EF4-F6E4-0672-1226C91BD948}"/>
                </a:ext>
              </a:extLst>
            </p:cNvPr>
            <p:cNvCxnSpPr>
              <a:cxnSpLocks noChangeShapeType="1"/>
              <a:stCxn id="11" idx="5"/>
              <a:endCxn id="13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6">
              <a:extLst>
                <a:ext uri="{FF2B5EF4-FFF2-40B4-BE49-F238E27FC236}">
                  <a16:creationId xmlns:a16="http://schemas.microsoft.com/office/drawing/2014/main" id="{57A041FF-1333-7A4D-FD3C-1928CCBD3F3D}"/>
                </a:ext>
              </a:extLst>
            </p:cNvPr>
            <p:cNvCxnSpPr>
              <a:cxnSpLocks noChangeShapeType="1"/>
              <a:stCxn id="13" idx="2"/>
              <a:endCxn id="12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B02BC5D-8CC8-2092-00CB-C63C0A325CDC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180008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6815-4705-AD56-A9C9-807D402B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B17B84-A795-0A3A-846A-5773FECB79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D213AA9B-9D3D-4EF9-1642-B2D86467B5E9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Let’s visit the graph from node a</a:t>
            </a:r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16" name="Group 17">
            <a:extLst>
              <a:ext uri="{FF2B5EF4-FFF2-40B4-BE49-F238E27FC236}">
                <a16:creationId xmlns:a16="http://schemas.microsoft.com/office/drawing/2014/main" id="{22909C0C-7CE7-1AC2-8610-FDA549D6F3D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</p:grpSpPr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A9D5A6A7-0A1B-7117-5450-FFDC0EBD5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98E55236-3384-F81E-D3D7-46D43C9B5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72113B64-8479-1E85-6DE8-816D9B17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4399784C-E096-F1C3-DA2A-A9701DAA6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62CE1114-64C6-AEC8-19C8-6D8FFC5C2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0DD5F0D4-E68F-F3BD-BF14-B1E4AD1AA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27" name="AutoShape 28">
              <a:extLst>
                <a:ext uri="{FF2B5EF4-FFF2-40B4-BE49-F238E27FC236}">
                  <a16:creationId xmlns:a16="http://schemas.microsoft.com/office/drawing/2014/main" id="{ECC5F965-DA32-9555-86F2-C783AC81C378}"/>
                </a:ext>
              </a:extLst>
            </p:cNvPr>
            <p:cNvCxnSpPr>
              <a:cxnSpLocks noChangeShapeType="1"/>
              <a:stCxn id="17" idx="4"/>
              <a:endCxn id="1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29">
              <a:extLst>
                <a:ext uri="{FF2B5EF4-FFF2-40B4-BE49-F238E27FC236}">
                  <a16:creationId xmlns:a16="http://schemas.microsoft.com/office/drawing/2014/main" id="{8D3731CF-78FE-3E2C-1CAD-7340D1F906DF}"/>
                </a:ext>
              </a:extLst>
            </p:cNvPr>
            <p:cNvCxnSpPr>
              <a:cxnSpLocks noChangeShapeType="1"/>
              <a:stCxn id="17" idx="6"/>
              <a:endCxn id="2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30">
              <a:extLst>
                <a:ext uri="{FF2B5EF4-FFF2-40B4-BE49-F238E27FC236}">
                  <a16:creationId xmlns:a16="http://schemas.microsoft.com/office/drawing/2014/main" id="{AEFC5F13-DC6B-90FB-6C95-5615A26D4342}"/>
                </a:ext>
              </a:extLst>
            </p:cNvPr>
            <p:cNvCxnSpPr>
              <a:cxnSpLocks noChangeShapeType="1"/>
              <a:stCxn id="20" idx="4"/>
              <a:endCxn id="2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31">
              <a:extLst>
                <a:ext uri="{FF2B5EF4-FFF2-40B4-BE49-F238E27FC236}">
                  <a16:creationId xmlns:a16="http://schemas.microsoft.com/office/drawing/2014/main" id="{10F1F976-3CAE-D737-90CF-948B8B3FA2BC}"/>
                </a:ext>
              </a:extLst>
            </p:cNvPr>
            <p:cNvCxnSpPr>
              <a:cxnSpLocks noChangeShapeType="1"/>
              <a:stCxn id="21" idx="1"/>
              <a:endCxn id="1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32">
              <a:extLst>
                <a:ext uri="{FF2B5EF4-FFF2-40B4-BE49-F238E27FC236}">
                  <a16:creationId xmlns:a16="http://schemas.microsoft.com/office/drawing/2014/main" id="{4D7FEC00-1B30-FD85-B6F4-19D9F651C48B}"/>
                </a:ext>
              </a:extLst>
            </p:cNvPr>
            <p:cNvCxnSpPr>
              <a:cxnSpLocks noChangeShapeType="1"/>
              <a:stCxn id="21" idx="2"/>
              <a:endCxn id="1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33">
              <a:extLst>
                <a:ext uri="{FF2B5EF4-FFF2-40B4-BE49-F238E27FC236}">
                  <a16:creationId xmlns:a16="http://schemas.microsoft.com/office/drawing/2014/main" id="{B41B5B19-A1A8-F309-FAE3-093EAB5530F1}"/>
                </a:ext>
              </a:extLst>
            </p:cNvPr>
            <p:cNvCxnSpPr>
              <a:cxnSpLocks noChangeShapeType="1"/>
              <a:stCxn id="21" idx="3"/>
              <a:endCxn id="1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4">
              <a:extLst>
                <a:ext uri="{FF2B5EF4-FFF2-40B4-BE49-F238E27FC236}">
                  <a16:creationId xmlns:a16="http://schemas.microsoft.com/office/drawing/2014/main" id="{3AEA8C4C-4F2B-9556-EA06-E503559FFC69}"/>
                </a:ext>
              </a:extLst>
            </p:cNvPr>
            <p:cNvCxnSpPr>
              <a:cxnSpLocks noChangeShapeType="1"/>
              <a:stCxn id="18" idx="4"/>
              <a:endCxn id="1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35">
              <a:extLst>
                <a:ext uri="{FF2B5EF4-FFF2-40B4-BE49-F238E27FC236}">
                  <a16:creationId xmlns:a16="http://schemas.microsoft.com/office/drawing/2014/main" id="{C3FAA7F8-D99B-9A82-09CD-1C6E9C6069E1}"/>
                </a:ext>
              </a:extLst>
            </p:cNvPr>
            <p:cNvCxnSpPr>
              <a:cxnSpLocks noChangeShapeType="1"/>
              <a:stCxn id="20" idx="5"/>
              <a:endCxn id="2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36">
              <a:extLst>
                <a:ext uri="{FF2B5EF4-FFF2-40B4-BE49-F238E27FC236}">
                  <a16:creationId xmlns:a16="http://schemas.microsoft.com/office/drawing/2014/main" id="{461F7EA0-89E4-D2DB-16E7-68BF535B2205}"/>
                </a:ext>
              </a:extLst>
            </p:cNvPr>
            <p:cNvCxnSpPr>
              <a:cxnSpLocks noChangeShapeType="1"/>
              <a:stCxn id="22" idx="2"/>
              <a:endCxn id="2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073486F-BD81-CEB9-3324-6D06ADA74624}"/>
              </a:ext>
            </a:extLst>
          </p:cNvPr>
          <p:cNvSpPr txBox="1"/>
          <p:nvPr/>
        </p:nvSpPr>
        <p:spPr>
          <a:xfrm>
            <a:off x="813196" y="1772775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E" b="1" dirty="0"/>
              <a:t>BFS</a:t>
            </a:r>
            <a:r>
              <a:rPr lang="en-IE" dirty="0"/>
              <a:t>(graph, start):</a:t>
            </a:r>
          </a:p>
          <a:p>
            <a:r>
              <a:rPr lang="en-IE" dirty="0"/>
              <a:t>    create a queue Q</a:t>
            </a:r>
          </a:p>
          <a:p>
            <a:r>
              <a:rPr lang="en-IE" dirty="0"/>
              <a:t>    mark start as visited</a:t>
            </a:r>
          </a:p>
          <a:p>
            <a:r>
              <a:rPr lang="en-IE" dirty="0"/>
              <a:t>    enqueue start into Q</a:t>
            </a:r>
          </a:p>
          <a:p>
            <a:endParaRPr lang="en-IE" dirty="0"/>
          </a:p>
          <a:p>
            <a:r>
              <a:rPr lang="en-IE" dirty="0"/>
              <a:t>    while Q is not empty:</a:t>
            </a:r>
          </a:p>
          <a:p>
            <a:r>
              <a:rPr lang="en-IE" dirty="0"/>
              <a:t>        v = dequeue Q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for each </a:t>
            </a:r>
            <a:r>
              <a:rPr lang="en-IE" dirty="0" err="1"/>
              <a:t>neighbor</a:t>
            </a:r>
            <a:r>
              <a:rPr lang="en-IE" dirty="0"/>
              <a:t> u of v:</a:t>
            </a:r>
          </a:p>
          <a:p>
            <a:r>
              <a:rPr lang="en-IE" dirty="0"/>
              <a:t>            if u is not visited:</a:t>
            </a:r>
          </a:p>
          <a:p>
            <a:r>
              <a:rPr lang="en-IE" dirty="0"/>
              <a:t>                mark u as visited</a:t>
            </a:r>
          </a:p>
          <a:p>
            <a:r>
              <a:rPr lang="en-IE" dirty="0"/>
              <a:t>                enqueue 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AC5EE9-5947-51BF-2FEB-62B6B797B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049150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4E6D22C-88D4-12FB-D24B-43DEFAF3BE3D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B37C12-D713-C003-4F25-512AA9320280}"/>
              </a:ext>
            </a:extLst>
          </p:cNvPr>
          <p:cNvGraphicFramePr>
            <a:graphicFrameLocks noGrp="1"/>
          </p:cNvGraphicFramePr>
          <p:nvPr/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4AF9C1-5D0E-F185-C408-0E9A59596093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05712484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27B9-7346-F79F-56B4-E6CE8C87B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000554-A955-BBB4-5FF9-F17E7C18C0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Breatdh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8B4C09D7-9A05-4E53-CE06-64D3CF00B088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JAVA </a:t>
            </a:r>
            <a:r>
              <a:rPr lang="en-US" altLang="en-US" sz="1900" dirty="0" err="1"/>
              <a:t>implentation</a:t>
            </a:r>
            <a:endParaRPr lang="en-US" altLang="en-US" sz="1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2B856-5D9D-D2C3-19EB-304C941E90E0}"/>
              </a:ext>
            </a:extLst>
          </p:cNvPr>
          <p:cNvSpPr txBox="1"/>
          <p:nvPr/>
        </p:nvSpPr>
        <p:spPr>
          <a:xfrm>
            <a:off x="800100" y="2104280"/>
            <a:ext cx="7543800" cy="20621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Example graph as adjacency list</a:t>
            </a:r>
          </a:p>
          <a:p>
            <a:r>
              <a:rPr lang="en-I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&lt;Character, List&lt;Character&gt;&gt; graph = new </a:t>
            </a:r>
            <a:r>
              <a:rPr lang="en-I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graph.put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('a', new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Arrays.asList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('b', 'd')));</a:t>
            </a:r>
          </a:p>
          <a:p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graph.put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('b', new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Arrays.asList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('c', 'f')));</a:t>
            </a:r>
          </a:p>
          <a:p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graph.put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('c', new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Arrays.asList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('a', 'd')));</a:t>
            </a:r>
          </a:p>
          <a:p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graph.put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('d', new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Arrays.asList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('e')));</a:t>
            </a:r>
          </a:p>
          <a:p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graph.put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('e', new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&lt;&gt;());</a:t>
            </a:r>
          </a:p>
          <a:p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graph.put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('f', new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Arrays.asList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('c')));</a:t>
            </a:r>
          </a:p>
        </p:txBody>
      </p:sp>
    </p:spTree>
    <p:extLst>
      <p:ext uri="{BB962C8B-B14F-4D97-AF65-F5344CB8AC3E}">
        <p14:creationId xmlns:p14="http://schemas.microsoft.com/office/powerpoint/2010/main" val="141406079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7797-73D9-3F9E-3FFE-917550CB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65F4F3-75A3-C2BD-A264-405FB97070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55B9B6F7-32D4-AA2F-6664-F202A11A8F6C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70DE82A0-C1E7-E8E0-2483-2AAAEF2AB4F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7D67D2E7-CB0B-6FE8-EF35-E68121C51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6ACE9244-75E1-9DDA-A71E-C20E3AF61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942B10F6-AAB5-C997-4A15-C89F79C92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D7E48A4F-2050-623F-1DF1-ADB927C5D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AF2B1137-49FF-FED1-0D8D-DDC30B5D3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B9D9448C-CAC3-D86E-4C20-CA33B696E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C0BC1E87-2096-739F-B8B7-14B76CBA53C6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15D7D992-727E-2EE6-E6CF-E6F3F0ECEAD4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07CE6939-2EA0-656D-7C3B-6B50132DAE90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028DAD69-D16D-8388-02A1-00F8E6DA273E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35A9D3FE-B0CF-178F-1423-A422E0B83F9A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8C6F31C5-683F-8440-4E5D-A241A89A8A1C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E118F737-5301-8031-D1BF-1ED72AF2915D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51AD4302-8CD2-C5F5-A68A-DED3CC5BDE2B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4E829ACA-43F7-D1A1-6E7A-9AEEE5D8DD37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359659-0FAF-6D3F-B9EA-26FA49C8D265}"/>
              </a:ext>
            </a:extLst>
          </p:cNvPr>
          <p:cNvGraphicFramePr>
            <a:graphicFrameLocks noGrp="1"/>
          </p:cNvGraphicFramePr>
          <p:nvPr/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490CCA-1CB5-0D90-B17E-D72B4C9CAF1D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7B0D9-987F-A6AA-A2B2-28F873905D72}"/>
              </a:ext>
            </a:extLst>
          </p:cNvPr>
          <p:cNvGraphicFramePr>
            <a:graphicFrameLocks noGrp="1"/>
          </p:cNvGraphicFramePr>
          <p:nvPr/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A7A346-4F8C-4113-86FE-A1EC4A0A7A8E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42A54-B5D3-C00E-1C0F-E4DE21FE7B62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</p:spTree>
    <p:extLst>
      <p:ext uri="{BB962C8B-B14F-4D97-AF65-F5344CB8AC3E}">
        <p14:creationId xmlns:p14="http://schemas.microsoft.com/office/powerpoint/2010/main" val="27945202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3C94-DC4C-2FAF-8350-47826134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41BC42-A4F7-6CF0-1559-2E04701EAC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E04535D7-7EAD-D9C9-FE20-3D323AF45DAC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A27F607F-0962-8138-818F-9B59DED49F9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26BBEA4B-37D8-06F1-3399-395B32A5D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24A17575-BCD6-2E10-2E40-796DF8F89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91153054-5A93-BB1F-5E45-8F9CEE27A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BD67D09C-44D8-F493-7E3F-77ABC2063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C8C93EBF-727C-4B16-73F0-B42B7C708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73491C61-CBB6-45D6-7277-AD3F5380E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6885D2C0-4F5E-E5B4-2FC0-B8273397FB85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2BDFF633-B9D1-7AB4-0C6D-225D9C82A637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0EB5B168-734F-6C49-751B-3CA9A153A2B8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4B51243B-89C4-5153-E611-35C39A970E0C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7469217F-C667-701D-6BFB-38D5F1A1B2E2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8435A437-981A-C651-0D69-67BA8B7FF8D2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403F6A55-D6CE-871C-146E-95F830BA63AF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F736B7E4-0B7F-2EAD-75B4-88A1F216F1D6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B0379056-7816-3763-FDDB-6DA5642877AC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E968CF-FCBC-021C-B584-DC2AC755F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483069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CA94D4-E0CB-C6F2-10E5-5FD53B4B6544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1C544F-A944-B767-DC8E-30F32B406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797411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C3AE59-F13B-F87C-250E-98E491D6646E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88E4B-A359-10AA-1788-BCCB952836F0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5C82D-A151-26AF-131C-71F149F976DD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a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8287775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DF33-AE12-3EBD-3628-04218B4D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321F80-C582-2DDA-817F-8EB048A977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33CB3DD8-8B43-19AD-70B3-44942FEFF73A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06C18E36-237E-1B06-73F5-FF9DAA1176B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FD9C893F-2BB3-8902-12AD-712619D36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A0C512C3-A75A-4407-23C7-3DB825F5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679D6C7F-608B-B315-E17C-B13D413CA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DD3DC04E-FDDE-CDCF-13C5-6D2CEF8CB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7C3716D8-3529-1B57-EA59-683489111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6BF64BA5-062F-BED7-66AF-BCC3D2737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48636BCD-DB4F-E99A-17F6-94CB5EB419DE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62E21EC9-3ECA-D440-B048-CF24FC2E72E2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E6C5C0EE-BD60-57D9-CAB7-865B525C0619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75D4C419-FC46-B65A-AD37-7E2831395A94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6F98E1AF-D07D-E52F-F7B2-BC0936906A4D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3205F4D2-7C10-8E0E-C34B-73BD9CA536FE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CC6E23CA-1F57-E148-2B2E-904790E26C60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DB6586C9-0865-4A4C-61F6-08CDEA3DDDC3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D6F1F064-628E-E21B-66D0-1975FA766E97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33F809-CEC3-D9D7-AACB-FACE37D56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42433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C97C38-4C32-6BF0-4A36-BD772D923A38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8A967-4658-D8A3-45C6-CF2F1BA394E8}"/>
              </a:ext>
            </a:extLst>
          </p:cNvPr>
          <p:cNvGraphicFramePr>
            <a:graphicFrameLocks noGrp="1"/>
          </p:cNvGraphicFramePr>
          <p:nvPr/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CCFC0B-42E2-BA35-BFB5-F851775BFD4A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C34AA-F177-3DEA-6E5F-87378A604ADC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D3E04-5987-D6E4-40F4-2892BF1C163C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a PUSH b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3366353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17AB-F71D-D235-7002-7D895C56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EE30B5-8164-96A5-39C9-2BFA340872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DDD3FB18-4756-5BDE-0A75-0C0831433E1F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F60C04FF-8DCC-449A-AF9E-8AFC11BE14FB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78F4C51B-F141-C879-A44D-D67FB4F8C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A9769019-BD63-986E-2FF0-233EDDA3E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1F5E3C29-38B4-6A45-39B5-80DC7260E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3DDA435B-6C75-D7D5-DF2B-A9812FE0B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BCC6189B-56F4-3783-3F74-A6B8F45D3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48BB6C91-A527-5862-74FC-453D35D81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D63B6EF8-3DB0-E2A9-4DEB-D985BC40CF20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872278E0-8C91-D207-EF23-393E1E6F69D6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C1BFB324-3761-BCA9-9161-8AF6B682D219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952C6892-6AE1-7C7C-0A35-27C56CF45330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6DDDB438-B0BE-6B68-F53E-ED05E1E0086C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48B60944-5534-816C-24A2-79B8E9689A12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5A40E46D-14AA-1987-1B3F-7FECC8A083D4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3F9E1506-33D8-5FFC-B74D-A5BEDF27D924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695DD763-034C-BACB-6772-86D4650ED70E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CEE2BB-59F4-2AEF-CD75-75BA3FB93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605290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024855-4440-C373-26AB-084CE16749AD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A3E57B-8BE2-BD2F-8A25-019BE6E7DB12}"/>
              </a:ext>
            </a:extLst>
          </p:cNvPr>
          <p:cNvGraphicFramePr>
            <a:graphicFrameLocks noGrp="1"/>
          </p:cNvGraphicFramePr>
          <p:nvPr/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788020-70CD-9730-09FD-B67D9248E544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B5CC1-89CA-DBD4-EAF4-F1A7B98C7EAC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E81407-92AC-4A79-2441-169A50E0FB6A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4237280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13F2-B5B5-217A-D577-760BA504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18649E-9AAF-A5BD-3261-3449B7FD8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0380AD29-5A9F-ED70-EF3C-8D48DD096477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8A1A7959-F18F-D212-88F3-C383593B1B9B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C18F3218-999A-CCFA-A279-9A86D6E57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F0222171-5ECC-B638-578C-CEB85431E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2B7FFEA1-B07D-DFEC-4DE0-3BD98019F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4D777F01-348B-F70A-27A2-E79D6382E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A44012CC-52AB-E8B9-6179-5C77DB058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3B128059-E188-1654-A161-5DB75E4C0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BD589B95-A984-427A-68C3-9FD5AD9B619A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3A86242B-AEF4-8B36-FD81-7B1569614460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966E20BE-63E0-D4A2-F915-2A055C83F17B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676CDFD0-E049-FF0D-E6A5-443CC89FA3A9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B2B79D91-CDB6-1741-C305-08EC813C740E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89CCAA02-81AB-CBCD-7A81-06ED4EE504EE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03FD4CB3-1EEE-4680-B351-D7C8E0777C5B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35EB3FE8-8013-3B65-4FEA-3AAC2EEDED69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C2A18879-A008-F3AB-51E3-781B54EB6DFF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2A3225-3F13-6917-954F-B267BE425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97755"/>
              </p:ext>
            </p:extLst>
          </p:nvPr>
        </p:nvGraphicFramePr>
        <p:xfrm>
          <a:off x="519151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AC8194-8E5C-C30F-7CFE-F73DE42928DC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78686C-6501-A6F0-4D28-5F5FA5D098D1}"/>
              </a:ext>
            </a:extLst>
          </p:cNvPr>
          <p:cNvGraphicFramePr>
            <a:graphicFrameLocks noGrp="1"/>
          </p:cNvGraphicFramePr>
          <p:nvPr/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7427E5-C30E-E8D0-3B33-A45CC82D481C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7BE00-1AE8-0C43-E183-24D393A91214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C6476-01EF-290F-B89B-FCF8743A995D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3928902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527A1-BBB6-3901-0F98-BA2D83B9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5639F7-B9A0-83F3-8773-CF185009CC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E6211D45-EFDE-C455-4FDA-BAA131929562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00154DCB-812A-9E72-0325-883FE7224ED7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616AAC57-B51D-FFF4-9F5B-9FC558D9E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4DB82D3F-369C-2FC5-4E3F-A9C20E342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3DD0DD05-09DE-94C5-077A-0E19E0535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688854D4-9ACB-45D3-C8B6-22740CAB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F2E541A5-DD3D-1214-D67A-4DDFAE270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D0185AB8-6ECD-2532-9F87-808AB086E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47C0C98D-A7C9-FA30-74BC-A2E9BE6C2191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09F0A352-2EC7-E924-DC76-E22D019CED14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39086962-1A97-F72D-D7D3-1FC3436EE408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AC376269-9B42-BAFD-0139-2575569E6672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8A637B76-63D1-F4F3-B6CE-9363AC9F527F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4176B482-9775-EB96-3CCB-D33C6C2122A5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70F3A418-2928-62A9-A29D-F4FEE7CE80FD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A01B12EF-6D4B-AAF4-B212-5B134E7E57D3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E83E44C9-0860-7ED6-25E6-7F079D7F7B81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1AF570-6AAA-972F-B054-6B63A1ACC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74909"/>
              </p:ext>
            </p:extLst>
          </p:nvPr>
        </p:nvGraphicFramePr>
        <p:xfrm>
          <a:off x="525247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893935-39A9-1DAB-78CD-654EE025F003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63C1AB-4731-C9C3-B71E-3CAC04A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02385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8E62F6-1187-3014-E4EF-86040B2DC641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2D346-46C5-2A63-376E-7B5456FADA13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B9BF9-14F8-591C-B36F-8BCF7794B31D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965678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7B93-63B5-5D83-360A-9703015E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036435-BEB1-DF75-03B3-9F807A1853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98930CB0-5F4F-73C9-507A-16FE27F33497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F96AF090-21EC-DE21-5417-48F47401E30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067D9686-768E-E5C2-1B1A-A3954D06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532DC2F1-3291-1AE6-19CA-B321D43A8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88B262F9-C7A4-3D7E-6ED1-EABB1154A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0ABBDFEF-2F9A-39D8-6547-9C94006CC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7C314A18-E25D-DAA7-9BD7-D93B98377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FAC8BEFB-F7D6-9995-F0A4-ED35D3C8A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5340905A-5E54-570C-51C6-93FBDB266BDF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35AFC55C-A7F1-8E69-D7FC-331C76FC36C5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20A9AF40-88AB-C707-C80F-C2F0D8A554D3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967EECC1-60B0-A147-767E-108E613D0CE4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6B2A1936-4B67-FC8B-97AB-66B27858CA70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92130D12-623A-6A49-7047-B826B4C52DE2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BA6A44C9-73CA-7860-31C3-A5E96366BD16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E2286CC2-978B-70A1-47A0-DA346635D0E5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FCFD4B1E-BAA5-7C24-2342-E001D8E44FF9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2F9E21-0FAF-F3E4-2442-505A8AB74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107620"/>
              </p:ext>
            </p:extLst>
          </p:nvPr>
        </p:nvGraphicFramePr>
        <p:xfrm>
          <a:off x="525247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5ED61A-AB3C-988A-F092-D97487A1E9B2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685971-484D-2429-CFBE-9AB7B0FAB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29112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EFBD22-9466-0918-E3BE-C393406D5F04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77E5B-2A05-C4F9-3353-5586F46CB718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141BD-CB4A-8BB8-D053-06E34AAA7CDB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676359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A699-967F-156F-C046-EF5DE3EE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3632DF-4347-4065-7502-58CC94E27D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8415FE40-3639-59DB-56DF-C2EF98F89F2B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E04D266E-1052-C1FA-BEA1-B71CF3384122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6DC43DBE-03C5-EEA5-BB15-7DA5D911B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DBA63CAB-FC14-3A2A-B43E-15267893C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65B0F3AA-0CBF-DE9E-A00E-5EDF3AD14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3E001816-CE21-CC7E-F80F-B7656E08B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D25EA2ED-3287-8B24-A501-3CC95E6DA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95A2F3F4-1970-3BB0-8D6B-4B62C9F06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1C0A6186-BD94-8FAD-46F6-C7EF5BA4538E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88CA8AD6-AB82-7803-28D9-880E0FE39794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B583B420-FDDB-28FA-7DF4-75BFDD1B601B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A56332DD-3845-EBE4-B03F-A2B6BD8D4644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0032370A-08DA-1BD5-BA60-D999CF93E2CD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91FF38A8-C321-A603-FA50-A69FC68C1227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A3CFD6E4-A197-A2F2-F034-A20B04CCC9E3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074113AB-BA0D-0780-3AA1-79373EF05AE9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F4962405-AEA4-933B-5031-8F6B1A6BCD3B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DCE1BB-DB67-F2D1-0E2E-FB5F18DA3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32896"/>
              </p:ext>
            </p:extLst>
          </p:nvPr>
        </p:nvGraphicFramePr>
        <p:xfrm>
          <a:off x="525247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E5CCDA-ED16-C3DB-4EDB-61C3FA403ED6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2D22C1-300A-9628-D81E-2D6D22903A33}"/>
              </a:ext>
            </a:extLst>
          </p:cNvPr>
          <p:cNvGraphicFramePr>
            <a:graphicFrameLocks noGrp="1"/>
          </p:cNvGraphicFramePr>
          <p:nvPr/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6F098F-405D-40D6-D080-C5A44215AB31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C37B2-F5DE-E8EE-422B-1B86D2A2093F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FF347-4656-5BBD-CAE3-0E21FA6550B3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f, PUSH c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6952849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6934-3818-E285-6660-006A56B7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E21EEC-F30A-6089-3B17-DB06E30FF8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98E3FA59-EBF6-DB9C-1833-8A5148905704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81901AA4-5DA4-800D-4049-A417248BAA1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2C816F4B-234D-BB05-116A-92513E2F0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9F246E66-8FA8-99C5-8328-33398D03F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CD765BEE-4627-3007-CF20-157E2CDD9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EDFFAD6B-59BB-5896-560C-BD2046F83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B5D753B6-4BE3-C44D-7475-AB6393220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975A2E7A-9C64-3FF8-A5D2-0FD4F4BA5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839EF517-2EF2-B7D3-0F6D-F5EDCE82D7A3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B913C5C3-8E7A-A1D0-EAB8-009DE63B917F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9F259521-DB5B-A953-DA32-057BAE7BE07C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8BA9564F-88B4-F316-6228-9E1E04313B71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F6D2879B-D74F-B294-566E-615F954B6864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000C0C67-1294-E655-269A-02EEA8FBD175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5CDF3314-D70E-CF90-336C-039F415AA4F4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3C684543-6FCA-6185-248F-BA1E2FFAFBD2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5C343132-B69F-E16C-72D9-53BB193BB74C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82E240-DB52-AC4A-5467-DEFDBF9BC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620931"/>
              </p:ext>
            </p:extLst>
          </p:nvPr>
        </p:nvGraphicFramePr>
        <p:xfrm>
          <a:off x="525247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D740BF-F351-DD6F-EBCA-50CB2F2F14DF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99486C-E90B-575E-A5E4-5C41822F6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83663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A7B5A9-387B-E6E8-2531-B7D61574E6D4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BA4D4-36BB-31CF-7638-B4E0D6F33224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D0F2E-8BBE-B1EE-AE0D-F3E25334EDEA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c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0857432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F90F-1F2B-1529-809B-C4C5818EE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81A72A-1D23-9675-B1D4-306E0F523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562B6F1B-0A61-B605-ABCD-54272444DAAB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99E0FFD1-EFDC-AA23-7941-1BBE5330FF06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2D2A8F8D-85E1-0807-A701-900CF78D3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3509390B-5A67-C88E-BE06-BCDCC7057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91A5CA13-6845-4288-421B-F5B67565B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75E8072A-B774-8023-37A1-974E02DC3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CB45EF7E-D1DE-A3FE-2D43-FE899A210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C68AFF42-25E4-40B1-6FC4-CB75BBBFE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6D65C873-F69C-F08B-D877-480993E30552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7D0E7A94-19DD-ADDB-48F2-FDD2935581F2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5E91DE8C-D943-2E49-63DB-1E2B317D5E4D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EC3B776F-19D8-E4F6-3137-AB9530047574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617829F7-4D09-9E07-34D1-7422A01D0041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C7E22EB1-4A64-ABB2-0188-1E88965241E8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2CB66D21-A12C-4765-45FB-8A4120BAA523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7E082CBF-AD69-D0DA-7D4E-F23DE509FCE6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D877C047-0751-620C-FA42-3866C5070D45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6154BB-0797-B78B-6704-FBE7C8A80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3295"/>
              </p:ext>
            </p:extLst>
          </p:nvPr>
        </p:nvGraphicFramePr>
        <p:xfrm>
          <a:off x="525247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A9C6C6-3FFE-E741-DB3A-0E8E50274FCF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0CCCD8-9F1B-CC49-AA9D-D9C49EC68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81726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5E94BF-7DF0-A8BB-4B36-206E850100D8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DD6E3B-61AF-3D77-401E-BE6DB9BB8752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DE1E1-ACB1-B299-F465-AF4D2BB4A6ED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f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7674013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B737-05AB-9318-0E9E-0589FFE9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4FD42B-4688-1692-969B-A330300896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>
            <a:normAutofit/>
          </a:bodyPr>
          <a:lstStyle/>
          <a:p>
            <a:r>
              <a:rPr lang="en-US" dirty="0"/>
              <a:t>Searching: Depth First</a:t>
            </a:r>
            <a:endParaRPr lang="en-IE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25839148-B3FF-80CE-9620-C4E77CF1A481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985901"/>
            <a:ext cx="8145364" cy="8429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900" dirty="0"/>
              <a:t>First visit the children of your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node, before moving to the next </a:t>
            </a:r>
            <a:r>
              <a:rPr lang="en-US" altLang="en-US" sz="1900" dirty="0" err="1"/>
              <a:t>neighbour</a:t>
            </a:r>
            <a:r>
              <a:rPr lang="en-US" altLang="en-US" sz="1900" dirty="0"/>
              <a:t> (go </a:t>
            </a:r>
            <a:r>
              <a:rPr lang="en-US" sz="2000" dirty="0"/>
              <a:t>as deep as possible along each branch before backtracking.)</a:t>
            </a:r>
            <a:endParaRPr lang="en-US" altLang="en-US" sz="1900" dirty="0"/>
          </a:p>
          <a:p>
            <a:pPr lvl="1"/>
            <a:endParaRPr lang="en-US" altLang="en-US" sz="1900" dirty="0"/>
          </a:p>
          <a:p>
            <a:endParaRPr lang="en-US" altLang="en-US" sz="1900" dirty="0"/>
          </a:p>
          <a:p>
            <a:endParaRPr lang="en-US" altLang="en-US" sz="1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A02CBD-B2B5-5CD4-1BE1-92976A2B745F}"/>
              </a:ext>
            </a:extLst>
          </p:cNvPr>
          <p:cNvSpPr txBox="1"/>
          <p:nvPr/>
        </p:nvSpPr>
        <p:spPr>
          <a:xfrm>
            <a:off x="769441" y="1957441"/>
            <a:ext cx="3689003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DFS</a:t>
            </a:r>
            <a:r>
              <a:rPr lang="en-US" dirty="0"/>
              <a:t>(graph, start):</a:t>
            </a:r>
          </a:p>
          <a:p>
            <a:r>
              <a:rPr lang="en-US" dirty="0"/>
              <a:t>    create a stack S</a:t>
            </a:r>
          </a:p>
          <a:p>
            <a:r>
              <a:rPr lang="en-US" dirty="0"/>
              <a:t>    mark start as visited</a:t>
            </a:r>
          </a:p>
          <a:p>
            <a:r>
              <a:rPr lang="en-US" dirty="0"/>
              <a:t>    push start onto S</a:t>
            </a:r>
          </a:p>
          <a:p>
            <a:endParaRPr lang="en-US" dirty="0"/>
          </a:p>
          <a:p>
            <a:r>
              <a:rPr lang="en-US" dirty="0"/>
              <a:t>    while S is not empty:</a:t>
            </a:r>
          </a:p>
          <a:p>
            <a:r>
              <a:rPr lang="en-US" dirty="0"/>
              <a:t>        v = pop S</a:t>
            </a:r>
          </a:p>
          <a:p>
            <a:r>
              <a:rPr lang="en-US" dirty="0"/>
              <a:t>	mark v as visited</a:t>
            </a:r>
          </a:p>
          <a:p>
            <a:endParaRPr lang="en-US" dirty="0"/>
          </a:p>
          <a:p>
            <a:r>
              <a:rPr lang="en-US" dirty="0"/>
              <a:t>        for each neighbor u of v:</a:t>
            </a:r>
          </a:p>
          <a:p>
            <a:r>
              <a:rPr lang="en-US" dirty="0"/>
              <a:t>            if u is not visited:	</a:t>
            </a:r>
          </a:p>
          <a:p>
            <a:r>
              <a:rPr lang="en-US" dirty="0"/>
              <a:t>		push u onto S</a:t>
            </a:r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E158DF97-4CA8-99EE-E3B6-F0E3B0E47541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21686"/>
            <a:ext cx="2400300" cy="1982060"/>
            <a:chOff x="2544" y="2304"/>
            <a:chExt cx="1536" cy="1248"/>
          </a:xfrm>
          <a:solidFill>
            <a:schemeClr val="bg1"/>
          </a:solidFill>
        </p:grpSpPr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01916565-BA94-D8EA-B662-6D3314052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04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48" name="Oval 19">
              <a:extLst>
                <a:ext uri="{FF2B5EF4-FFF2-40B4-BE49-F238E27FC236}">
                  <a16:creationId xmlns:a16="http://schemas.microsoft.com/office/drawing/2014/main" id="{D06A9372-AE18-A6FE-8511-057EA9FE6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35286824-F053-C541-B31E-CE30F530D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45718B70-337A-6213-AFEB-0CD604B8D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9D53E2A1-4129-CD56-FAEA-20D023BAA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190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7497349A-68BD-C521-33CB-D4A91026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192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 dirty="0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cxnSp>
          <p:nvCxnSpPr>
            <p:cNvPr id="53" name="AutoShape 28">
              <a:extLst>
                <a:ext uri="{FF2B5EF4-FFF2-40B4-BE49-F238E27FC236}">
                  <a16:creationId xmlns:a16="http://schemas.microsoft.com/office/drawing/2014/main" id="{127B12D2-5CF7-E504-A021-65D1B62CE75E}"/>
                </a:ext>
              </a:extLst>
            </p:cNvPr>
            <p:cNvCxnSpPr>
              <a:cxnSpLocks noChangeShapeType="1"/>
              <a:stCxn id="47" idx="4"/>
              <a:endCxn id="48" idx="0"/>
            </p:cNvCxnSpPr>
            <p:nvPr/>
          </p:nvCxnSpPr>
          <p:spPr bwMode="auto">
            <a:xfrm>
              <a:off x="2640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29">
              <a:extLst>
                <a:ext uri="{FF2B5EF4-FFF2-40B4-BE49-F238E27FC236}">
                  <a16:creationId xmlns:a16="http://schemas.microsoft.com/office/drawing/2014/main" id="{0903A39A-9AAB-6DF8-6966-548161D34D90}"/>
                </a:ext>
              </a:extLst>
            </p:cNvPr>
            <p:cNvCxnSpPr>
              <a:cxnSpLocks noChangeShapeType="1"/>
              <a:stCxn id="47" idx="6"/>
              <a:endCxn id="50" idx="2"/>
            </p:cNvCxnSpPr>
            <p:nvPr/>
          </p:nvCxnSpPr>
          <p:spPr bwMode="auto">
            <a:xfrm>
              <a:off x="2736" y="2400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0">
              <a:extLst>
                <a:ext uri="{FF2B5EF4-FFF2-40B4-BE49-F238E27FC236}">
                  <a16:creationId xmlns:a16="http://schemas.microsoft.com/office/drawing/2014/main" id="{22E16EDB-C8FB-4C43-46B0-1C896890140A}"/>
                </a:ext>
              </a:extLst>
            </p:cNvPr>
            <p:cNvCxnSpPr>
              <a:cxnSpLocks noChangeShapeType="1"/>
              <a:stCxn id="50" idx="4"/>
              <a:endCxn id="51" idx="0"/>
            </p:cNvCxnSpPr>
            <p:nvPr/>
          </p:nvCxnSpPr>
          <p:spPr bwMode="auto">
            <a:xfrm>
              <a:off x="3312" y="2496"/>
              <a:ext cx="0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1">
              <a:extLst>
                <a:ext uri="{FF2B5EF4-FFF2-40B4-BE49-F238E27FC236}">
                  <a16:creationId xmlns:a16="http://schemas.microsoft.com/office/drawing/2014/main" id="{3EEE910C-11FA-9875-7B09-717CABB38679}"/>
                </a:ext>
              </a:extLst>
            </p:cNvPr>
            <p:cNvCxnSpPr>
              <a:cxnSpLocks noChangeShapeType="1"/>
              <a:stCxn id="51" idx="1"/>
              <a:endCxn id="47" idx="5"/>
            </p:cNvCxnSpPr>
            <p:nvPr/>
          </p:nvCxnSpPr>
          <p:spPr bwMode="auto">
            <a:xfrm flipH="1" flipV="1">
              <a:off x="2708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2">
              <a:extLst>
                <a:ext uri="{FF2B5EF4-FFF2-40B4-BE49-F238E27FC236}">
                  <a16:creationId xmlns:a16="http://schemas.microsoft.com/office/drawing/2014/main" id="{2BB67820-607B-A122-DFD0-BCEA46852A99}"/>
                </a:ext>
              </a:extLst>
            </p:cNvPr>
            <p:cNvCxnSpPr>
              <a:cxnSpLocks noChangeShapeType="1"/>
              <a:stCxn id="51" idx="2"/>
              <a:endCxn id="48" idx="6"/>
            </p:cNvCxnSpPr>
            <p:nvPr/>
          </p:nvCxnSpPr>
          <p:spPr bwMode="auto">
            <a:xfrm flipH="1">
              <a:off x="2736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3">
              <a:extLst>
                <a:ext uri="{FF2B5EF4-FFF2-40B4-BE49-F238E27FC236}">
                  <a16:creationId xmlns:a16="http://schemas.microsoft.com/office/drawing/2014/main" id="{F4B178AB-832B-BBBF-CB9C-F5B53AEE44C8}"/>
                </a:ext>
              </a:extLst>
            </p:cNvPr>
            <p:cNvCxnSpPr>
              <a:cxnSpLocks noChangeShapeType="1"/>
              <a:stCxn id="51" idx="3"/>
              <a:endCxn id="49" idx="7"/>
            </p:cNvCxnSpPr>
            <p:nvPr/>
          </p:nvCxnSpPr>
          <p:spPr bwMode="auto">
            <a:xfrm flipH="1">
              <a:off x="2708" y="2996"/>
              <a:ext cx="536" cy="3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4">
              <a:extLst>
                <a:ext uri="{FF2B5EF4-FFF2-40B4-BE49-F238E27FC236}">
                  <a16:creationId xmlns:a16="http://schemas.microsoft.com/office/drawing/2014/main" id="{6D41264C-7CAF-30E3-3B98-0AE959A35267}"/>
                </a:ext>
              </a:extLst>
            </p:cNvPr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2640" y="3024"/>
              <a:ext cx="0" cy="335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5">
              <a:extLst>
                <a:ext uri="{FF2B5EF4-FFF2-40B4-BE49-F238E27FC236}">
                  <a16:creationId xmlns:a16="http://schemas.microsoft.com/office/drawing/2014/main" id="{19705EAF-1103-F4B4-0A16-A64D13ED6710}"/>
                </a:ext>
              </a:extLst>
            </p:cNvPr>
            <p:cNvCxnSpPr>
              <a:cxnSpLocks noChangeShapeType="1"/>
              <a:stCxn id="50" idx="5"/>
              <a:endCxn id="52" idx="1"/>
            </p:cNvCxnSpPr>
            <p:nvPr/>
          </p:nvCxnSpPr>
          <p:spPr bwMode="auto">
            <a:xfrm>
              <a:off x="3380" y="2468"/>
              <a:ext cx="536" cy="3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6">
              <a:extLst>
                <a:ext uri="{FF2B5EF4-FFF2-40B4-BE49-F238E27FC236}">
                  <a16:creationId xmlns:a16="http://schemas.microsoft.com/office/drawing/2014/main" id="{07584398-135A-C156-7E71-EFF660FF1BA5}"/>
                </a:ext>
              </a:extLst>
            </p:cNvPr>
            <p:cNvCxnSpPr>
              <a:cxnSpLocks noChangeShapeType="1"/>
              <a:stCxn id="52" idx="2"/>
              <a:endCxn id="51" idx="6"/>
            </p:cNvCxnSpPr>
            <p:nvPr/>
          </p:nvCxnSpPr>
          <p:spPr bwMode="auto">
            <a:xfrm flipH="1">
              <a:off x="3408" y="2928"/>
              <a:ext cx="480" cy="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85F721-4E03-3584-0FB5-7CE313E72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743985"/>
              </p:ext>
            </p:extLst>
          </p:nvPr>
        </p:nvGraphicFramePr>
        <p:xfrm>
          <a:off x="5252470" y="4782790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C86AF6E-733C-1982-AF2D-65E171C18237}"/>
              </a:ext>
            </a:extLst>
          </p:cNvPr>
          <p:cNvSpPr txBox="1"/>
          <p:nvPr/>
        </p:nvSpPr>
        <p:spPr>
          <a:xfrm>
            <a:off x="4636493" y="4782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  <a:endParaRPr lang="en-IE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826836-B41C-AF10-265C-8933679E1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345626"/>
              </p:ext>
            </p:extLst>
          </p:nvPr>
        </p:nvGraphicFramePr>
        <p:xfrm>
          <a:off x="5197606" y="5348361"/>
          <a:ext cx="343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433">
                  <a:extLst>
                    <a:ext uri="{9D8B030D-6E8A-4147-A177-3AD203B41FA5}">
                      <a16:colId xmlns:a16="http://schemas.microsoft.com/office/drawing/2014/main" val="116916746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935973037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53672199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694406301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836083715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569357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459061853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146683998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2217519982"/>
                    </a:ext>
                  </a:extLst>
                </a:gridCol>
                <a:gridCol w="343433">
                  <a:extLst>
                    <a:ext uri="{9D8B030D-6E8A-4147-A177-3AD203B41FA5}">
                      <a16:colId xmlns:a16="http://schemas.microsoft.com/office/drawing/2014/main" val="72966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7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BC89EE-4D70-BE66-2565-9574C9D8A50D}"/>
              </a:ext>
            </a:extLst>
          </p:cNvPr>
          <p:cNvSpPr txBox="1"/>
          <p:nvPr/>
        </p:nvSpPr>
        <p:spPr>
          <a:xfrm>
            <a:off x="4642589" y="534836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6FF0E-67AB-F205-43B7-6552C104A583}"/>
              </a:ext>
            </a:extLst>
          </p:cNvPr>
          <p:cNvSpPr txBox="1"/>
          <p:nvPr/>
        </p:nvSpPr>
        <p:spPr>
          <a:xfrm>
            <a:off x="6069734" y="4152995"/>
            <a:ext cx="257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b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2809560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441143-51CC-A9D8-8EC3-33C1DAA3FB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400" y="620688"/>
            <a:ext cx="8839200" cy="1008112"/>
          </a:xfrm>
        </p:spPr>
        <p:txBody>
          <a:bodyPr>
            <a:normAutofit fontScale="92500"/>
          </a:bodyPr>
          <a:lstStyle/>
          <a:p>
            <a:r>
              <a:rPr lang="en-IE" dirty="0"/>
              <a:t>Single-Source Shortest Path Problem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83FF7-5E37-D0E8-A991-8E2F0A9F793B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1447800"/>
            <a:ext cx="8145364" cy="14669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Dijkstra’s Algorithm solve </a:t>
            </a:r>
            <a:r>
              <a:rPr lang="en-US" altLang="en-US" sz="1800" b="1" dirty="0">
                <a:latin typeface="Arial" panose="020B0604020202020204" pitchFamily="34" charset="0"/>
              </a:rPr>
              <a:t>Single-Source Shortest Path Problem </a:t>
            </a:r>
            <a:r>
              <a:rPr lang="en-US" altLang="en-US" sz="1800" dirty="0">
                <a:latin typeface="Arial" panose="020B0604020202020204" pitchFamily="34" charset="0"/>
              </a:rPr>
              <a:t>- The problem of finding shortest paths from a source vertex v to all other vertices in the graph.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Core Idea</a:t>
            </a:r>
          </a:p>
          <a:p>
            <a:r>
              <a:rPr lang="en-US" sz="1800" dirty="0"/>
              <a:t>You keep track of the best known distance from the start to every node.</a:t>
            </a:r>
          </a:p>
          <a:p>
            <a:r>
              <a:rPr lang="en-US" sz="1800" dirty="0"/>
              <a:t>Next you always choose the unvisited node with the smallest known distance.</a:t>
            </a:r>
          </a:p>
          <a:p>
            <a:r>
              <a:rPr lang="en-US" sz="1800" dirty="0"/>
              <a:t>From that node, you try to improve the distances to its neighbors.</a:t>
            </a:r>
          </a:p>
          <a:p>
            <a:r>
              <a:rPr lang="en-US" sz="1800" dirty="0"/>
              <a:t>If going through this node gives a cheaper path to a neighbor, you update that neighbor’s distance.</a:t>
            </a:r>
          </a:p>
          <a:p>
            <a:r>
              <a:rPr lang="en-US" sz="1800" dirty="0"/>
              <a:t>Repeat until all reachable nodes have their best distances finalized.</a:t>
            </a:r>
          </a:p>
          <a:p>
            <a:endParaRPr lang="en-US" altLang="en-US" sz="1900" dirty="0"/>
          </a:p>
        </p:txBody>
      </p:sp>
    </p:spTree>
    <p:extLst>
      <p:ext uri="{BB962C8B-B14F-4D97-AF65-F5344CB8AC3E}">
        <p14:creationId xmlns:p14="http://schemas.microsoft.com/office/powerpoint/2010/main" val="45655870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36EA-01BC-CC36-AE79-46CB6641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94246-6A0C-9C39-BA72-1E81FDC107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400" y="620688"/>
            <a:ext cx="8458200" cy="1008112"/>
          </a:xfrm>
        </p:spPr>
        <p:txBody>
          <a:bodyPr>
            <a:normAutofit/>
          </a:bodyPr>
          <a:lstStyle/>
          <a:p>
            <a:r>
              <a:rPr lang="en-IE" dirty="0"/>
              <a:t>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CCACB3-A75D-DCF0-18EB-030AA734B922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1447800"/>
            <a:ext cx="8145364" cy="14669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2F7FB-259B-CF1C-A929-41E1BCE73FDC}"/>
              </a:ext>
            </a:extLst>
          </p:cNvPr>
          <p:cNvSpPr txBox="1"/>
          <p:nvPr/>
        </p:nvSpPr>
        <p:spPr>
          <a:xfrm>
            <a:off x="515112" y="1447800"/>
            <a:ext cx="6647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Maps (Map Quest, Google Maps) </a:t>
            </a:r>
          </a:p>
          <a:p>
            <a:r>
              <a:rPr lang="en-US" dirty="0"/>
              <a:t>- Routing Systems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FB0D36F-15A8-1D92-B922-975A5554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68" y="2278794"/>
            <a:ext cx="3413125" cy="332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DFF8FAF8-ADEA-BEFF-621A-D67B2FB2F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158938"/>
            <a:ext cx="3278112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805019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F6AF-FF98-49EC-01CE-0E1947C6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42F7FF-8BA5-FDA9-6602-6CEEE8EA79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236" y="620688"/>
            <a:ext cx="8145364" cy="1008112"/>
          </a:xfrm>
        </p:spPr>
        <p:txBody>
          <a:bodyPr>
            <a:normAutofit/>
          </a:bodyPr>
          <a:lstStyle/>
          <a:p>
            <a:r>
              <a:rPr lang="en-US" altLang="en-US" dirty="0"/>
              <a:t>Dijkstra's algorithm </a:t>
            </a: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27A82-375C-74CC-CAA6-AA3B970FF4D1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1447800"/>
            <a:ext cx="8145364" cy="14669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Dijkstra's algorithm - is a solution to the single-source shortest path problem in graph theory. </a:t>
            </a:r>
          </a:p>
          <a:p>
            <a:pPr marL="0" indent="0">
              <a:buNone/>
            </a:pPr>
            <a:r>
              <a:rPr lang="en-US" altLang="en-US" dirty="0"/>
              <a:t> </a:t>
            </a:r>
          </a:p>
          <a:p>
            <a:r>
              <a:rPr lang="en-US" altLang="en-US" dirty="0"/>
              <a:t>Works on both directed and undirected graphs. However, all edges must have nonnegative weights.</a:t>
            </a:r>
          </a:p>
          <a:p>
            <a:endParaRPr lang="en-US" altLang="en-US" dirty="0"/>
          </a:p>
          <a:p>
            <a:r>
              <a:rPr lang="en-US" altLang="en-US" dirty="0"/>
              <a:t>Input: Weighted graph G={E,V} and source vertex </a:t>
            </a:r>
            <a:r>
              <a:rPr lang="en-US" altLang="en-US" dirty="0" err="1"/>
              <a:t>v∈V</a:t>
            </a:r>
            <a:r>
              <a:rPr lang="en-US" altLang="en-US" dirty="0"/>
              <a:t>, such that all edge weights are nonnegative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Output: Lengths of shortest paths (or the shortest paths themselves) from a given source vertex </a:t>
            </a:r>
            <a:r>
              <a:rPr lang="en-US" altLang="en-US" dirty="0" err="1"/>
              <a:t>v∈V</a:t>
            </a:r>
            <a:r>
              <a:rPr lang="en-US" altLang="en-US" dirty="0"/>
              <a:t>  to all other vertices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883958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6A1A-2550-00A6-01C7-9D9418BE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589EFC-29BF-827A-C842-90452B29C8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236" y="620688"/>
            <a:ext cx="8145364" cy="1008112"/>
          </a:xfrm>
        </p:spPr>
        <p:txBody>
          <a:bodyPr>
            <a:normAutofit/>
          </a:bodyPr>
          <a:lstStyle/>
          <a:p>
            <a:r>
              <a:rPr lang="en-US" altLang="en-US" dirty="0"/>
              <a:t>Approach</a:t>
            </a: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D37BBF-0DDC-7E8C-F41F-4C96D12B541E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1447800"/>
            <a:ext cx="8145364" cy="14669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65BC3-8B31-657C-1250-AE17AC0E1C0F}"/>
              </a:ext>
            </a:extLst>
          </p:cNvPr>
          <p:cNvSpPr txBox="1"/>
          <p:nvPr/>
        </p:nvSpPr>
        <p:spPr>
          <a:xfrm>
            <a:off x="617636" y="1483552"/>
            <a:ext cx="799296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algorithm computes for each vertex u the distance to u from the start vertex v, that is, the weight of a shortest path between v and 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algorithm keeps track of the set of vertices for which the distance has been computed, called the cloud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Every vertex has a label D associated with it. For any vertex u, D[u] stores an approximation of the distance between v and u. The algorithm will update a D[u] value when it finds a shorter path from v to 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When a vertex u is added to the cloud, its label D[u] is equal to the actual (final) distance between the starting vertex v and vertex u.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71634524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BCCB-9F44-E7C9-772E-FF3EAB24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AC60B0-4DCF-F002-1942-7DC277B7A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07100"/>
            <a:ext cx="8145364" cy="1008112"/>
          </a:xfrm>
        </p:spPr>
        <p:txBody>
          <a:bodyPr>
            <a:normAutofit/>
          </a:bodyPr>
          <a:lstStyle/>
          <a:p>
            <a:r>
              <a:rPr lang="en-US" altLang="en-US" dirty="0"/>
              <a:t>Pseudocode</a:t>
            </a: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6400D-C14B-228E-A4D0-14EB601F1163}"/>
              </a:ext>
            </a:extLst>
          </p:cNvPr>
          <p:cNvSpPr txBox="1">
            <a:spLocks noChangeArrowheads="1"/>
          </p:cNvSpPr>
          <p:nvPr/>
        </p:nvSpPr>
        <p:spPr>
          <a:xfrm>
            <a:off x="465236" y="1447800"/>
            <a:ext cx="8145364" cy="146691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743FBA-0633-32DF-A468-25F13C512C7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990600"/>
            <a:ext cx="6789836" cy="480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Dijkstra(v1, v2):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</a:t>
            </a:r>
            <a:r>
              <a:rPr lang="en-US" altLang="en-US" sz="1700" i="1" dirty="0">
                <a:solidFill>
                  <a:srgbClr val="4F81BD"/>
                </a:solidFill>
              </a:rPr>
              <a:t>for each vertex v:                            // Initialization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>
                <a:solidFill>
                  <a:srgbClr val="4F81BD"/>
                </a:solidFill>
              </a:rPr>
              <a:t>         v's distance := infinity.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>
                <a:solidFill>
                  <a:srgbClr val="4F81BD"/>
                </a:solidFill>
              </a:rPr>
              <a:t>         v's previous := none.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>
                <a:solidFill>
                  <a:srgbClr val="4F81BD"/>
                </a:solidFill>
              </a:rPr>
              <a:t>    v1's distance := 0.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>
                <a:solidFill>
                  <a:srgbClr val="4F81BD"/>
                </a:solidFill>
              </a:rPr>
              <a:t>    List := {all vertices}.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1700" i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while List is not empty: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     v := remove List vertex with minimum distance.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	  mark v as known.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     for each unknown neighbor n of v: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         </a:t>
            </a:r>
            <a:r>
              <a:rPr lang="en-US" altLang="en-US" sz="1700" i="1" dirty="0" err="1"/>
              <a:t>dist</a:t>
            </a:r>
            <a:r>
              <a:rPr lang="en-US" altLang="en-US" sz="1700" i="1" dirty="0"/>
              <a:t> := v's distance + edge (v, n)'s weight.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1700" i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         if </a:t>
            </a:r>
            <a:r>
              <a:rPr lang="en-US" altLang="en-US" sz="1700" i="1" dirty="0" err="1"/>
              <a:t>dist</a:t>
            </a:r>
            <a:r>
              <a:rPr lang="en-US" altLang="en-US" sz="1700" i="1" dirty="0"/>
              <a:t> is smaller than n's distance: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             n's distance := dist.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             n's previous := v.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1700" i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700" i="1" dirty="0"/>
              <a:t>    reconstruct path from v2 back to v1, following previous pointers.</a:t>
            </a:r>
          </a:p>
        </p:txBody>
      </p:sp>
    </p:spTree>
    <p:extLst>
      <p:ext uri="{BB962C8B-B14F-4D97-AF65-F5344CB8AC3E}">
        <p14:creationId xmlns:p14="http://schemas.microsoft.com/office/powerpoint/2010/main" val="44851679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4F74AD19-70EE-FBDA-1474-538BDF66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E0874D8-3682-4BDB-A15D-8A7C3B7BB95F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8275858-AA2A-2A15-B90C-946928B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Initialization</a:t>
            </a:r>
          </a:p>
        </p:txBody>
      </p:sp>
      <p:sp>
        <p:nvSpPr>
          <p:cNvPr id="21508" name="Oval 3">
            <a:extLst>
              <a:ext uri="{FF2B5EF4-FFF2-40B4-BE49-F238E27FC236}">
                <a16:creationId xmlns:a16="http://schemas.microsoft.com/office/drawing/2014/main" id="{1BA77B73-F269-CA62-A7A0-A22F2FA97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1509" name="Oval 4">
            <a:extLst>
              <a:ext uri="{FF2B5EF4-FFF2-40B4-BE49-F238E27FC236}">
                <a16:creationId xmlns:a16="http://schemas.microsoft.com/office/drawing/2014/main" id="{C3D0CE6C-60DD-FA33-FBDE-FADC73082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1510" name="Oval 5">
            <a:extLst>
              <a:ext uri="{FF2B5EF4-FFF2-40B4-BE49-F238E27FC236}">
                <a16:creationId xmlns:a16="http://schemas.microsoft.com/office/drawing/2014/main" id="{3B2ADF74-39A1-6501-10A8-6DC1B1E6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11" name="AutoShape 6">
            <a:extLst>
              <a:ext uri="{FF2B5EF4-FFF2-40B4-BE49-F238E27FC236}">
                <a16:creationId xmlns:a16="http://schemas.microsoft.com/office/drawing/2014/main" id="{F2AC07DE-8187-BAD3-F713-F698A16B67A6}"/>
              </a:ext>
            </a:extLst>
          </p:cNvPr>
          <p:cNvCxnSpPr>
            <a:cxnSpLocks noChangeShapeType="1"/>
            <a:stCxn id="21509" idx="2"/>
            <a:endCxn id="21510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2" name="AutoShape 7">
            <a:extLst>
              <a:ext uri="{FF2B5EF4-FFF2-40B4-BE49-F238E27FC236}">
                <a16:creationId xmlns:a16="http://schemas.microsoft.com/office/drawing/2014/main" id="{E8F49C4F-820C-F38D-E4A3-E8B625EA7AC7}"/>
              </a:ext>
            </a:extLst>
          </p:cNvPr>
          <p:cNvCxnSpPr>
            <a:cxnSpLocks noChangeShapeType="1"/>
            <a:stCxn id="21524" idx="2"/>
            <a:endCxn id="21521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3" name="AutoShape 8">
            <a:extLst>
              <a:ext uri="{FF2B5EF4-FFF2-40B4-BE49-F238E27FC236}">
                <a16:creationId xmlns:a16="http://schemas.microsoft.com/office/drawing/2014/main" id="{2AE32AA7-1FE9-2EEC-6249-183637D02DAF}"/>
              </a:ext>
            </a:extLst>
          </p:cNvPr>
          <p:cNvCxnSpPr>
            <a:cxnSpLocks noChangeShapeType="1"/>
            <a:stCxn id="21508" idx="6"/>
            <a:endCxn id="21514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4" name="Oval 9">
            <a:extLst>
              <a:ext uri="{FF2B5EF4-FFF2-40B4-BE49-F238E27FC236}">
                <a16:creationId xmlns:a16="http://schemas.microsoft.com/office/drawing/2014/main" id="{123B8415-2D74-C1F6-8158-94783F843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1515" name="Oval 10">
            <a:extLst>
              <a:ext uri="{FF2B5EF4-FFF2-40B4-BE49-F238E27FC236}">
                <a16:creationId xmlns:a16="http://schemas.microsoft.com/office/drawing/2014/main" id="{86FC7C3B-E339-CC99-FA74-917D478F2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16" name="AutoShape 11">
            <a:extLst>
              <a:ext uri="{FF2B5EF4-FFF2-40B4-BE49-F238E27FC236}">
                <a16:creationId xmlns:a16="http://schemas.microsoft.com/office/drawing/2014/main" id="{C2AAEEFD-0FFB-8B7E-9A89-3846AFD2D333}"/>
              </a:ext>
            </a:extLst>
          </p:cNvPr>
          <p:cNvCxnSpPr>
            <a:cxnSpLocks noChangeShapeType="1"/>
            <a:stCxn id="21515" idx="2"/>
            <a:endCxn id="21524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2">
            <a:extLst>
              <a:ext uri="{FF2B5EF4-FFF2-40B4-BE49-F238E27FC236}">
                <a16:creationId xmlns:a16="http://schemas.microsoft.com/office/drawing/2014/main" id="{35050834-DA81-C916-B6E5-560CFE49AA02}"/>
              </a:ext>
            </a:extLst>
          </p:cNvPr>
          <p:cNvCxnSpPr>
            <a:cxnSpLocks noChangeShapeType="1"/>
            <a:stCxn id="21515" idx="1"/>
            <a:endCxn id="21514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3">
            <a:extLst>
              <a:ext uri="{FF2B5EF4-FFF2-40B4-BE49-F238E27FC236}">
                <a16:creationId xmlns:a16="http://schemas.microsoft.com/office/drawing/2014/main" id="{5FCDFA2F-A9D5-0E31-7E0C-88D7B5BEF65B}"/>
              </a:ext>
            </a:extLst>
          </p:cNvPr>
          <p:cNvCxnSpPr>
            <a:cxnSpLocks noChangeShapeType="1"/>
            <a:stCxn id="21509" idx="7"/>
            <a:endCxn id="21515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4">
            <a:extLst>
              <a:ext uri="{FF2B5EF4-FFF2-40B4-BE49-F238E27FC236}">
                <a16:creationId xmlns:a16="http://schemas.microsoft.com/office/drawing/2014/main" id="{84C3B993-1383-8C48-ACB3-74783264C17C}"/>
              </a:ext>
            </a:extLst>
          </p:cNvPr>
          <p:cNvCxnSpPr>
            <a:cxnSpLocks noChangeShapeType="1"/>
            <a:stCxn id="21508" idx="5"/>
            <a:endCxn id="21524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5">
            <a:extLst>
              <a:ext uri="{FF2B5EF4-FFF2-40B4-BE49-F238E27FC236}">
                <a16:creationId xmlns:a16="http://schemas.microsoft.com/office/drawing/2014/main" id="{B8C818BD-57DF-2D19-B0E2-49FCB1AADFDF}"/>
              </a:ext>
            </a:extLst>
          </p:cNvPr>
          <p:cNvCxnSpPr>
            <a:cxnSpLocks noChangeShapeType="1"/>
            <a:stCxn id="21514" idx="3"/>
            <a:endCxn id="21524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1" name="Oval 16">
            <a:extLst>
              <a:ext uri="{FF2B5EF4-FFF2-40B4-BE49-F238E27FC236}">
                <a16:creationId xmlns:a16="http://schemas.microsoft.com/office/drawing/2014/main" id="{D9861E9D-8362-BEB9-1B1E-DD8D58FB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22" name="AutoShape 17">
            <a:extLst>
              <a:ext uri="{FF2B5EF4-FFF2-40B4-BE49-F238E27FC236}">
                <a16:creationId xmlns:a16="http://schemas.microsoft.com/office/drawing/2014/main" id="{9D4E582A-428E-2CE3-29EF-FC35815FD253}"/>
              </a:ext>
            </a:extLst>
          </p:cNvPr>
          <p:cNvCxnSpPr>
            <a:cxnSpLocks noChangeShapeType="1"/>
            <a:stCxn id="21521" idx="7"/>
            <a:endCxn id="21508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3" name="AutoShape 18">
            <a:extLst>
              <a:ext uri="{FF2B5EF4-FFF2-40B4-BE49-F238E27FC236}">
                <a16:creationId xmlns:a16="http://schemas.microsoft.com/office/drawing/2014/main" id="{51484517-056C-5654-1714-E42DC586E377}"/>
              </a:ext>
            </a:extLst>
          </p:cNvPr>
          <p:cNvCxnSpPr>
            <a:cxnSpLocks noChangeShapeType="1"/>
            <a:stCxn id="21510" idx="1"/>
            <a:endCxn id="21521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4" name="Oval 19">
            <a:extLst>
              <a:ext uri="{FF2B5EF4-FFF2-40B4-BE49-F238E27FC236}">
                <a16:creationId xmlns:a16="http://schemas.microsoft.com/office/drawing/2014/main" id="{189F3BF6-267E-B667-6A9B-2AF9A6810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25" name="AutoShape 20">
            <a:extLst>
              <a:ext uri="{FF2B5EF4-FFF2-40B4-BE49-F238E27FC236}">
                <a16:creationId xmlns:a16="http://schemas.microsoft.com/office/drawing/2014/main" id="{EB893EC1-E3BD-FBF4-4E8F-BEEDB8237594}"/>
              </a:ext>
            </a:extLst>
          </p:cNvPr>
          <p:cNvCxnSpPr>
            <a:cxnSpLocks noChangeShapeType="1"/>
            <a:stCxn id="21509" idx="1"/>
            <a:endCxn id="21524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1">
            <a:extLst>
              <a:ext uri="{FF2B5EF4-FFF2-40B4-BE49-F238E27FC236}">
                <a16:creationId xmlns:a16="http://schemas.microsoft.com/office/drawing/2014/main" id="{7FE1BEE9-8518-B269-47C2-3B3FCB9C8861}"/>
              </a:ext>
            </a:extLst>
          </p:cNvPr>
          <p:cNvCxnSpPr>
            <a:cxnSpLocks noChangeShapeType="1"/>
            <a:stCxn id="21510" idx="7"/>
            <a:endCxn id="21524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7" name="Text Box 22">
            <a:extLst>
              <a:ext uri="{FF2B5EF4-FFF2-40B4-BE49-F238E27FC236}">
                <a16:creationId xmlns:a16="http://schemas.microsoft.com/office/drawing/2014/main" id="{EDF9E040-86F4-BFF6-3BBE-CE7DED58D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1528" name="Text Box 23">
            <a:extLst>
              <a:ext uri="{FF2B5EF4-FFF2-40B4-BE49-F238E27FC236}">
                <a16:creationId xmlns:a16="http://schemas.microsoft.com/office/drawing/2014/main" id="{AD67E9C5-AF7E-C75B-DA91-B44489858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1529" name="Text Box 24">
            <a:extLst>
              <a:ext uri="{FF2B5EF4-FFF2-40B4-BE49-F238E27FC236}">
                <a16:creationId xmlns:a16="http://schemas.microsoft.com/office/drawing/2014/main" id="{86CD63B6-EA70-1E33-6ADE-1811770C5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1530" name="Text Box 25">
            <a:extLst>
              <a:ext uri="{FF2B5EF4-FFF2-40B4-BE49-F238E27FC236}">
                <a16:creationId xmlns:a16="http://schemas.microsoft.com/office/drawing/2014/main" id="{E35452D9-64C0-7484-4978-F7E4A7391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1531" name="Text Box 26">
            <a:extLst>
              <a:ext uri="{FF2B5EF4-FFF2-40B4-BE49-F238E27FC236}">
                <a16:creationId xmlns:a16="http://schemas.microsoft.com/office/drawing/2014/main" id="{476F537B-1C20-7F14-C6A2-F0E818A2A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1532" name="Text Box 27">
            <a:extLst>
              <a:ext uri="{FF2B5EF4-FFF2-40B4-BE49-F238E27FC236}">
                <a16:creationId xmlns:a16="http://schemas.microsoft.com/office/drawing/2014/main" id="{437C2D11-3F46-256B-2183-1ADFFE03D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1533" name="Text Box 28">
            <a:extLst>
              <a:ext uri="{FF2B5EF4-FFF2-40B4-BE49-F238E27FC236}">
                <a16:creationId xmlns:a16="http://schemas.microsoft.com/office/drawing/2014/main" id="{93EAACC6-4A34-F65F-ABA6-A888D694E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1534" name="Text Box 29">
            <a:extLst>
              <a:ext uri="{FF2B5EF4-FFF2-40B4-BE49-F238E27FC236}">
                <a16:creationId xmlns:a16="http://schemas.microsoft.com/office/drawing/2014/main" id="{B2914235-CCFE-EB7E-FD9E-F39A78F46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1535" name="Text Box 30">
            <a:extLst>
              <a:ext uri="{FF2B5EF4-FFF2-40B4-BE49-F238E27FC236}">
                <a16:creationId xmlns:a16="http://schemas.microsoft.com/office/drawing/2014/main" id="{E1C9914E-C4E4-860F-8417-C30B3153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1536" name="Text Box 31">
            <a:extLst>
              <a:ext uri="{FF2B5EF4-FFF2-40B4-BE49-F238E27FC236}">
                <a16:creationId xmlns:a16="http://schemas.microsoft.com/office/drawing/2014/main" id="{FC35214B-E869-40E4-8B48-C6EFCEA82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1537" name="Text Box 32">
            <a:extLst>
              <a:ext uri="{FF2B5EF4-FFF2-40B4-BE49-F238E27FC236}">
                <a16:creationId xmlns:a16="http://schemas.microsoft.com/office/drawing/2014/main" id="{1B99D870-C243-C3EA-F52A-691C760B6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1538" name="Text Box 33">
            <a:extLst>
              <a:ext uri="{FF2B5EF4-FFF2-40B4-BE49-F238E27FC236}">
                <a16:creationId xmlns:a16="http://schemas.microsoft.com/office/drawing/2014/main" id="{FC5CC87E-0762-383B-ADAF-B3930F599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1539" name="Text Box 34">
            <a:extLst>
              <a:ext uri="{FF2B5EF4-FFF2-40B4-BE49-F238E27FC236}">
                <a16:creationId xmlns:a16="http://schemas.microsoft.com/office/drawing/2014/main" id="{B15250B0-33EC-3BAD-8770-1733EC932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1540" name="Text Box 35">
            <a:extLst>
              <a:ext uri="{FF2B5EF4-FFF2-40B4-BE49-F238E27FC236}">
                <a16:creationId xmlns:a16="http://schemas.microsoft.com/office/drawing/2014/main" id="{2A7390EC-3CE7-816B-FC8F-166117F0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47875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1541" name="Text Box 38">
            <a:extLst>
              <a:ext uri="{FF2B5EF4-FFF2-40B4-BE49-F238E27FC236}">
                <a16:creationId xmlns:a16="http://schemas.microsoft.com/office/drawing/2014/main" id="{F7B0F425-8D37-6C86-8B24-80FCC402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576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/>
          </a:p>
        </p:txBody>
      </p:sp>
      <p:sp>
        <p:nvSpPr>
          <p:cNvPr id="21542" name="Text Box 39">
            <a:extLst>
              <a:ext uri="{FF2B5EF4-FFF2-40B4-BE49-F238E27FC236}">
                <a16:creationId xmlns:a16="http://schemas.microsoft.com/office/drawing/2014/main" id="{16BB1463-651F-F3F4-65CA-5D911F95B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814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1543" name="Text Box 40">
            <a:extLst>
              <a:ext uri="{FF2B5EF4-FFF2-40B4-BE49-F238E27FC236}">
                <a16:creationId xmlns:a16="http://schemas.microsoft.com/office/drawing/2014/main" id="{208AD8E7-B22C-68C6-536F-2E17120C4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14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1544" name="Text Box 43">
            <a:extLst>
              <a:ext uri="{FF2B5EF4-FFF2-40B4-BE49-F238E27FC236}">
                <a16:creationId xmlns:a16="http://schemas.microsoft.com/office/drawing/2014/main" id="{81A8DB38-8FC6-F1E8-6FEB-019D32572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5848350"/>
            <a:ext cx="444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in List with minimum distance.</a:t>
            </a:r>
          </a:p>
        </p:txBody>
      </p:sp>
      <p:sp>
        <p:nvSpPr>
          <p:cNvPr id="21545" name="Text Box 44">
            <a:extLst>
              <a:ext uri="{FF2B5EF4-FFF2-40B4-BE49-F238E27FC236}">
                <a16:creationId xmlns:a16="http://schemas.microsoft.com/office/drawing/2014/main" id="{96B80C81-55B0-C1C0-6927-BCAA57250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1546" name="Text Box 45">
            <a:extLst>
              <a:ext uri="{FF2B5EF4-FFF2-40B4-BE49-F238E27FC236}">
                <a16:creationId xmlns:a16="http://schemas.microsoft.com/office/drawing/2014/main" id="{174E50CC-721F-1BB9-251D-677F82671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1547" name="Text Box 46">
            <a:extLst>
              <a:ext uri="{FF2B5EF4-FFF2-40B4-BE49-F238E27FC236}">
                <a16:creationId xmlns:a16="http://schemas.microsoft.com/office/drawing/2014/main" id="{79901E23-CAEA-F043-BD55-5C73919DE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68" y="2112963"/>
            <a:ext cx="255155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Distance(source) = 0</a:t>
            </a:r>
          </a:p>
        </p:txBody>
      </p:sp>
      <p:sp>
        <p:nvSpPr>
          <p:cNvPr id="21548" name="Line 47">
            <a:extLst>
              <a:ext uri="{FF2B5EF4-FFF2-40B4-BE49-F238E27FC236}">
                <a16:creationId xmlns:a16="http://schemas.microsoft.com/office/drawing/2014/main" id="{4976B500-BE65-7E09-A044-406D00866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362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1549" name="Text Box 48">
            <a:extLst>
              <a:ext uri="{FF2B5EF4-FFF2-40B4-BE49-F238E27FC236}">
                <a16:creationId xmlns:a16="http://schemas.microsoft.com/office/drawing/2014/main" id="{1C1746DE-9B4C-E66A-1556-783539C04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133600"/>
            <a:ext cx="2514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Distance (all vertices but source) = </a:t>
            </a: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D4B846-7E7D-44EF-1C48-034B58C88B64}"/>
              </a:ext>
            </a:extLst>
          </p:cNvPr>
          <p:cNvGraphicFramePr>
            <a:graphicFrameLocks noGrp="1"/>
          </p:cNvGraphicFramePr>
          <p:nvPr/>
        </p:nvGraphicFramePr>
        <p:xfrm>
          <a:off x="173736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42446138-DBE1-2D18-41A3-116ACD8D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2D208EE-509D-4D17-B664-97167DE7DBE5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F56EB5C-8D17-A483-0349-BEB6EC53A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Update neighbors' distance</a:t>
            </a:r>
          </a:p>
        </p:txBody>
      </p:sp>
      <p:sp>
        <p:nvSpPr>
          <p:cNvPr id="22532" name="Oval 3">
            <a:extLst>
              <a:ext uri="{FF2B5EF4-FFF2-40B4-BE49-F238E27FC236}">
                <a16:creationId xmlns:a16="http://schemas.microsoft.com/office/drawing/2014/main" id="{368D999D-66DD-57E9-BF10-D747F3D16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2533" name="Oval 4">
            <a:extLst>
              <a:ext uri="{FF2B5EF4-FFF2-40B4-BE49-F238E27FC236}">
                <a16:creationId xmlns:a16="http://schemas.microsoft.com/office/drawing/2014/main" id="{F12AF461-7C3A-3F9D-013F-DF01E926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2534" name="Oval 5">
            <a:extLst>
              <a:ext uri="{FF2B5EF4-FFF2-40B4-BE49-F238E27FC236}">
                <a16:creationId xmlns:a16="http://schemas.microsoft.com/office/drawing/2014/main" id="{1316CC14-19BE-B048-7A55-46C556B7F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2535" name="AutoShape 6">
            <a:extLst>
              <a:ext uri="{FF2B5EF4-FFF2-40B4-BE49-F238E27FC236}">
                <a16:creationId xmlns:a16="http://schemas.microsoft.com/office/drawing/2014/main" id="{2F11C900-EEC7-ED29-62B6-2F7241DCF6C5}"/>
              </a:ext>
            </a:extLst>
          </p:cNvPr>
          <p:cNvCxnSpPr>
            <a:cxnSpLocks noChangeShapeType="1"/>
            <a:stCxn id="22533" idx="2"/>
            <a:endCxn id="22534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6" name="AutoShape 7">
            <a:extLst>
              <a:ext uri="{FF2B5EF4-FFF2-40B4-BE49-F238E27FC236}">
                <a16:creationId xmlns:a16="http://schemas.microsoft.com/office/drawing/2014/main" id="{9D0F442F-ECD4-9F2F-6F27-0526FF3CB427}"/>
              </a:ext>
            </a:extLst>
          </p:cNvPr>
          <p:cNvCxnSpPr>
            <a:cxnSpLocks noChangeShapeType="1"/>
            <a:stCxn id="22548" idx="2"/>
            <a:endCxn id="22545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7" name="AutoShape 8">
            <a:extLst>
              <a:ext uri="{FF2B5EF4-FFF2-40B4-BE49-F238E27FC236}">
                <a16:creationId xmlns:a16="http://schemas.microsoft.com/office/drawing/2014/main" id="{57518027-6FFC-5B9A-41D5-3B47ECE070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8" name="Oval 9">
            <a:extLst>
              <a:ext uri="{FF2B5EF4-FFF2-40B4-BE49-F238E27FC236}">
                <a16:creationId xmlns:a16="http://schemas.microsoft.com/office/drawing/2014/main" id="{0BCE7FE5-40AF-6CA6-392D-F4F6E34D5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2539" name="Oval 10">
            <a:extLst>
              <a:ext uri="{FF2B5EF4-FFF2-40B4-BE49-F238E27FC236}">
                <a16:creationId xmlns:a16="http://schemas.microsoft.com/office/drawing/2014/main" id="{B7230CA5-6D20-71C9-4697-F04076AB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2540" name="AutoShape 11">
            <a:extLst>
              <a:ext uri="{FF2B5EF4-FFF2-40B4-BE49-F238E27FC236}">
                <a16:creationId xmlns:a16="http://schemas.microsoft.com/office/drawing/2014/main" id="{FD5E0A99-F5C7-9BA6-3F95-09A5CF9946B0}"/>
              </a:ext>
            </a:extLst>
          </p:cNvPr>
          <p:cNvCxnSpPr>
            <a:cxnSpLocks noChangeShapeType="1"/>
            <a:stCxn id="22539" idx="2"/>
            <a:endCxn id="22548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2">
            <a:extLst>
              <a:ext uri="{FF2B5EF4-FFF2-40B4-BE49-F238E27FC236}">
                <a16:creationId xmlns:a16="http://schemas.microsoft.com/office/drawing/2014/main" id="{265E6F66-F4AB-0C46-BE82-10E998BCE0F4}"/>
              </a:ext>
            </a:extLst>
          </p:cNvPr>
          <p:cNvCxnSpPr>
            <a:cxnSpLocks noChangeShapeType="1"/>
            <a:stCxn id="22539" idx="1"/>
            <a:endCxn id="22538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2" name="AutoShape 13">
            <a:extLst>
              <a:ext uri="{FF2B5EF4-FFF2-40B4-BE49-F238E27FC236}">
                <a16:creationId xmlns:a16="http://schemas.microsoft.com/office/drawing/2014/main" id="{DCF76DE6-40DB-78F9-842B-68851E4E60EF}"/>
              </a:ext>
            </a:extLst>
          </p:cNvPr>
          <p:cNvCxnSpPr>
            <a:cxnSpLocks noChangeShapeType="1"/>
            <a:stCxn id="22533" idx="7"/>
            <a:endCxn id="22539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AutoShape 14">
            <a:extLst>
              <a:ext uri="{FF2B5EF4-FFF2-40B4-BE49-F238E27FC236}">
                <a16:creationId xmlns:a16="http://schemas.microsoft.com/office/drawing/2014/main" id="{95207505-7C03-2DEF-E8F2-760B4BDFCFB9}"/>
              </a:ext>
            </a:extLst>
          </p:cNvPr>
          <p:cNvCxnSpPr>
            <a:cxnSpLocks noChangeShapeType="1"/>
            <a:stCxn id="22532" idx="5"/>
            <a:endCxn id="22548" idx="1"/>
          </p:cNvCxnSpPr>
          <p:nvPr/>
        </p:nvCxnSpPr>
        <p:spPr bwMode="auto">
          <a:xfrm>
            <a:off x="3743325" y="2843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5">
            <a:extLst>
              <a:ext uri="{FF2B5EF4-FFF2-40B4-BE49-F238E27FC236}">
                <a16:creationId xmlns:a16="http://schemas.microsoft.com/office/drawing/2014/main" id="{132C8EA4-5398-EC87-FC79-568F1C4EC25B}"/>
              </a:ext>
            </a:extLst>
          </p:cNvPr>
          <p:cNvCxnSpPr>
            <a:cxnSpLocks noChangeShapeType="1"/>
            <a:stCxn id="22538" idx="3"/>
            <a:endCxn id="22548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5" name="Oval 16">
            <a:extLst>
              <a:ext uri="{FF2B5EF4-FFF2-40B4-BE49-F238E27FC236}">
                <a16:creationId xmlns:a16="http://schemas.microsoft.com/office/drawing/2014/main" id="{3FA1B3DD-7FF5-B4DF-8A79-AF81BF2D0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2546" name="AutoShape 17">
            <a:extLst>
              <a:ext uri="{FF2B5EF4-FFF2-40B4-BE49-F238E27FC236}">
                <a16:creationId xmlns:a16="http://schemas.microsoft.com/office/drawing/2014/main" id="{0B458FB6-BCFA-653A-9539-DEEC337AC597}"/>
              </a:ext>
            </a:extLst>
          </p:cNvPr>
          <p:cNvCxnSpPr>
            <a:cxnSpLocks noChangeShapeType="1"/>
            <a:stCxn id="22545" idx="7"/>
            <a:endCxn id="22532" idx="3"/>
          </p:cNvCxnSpPr>
          <p:nvPr/>
        </p:nvCxnSpPr>
        <p:spPr bwMode="auto">
          <a:xfrm flipV="1">
            <a:off x="2752725" y="2843213"/>
            <a:ext cx="666750" cy="8048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18">
            <a:extLst>
              <a:ext uri="{FF2B5EF4-FFF2-40B4-BE49-F238E27FC236}">
                <a16:creationId xmlns:a16="http://schemas.microsoft.com/office/drawing/2014/main" id="{1B57911A-A0BA-7EC9-23A4-8B5F54F5A5B9}"/>
              </a:ext>
            </a:extLst>
          </p:cNvPr>
          <p:cNvCxnSpPr>
            <a:cxnSpLocks noChangeShapeType="1"/>
            <a:stCxn id="22534" idx="1"/>
            <a:endCxn id="22545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8" name="Oval 19">
            <a:extLst>
              <a:ext uri="{FF2B5EF4-FFF2-40B4-BE49-F238E27FC236}">
                <a16:creationId xmlns:a16="http://schemas.microsoft.com/office/drawing/2014/main" id="{7DD86643-CE7B-5D78-48CC-845E62135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2549" name="AutoShape 20">
            <a:extLst>
              <a:ext uri="{FF2B5EF4-FFF2-40B4-BE49-F238E27FC236}">
                <a16:creationId xmlns:a16="http://schemas.microsoft.com/office/drawing/2014/main" id="{A319A727-3143-2E88-0753-A59E2F7DC943}"/>
              </a:ext>
            </a:extLst>
          </p:cNvPr>
          <p:cNvCxnSpPr>
            <a:cxnSpLocks noChangeShapeType="1"/>
            <a:stCxn id="22533" idx="1"/>
            <a:endCxn id="22548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1">
            <a:extLst>
              <a:ext uri="{FF2B5EF4-FFF2-40B4-BE49-F238E27FC236}">
                <a16:creationId xmlns:a16="http://schemas.microsoft.com/office/drawing/2014/main" id="{361977BF-AE13-8BD2-F2B5-9EF4BCF38F55}"/>
              </a:ext>
            </a:extLst>
          </p:cNvPr>
          <p:cNvCxnSpPr>
            <a:cxnSpLocks noChangeShapeType="1"/>
            <a:stCxn id="22534" idx="7"/>
            <a:endCxn id="22548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1" name="Text Box 22">
            <a:extLst>
              <a:ext uri="{FF2B5EF4-FFF2-40B4-BE49-F238E27FC236}">
                <a16:creationId xmlns:a16="http://schemas.microsoft.com/office/drawing/2014/main" id="{2DB40C6C-4169-B43F-97DF-F49F36157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2552" name="Text Box 23">
            <a:extLst>
              <a:ext uri="{FF2B5EF4-FFF2-40B4-BE49-F238E27FC236}">
                <a16:creationId xmlns:a16="http://schemas.microsoft.com/office/drawing/2014/main" id="{C3D2A812-8819-303D-FC75-0B9E87CE0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2553" name="Text Box 24">
            <a:extLst>
              <a:ext uri="{FF2B5EF4-FFF2-40B4-BE49-F238E27FC236}">
                <a16:creationId xmlns:a16="http://schemas.microsoft.com/office/drawing/2014/main" id="{D3133D0C-ABA8-36B0-0B31-BD79FFB1F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2554" name="Text Box 25">
            <a:extLst>
              <a:ext uri="{FF2B5EF4-FFF2-40B4-BE49-F238E27FC236}">
                <a16:creationId xmlns:a16="http://schemas.microsoft.com/office/drawing/2014/main" id="{8F3F61E0-5593-7290-F033-90460933B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2555" name="Text Box 26">
            <a:extLst>
              <a:ext uri="{FF2B5EF4-FFF2-40B4-BE49-F238E27FC236}">
                <a16:creationId xmlns:a16="http://schemas.microsoft.com/office/drawing/2014/main" id="{1A05C82F-FC0F-3F0A-C501-6397300AA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2556" name="Text Box 27">
            <a:extLst>
              <a:ext uri="{FF2B5EF4-FFF2-40B4-BE49-F238E27FC236}">
                <a16:creationId xmlns:a16="http://schemas.microsoft.com/office/drawing/2014/main" id="{5D0A5D25-3816-E1CD-7AA7-2581F2A35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2557" name="Text Box 28">
            <a:extLst>
              <a:ext uri="{FF2B5EF4-FFF2-40B4-BE49-F238E27FC236}">
                <a16:creationId xmlns:a16="http://schemas.microsoft.com/office/drawing/2014/main" id="{097D92EB-713B-D9D7-4DE1-8E699181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2558" name="Text Box 29">
            <a:extLst>
              <a:ext uri="{FF2B5EF4-FFF2-40B4-BE49-F238E27FC236}">
                <a16:creationId xmlns:a16="http://schemas.microsoft.com/office/drawing/2014/main" id="{ABD13352-625D-CDCF-113E-60ED789AF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2559" name="Text Box 30">
            <a:extLst>
              <a:ext uri="{FF2B5EF4-FFF2-40B4-BE49-F238E27FC236}">
                <a16:creationId xmlns:a16="http://schemas.microsoft.com/office/drawing/2014/main" id="{05D71585-6FE1-FF4A-9AEB-BE9B650FC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2560" name="Text Box 31">
            <a:extLst>
              <a:ext uri="{FF2B5EF4-FFF2-40B4-BE49-F238E27FC236}">
                <a16:creationId xmlns:a16="http://schemas.microsoft.com/office/drawing/2014/main" id="{74FB706D-1C46-AD22-F342-ED64782D8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2561" name="Text Box 32">
            <a:extLst>
              <a:ext uri="{FF2B5EF4-FFF2-40B4-BE49-F238E27FC236}">
                <a16:creationId xmlns:a16="http://schemas.microsoft.com/office/drawing/2014/main" id="{0B7F3424-AEB8-A987-B260-A65CEEC9E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2562" name="Text Box 33">
            <a:extLst>
              <a:ext uri="{FF2B5EF4-FFF2-40B4-BE49-F238E27FC236}">
                <a16:creationId xmlns:a16="http://schemas.microsoft.com/office/drawing/2014/main" id="{D7425A90-23F6-4932-D255-6F807D34A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2563" name="Text Box 34">
            <a:extLst>
              <a:ext uri="{FF2B5EF4-FFF2-40B4-BE49-F238E27FC236}">
                <a16:creationId xmlns:a16="http://schemas.microsoft.com/office/drawing/2014/main" id="{9D4CB0E6-550D-0AD5-FCE0-41E918999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2564" name="Text Box 35">
            <a:extLst>
              <a:ext uri="{FF2B5EF4-FFF2-40B4-BE49-F238E27FC236}">
                <a16:creationId xmlns:a16="http://schemas.microsoft.com/office/drawing/2014/main" id="{AAC9857C-7872-25FD-497E-B7A812A4D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2565" name="Text Box 36">
            <a:extLst>
              <a:ext uri="{FF2B5EF4-FFF2-40B4-BE49-F238E27FC236}">
                <a16:creationId xmlns:a16="http://schemas.microsoft.com/office/drawing/2014/main" id="{155DFE9E-899D-03F6-2EFC-6B3DE3B11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576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2566" name="Text Box 37">
            <a:extLst>
              <a:ext uri="{FF2B5EF4-FFF2-40B4-BE49-F238E27FC236}">
                <a16:creationId xmlns:a16="http://schemas.microsoft.com/office/drawing/2014/main" id="{3C3BBF62-F7AB-04C2-684C-37BBFF5B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814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2567" name="Text Box 38">
            <a:extLst>
              <a:ext uri="{FF2B5EF4-FFF2-40B4-BE49-F238E27FC236}">
                <a16:creationId xmlns:a16="http://schemas.microsoft.com/office/drawing/2014/main" id="{AF431BFC-BC4B-C644-645C-BE5EF6731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2568" name="Text Box 45">
            <a:extLst>
              <a:ext uri="{FF2B5EF4-FFF2-40B4-BE49-F238E27FC236}">
                <a16:creationId xmlns:a16="http://schemas.microsoft.com/office/drawing/2014/main" id="{58ECAE5B-2252-CEA3-1F0D-DAD16E002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2569" name="Text Box 46">
            <a:extLst>
              <a:ext uri="{FF2B5EF4-FFF2-40B4-BE49-F238E27FC236}">
                <a16:creationId xmlns:a16="http://schemas.microsoft.com/office/drawing/2014/main" id="{E3857324-BDDC-1601-E680-278F750B8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/>
          </a:p>
        </p:txBody>
      </p:sp>
      <p:sp>
        <p:nvSpPr>
          <p:cNvPr id="22572" name="Line 43">
            <a:extLst>
              <a:ext uri="{FF2B5EF4-FFF2-40B4-BE49-F238E27FC236}">
                <a16:creationId xmlns:a16="http://schemas.microsoft.com/office/drawing/2014/main" id="{61F349B9-F07F-3937-14F6-1ECCB17D8A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2573" name="Line 44">
            <a:extLst>
              <a:ext uri="{FF2B5EF4-FFF2-40B4-BE49-F238E27FC236}">
                <a16:creationId xmlns:a16="http://schemas.microsoft.com/office/drawing/2014/main" id="{3ED6E4F2-89CC-6B5C-4A86-F51056AA31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36C986-D7E2-7B3F-9BA4-AE42B5CDCF5D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A15D0490-E6A5-8F42-7678-14740439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9E48F13-FBD7-4B83-9293-4C3F363B941B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C754BEB-C7CA-8EE8-C836-FAC1B9D9B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Remove vertex with minimum distance</a:t>
            </a:r>
          </a:p>
        </p:txBody>
      </p:sp>
      <p:sp>
        <p:nvSpPr>
          <p:cNvPr id="23556" name="Text Box 41">
            <a:extLst>
              <a:ext uri="{FF2B5EF4-FFF2-40B4-BE49-F238E27FC236}">
                <a16:creationId xmlns:a16="http://schemas.microsoft.com/office/drawing/2014/main" id="{17FB60E2-B1F3-F131-8479-72DCEEFC3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813" y="5848350"/>
            <a:ext cx="5111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in List with minimum distance, i.e., D</a:t>
            </a:r>
          </a:p>
        </p:txBody>
      </p:sp>
      <p:grpSp>
        <p:nvGrpSpPr>
          <p:cNvPr id="23557" name="Group 45">
            <a:extLst>
              <a:ext uri="{FF2B5EF4-FFF2-40B4-BE49-F238E27FC236}">
                <a16:creationId xmlns:a16="http://schemas.microsoft.com/office/drawing/2014/main" id="{B7DD366F-533E-8C2F-D949-93F577A1ADF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027238"/>
            <a:ext cx="5262563" cy="3600450"/>
            <a:chOff x="1248" y="1277"/>
            <a:chExt cx="3315" cy="2268"/>
          </a:xfrm>
        </p:grpSpPr>
        <p:sp>
          <p:nvSpPr>
            <p:cNvPr id="23560" name="Oval 3">
              <a:extLst>
                <a:ext uri="{FF2B5EF4-FFF2-40B4-BE49-F238E27FC236}">
                  <a16:creationId xmlns:a16="http://schemas.microsoft.com/office/drawing/2014/main" id="{98DCCC74-1300-BD82-F199-C9766A69C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536"/>
              <a:ext cx="288" cy="28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anose="02020603050405020304" pitchFamily="18" charset="0"/>
                </a:rPr>
                <a:t>A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61" name="Oval 4">
              <a:extLst>
                <a:ext uri="{FF2B5EF4-FFF2-40B4-BE49-F238E27FC236}">
                  <a16:creationId xmlns:a16="http://schemas.microsoft.com/office/drawing/2014/main" id="{7081E2B0-5D4D-9AD4-BBE8-782D32403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anose="02020603050405020304" pitchFamily="18" charset="0"/>
                </a:rPr>
                <a:t>G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62" name="Oval 5">
              <a:extLst>
                <a:ext uri="{FF2B5EF4-FFF2-40B4-BE49-F238E27FC236}">
                  <a16:creationId xmlns:a16="http://schemas.microsoft.com/office/drawing/2014/main" id="{94656818-6614-BB4D-175A-8C27BB5CF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anose="02020603050405020304" pitchFamily="18" charset="0"/>
                </a:rPr>
                <a:t>F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23563" name="AutoShape 6">
              <a:extLst>
                <a:ext uri="{FF2B5EF4-FFF2-40B4-BE49-F238E27FC236}">
                  <a16:creationId xmlns:a16="http://schemas.microsoft.com/office/drawing/2014/main" id="{CB655D1B-6127-A1E8-F6C5-C1A0E44C56EB}"/>
                </a:ext>
              </a:extLst>
            </p:cNvPr>
            <p:cNvCxnSpPr>
              <a:cxnSpLocks noChangeShapeType="1"/>
              <a:stCxn id="23561" idx="2"/>
              <a:endCxn id="23562" idx="6"/>
            </p:cNvCxnSpPr>
            <p:nvPr/>
          </p:nvCxnSpPr>
          <p:spPr bwMode="auto">
            <a:xfrm flipH="1">
              <a:off x="2400" y="312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4" name="AutoShape 7">
              <a:extLst>
                <a:ext uri="{FF2B5EF4-FFF2-40B4-BE49-F238E27FC236}">
                  <a16:creationId xmlns:a16="http://schemas.microsoft.com/office/drawing/2014/main" id="{A54DC3D7-A44A-364B-5043-C72C882865C1}"/>
                </a:ext>
              </a:extLst>
            </p:cNvPr>
            <p:cNvCxnSpPr>
              <a:cxnSpLocks noChangeShapeType="1"/>
              <a:stCxn id="23576" idx="2"/>
              <a:endCxn id="23573" idx="6"/>
            </p:cNvCxnSpPr>
            <p:nvPr/>
          </p:nvCxnSpPr>
          <p:spPr bwMode="auto">
            <a:xfrm flipH="1">
              <a:off x="1776" y="240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5" name="AutoShape 8">
              <a:extLst>
                <a:ext uri="{FF2B5EF4-FFF2-40B4-BE49-F238E27FC236}">
                  <a16:creationId xmlns:a16="http://schemas.microsoft.com/office/drawing/2014/main" id="{2918A084-6CC6-DE8E-7AD1-78B7A0E48D6D}"/>
                </a:ext>
              </a:extLst>
            </p:cNvPr>
            <p:cNvCxnSpPr>
              <a:cxnSpLocks noChangeShapeType="1"/>
              <a:stCxn id="23560" idx="6"/>
              <a:endCxn id="23566" idx="2"/>
            </p:cNvCxnSpPr>
            <p:nvPr/>
          </p:nvCxnSpPr>
          <p:spPr bwMode="auto">
            <a:xfrm>
              <a:off x="2400" y="168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6" name="Oval 9">
              <a:extLst>
                <a:ext uri="{FF2B5EF4-FFF2-40B4-BE49-F238E27FC236}">
                  <a16:creationId xmlns:a16="http://schemas.microsoft.com/office/drawing/2014/main" id="{C5809F29-BE8A-0E7C-9CA0-39D03D9A7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3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67" name="Oval 10">
              <a:extLst>
                <a:ext uri="{FF2B5EF4-FFF2-40B4-BE49-F238E27FC236}">
                  <a16:creationId xmlns:a16="http://schemas.microsoft.com/office/drawing/2014/main" id="{6BEBEF14-074C-9352-45BA-7F7B1E170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anose="02020603050405020304" pitchFamily="18" charset="0"/>
                </a:rPr>
                <a:t>E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23568" name="AutoShape 11">
              <a:extLst>
                <a:ext uri="{FF2B5EF4-FFF2-40B4-BE49-F238E27FC236}">
                  <a16:creationId xmlns:a16="http://schemas.microsoft.com/office/drawing/2014/main" id="{A0B50EC1-0C0D-D5C9-AC15-92FD3E748428}"/>
                </a:ext>
              </a:extLst>
            </p:cNvPr>
            <p:cNvCxnSpPr>
              <a:cxnSpLocks noChangeShapeType="1"/>
              <a:stCxn id="23567" idx="2"/>
              <a:endCxn id="23576" idx="6"/>
            </p:cNvCxnSpPr>
            <p:nvPr/>
          </p:nvCxnSpPr>
          <p:spPr bwMode="auto">
            <a:xfrm flipH="1">
              <a:off x="3072" y="2400"/>
              <a:ext cx="91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9" name="AutoShape 12">
              <a:extLst>
                <a:ext uri="{FF2B5EF4-FFF2-40B4-BE49-F238E27FC236}">
                  <a16:creationId xmlns:a16="http://schemas.microsoft.com/office/drawing/2014/main" id="{77328816-1E83-86AB-CB06-AB0569A2A8FF}"/>
                </a:ext>
              </a:extLst>
            </p:cNvPr>
            <p:cNvCxnSpPr>
              <a:cxnSpLocks noChangeShapeType="1"/>
              <a:stCxn id="23567" idx="1"/>
              <a:endCxn id="23566" idx="5"/>
            </p:cNvCxnSpPr>
            <p:nvPr/>
          </p:nvCxnSpPr>
          <p:spPr bwMode="auto">
            <a:xfrm flipH="1" flipV="1">
              <a:off x="3654" y="178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0" name="AutoShape 13">
              <a:extLst>
                <a:ext uri="{FF2B5EF4-FFF2-40B4-BE49-F238E27FC236}">
                  <a16:creationId xmlns:a16="http://schemas.microsoft.com/office/drawing/2014/main" id="{8E715FFD-B16B-688F-8FAD-D04C0D230035}"/>
                </a:ext>
              </a:extLst>
            </p:cNvPr>
            <p:cNvCxnSpPr>
              <a:cxnSpLocks noChangeShapeType="1"/>
              <a:stCxn id="23561" idx="7"/>
              <a:endCxn id="23567" idx="3"/>
            </p:cNvCxnSpPr>
            <p:nvPr/>
          </p:nvCxnSpPr>
          <p:spPr bwMode="auto">
            <a:xfrm flipV="1">
              <a:off x="3654" y="250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1" name="AutoShape 14">
              <a:extLst>
                <a:ext uri="{FF2B5EF4-FFF2-40B4-BE49-F238E27FC236}">
                  <a16:creationId xmlns:a16="http://schemas.microsoft.com/office/drawing/2014/main" id="{47C10CA6-2595-9AB1-4164-C3B981478D76}"/>
                </a:ext>
              </a:extLst>
            </p:cNvPr>
            <p:cNvCxnSpPr>
              <a:cxnSpLocks noChangeShapeType="1"/>
              <a:stCxn id="23560" idx="5"/>
              <a:endCxn id="23576" idx="1"/>
            </p:cNvCxnSpPr>
            <p:nvPr/>
          </p:nvCxnSpPr>
          <p:spPr bwMode="auto">
            <a:xfrm>
              <a:off x="2358" y="178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2" name="AutoShape 15">
              <a:extLst>
                <a:ext uri="{FF2B5EF4-FFF2-40B4-BE49-F238E27FC236}">
                  <a16:creationId xmlns:a16="http://schemas.microsoft.com/office/drawing/2014/main" id="{036B1737-0FEA-8803-DB58-CA36F4B78D49}"/>
                </a:ext>
              </a:extLst>
            </p:cNvPr>
            <p:cNvCxnSpPr>
              <a:cxnSpLocks noChangeShapeType="1"/>
              <a:stCxn id="23566" idx="3"/>
              <a:endCxn id="23576" idx="7"/>
            </p:cNvCxnSpPr>
            <p:nvPr/>
          </p:nvCxnSpPr>
          <p:spPr bwMode="auto">
            <a:xfrm flipH="1">
              <a:off x="3030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3" name="Oval 16">
              <a:extLst>
                <a:ext uri="{FF2B5EF4-FFF2-40B4-BE49-F238E27FC236}">
                  <a16:creationId xmlns:a16="http://schemas.microsoft.com/office/drawing/2014/main" id="{33740359-603B-D15D-6D18-165DC943A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anose="02020603050405020304" pitchFamily="18" charset="0"/>
                </a:rPr>
                <a:t>C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23574" name="AutoShape 17">
              <a:extLst>
                <a:ext uri="{FF2B5EF4-FFF2-40B4-BE49-F238E27FC236}">
                  <a16:creationId xmlns:a16="http://schemas.microsoft.com/office/drawing/2014/main" id="{B1BDC448-4503-AEFA-D3FF-2E41F7087C85}"/>
                </a:ext>
              </a:extLst>
            </p:cNvPr>
            <p:cNvCxnSpPr>
              <a:cxnSpLocks noChangeShapeType="1"/>
              <a:stCxn id="23573" idx="7"/>
              <a:endCxn id="23560" idx="3"/>
            </p:cNvCxnSpPr>
            <p:nvPr/>
          </p:nvCxnSpPr>
          <p:spPr bwMode="auto">
            <a:xfrm flipV="1">
              <a:off x="1734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5" name="AutoShape 18">
              <a:extLst>
                <a:ext uri="{FF2B5EF4-FFF2-40B4-BE49-F238E27FC236}">
                  <a16:creationId xmlns:a16="http://schemas.microsoft.com/office/drawing/2014/main" id="{2C9B8AA2-65FB-0617-4B62-2980FAB5C6A4}"/>
                </a:ext>
              </a:extLst>
            </p:cNvPr>
            <p:cNvCxnSpPr>
              <a:cxnSpLocks noChangeShapeType="1"/>
              <a:stCxn id="23562" idx="1"/>
              <a:endCxn id="23573" idx="5"/>
            </p:cNvCxnSpPr>
            <p:nvPr/>
          </p:nvCxnSpPr>
          <p:spPr bwMode="auto">
            <a:xfrm flipH="1" flipV="1">
              <a:off x="1734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6" name="Oval 19">
              <a:extLst>
                <a:ext uri="{FF2B5EF4-FFF2-40B4-BE49-F238E27FC236}">
                  <a16:creationId xmlns:a16="http://schemas.microsoft.com/office/drawing/2014/main" id="{8B5CB716-5862-1F00-6A4A-CAF3AB126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256"/>
              <a:ext cx="288" cy="2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latin typeface="Times New Roman" panose="02020603050405020304" pitchFamily="18" charset="0"/>
                </a:rPr>
                <a:t>D</a:t>
              </a:r>
              <a:endParaRPr lang="en-US" altLang="en-US" sz="1800" baseline="-250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23577" name="AutoShape 20">
              <a:extLst>
                <a:ext uri="{FF2B5EF4-FFF2-40B4-BE49-F238E27FC236}">
                  <a16:creationId xmlns:a16="http://schemas.microsoft.com/office/drawing/2014/main" id="{3403F0A8-AD92-39FE-654E-F9EFFF17C3A4}"/>
                </a:ext>
              </a:extLst>
            </p:cNvPr>
            <p:cNvCxnSpPr>
              <a:cxnSpLocks noChangeShapeType="1"/>
              <a:stCxn id="23561" idx="1"/>
              <a:endCxn id="23576" idx="5"/>
            </p:cNvCxnSpPr>
            <p:nvPr/>
          </p:nvCxnSpPr>
          <p:spPr bwMode="auto">
            <a:xfrm flipH="1" flipV="1">
              <a:off x="3030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8" name="AutoShape 21">
              <a:extLst>
                <a:ext uri="{FF2B5EF4-FFF2-40B4-BE49-F238E27FC236}">
                  <a16:creationId xmlns:a16="http://schemas.microsoft.com/office/drawing/2014/main" id="{4AFD9DF3-F80A-8067-8492-2F8066A79C8D}"/>
                </a:ext>
              </a:extLst>
            </p:cNvPr>
            <p:cNvCxnSpPr>
              <a:cxnSpLocks noChangeShapeType="1"/>
              <a:stCxn id="23562" idx="7"/>
              <a:endCxn id="23576" idx="3"/>
            </p:cNvCxnSpPr>
            <p:nvPr/>
          </p:nvCxnSpPr>
          <p:spPr bwMode="auto">
            <a:xfrm flipV="1">
              <a:off x="2358" y="250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9" name="Text Box 22">
              <a:extLst>
                <a:ext uri="{FF2B5EF4-FFF2-40B4-BE49-F238E27FC236}">
                  <a16:creationId xmlns:a16="http://schemas.microsoft.com/office/drawing/2014/main" id="{E22F651C-0C69-E6F1-80C0-8DDDC8A49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7" y="193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4</a:t>
              </a:r>
            </a:p>
          </p:txBody>
        </p:sp>
        <p:sp>
          <p:nvSpPr>
            <p:cNvPr id="23580" name="Text Box 23">
              <a:extLst>
                <a:ext uri="{FF2B5EF4-FFF2-40B4-BE49-F238E27FC236}">
                  <a16:creationId xmlns:a16="http://schemas.microsoft.com/office/drawing/2014/main" id="{A078C7FC-30BB-5081-D38A-4E52B6B8D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1</a:t>
              </a:r>
            </a:p>
          </p:txBody>
        </p:sp>
        <p:sp>
          <p:nvSpPr>
            <p:cNvPr id="23581" name="Text Box 24">
              <a:extLst>
                <a:ext uri="{FF2B5EF4-FFF2-40B4-BE49-F238E27FC236}">
                  <a16:creationId xmlns:a16="http://schemas.microsoft.com/office/drawing/2014/main" id="{9FC34A85-CA0F-5B40-96D6-CE5047C22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53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2</a:t>
              </a:r>
            </a:p>
          </p:txBody>
        </p:sp>
        <p:sp>
          <p:nvSpPr>
            <p:cNvPr id="23582" name="Text Box 25">
              <a:extLst>
                <a:ext uri="{FF2B5EF4-FFF2-40B4-BE49-F238E27FC236}">
                  <a16:creationId xmlns:a16="http://schemas.microsoft.com/office/drawing/2014/main" id="{9AA7CF1F-D20E-2259-A2C5-2C771A6A0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3" y="1930"/>
              <a:ext cx="2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10</a:t>
              </a:r>
            </a:p>
          </p:txBody>
        </p:sp>
        <p:sp>
          <p:nvSpPr>
            <p:cNvPr id="23583" name="Text Box 26">
              <a:extLst>
                <a:ext uri="{FF2B5EF4-FFF2-40B4-BE49-F238E27FC236}">
                  <a16:creationId xmlns:a16="http://schemas.microsoft.com/office/drawing/2014/main" id="{7E11E077-CC96-3923-EB89-A3D25EA25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3</a:t>
              </a:r>
            </a:p>
          </p:txBody>
        </p:sp>
        <p:sp>
          <p:nvSpPr>
            <p:cNvPr id="23584" name="Text Box 27">
              <a:extLst>
                <a:ext uri="{FF2B5EF4-FFF2-40B4-BE49-F238E27FC236}">
                  <a16:creationId xmlns:a16="http://schemas.microsoft.com/office/drawing/2014/main" id="{642DA4A0-CFA8-8CB6-0118-44C16A72A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6</a:t>
              </a:r>
            </a:p>
          </p:txBody>
        </p:sp>
        <p:sp>
          <p:nvSpPr>
            <p:cNvPr id="23585" name="Text Box 28">
              <a:extLst>
                <a:ext uri="{FF2B5EF4-FFF2-40B4-BE49-F238E27FC236}">
                  <a16:creationId xmlns:a16="http://schemas.microsoft.com/office/drawing/2014/main" id="{31842EA8-DFCD-3C2F-8862-27D0C47B0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4</a:t>
              </a:r>
            </a:p>
          </p:txBody>
        </p:sp>
        <p:sp>
          <p:nvSpPr>
            <p:cNvPr id="23586" name="Text Box 29">
              <a:extLst>
                <a:ext uri="{FF2B5EF4-FFF2-40B4-BE49-F238E27FC236}">
                  <a16:creationId xmlns:a16="http://schemas.microsoft.com/office/drawing/2014/main" id="{2522241E-1D5F-9198-D251-83A749E9B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2</a:t>
              </a:r>
            </a:p>
          </p:txBody>
        </p:sp>
        <p:sp>
          <p:nvSpPr>
            <p:cNvPr id="23587" name="Text Box 30">
              <a:extLst>
                <a:ext uri="{FF2B5EF4-FFF2-40B4-BE49-F238E27FC236}">
                  <a16:creationId xmlns:a16="http://schemas.microsoft.com/office/drawing/2014/main" id="{C8680BA8-D28F-B9A1-0A64-2600A13A4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2</a:t>
              </a:r>
            </a:p>
          </p:txBody>
        </p:sp>
        <p:sp>
          <p:nvSpPr>
            <p:cNvPr id="23588" name="Text Box 31">
              <a:extLst>
                <a:ext uri="{FF2B5EF4-FFF2-40B4-BE49-F238E27FC236}">
                  <a16:creationId xmlns:a16="http://schemas.microsoft.com/office/drawing/2014/main" id="{0EBD6137-FB68-01E2-5E87-39D790E2B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8</a:t>
              </a:r>
            </a:p>
          </p:txBody>
        </p:sp>
        <p:sp>
          <p:nvSpPr>
            <p:cNvPr id="23589" name="Text Box 32">
              <a:extLst>
                <a:ext uri="{FF2B5EF4-FFF2-40B4-BE49-F238E27FC236}">
                  <a16:creationId xmlns:a16="http://schemas.microsoft.com/office/drawing/2014/main" id="{A9819748-BA3E-D709-4712-CDBC53097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5</a:t>
              </a:r>
            </a:p>
          </p:txBody>
        </p:sp>
        <p:sp>
          <p:nvSpPr>
            <p:cNvPr id="23590" name="Text Box 33">
              <a:extLst>
                <a:ext uri="{FF2B5EF4-FFF2-40B4-BE49-F238E27FC236}">
                  <a16:creationId xmlns:a16="http://schemas.microsoft.com/office/drawing/2014/main" id="{3E6A5A94-BD85-7E5D-09F1-8C412638E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7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/>
                <a:t>1</a:t>
              </a:r>
            </a:p>
          </p:txBody>
        </p:sp>
        <p:sp>
          <p:nvSpPr>
            <p:cNvPr id="23591" name="Text Box 34">
              <a:extLst>
                <a:ext uri="{FF2B5EF4-FFF2-40B4-BE49-F238E27FC236}">
                  <a16:creationId xmlns:a16="http://schemas.microsoft.com/office/drawing/2014/main" id="{04A379E2-DD1F-51A5-5DB1-C339A5C3E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77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0</a:t>
              </a:r>
            </a:p>
          </p:txBody>
        </p:sp>
        <p:sp>
          <p:nvSpPr>
            <p:cNvPr id="23592" name="Text Box 35">
              <a:extLst>
                <a:ext uri="{FF2B5EF4-FFF2-40B4-BE49-F238E27FC236}">
                  <a16:creationId xmlns:a16="http://schemas.microsoft.com/office/drawing/2014/main" id="{FEE0018C-0029-7A29-29DC-2FDA1DB1D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296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anose="05050102010706020507" pitchFamily="18" charset="2"/>
                </a:rPr>
                <a:t>2</a:t>
              </a:r>
              <a:endParaRPr lang="en-US" altLang="en-US" sz="1800"/>
            </a:p>
          </p:txBody>
        </p:sp>
        <p:sp>
          <p:nvSpPr>
            <p:cNvPr id="23593" name="Text Box 36">
              <a:extLst>
                <a:ext uri="{FF2B5EF4-FFF2-40B4-BE49-F238E27FC236}">
                  <a16:creationId xmlns:a16="http://schemas.microsoft.com/office/drawing/2014/main" id="{A50A5BD1-0B43-ED83-D227-EA6BE13F3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304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/>
            </a:p>
          </p:txBody>
        </p:sp>
        <p:sp>
          <p:nvSpPr>
            <p:cNvPr id="23594" name="Text Box 37">
              <a:extLst>
                <a:ext uri="{FF2B5EF4-FFF2-40B4-BE49-F238E27FC236}">
                  <a16:creationId xmlns:a16="http://schemas.microsoft.com/office/drawing/2014/main" id="{5553320E-43D2-2C88-272E-CF973CC5A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256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/>
            </a:p>
          </p:txBody>
        </p:sp>
        <p:sp>
          <p:nvSpPr>
            <p:cNvPr id="23595" name="Text Box 38">
              <a:extLst>
                <a:ext uri="{FF2B5EF4-FFF2-40B4-BE49-F238E27FC236}">
                  <a16:creationId xmlns:a16="http://schemas.microsoft.com/office/drawing/2014/main" id="{E3BC8FD6-952A-3F5D-0401-6DB28DEC8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598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anose="05050102010706020507" pitchFamily="18" charset="2"/>
                </a:rPr>
                <a:t>1</a:t>
              </a:r>
              <a:endParaRPr lang="en-US" altLang="en-US" sz="1800"/>
            </a:p>
          </p:txBody>
        </p:sp>
        <p:sp>
          <p:nvSpPr>
            <p:cNvPr id="23596" name="Text Box 39">
              <a:extLst>
                <a:ext uri="{FF2B5EF4-FFF2-40B4-BE49-F238E27FC236}">
                  <a16:creationId xmlns:a16="http://schemas.microsoft.com/office/drawing/2014/main" id="{1865AC8E-49AE-500C-CCE0-CD34DDDD7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312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/>
            </a:p>
          </p:txBody>
        </p:sp>
        <p:sp>
          <p:nvSpPr>
            <p:cNvPr id="23597" name="Text Box 40">
              <a:extLst>
                <a:ext uri="{FF2B5EF4-FFF2-40B4-BE49-F238E27FC236}">
                  <a16:creationId xmlns:a16="http://schemas.microsoft.com/office/drawing/2014/main" id="{0B66F825-37B9-E5F9-6165-29B37357E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312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/>
            </a:p>
          </p:txBody>
        </p:sp>
      </p:grpSp>
      <p:sp>
        <p:nvSpPr>
          <p:cNvPr id="3" name="Line 43">
            <a:extLst>
              <a:ext uri="{FF2B5EF4-FFF2-40B4-BE49-F238E27FC236}">
                <a16:creationId xmlns:a16="http://schemas.microsoft.com/office/drawing/2014/main" id="{5EE3A5DE-0D5A-C9D8-9E31-9CD5ED99BC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FFB20C-B62F-08AF-21A3-10CF418F7B2C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21B1AC63-212C-A35D-9528-2640B5D7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ACC8CBF-855C-4760-8DEA-A083B06AE731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57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0D56788-DE0B-ABBE-D715-5833884EF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Update neighbors</a:t>
            </a:r>
          </a:p>
        </p:txBody>
      </p:sp>
      <p:sp>
        <p:nvSpPr>
          <p:cNvPr id="24580" name="Oval 3">
            <a:extLst>
              <a:ext uri="{FF2B5EF4-FFF2-40B4-BE49-F238E27FC236}">
                <a16:creationId xmlns:a16="http://schemas.microsoft.com/office/drawing/2014/main" id="{AAB53083-6457-8D4E-10C3-95CA60EE7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4581" name="Oval 4">
            <a:extLst>
              <a:ext uri="{FF2B5EF4-FFF2-40B4-BE49-F238E27FC236}">
                <a16:creationId xmlns:a16="http://schemas.microsoft.com/office/drawing/2014/main" id="{E81E0186-2825-AFAF-C2F2-28EEC4F34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4582" name="Oval 5">
            <a:extLst>
              <a:ext uri="{FF2B5EF4-FFF2-40B4-BE49-F238E27FC236}">
                <a16:creationId xmlns:a16="http://schemas.microsoft.com/office/drawing/2014/main" id="{FE59D604-B693-CCFC-24F7-ED9468B14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83" name="AutoShape 6">
            <a:extLst>
              <a:ext uri="{FF2B5EF4-FFF2-40B4-BE49-F238E27FC236}">
                <a16:creationId xmlns:a16="http://schemas.microsoft.com/office/drawing/2014/main" id="{3D231EFF-A019-549D-7248-869BABEECBB7}"/>
              </a:ext>
            </a:extLst>
          </p:cNvPr>
          <p:cNvCxnSpPr>
            <a:cxnSpLocks noChangeShapeType="1"/>
            <a:stCxn id="24581" idx="2"/>
            <a:endCxn id="24582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4" name="AutoShape 7">
            <a:extLst>
              <a:ext uri="{FF2B5EF4-FFF2-40B4-BE49-F238E27FC236}">
                <a16:creationId xmlns:a16="http://schemas.microsoft.com/office/drawing/2014/main" id="{19396678-C66E-27B6-0AB3-126BBBC38F81}"/>
              </a:ext>
            </a:extLst>
          </p:cNvPr>
          <p:cNvCxnSpPr>
            <a:cxnSpLocks noChangeShapeType="1"/>
            <a:stCxn id="24596" idx="2"/>
            <a:endCxn id="24593" idx="6"/>
          </p:cNvCxnSpPr>
          <p:nvPr/>
        </p:nvCxnSpPr>
        <p:spPr bwMode="auto">
          <a:xfrm flipH="1">
            <a:off x="2819400" y="3810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5" name="AutoShape 8">
            <a:extLst>
              <a:ext uri="{FF2B5EF4-FFF2-40B4-BE49-F238E27FC236}">
                <a16:creationId xmlns:a16="http://schemas.microsoft.com/office/drawing/2014/main" id="{287709B5-8586-44E8-A614-E1EB1358A1CE}"/>
              </a:ext>
            </a:extLst>
          </p:cNvPr>
          <p:cNvCxnSpPr>
            <a:cxnSpLocks noChangeShapeType="1"/>
            <a:stCxn id="24580" idx="6"/>
            <a:endCxn id="24586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6" name="Oval 9">
            <a:extLst>
              <a:ext uri="{FF2B5EF4-FFF2-40B4-BE49-F238E27FC236}">
                <a16:creationId xmlns:a16="http://schemas.microsoft.com/office/drawing/2014/main" id="{2F65D362-AD24-CED2-7999-04AFBB9DA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4587" name="Oval 10">
            <a:extLst>
              <a:ext uri="{FF2B5EF4-FFF2-40B4-BE49-F238E27FC236}">
                <a16:creationId xmlns:a16="http://schemas.microsoft.com/office/drawing/2014/main" id="{45BA1DEA-73E7-D41F-F6C0-8E321D030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88" name="AutoShape 11">
            <a:extLst>
              <a:ext uri="{FF2B5EF4-FFF2-40B4-BE49-F238E27FC236}">
                <a16:creationId xmlns:a16="http://schemas.microsoft.com/office/drawing/2014/main" id="{D4DC2CF1-B0D8-0B48-732C-81F48DA8667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12">
            <a:extLst>
              <a:ext uri="{FF2B5EF4-FFF2-40B4-BE49-F238E27FC236}">
                <a16:creationId xmlns:a16="http://schemas.microsoft.com/office/drawing/2014/main" id="{0DB3BFDD-7E52-4695-8A1D-699A2E5E2D8F}"/>
              </a:ext>
            </a:extLst>
          </p:cNvPr>
          <p:cNvCxnSpPr>
            <a:cxnSpLocks noChangeShapeType="1"/>
            <a:stCxn id="24587" idx="1"/>
            <a:endCxn id="24586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AutoShape 13">
            <a:extLst>
              <a:ext uri="{FF2B5EF4-FFF2-40B4-BE49-F238E27FC236}">
                <a16:creationId xmlns:a16="http://schemas.microsoft.com/office/drawing/2014/main" id="{F5A18566-4711-6D5C-E7AB-1D1AC7F4210F}"/>
              </a:ext>
            </a:extLst>
          </p:cNvPr>
          <p:cNvCxnSpPr>
            <a:cxnSpLocks noChangeShapeType="1"/>
            <a:stCxn id="24581" idx="7"/>
            <a:endCxn id="24587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AutoShape 14">
            <a:extLst>
              <a:ext uri="{FF2B5EF4-FFF2-40B4-BE49-F238E27FC236}">
                <a16:creationId xmlns:a16="http://schemas.microsoft.com/office/drawing/2014/main" id="{4D99406F-226C-D2EE-5954-3012A251B972}"/>
              </a:ext>
            </a:extLst>
          </p:cNvPr>
          <p:cNvCxnSpPr>
            <a:cxnSpLocks noChangeShapeType="1"/>
            <a:stCxn id="24580" idx="5"/>
            <a:endCxn id="24596" idx="1"/>
          </p:cNvCxnSpPr>
          <p:nvPr/>
        </p:nvCxnSpPr>
        <p:spPr bwMode="auto">
          <a:xfrm>
            <a:off x="3743325" y="2828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AutoShape 15">
            <a:extLst>
              <a:ext uri="{FF2B5EF4-FFF2-40B4-BE49-F238E27FC236}">
                <a16:creationId xmlns:a16="http://schemas.microsoft.com/office/drawing/2014/main" id="{35F154FD-B2AE-D80C-DAA0-CC606F30D3BC}"/>
              </a:ext>
            </a:extLst>
          </p:cNvPr>
          <p:cNvCxnSpPr>
            <a:cxnSpLocks noChangeShapeType="1"/>
            <a:stCxn id="24586" idx="3"/>
            <a:endCxn id="24596" idx="7"/>
          </p:cNvCxnSpPr>
          <p:nvPr/>
        </p:nvCxnSpPr>
        <p:spPr bwMode="auto">
          <a:xfrm flipH="1">
            <a:off x="48101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3" name="Oval 16">
            <a:extLst>
              <a:ext uri="{FF2B5EF4-FFF2-40B4-BE49-F238E27FC236}">
                <a16:creationId xmlns:a16="http://schemas.microsoft.com/office/drawing/2014/main" id="{BE942F07-2859-5E47-106B-DFB9C90A1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94" name="AutoShape 17">
            <a:extLst>
              <a:ext uri="{FF2B5EF4-FFF2-40B4-BE49-F238E27FC236}">
                <a16:creationId xmlns:a16="http://schemas.microsoft.com/office/drawing/2014/main" id="{FF524B5A-D1BA-BBA6-6EA0-609A5F6A3D97}"/>
              </a:ext>
            </a:extLst>
          </p:cNvPr>
          <p:cNvCxnSpPr>
            <a:cxnSpLocks noChangeShapeType="1"/>
            <a:stCxn id="24593" idx="7"/>
            <a:endCxn id="24580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AutoShape 18">
            <a:extLst>
              <a:ext uri="{FF2B5EF4-FFF2-40B4-BE49-F238E27FC236}">
                <a16:creationId xmlns:a16="http://schemas.microsoft.com/office/drawing/2014/main" id="{CBD99D7E-2173-E550-99C0-D29AD1672008}"/>
              </a:ext>
            </a:extLst>
          </p:cNvPr>
          <p:cNvCxnSpPr>
            <a:cxnSpLocks noChangeShapeType="1"/>
            <a:stCxn id="24582" idx="1"/>
            <a:endCxn id="24593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6" name="Oval 19">
            <a:extLst>
              <a:ext uri="{FF2B5EF4-FFF2-40B4-BE49-F238E27FC236}">
                <a16:creationId xmlns:a16="http://schemas.microsoft.com/office/drawing/2014/main" id="{ED36B683-4513-9D3D-436C-696CC228C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97" name="AutoShape 20">
            <a:extLst>
              <a:ext uri="{FF2B5EF4-FFF2-40B4-BE49-F238E27FC236}">
                <a16:creationId xmlns:a16="http://schemas.microsoft.com/office/drawing/2014/main" id="{98CE18AA-BC6D-DD06-B415-B48E22C00913}"/>
              </a:ext>
            </a:extLst>
          </p:cNvPr>
          <p:cNvCxnSpPr>
            <a:cxnSpLocks noChangeShapeType="1"/>
            <a:stCxn id="24581" idx="1"/>
            <a:endCxn id="24596" idx="5"/>
          </p:cNvCxnSpPr>
          <p:nvPr/>
        </p:nvCxnSpPr>
        <p:spPr bwMode="auto">
          <a:xfrm flipH="1" flipV="1">
            <a:off x="48101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8" name="AutoShape 21">
            <a:extLst>
              <a:ext uri="{FF2B5EF4-FFF2-40B4-BE49-F238E27FC236}">
                <a16:creationId xmlns:a16="http://schemas.microsoft.com/office/drawing/2014/main" id="{639AC258-4425-2A71-A673-9E7B19BA722C}"/>
              </a:ext>
            </a:extLst>
          </p:cNvPr>
          <p:cNvCxnSpPr>
            <a:cxnSpLocks noChangeShapeType="1"/>
            <a:stCxn id="24582" idx="7"/>
            <a:endCxn id="24596" idx="3"/>
          </p:cNvCxnSpPr>
          <p:nvPr/>
        </p:nvCxnSpPr>
        <p:spPr bwMode="auto">
          <a:xfrm flipV="1">
            <a:off x="3743325" y="3986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9" name="Text Box 22">
            <a:extLst>
              <a:ext uri="{FF2B5EF4-FFF2-40B4-BE49-F238E27FC236}">
                <a16:creationId xmlns:a16="http://schemas.microsoft.com/office/drawing/2014/main" id="{D93809DC-4B99-1FAE-A27E-3A2E7696B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4600" name="Text Box 23">
            <a:extLst>
              <a:ext uri="{FF2B5EF4-FFF2-40B4-BE49-F238E27FC236}">
                <a16:creationId xmlns:a16="http://schemas.microsoft.com/office/drawing/2014/main" id="{9F572E2E-157D-ECC1-DD92-9CE79CBB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4601" name="Text Box 24">
            <a:extLst>
              <a:ext uri="{FF2B5EF4-FFF2-40B4-BE49-F238E27FC236}">
                <a16:creationId xmlns:a16="http://schemas.microsoft.com/office/drawing/2014/main" id="{DE6D1A26-D1E3-DE5A-0254-853A3222B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4602" name="Text Box 25">
            <a:extLst>
              <a:ext uri="{FF2B5EF4-FFF2-40B4-BE49-F238E27FC236}">
                <a16:creationId xmlns:a16="http://schemas.microsoft.com/office/drawing/2014/main" id="{43121280-44BC-63DD-13B3-2F809B5C3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4603" name="Text Box 26">
            <a:extLst>
              <a:ext uri="{FF2B5EF4-FFF2-40B4-BE49-F238E27FC236}">
                <a16:creationId xmlns:a16="http://schemas.microsoft.com/office/drawing/2014/main" id="{4B4E654D-5DB1-312E-3874-0328063E4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4604" name="Text Box 27">
            <a:extLst>
              <a:ext uri="{FF2B5EF4-FFF2-40B4-BE49-F238E27FC236}">
                <a16:creationId xmlns:a16="http://schemas.microsoft.com/office/drawing/2014/main" id="{D2CC1A4E-56DC-9A57-A165-3854BFA6F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4605" name="Text Box 28">
            <a:extLst>
              <a:ext uri="{FF2B5EF4-FFF2-40B4-BE49-F238E27FC236}">
                <a16:creationId xmlns:a16="http://schemas.microsoft.com/office/drawing/2014/main" id="{F3281090-4CEA-38E9-3130-B7652BB0C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4606" name="Text Box 29">
            <a:extLst>
              <a:ext uri="{FF2B5EF4-FFF2-40B4-BE49-F238E27FC236}">
                <a16:creationId xmlns:a16="http://schemas.microsoft.com/office/drawing/2014/main" id="{42C7AA73-9683-998C-0D68-D55D2FC1E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4607" name="Text Box 30">
            <a:extLst>
              <a:ext uri="{FF2B5EF4-FFF2-40B4-BE49-F238E27FC236}">
                <a16:creationId xmlns:a16="http://schemas.microsoft.com/office/drawing/2014/main" id="{8F8EC16A-B1D0-F9EC-B60F-379A2DF2F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4608" name="Text Box 31">
            <a:extLst>
              <a:ext uri="{FF2B5EF4-FFF2-40B4-BE49-F238E27FC236}">
                <a16:creationId xmlns:a16="http://schemas.microsoft.com/office/drawing/2014/main" id="{5BD48B56-8BD4-A03B-8B32-6CCE222BB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4609" name="Text Box 32">
            <a:extLst>
              <a:ext uri="{FF2B5EF4-FFF2-40B4-BE49-F238E27FC236}">
                <a16:creationId xmlns:a16="http://schemas.microsoft.com/office/drawing/2014/main" id="{A36F05DD-526B-EAD8-9EA5-B85A1D7F0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4610" name="Text Box 33">
            <a:extLst>
              <a:ext uri="{FF2B5EF4-FFF2-40B4-BE49-F238E27FC236}">
                <a16:creationId xmlns:a16="http://schemas.microsoft.com/office/drawing/2014/main" id="{3577C1B4-3796-A73B-0ADB-FBB33614D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4611" name="Text Box 34">
            <a:extLst>
              <a:ext uri="{FF2B5EF4-FFF2-40B4-BE49-F238E27FC236}">
                <a16:creationId xmlns:a16="http://schemas.microsoft.com/office/drawing/2014/main" id="{F1C599C7-990E-35D0-D68F-CE57760B3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4612" name="Text Box 35">
            <a:extLst>
              <a:ext uri="{FF2B5EF4-FFF2-40B4-BE49-F238E27FC236}">
                <a16:creationId xmlns:a16="http://schemas.microsoft.com/office/drawing/2014/main" id="{2848799C-021B-E806-CE14-B6D64FEA8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4613" name="Text Box 36">
            <a:extLst>
              <a:ext uri="{FF2B5EF4-FFF2-40B4-BE49-F238E27FC236}">
                <a16:creationId xmlns:a16="http://schemas.microsoft.com/office/drawing/2014/main" id="{4E4BE5D0-E3EC-5688-12A3-365F60410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4614" name="Text Box 37">
            <a:extLst>
              <a:ext uri="{FF2B5EF4-FFF2-40B4-BE49-F238E27FC236}">
                <a16:creationId xmlns:a16="http://schemas.microsoft.com/office/drawing/2014/main" id="{BE393682-F6C6-B649-6897-FFC554AEA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4615" name="Text Box 38">
            <a:extLst>
              <a:ext uri="{FF2B5EF4-FFF2-40B4-BE49-F238E27FC236}">
                <a16:creationId xmlns:a16="http://schemas.microsoft.com/office/drawing/2014/main" id="{23307FB8-6F81-69E8-C904-59B799410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4616" name="Text Box 39">
            <a:extLst>
              <a:ext uri="{FF2B5EF4-FFF2-40B4-BE49-F238E27FC236}">
                <a16:creationId xmlns:a16="http://schemas.microsoft.com/office/drawing/2014/main" id="{3B1CC7E4-CCE7-5811-122C-4007A2ABF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9</a:t>
            </a:r>
            <a:endParaRPr lang="en-US" altLang="en-US" sz="1800"/>
          </a:p>
        </p:txBody>
      </p:sp>
      <p:sp>
        <p:nvSpPr>
          <p:cNvPr id="24617" name="Text Box 40">
            <a:extLst>
              <a:ext uri="{FF2B5EF4-FFF2-40B4-BE49-F238E27FC236}">
                <a16:creationId xmlns:a16="http://schemas.microsoft.com/office/drawing/2014/main" id="{F68B8970-04E1-E880-39E1-16A67CA32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4620" name="Line 45">
            <a:extLst>
              <a:ext uri="{FF2B5EF4-FFF2-40B4-BE49-F238E27FC236}">
                <a16:creationId xmlns:a16="http://schemas.microsoft.com/office/drawing/2014/main" id="{A3A6C88F-5112-B1A8-3EAE-C491650388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4621" name="Line 46">
            <a:extLst>
              <a:ext uri="{FF2B5EF4-FFF2-40B4-BE49-F238E27FC236}">
                <a16:creationId xmlns:a16="http://schemas.microsoft.com/office/drawing/2014/main" id="{63F9E5EB-0622-694F-938D-7D665D82CB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4622" name="Line 47">
            <a:extLst>
              <a:ext uri="{FF2B5EF4-FFF2-40B4-BE49-F238E27FC236}">
                <a16:creationId xmlns:a16="http://schemas.microsoft.com/office/drawing/2014/main" id="{AEA60943-9DFB-01A4-D3F4-2D7B19A1B5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4623" name="Line 48">
            <a:extLst>
              <a:ext uri="{FF2B5EF4-FFF2-40B4-BE49-F238E27FC236}">
                <a16:creationId xmlns:a16="http://schemas.microsoft.com/office/drawing/2014/main" id="{B520AB4B-7109-10E6-534A-00144B76C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9C556E-22D5-D416-09DE-F5551F971D41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4EFF-12C9-5184-A35C-1AFFBB54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5B0DDC48-7F9A-2985-65A7-9D6C9D5C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ACC8CBF-855C-4760-8DEA-A083B06AE731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F687FFE-72B2-575B-71C5-611BF2356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Update neighbors</a:t>
            </a:r>
          </a:p>
        </p:txBody>
      </p:sp>
      <p:sp>
        <p:nvSpPr>
          <p:cNvPr id="24580" name="Oval 3">
            <a:extLst>
              <a:ext uri="{FF2B5EF4-FFF2-40B4-BE49-F238E27FC236}">
                <a16:creationId xmlns:a16="http://schemas.microsoft.com/office/drawing/2014/main" id="{36F0B5F7-BB66-2A8D-4822-03AA8DFE0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4581" name="Oval 4">
            <a:extLst>
              <a:ext uri="{FF2B5EF4-FFF2-40B4-BE49-F238E27FC236}">
                <a16:creationId xmlns:a16="http://schemas.microsoft.com/office/drawing/2014/main" id="{1C762E9D-C891-5500-7B70-3381EABA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4582" name="Oval 5">
            <a:extLst>
              <a:ext uri="{FF2B5EF4-FFF2-40B4-BE49-F238E27FC236}">
                <a16:creationId xmlns:a16="http://schemas.microsoft.com/office/drawing/2014/main" id="{80FD8C49-66A7-124C-65AE-7531F559B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83" name="AutoShape 6">
            <a:extLst>
              <a:ext uri="{FF2B5EF4-FFF2-40B4-BE49-F238E27FC236}">
                <a16:creationId xmlns:a16="http://schemas.microsoft.com/office/drawing/2014/main" id="{FDD7D9E7-0372-B460-214E-27242C5B3A5D}"/>
              </a:ext>
            </a:extLst>
          </p:cNvPr>
          <p:cNvCxnSpPr>
            <a:cxnSpLocks noChangeShapeType="1"/>
            <a:stCxn id="24581" idx="2"/>
            <a:endCxn id="24582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4" name="AutoShape 7">
            <a:extLst>
              <a:ext uri="{FF2B5EF4-FFF2-40B4-BE49-F238E27FC236}">
                <a16:creationId xmlns:a16="http://schemas.microsoft.com/office/drawing/2014/main" id="{7E45160E-8EFB-2BBC-9A1F-5D2BD365B899}"/>
              </a:ext>
            </a:extLst>
          </p:cNvPr>
          <p:cNvCxnSpPr>
            <a:cxnSpLocks noChangeShapeType="1"/>
            <a:stCxn id="24596" idx="2"/>
            <a:endCxn id="24593" idx="6"/>
          </p:cNvCxnSpPr>
          <p:nvPr/>
        </p:nvCxnSpPr>
        <p:spPr bwMode="auto">
          <a:xfrm flipH="1">
            <a:off x="2819400" y="3810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5" name="AutoShape 8">
            <a:extLst>
              <a:ext uri="{FF2B5EF4-FFF2-40B4-BE49-F238E27FC236}">
                <a16:creationId xmlns:a16="http://schemas.microsoft.com/office/drawing/2014/main" id="{AE43010B-C443-F8BA-5F3D-6E2065250E11}"/>
              </a:ext>
            </a:extLst>
          </p:cNvPr>
          <p:cNvCxnSpPr>
            <a:cxnSpLocks noChangeShapeType="1"/>
            <a:stCxn id="24580" idx="6"/>
            <a:endCxn id="24586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6" name="Oval 9">
            <a:extLst>
              <a:ext uri="{FF2B5EF4-FFF2-40B4-BE49-F238E27FC236}">
                <a16:creationId xmlns:a16="http://schemas.microsoft.com/office/drawing/2014/main" id="{0F3AB176-8CB5-49BE-B17E-567FCAFC1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4587" name="Oval 10">
            <a:extLst>
              <a:ext uri="{FF2B5EF4-FFF2-40B4-BE49-F238E27FC236}">
                <a16:creationId xmlns:a16="http://schemas.microsoft.com/office/drawing/2014/main" id="{CE6BBD33-B8BD-C27C-168D-E4CEAC970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88" name="AutoShape 11">
            <a:extLst>
              <a:ext uri="{FF2B5EF4-FFF2-40B4-BE49-F238E27FC236}">
                <a16:creationId xmlns:a16="http://schemas.microsoft.com/office/drawing/2014/main" id="{695D0ED4-DB54-E76C-C1D5-5BB38A9CAAD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12">
            <a:extLst>
              <a:ext uri="{FF2B5EF4-FFF2-40B4-BE49-F238E27FC236}">
                <a16:creationId xmlns:a16="http://schemas.microsoft.com/office/drawing/2014/main" id="{DE25D9AB-19D2-AAA8-A4C7-5FB4B672BB2F}"/>
              </a:ext>
            </a:extLst>
          </p:cNvPr>
          <p:cNvCxnSpPr>
            <a:cxnSpLocks noChangeShapeType="1"/>
            <a:stCxn id="24587" idx="1"/>
            <a:endCxn id="24586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AutoShape 13">
            <a:extLst>
              <a:ext uri="{FF2B5EF4-FFF2-40B4-BE49-F238E27FC236}">
                <a16:creationId xmlns:a16="http://schemas.microsoft.com/office/drawing/2014/main" id="{225E94A4-5C6C-3F54-E412-CB225F853D63}"/>
              </a:ext>
            </a:extLst>
          </p:cNvPr>
          <p:cNvCxnSpPr>
            <a:cxnSpLocks noChangeShapeType="1"/>
            <a:stCxn id="24581" idx="7"/>
            <a:endCxn id="24587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AutoShape 14">
            <a:extLst>
              <a:ext uri="{FF2B5EF4-FFF2-40B4-BE49-F238E27FC236}">
                <a16:creationId xmlns:a16="http://schemas.microsoft.com/office/drawing/2014/main" id="{C55BB5FB-6D74-1F3C-293D-12260001FB1A}"/>
              </a:ext>
            </a:extLst>
          </p:cNvPr>
          <p:cNvCxnSpPr>
            <a:cxnSpLocks noChangeShapeType="1"/>
            <a:stCxn id="24580" idx="5"/>
            <a:endCxn id="24596" idx="1"/>
          </p:cNvCxnSpPr>
          <p:nvPr/>
        </p:nvCxnSpPr>
        <p:spPr bwMode="auto">
          <a:xfrm>
            <a:off x="3743325" y="2828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AutoShape 15">
            <a:extLst>
              <a:ext uri="{FF2B5EF4-FFF2-40B4-BE49-F238E27FC236}">
                <a16:creationId xmlns:a16="http://schemas.microsoft.com/office/drawing/2014/main" id="{DB8A2FE3-0F36-8110-EE90-1C90CC72D178}"/>
              </a:ext>
            </a:extLst>
          </p:cNvPr>
          <p:cNvCxnSpPr>
            <a:cxnSpLocks noChangeShapeType="1"/>
            <a:stCxn id="24586" idx="3"/>
            <a:endCxn id="24596" idx="7"/>
          </p:cNvCxnSpPr>
          <p:nvPr/>
        </p:nvCxnSpPr>
        <p:spPr bwMode="auto">
          <a:xfrm flipH="1">
            <a:off x="48101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3" name="Oval 16">
            <a:extLst>
              <a:ext uri="{FF2B5EF4-FFF2-40B4-BE49-F238E27FC236}">
                <a16:creationId xmlns:a16="http://schemas.microsoft.com/office/drawing/2014/main" id="{32D7EF57-4D8B-DE67-02CD-7D316BA59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94" name="AutoShape 17">
            <a:extLst>
              <a:ext uri="{FF2B5EF4-FFF2-40B4-BE49-F238E27FC236}">
                <a16:creationId xmlns:a16="http://schemas.microsoft.com/office/drawing/2014/main" id="{DCA38561-5C32-D56B-5294-0A83B636F5F6}"/>
              </a:ext>
            </a:extLst>
          </p:cNvPr>
          <p:cNvCxnSpPr>
            <a:cxnSpLocks noChangeShapeType="1"/>
            <a:stCxn id="24593" idx="7"/>
            <a:endCxn id="24580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AutoShape 18">
            <a:extLst>
              <a:ext uri="{FF2B5EF4-FFF2-40B4-BE49-F238E27FC236}">
                <a16:creationId xmlns:a16="http://schemas.microsoft.com/office/drawing/2014/main" id="{2B1AF9BA-3C69-08E9-6B9B-A9FDD9040176}"/>
              </a:ext>
            </a:extLst>
          </p:cNvPr>
          <p:cNvCxnSpPr>
            <a:cxnSpLocks noChangeShapeType="1"/>
            <a:stCxn id="24582" idx="1"/>
            <a:endCxn id="24593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6" name="Oval 19">
            <a:extLst>
              <a:ext uri="{FF2B5EF4-FFF2-40B4-BE49-F238E27FC236}">
                <a16:creationId xmlns:a16="http://schemas.microsoft.com/office/drawing/2014/main" id="{7EB8D417-D5DE-D35B-DBC7-F517EADF7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4597" name="AutoShape 20">
            <a:extLst>
              <a:ext uri="{FF2B5EF4-FFF2-40B4-BE49-F238E27FC236}">
                <a16:creationId xmlns:a16="http://schemas.microsoft.com/office/drawing/2014/main" id="{981B2F6C-8073-BFA8-51F6-D0AE844E8D71}"/>
              </a:ext>
            </a:extLst>
          </p:cNvPr>
          <p:cNvCxnSpPr>
            <a:cxnSpLocks noChangeShapeType="1"/>
            <a:stCxn id="24581" idx="1"/>
            <a:endCxn id="24596" idx="5"/>
          </p:cNvCxnSpPr>
          <p:nvPr/>
        </p:nvCxnSpPr>
        <p:spPr bwMode="auto">
          <a:xfrm flipH="1" flipV="1">
            <a:off x="48101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8" name="AutoShape 21">
            <a:extLst>
              <a:ext uri="{FF2B5EF4-FFF2-40B4-BE49-F238E27FC236}">
                <a16:creationId xmlns:a16="http://schemas.microsoft.com/office/drawing/2014/main" id="{3825A279-D44A-5455-B2A7-0FC3376D9849}"/>
              </a:ext>
            </a:extLst>
          </p:cNvPr>
          <p:cNvCxnSpPr>
            <a:cxnSpLocks noChangeShapeType="1"/>
            <a:stCxn id="24582" idx="7"/>
            <a:endCxn id="24596" idx="3"/>
          </p:cNvCxnSpPr>
          <p:nvPr/>
        </p:nvCxnSpPr>
        <p:spPr bwMode="auto">
          <a:xfrm flipV="1">
            <a:off x="3743325" y="3986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9" name="Text Box 22">
            <a:extLst>
              <a:ext uri="{FF2B5EF4-FFF2-40B4-BE49-F238E27FC236}">
                <a16:creationId xmlns:a16="http://schemas.microsoft.com/office/drawing/2014/main" id="{E8B4FF2D-7B75-3C40-7541-39BF2BA97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4600" name="Text Box 23">
            <a:extLst>
              <a:ext uri="{FF2B5EF4-FFF2-40B4-BE49-F238E27FC236}">
                <a16:creationId xmlns:a16="http://schemas.microsoft.com/office/drawing/2014/main" id="{C22A874E-3D43-FD6B-4D65-4B03AFA3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4601" name="Text Box 24">
            <a:extLst>
              <a:ext uri="{FF2B5EF4-FFF2-40B4-BE49-F238E27FC236}">
                <a16:creationId xmlns:a16="http://schemas.microsoft.com/office/drawing/2014/main" id="{A7E9C197-5491-EAA6-2864-796A0DB08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4602" name="Text Box 25">
            <a:extLst>
              <a:ext uri="{FF2B5EF4-FFF2-40B4-BE49-F238E27FC236}">
                <a16:creationId xmlns:a16="http://schemas.microsoft.com/office/drawing/2014/main" id="{014F466A-CC73-9002-28F2-ED8BD7626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4603" name="Text Box 26">
            <a:extLst>
              <a:ext uri="{FF2B5EF4-FFF2-40B4-BE49-F238E27FC236}">
                <a16:creationId xmlns:a16="http://schemas.microsoft.com/office/drawing/2014/main" id="{1FF443FA-1925-2074-1B2A-16B640E46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4604" name="Text Box 27">
            <a:extLst>
              <a:ext uri="{FF2B5EF4-FFF2-40B4-BE49-F238E27FC236}">
                <a16:creationId xmlns:a16="http://schemas.microsoft.com/office/drawing/2014/main" id="{F4CB9267-A730-685F-BC20-96836364C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4605" name="Text Box 28">
            <a:extLst>
              <a:ext uri="{FF2B5EF4-FFF2-40B4-BE49-F238E27FC236}">
                <a16:creationId xmlns:a16="http://schemas.microsoft.com/office/drawing/2014/main" id="{4C653812-EAC3-1017-AC40-E0FFA8F2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4606" name="Text Box 29">
            <a:extLst>
              <a:ext uri="{FF2B5EF4-FFF2-40B4-BE49-F238E27FC236}">
                <a16:creationId xmlns:a16="http://schemas.microsoft.com/office/drawing/2014/main" id="{42E4E506-0FE4-533B-C99A-3FC112F2F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4607" name="Text Box 30">
            <a:extLst>
              <a:ext uri="{FF2B5EF4-FFF2-40B4-BE49-F238E27FC236}">
                <a16:creationId xmlns:a16="http://schemas.microsoft.com/office/drawing/2014/main" id="{C1031EBA-6DC9-B69E-CCEC-9AFB431DF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4608" name="Text Box 31">
            <a:extLst>
              <a:ext uri="{FF2B5EF4-FFF2-40B4-BE49-F238E27FC236}">
                <a16:creationId xmlns:a16="http://schemas.microsoft.com/office/drawing/2014/main" id="{6767D07D-764E-A0EC-AFD7-6D330678E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4609" name="Text Box 32">
            <a:extLst>
              <a:ext uri="{FF2B5EF4-FFF2-40B4-BE49-F238E27FC236}">
                <a16:creationId xmlns:a16="http://schemas.microsoft.com/office/drawing/2014/main" id="{2E5C362D-0AD7-BF87-8FD6-1922B9474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4610" name="Text Box 33">
            <a:extLst>
              <a:ext uri="{FF2B5EF4-FFF2-40B4-BE49-F238E27FC236}">
                <a16:creationId xmlns:a16="http://schemas.microsoft.com/office/drawing/2014/main" id="{B8FE55EF-42FC-43E8-62CE-31FDA9139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4611" name="Text Box 34">
            <a:extLst>
              <a:ext uri="{FF2B5EF4-FFF2-40B4-BE49-F238E27FC236}">
                <a16:creationId xmlns:a16="http://schemas.microsoft.com/office/drawing/2014/main" id="{92741F81-A083-38E3-3171-717E33E18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4612" name="Text Box 35">
            <a:extLst>
              <a:ext uri="{FF2B5EF4-FFF2-40B4-BE49-F238E27FC236}">
                <a16:creationId xmlns:a16="http://schemas.microsoft.com/office/drawing/2014/main" id="{BF842508-4C5A-61AE-9A81-73BDBEECC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4613" name="Text Box 36">
            <a:extLst>
              <a:ext uri="{FF2B5EF4-FFF2-40B4-BE49-F238E27FC236}">
                <a16:creationId xmlns:a16="http://schemas.microsoft.com/office/drawing/2014/main" id="{B9317D00-6573-E021-AD88-6B2273803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4614" name="Text Box 37">
            <a:extLst>
              <a:ext uri="{FF2B5EF4-FFF2-40B4-BE49-F238E27FC236}">
                <a16:creationId xmlns:a16="http://schemas.microsoft.com/office/drawing/2014/main" id="{18E2AE25-8D43-6589-33AF-15157A0EE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4615" name="Text Box 38">
            <a:extLst>
              <a:ext uri="{FF2B5EF4-FFF2-40B4-BE49-F238E27FC236}">
                <a16:creationId xmlns:a16="http://schemas.microsoft.com/office/drawing/2014/main" id="{7B4BB81C-DB0C-103F-5017-4E7994308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4616" name="Text Box 39">
            <a:extLst>
              <a:ext uri="{FF2B5EF4-FFF2-40B4-BE49-F238E27FC236}">
                <a16:creationId xmlns:a16="http://schemas.microsoft.com/office/drawing/2014/main" id="{807A31B6-0B41-A873-49E8-50B5C3C3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9</a:t>
            </a:r>
            <a:endParaRPr lang="en-US" altLang="en-US" sz="1800"/>
          </a:p>
        </p:txBody>
      </p:sp>
      <p:sp>
        <p:nvSpPr>
          <p:cNvPr id="24617" name="Text Box 40">
            <a:extLst>
              <a:ext uri="{FF2B5EF4-FFF2-40B4-BE49-F238E27FC236}">
                <a16:creationId xmlns:a16="http://schemas.microsoft.com/office/drawing/2014/main" id="{EAE58D34-D445-BD26-825D-E0BD50DF0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4620" name="Line 45">
            <a:extLst>
              <a:ext uri="{FF2B5EF4-FFF2-40B4-BE49-F238E27FC236}">
                <a16:creationId xmlns:a16="http://schemas.microsoft.com/office/drawing/2014/main" id="{25DE254A-20E2-7D08-CC4A-66F5C2FF00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4621" name="Line 46">
            <a:extLst>
              <a:ext uri="{FF2B5EF4-FFF2-40B4-BE49-F238E27FC236}">
                <a16:creationId xmlns:a16="http://schemas.microsoft.com/office/drawing/2014/main" id="{B38722D5-664E-7AF9-C60B-5F9C496518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4622" name="Line 47">
            <a:extLst>
              <a:ext uri="{FF2B5EF4-FFF2-40B4-BE49-F238E27FC236}">
                <a16:creationId xmlns:a16="http://schemas.microsoft.com/office/drawing/2014/main" id="{61CAF000-3C32-65D3-19F8-C59CCB97C4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4623" name="Line 48">
            <a:extLst>
              <a:ext uri="{FF2B5EF4-FFF2-40B4-BE49-F238E27FC236}">
                <a16:creationId xmlns:a16="http://schemas.microsoft.com/office/drawing/2014/main" id="{E4AFCEDB-4FEB-8A1D-FC76-D69C24DAF8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9B44F-289D-F4DC-592B-F415FB7EC432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3953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67F475A3-E140-5CEA-1B0B-5344A0F3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A1B8259-4C21-4EBE-87A1-76D8C6A4A71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59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1AAE673-8547-5CA3-1A13-7B2FCADF0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5604" name="Oval 3">
            <a:extLst>
              <a:ext uri="{FF2B5EF4-FFF2-40B4-BE49-F238E27FC236}">
                <a16:creationId xmlns:a16="http://schemas.microsoft.com/office/drawing/2014/main" id="{FEC9DCA2-A5BA-2DE4-706E-7E5D90335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5605" name="Oval 4">
            <a:extLst>
              <a:ext uri="{FF2B5EF4-FFF2-40B4-BE49-F238E27FC236}">
                <a16:creationId xmlns:a16="http://schemas.microsoft.com/office/drawing/2014/main" id="{C61E3798-7535-2405-1280-3598B8321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5606" name="Oval 5">
            <a:extLst>
              <a:ext uri="{FF2B5EF4-FFF2-40B4-BE49-F238E27FC236}">
                <a16:creationId xmlns:a16="http://schemas.microsoft.com/office/drawing/2014/main" id="{FF1DDA1C-B4FB-E008-EA96-F4FE26485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07" name="AutoShape 6">
            <a:extLst>
              <a:ext uri="{FF2B5EF4-FFF2-40B4-BE49-F238E27FC236}">
                <a16:creationId xmlns:a16="http://schemas.microsoft.com/office/drawing/2014/main" id="{A67D0373-3CE9-2D8A-4A16-EACCF92BE222}"/>
              </a:ext>
            </a:extLst>
          </p:cNvPr>
          <p:cNvCxnSpPr>
            <a:cxnSpLocks noChangeShapeType="1"/>
            <a:stCxn id="25605" idx="2"/>
            <a:endCxn id="25606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AutoShape 7">
            <a:extLst>
              <a:ext uri="{FF2B5EF4-FFF2-40B4-BE49-F238E27FC236}">
                <a16:creationId xmlns:a16="http://schemas.microsoft.com/office/drawing/2014/main" id="{EF44947C-A863-7F11-FD1F-3E2944192F1D}"/>
              </a:ext>
            </a:extLst>
          </p:cNvPr>
          <p:cNvCxnSpPr>
            <a:cxnSpLocks noChangeShapeType="1"/>
            <a:stCxn id="25620" idx="2"/>
            <a:endCxn id="25617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AutoShape 8">
            <a:extLst>
              <a:ext uri="{FF2B5EF4-FFF2-40B4-BE49-F238E27FC236}">
                <a16:creationId xmlns:a16="http://schemas.microsoft.com/office/drawing/2014/main" id="{DCF2B68A-D222-4853-DDBD-12D56EC677AC}"/>
              </a:ext>
            </a:extLst>
          </p:cNvPr>
          <p:cNvCxnSpPr>
            <a:cxnSpLocks noChangeShapeType="1"/>
            <a:stCxn id="25604" idx="6"/>
            <a:endCxn id="25610" idx="2"/>
          </p:cNvCxnSpPr>
          <p:nvPr/>
        </p:nvCxnSpPr>
        <p:spPr bwMode="auto">
          <a:xfrm>
            <a:off x="3810000" y="2667000"/>
            <a:ext cx="15859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Oval 9">
            <a:extLst>
              <a:ext uri="{FF2B5EF4-FFF2-40B4-BE49-F238E27FC236}">
                <a16:creationId xmlns:a16="http://schemas.microsoft.com/office/drawing/2014/main" id="{40005E7A-41E6-8766-555D-5D073F1C4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5611" name="Oval 10">
            <a:extLst>
              <a:ext uri="{FF2B5EF4-FFF2-40B4-BE49-F238E27FC236}">
                <a16:creationId xmlns:a16="http://schemas.microsoft.com/office/drawing/2014/main" id="{18474D57-4211-4BF3-73EC-39A907A5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12" name="AutoShape 11">
            <a:extLst>
              <a:ext uri="{FF2B5EF4-FFF2-40B4-BE49-F238E27FC236}">
                <a16:creationId xmlns:a16="http://schemas.microsoft.com/office/drawing/2014/main" id="{035A9045-CC0B-AEAB-4CE1-786AC355F3E4}"/>
              </a:ext>
            </a:extLst>
          </p:cNvPr>
          <p:cNvCxnSpPr>
            <a:cxnSpLocks noChangeShapeType="1"/>
            <a:stCxn id="25611" idx="2"/>
            <a:endCxn id="25620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3" name="AutoShape 12">
            <a:extLst>
              <a:ext uri="{FF2B5EF4-FFF2-40B4-BE49-F238E27FC236}">
                <a16:creationId xmlns:a16="http://schemas.microsoft.com/office/drawing/2014/main" id="{A0F5AC76-08B3-CEA7-E258-05D3106C7238}"/>
              </a:ext>
            </a:extLst>
          </p:cNvPr>
          <p:cNvCxnSpPr>
            <a:cxnSpLocks noChangeShapeType="1"/>
            <a:stCxn id="25611" idx="1"/>
            <a:endCxn id="25610" idx="5"/>
          </p:cNvCxnSpPr>
          <p:nvPr/>
        </p:nvCxnSpPr>
        <p:spPr bwMode="auto">
          <a:xfrm flipH="1" flipV="1">
            <a:off x="5800725" y="2843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3">
            <a:extLst>
              <a:ext uri="{FF2B5EF4-FFF2-40B4-BE49-F238E27FC236}">
                <a16:creationId xmlns:a16="http://schemas.microsoft.com/office/drawing/2014/main" id="{92073A9A-6B00-5569-06BE-9E2297F53C13}"/>
              </a:ext>
            </a:extLst>
          </p:cNvPr>
          <p:cNvCxnSpPr>
            <a:cxnSpLocks noChangeShapeType="1"/>
            <a:stCxn id="25605" idx="7"/>
            <a:endCxn id="25611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4">
            <a:extLst>
              <a:ext uri="{FF2B5EF4-FFF2-40B4-BE49-F238E27FC236}">
                <a16:creationId xmlns:a16="http://schemas.microsoft.com/office/drawing/2014/main" id="{E9C380A6-52F9-C75B-35FC-BC5B010E0BE1}"/>
              </a:ext>
            </a:extLst>
          </p:cNvPr>
          <p:cNvCxnSpPr>
            <a:cxnSpLocks noChangeShapeType="1"/>
            <a:stCxn id="25604" idx="5"/>
            <a:endCxn id="25620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AutoShape 15">
            <a:extLst>
              <a:ext uri="{FF2B5EF4-FFF2-40B4-BE49-F238E27FC236}">
                <a16:creationId xmlns:a16="http://schemas.microsoft.com/office/drawing/2014/main" id="{98248BE1-DE69-7C68-0786-F48A68599B20}"/>
              </a:ext>
            </a:extLst>
          </p:cNvPr>
          <p:cNvCxnSpPr>
            <a:cxnSpLocks noChangeShapeType="1"/>
            <a:stCxn id="25610" idx="3"/>
            <a:endCxn id="25620" idx="7"/>
          </p:cNvCxnSpPr>
          <p:nvPr/>
        </p:nvCxnSpPr>
        <p:spPr bwMode="auto">
          <a:xfrm flipH="1">
            <a:off x="4810125" y="2843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7" name="Oval 16">
            <a:extLst>
              <a:ext uri="{FF2B5EF4-FFF2-40B4-BE49-F238E27FC236}">
                <a16:creationId xmlns:a16="http://schemas.microsoft.com/office/drawing/2014/main" id="{8BB8DF72-A76C-21A3-7131-55B405BA6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18" name="AutoShape 17">
            <a:extLst>
              <a:ext uri="{FF2B5EF4-FFF2-40B4-BE49-F238E27FC236}">
                <a16:creationId xmlns:a16="http://schemas.microsoft.com/office/drawing/2014/main" id="{D78D2BD4-B386-B503-A324-30E1A492BD78}"/>
              </a:ext>
            </a:extLst>
          </p:cNvPr>
          <p:cNvCxnSpPr>
            <a:cxnSpLocks noChangeShapeType="1"/>
            <a:stCxn id="25617" idx="7"/>
            <a:endCxn id="25604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18">
            <a:extLst>
              <a:ext uri="{FF2B5EF4-FFF2-40B4-BE49-F238E27FC236}">
                <a16:creationId xmlns:a16="http://schemas.microsoft.com/office/drawing/2014/main" id="{FE6EABD5-9828-A790-D2C9-3E6E98B6C4C9}"/>
              </a:ext>
            </a:extLst>
          </p:cNvPr>
          <p:cNvCxnSpPr>
            <a:cxnSpLocks noChangeShapeType="1"/>
            <a:stCxn id="25606" idx="1"/>
            <a:endCxn id="25617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0" name="Oval 19">
            <a:extLst>
              <a:ext uri="{FF2B5EF4-FFF2-40B4-BE49-F238E27FC236}">
                <a16:creationId xmlns:a16="http://schemas.microsoft.com/office/drawing/2014/main" id="{DCAC9A2F-BC58-AE7E-85CE-DDB1E8300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21" name="AutoShape 20">
            <a:extLst>
              <a:ext uri="{FF2B5EF4-FFF2-40B4-BE49-F238E27FC236}">
                <a16:creationId xmlns:a16="http://schemas.microsoft.com/office/drawing/2014/main" id="{18192231-843A-9F21-2AF9-DCB6A6F8CF28}"/>
              </a:ext>
            </a:extLst>
          </p:cNvPr>
          <p:cNvCxnSpPr>
            <a:cxnSpLocks noChangeShapeType="1"/>
            <a:stCxn id="25605" idx="1"/>
            <a:endCxn id="25620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2" name="AutoShape 21">
            <a:extLst>
              <a:ext uri="{FF2B5EF4-FFF2-40B4-BE49-F238E27FC236}">
                <a16:creationId xmlns:a16="http://schemas.microsoft.com/office/drawing/2014/main" id="{6DA8C098-0EAB-C19F-3117-031ECB470A29}"/>
              </a:ext>
            </a:extLst>
          </p:cNvPr>
          <p:cNvCxnSpPr>
            <a:cxnSpLocks noChangeShapeType="1"/>
            <a:stCxn id="25606" idx="7"/>
            <a:endCxn id="25620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3" name="Text Box 22">
            <a:extLst>
              <a:ext uri="{FF2B5EF4-FFF2-40B4-BE49-F238E27FC236}">
                <a16:creationId xmlns:a16="http://schemas.microsoft.com/office/drawing/2014/main" id="{339AD223-01F5-FC69-F553-8E0612CB1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5624" name="Text Box 23">
            <a:extLst>
              <a:ext uri="{FF2B5EF4-FFF2-40B4-BE49-F238E27FC236}">
                <a16:creationId xmlns:a16="http://schemas.microsoft.com/office/drawing/2014/main" id="{07AB1370-2C3B-CEC6-1D3F-0ADC8BBBB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5625" name="Text Box 24">
            <a:extLst>
              <a:ext uri="{FF2B5EF4-FFF2-40B4-BE49-F238E27FC236}">
                <a16:creationId xmlns:a16="http://schemas.microsoft.com/office/drawing/2014/main" id="{D491A390-B7A2-31A5-1F25-6ECBA4E73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5626" name="Text Box 25">
            <a:extLst>
              <a:ext uri="{FF2B5EF4-FFF2-40B4-BE49-F238E27FC236}">
                <a16:creationId xmlns:a16="http://schemas.microsoft.com/office/drawing/2014/main" id="{466E6D48-21F4-BA29-4E6A-003A87DDB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5627" name="Text Box 26">
            <a:extLst>
              <a:ext uri="{FF2B5EF4-FFF2-40B4-BE49-F238E27FC236}">
                <a16:creationId xmlns:a16="http://schemas.microsoft.com/office/drawing/2014/main" id="{4F3BBB01-C075-8FCB-F0AD-DC9AE0CB0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5628" name="Text Box 27">
            <a:extLst>
              <a:ext uri="{FF2B5EF4-FFF2-40B4-BE49-F238E27FC236}">
                <a16:creationId xmlns:a16="http://schemas.microsoft.com/office/drawing/2014/main" id="{FCF8F3F8-554F-72D0-3BAC-B859CE73B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5629" name="Text Box 28">
            <a:extLst>
              <a:ext uri="{FF2B5EF4-FFF2-40B4-BE49-F238E27FC236}">
                <a16:creationId xmlns:a16="http://schemas.microsoft.com/office/drawing/2014/main" id="{F8D37CB4-9243-ADD4-5285-4540E0811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5630" name="Text Box 29">
            <a:extLst>
              <a:ext uri="{FF2B5EF4-FFF2-40B4-BE49-F238E27FC236}">
                <a16:creationId xmlns:a16="http://schemas.microsoft.com/office/drawing/2014/main" id="{B3561BC3-1DAB-9C19-6AA2-2722D81B6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5631" name="Text Box 30">
            <a:extLst>
              <a:ext uri="{FF2B5EF4-FFF2-40B4-BE49-F238E27FC236}">
                <a16:creationId xmlns:a16="http://schemas.microsoft.com/office/drawing/2014/main" id="{4CF02A3E-6C5B-7DC6-200F-1E6896353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5632" name="Text Box 31">
            <a:extLst>
              <a:ext uri="{FF2B5EF4-FFF2-40B4-BE49-F238E27FC236}">
                <a16:creationId xmlns:a16="http://schemas.microsoft.com/office/drawing/2014/main" id="{B4EF8036-1E4A-557A-4318-025C531A0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5633" name="Text Box 32">
            <a:extLst>
              <a:ext uri="{FF2B5EF4-FFF2-40B4-BE49-F238E27FC236}">
                <a16:creationId xmlns:a16="http://schemas.microsoft.com/office/drawing/2014/main" id="{6D7874F4-157B-C32D-750D-C3F698C4D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5634" name="Text Box 33">
            <a:extLst>
              <a:ext uri="{FF2B5EF4-FFF2-40B4-BE49-F238E27FC236}">
                <a16:creationId xmlns:a16="http://schemas.microsoft.com/office/drawing/2014/main" id="{D25F4AF7-7FA0-2C89-2F8B-66F602963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5635" name="Text Box 34">
            <a:extLst>
              <a:ext uri="{FF2B5EF4-FFF2-40B4-BE49-F238E27FC236}">
                <a16:creationId xmlns:a16="http://schemas.microsoft.com/office/drawing/2014/main" id="{30B7922D-9E40-50E5-C23C-26425A959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5636" name="Text Box 35">
            <a:extLst>
              <a:ext uri="{FF2B5EF4-FFF2-40B4-BE49-F238E27FC236}">
                <a16:creationId xmlns:a16="http://schemas.microsoft.com/office/drawing/2014/main" id="{83D7FB3D-ABE8-E9C7-615B-2A3E95259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5637" name="Text Box 36">
            <a:extLst>
              <a:ext uri="{FF2B5EF4-FFF2-40B4-BE49-F238E27FC236}">
                <a16:creationId xmlns:a16="http://schemas.microsoft.com/office/drawing/2014/main" id="{05C66EB6-8CBA-E242-4478-F0399FF96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5638" name="Text Box 37">
            <a:extLst>
              <a:ext uri="{FF2B5EF4-FFF2-40B4-BE49-F238E27FC236}">
                <a16:creationId xmlns:a16="http://schemas.microsoft.com/office/drawing/2014/main" id="{B71F9098-E9FF-FFF8-5524-D83BFDD1B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5639" name="Text Box 38">
            <a:extLst>
              <a:ext uri="{FF2B5EF4-FFF2-40B4-BE49-F238E27FC236}">
                <a16:creationId xmlns:a16="http://schemas.microsoft.com/office/drawing/2014/main" id="{9348C07D-128C-47CB-A9E4-8C2D80D0D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5640" name="Text Box 42">
            <a:extLst>
              <a:ext uri="{FF2B5EF4-FFF2-40B4-BE49-F238E27FC236}">
                <a16:creationId xmlns:a16="http://schemas.microsoft.com/office/drawing/2014/main" id="{FC9BEEA0-E88C-9736-D7A0-0E85C3879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76400"/>
            <a:ext cx="7048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in List with minimum distance (B) and update neighbors</a:t>
            </a:r>
          </a:p>
        </p:txBody>
      </p:sp>
      <p:sp>
        <p:nvSpPr>
          <p:cNvPr id="25642" name="Line 44">
            <a:extLst>
              <a:ext uri="{FF2B5EF4-FFF2-40B4-BE49-F238E27FC236}">
                <a16:creationId xmlns:a16="http://schemas.microsoft.com/office/drawing/2014/main" id="{3EA96F1F-4AAE-AE96-EEDF-C2BE6A6BC0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2837" y="2941637"/>
            <a:ext cx="625474" cy="76199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647" name="Text Box 49">
            <a:extLst>
              <a:ext uri="{FF2B5EF4-FFF2-40B4-BE49-F238E27FC236}">
                <a16:creationId xmlns:a16="http://schemas.microsoft.com/office/drawing/2014/main" id="{F3CE0242-09F4-AEA7-A717-9E36A8A72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9</a:t>
            </a:r>
            <a:endParaRPr lang="en-US" altLang="en-US" sz="1800"/>
          </a:p>
        </p:txBody>
      </p:sp>
      <p:sp>
        <p:nvSpPr>
          <p:cNvPr id="25648" name="Text Box 50">
            <a:extLst>
              <a:ext uri="{FF2B5EF4-FFF2-40B4-BE49-F238E27FC236}">
                <a16:creationId xmlns:a16="http://schemas.microsoft.com/office/drawing/2014/main" id="{F03B94D5-EA76-6282-1E15-897C35C1C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5649" name="Text Box 51">
            <a:extLst>
              <a:ext uri="{FF2B5EF4-FFF2-40B4-BE49-F238E27FC236}">
                <a16:creationId xmlns:a16="http://schemas.microsoft.com/office/drawing/2014/main" id="{1D64C1DD-C6F6-660C-41C6-D0D86B49C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Note : distance(D)</a:t>
            </a:r>
            <a:r>
              <a:rPr lang="en-US" altLang="en-US" sz="1800" baseline="-25000" dirty="0"/>
              <a:t> </a:t>
            </a:r>
            <a:r>
              <a:rPr lang="en-US" altLang="en-US" sz="1800" dirty="0"/>
              <a:t>not updated since D is already known and distance(E) not updated since it is larger than previously computed</a:t>
            </a:r>
          </a:p>
        </p:txBody>
      </p:sp>
      <p:sp>
        <p:nvSpPr>
          <p:cNvPr id="2" name="Line 44">
            <a:extLst>
              <a:ext uri="{FF2B5EF4-FFF2-40B4-BE49-F238E27FC236}">
                <a16:creationId xmlns:a16="http://schemas.microsoft.com/office/drawing/2014/main" id="{265885FB-E21E-7DFA-916A-7A762DA49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49" y="3001962"/>
            <a:ext cx="400051" cy="5889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A0E5B9-BF37-E924-89D0-ADC2D846A0C4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481C-F032-DED5-F8BF-B5543BC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7D11CB20-8E64-5831-E84B-3584F43B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A1B8259-4C21-4EBE-87A1-76D8C6A4A71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D6B2039-8EDD-3E0C-B4D8-A80ECC353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5604" name="Oval 3">
            <a:extLst>
              <a:ext uri="{FF2B5EF4-FFF2-40B4-BE49-F238E27FC236}">
                <a16:creationId xmlns:a16="http://schemas.microsoft.com/office/drawing/2014/main" id="{EEF7A502-A2B5-4FD0-CCBC-DC201CC61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5605" name="Oval 4">
            <a:extLst>
              <a:ext uri="{FF2B5EF4-FFF2-40B4-BE49-F238E27FC236}">
                <a16:creationId xmlns:a16="http://schemas.microsoft.com/office/drawing/2014/main" id="{63BB0987-6451-C9FF-D068-8380189D9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5606" name="Oval 5">
            <a:extLst>
              <a:ext uri="{FF2B5EF4-FFF2-40B4-BE49-F238E27FC236}">
                <a16:creationId xmlns:a16="http://schemas.microsoft.com/office/drawing/2014/main" id="{7700681A-0336-2966-6FF1-93A6585A0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07" name="AutoShape 6">
            <a:extLst>
              <a:ext uri="{FF2B5EF4-FFF2-40B4-BE49-F238E27FC236}">
                <a16:creationId xmlns:a16="http://schemas.microsoft.com/office/drawing/2014/main" id="{8FF83113-A849-9218-71E0-A01ED0845F6F}"/>
              </a:ext>
            </a:extLst>
          </p:cNvPr>
          <p:cNvCxnSpPr>
            <a:cxnSpLocks noChangeShapeType="1"/>
            <a:stCxn id="25605" idx="2"/>
            <a:endCxn id="25606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AutoShape 7">
            <a:extLst>
              <a:ext uri="{FF2B5EF4-FFF2-40B4-BE49-F238E27FC236}">
                <a16:creationId xmlns:a16="http://schemas.microsoft.com/office/drawing/2014/main" id="{04E13343-0E5B-2F4C-3D0B-040EC060AC03}"/>
              </a:ext>
            </a:extLst>
          </p:cNvPr>
          <p:cNvCxnSpPr>
            <a:cxnSpLocks noChangeShapeType="1"/>
            <a:stCxn id="25620" idx="2"/>
            <a:endCxn id="25617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AutoShape 8">
            <a:extLst>
              <a:ext uri="{FF2B5EF4-FFF2-40B4-BE49-F238E27FC236}">
                <a16:creationId xmlns:a16="http://schemas.microsoft.com/office/drawing/2014/main" id="{C69B7D9A-8136-D0FB-64E6-BCDB6696FA9C}"/>
              </a:ext>
            </a:extLst>
          </p:cNvPr>
          <p:cNvCxnSpPr>
            <a:cxnSpLocks noChangeShapeType="1"/>
            <a:stCxn id="25604" idx="6"/>
            <a:endCxn id="25610" idx="2"/>
          </p:cNvCxnSpPr>
          <p:nvPr/>
        </p:nvCxnSpPr>
        <p:spPr bwMode="auto">
          <a:xfrm>
            <a:off x="3810000" y="2667000"/>
            <a:ext cx="15859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Oval 9">
            <a:extLst>
              <a:ext uri="{FF2B5EF4-FFF2-40B4-BE49-F238E27FC236}">
                <a16:creationId xmlns:a16="http://schemas.microsoft.com/office/drawing/2014/main" id="{DB89FDBF-247E-3BCC-FCCF-17E3ED710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5611" name="Oval 10">
            <a:extLst>
              <a:ext uri="{FF2B5EF4-FFF2-40B4-BE49-F238E27FC236}">
                <a16:creationId xmlns:a16="http://schemas.microsoft.com/office/drawing/2014/main" id="{FA694E69-EF72-52A9-5788-BF9D009B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12" name="AutoShape 11">
            <a:extLst>
              <a:ext uri="{FF2B5EF4-FFF2-40B4-BE49-F238E27FC236}">
                <a16:creationId xmlns:a16="http://schemas.microsoft.com/office/drawing/2014/main" id="{A07FE2EA-0C72-9A97-F373-0910572BF76E}"/>
              </a:ext>
            </a:extLst>
          </p:cNvPr>
          <p:cNvCxnSpPr>
            <a:cxnSpLocks noChangeShapeType="1"/>
            <a:stCxn id="25611" idx="2"/>
            <a:endCxn id="25620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3" name="AutoShape 12">
            <a:extLst>
              <a:ext uri="{FF2B5EF4-FFF2-40B4-BE49-F238E27FC236}">
                <a16:creationId xmlns:a16="http://schemas.microsoft.com/office/drawing/2014/main" id="{D3C89A76-BEF7-BDA0-D441-8EFC3FE2290B}"/>
              </a:ext>
            </a:extLst>
          </p:cNvPr>
          <p:cNvCxnSpPr>
            <a:cxnSpLocks noChangeShapeType="1"/>
            <a:stCxn id="25611" idx="1"/>
            <a:endCxn id="25610" idx="5"/>
          </p:cNvCxnSpPr>
          <p:nvPr/>
        </p:nvCxnSpPr>
        <p:spPr bwMode="auto">
          <a:xfrm flipH="1" flipV="1">
            <a:off x="5800725" y="2843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3">
            <a:extLst>
              <a:ext uri="{FF2B5EF4-FFF2-40B4-BE49-F238E27FC236}">
                <a16:creationId xmlns:a16="http://schemas.microsoft.com/office/drawing/2014/main" id="{282E0FFD-DE6F-98F0-B9F6-183CC6E514D9}"/>
              </a:ext>
            </a:extLst>
          </p:cNvPr>
          <p:cNvCxnSpPr>
            <a:cxnSpLocks noChangeShapeType="1"/>
            <a:stCxn id="25605" idx="7"/>
            <a:endCxn id="25611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4">
            <a:extLst>
              <a:ext uri="{FF2B5EF4-FFF2-40B4-BE49-F238E27FC236}">
                <a16:creationId xmlns:a16="http://schemas.microsoft.com/office/drawing/2014/main" id="{21EC8B7E-EEB1-65D2-E286-C012031A8834}"/>
              </a:ext>
            </a:extLst>
          </p:cNvPr>
          <p:cNvCxnSpPr>
            <a:cxnSpLocks noChangeShapeType="1"/>
            <a:stCxn id="25604" idx="5"/>
            <a:endCxn id="25620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AutoShape 15">
            <a:extLst>
              <a:ext uri="{FF2B5EF4-FFF2-40B4-BE49-F238E27FC236}">
                <a16:creationId xmlns:a16="http://schemas.microsoft.com/office/drawing/2014/main" id="{42478EEC-18E2-BF71-FB38-E5C6D9498AC8}"/>
              </a:ext>
            </a:extLst>
          </p:cNvPr>
          <p:cNvCxnSpPr>
            <a:cxnSpLocks noChangeShapeType="1"/>
            <a:stCxn id="25610" idx="3"/>
            <a:endCxn id="25620" idx="7"/>
          </p:cNvCxnSpPr>
          <p:nvPr/>
        </p:nvCxnSpPr>
        <p:spPr bwMode="auto">
          <a:xfrm flipH="1">
            <a:off x="4810125" y="2843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7" name="Oval 16">
            <a:extLst>
              <a:ext uri="{FF2B5EF4-FFF2-40B4-BE49-F238E27FC236}">
                <a16:creationId xmlns:a16="http://schemas.microsoft.com/office/drawing/2014/main" id="{20D99CEF-D26D-6DA5-4D6D-28EF05D23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18" name="AutoShape 17">
            <a:extLst>
              <a:ext uri="{FF2B5EF4-FFF2-40B4-BE49-F238E27FC236}">
                <a16:creationId xmlns:a16="http://schemas.microsoft.com/office/drawing/2014/main" id="{D005F1BB-B97A-63BE-C411-FAB362A78E9D}"/>
              </a:ext>
            </a:extLst>
          </p:cNvPr>
          <p:cNvCxnSpPr>
            <a:cxnSpLocks noChangeShapeType="1"/>
            <a:stCxn id="25617" idx="7"/>
            <a:endCxn id="25604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18">
            <a:extLst>
              <a:ext uri="{FF2B5EF4-FFF2-40B4-BE49-F238E27FC236}">
                <a16:creationId xmlns:a16="http://schemas.microsoft.com/office/drawing/2014/main" id="{E7F79F3D-624E-79B6-90BE-9A0D6E30AC5A}"/>
              </a:ext>
            </a:extLst>
          </p:cNvPr>
          <p:cNvCxnSpPr>
            <a:cxnSpLocks noChangeShapeType="1"/>
            <a:stCxn id="25606" idx="1"/>
            <a:endCxn id="25617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0" name="Oval 19">
            <a:extLst>
              <a:ext uri="{FF2B5EF4-FFF2-40B4-BE49-F238E27FC236}">
                <a16:creationId xmlns:a16="http://schemas.microsoft.com/office/drawing/2014/main" id="{5FFFBE8E-7173-2FAA-B048-4ACA1C2E8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5621" name="AutoShape 20">
            <a:extLst>
              <a:ext uri="{FF2B5EF4-FFF2-40B4-BE49-F238E27FC236}">
                <a16:creationId xmlns:a16="http://schemas.microsoft.com/office/drawing/2014/main" id="{6E441C2C-5D84-C8A7-D55D-7D6F305C631D}"/>
              </a:ext>
            </a:extLst>
          </p:cNvPr>
          <p:cNvCxnSpPr>
            <a:cxnSpLocks noChangeShapeType="1"/>
            <a:stCxn id="25605" idx="1"/>
            <a:endCxn id="25620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2" name="AutoShape 21">
            <a:extLst>
              <a:ext uri="{FF2B5EF4-FFF2-40B4-BE49-F238E27FC236}">
                <a16:creationId xmlns:a16="http://schemas.microsoft.com/office/drawing/2014/main" id="{30E67387-6A7B-0C10-9F9F-5608D166C131}"/>
              </a:ext>
            </a:extLst>
          </p:cNvPr>
          <p:cNvCxnSpPr>
            <a:cxnSpLocks noChangeShapeType="1"/>
            <a:stCxn id="25606" idx="7"/>
            <a:endCxn id="25620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3" name="Text Box 22">
            <a:extLst>
              <a:ext uri="{FF2B5EF4-FFF2-40B4-BE49-F238E27FC236}">
                <a16:creationId xmlns:a16="http://schemas.microsoft.com/office/drawing/2014/main" id="{5F0FD3E9-413E-5C7E-9231-9738400FA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5624" name="Text Box 23">
            <a:extLst>
              <a:ext uri="{FF2B5EF4-FFF2-40B4-BE49-F238E27FC236}">
                <a16:creationId xmlns:a16="http://schemas.microsoft.com/office/drawing/2014/main" id="{F01482C1-D00B-96B5-2A19-1417FAF0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5625" name="Text Box 24">
            <a:extLst>
              <a:ext uri="{FF2B5EF4-FFF2-40B4-BE49-F238E27FC236}">
                <a16:creationId xmlns:a16="http://schemas.microsoft.com/office/drawing/2014/main" id="{51CEA7C7-F404-B927-E749-EEEDB27A7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5626" name="Text Box 25">
            <a:extLst>
              <a:ext uri="{FF2B5EF4-FFF2-40B4-BE49-F238E27FC236}">
                <a16:creationId xmlns:a16="http://schemas.microsoft.com/office/drawing/2014/main" id="{F5B2FDB2-5464-EAD6-DD12-508D6F9BE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5627" name="Text Box 26">
            <a:extLst>
              <a:ext uri="{FF2B5EF4-FFF2-40B4-BE49-F238E27FC236}">
                <a16:creationId xmlns:a16="http://schemas.microsoft.com/office/drawing/2014/main" id="{A972AC71-BA0F-11A7-7BA9-C2265D122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5628" name="Text Box 27">
            <a:extLst>
              <a:ext uri="{FF2B5EF4-FFF2-40B4-BE49-F238E27FC236}">
                <a16:creationId xmlns:a16="http://schemas.microsoft.com/office/drawing/2014/main" id="{AC6C408E-877B-431D-2B43-FA7704672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5629" name="Text Box 28">
            <a:extLst>
              <a:ext uri="{FF2B5EF4-FFF2-40B4-BE49-F238E27FC236}">
                <a16:creationId xmlns:a16="http://schemas.microsoft.com/office/drawing/2014/main" id="{26CCC38D-FE68-71B9-1EE8-15629C64F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5630" name="Text Box 29">
            <a:extLst>
              <a:ext uri="{FF2B5EF4-FFF2-40B4-BE49-F238E27FC236}">
                <a16:creationId xmlns:a16="http://schemas.microsoft.com/office/drawing/2014/main" id="{650B010A-C634-BA44-C177-70AA64899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5631" name="Text Box 30">
            <a:extLst>
              <a:ext uri="{FF2B5EF4-FFF2-40B4-BE49-F238E27FC236}">
                <a16:creationId xmlns:a16="http://schemas.microsoft.com/office/drawing/2014/main" id="{9AC0F54B-AEAB-A331-03AE-C2CD83834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5632" name="Text Box 31">
            <a:extLst>
              <a:ext uri="{FF2B5EF4-FFF2-40B4-BE49-F238E27FC236}">
                <a16:creationId xmlns:a16="http://schemas.microsoft.com/office/drawing/2014/main" id="{3F8508B4-752D-7B44-FA17-754DFB2C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5633" name="Text Box 32">
            <a:extLst>
              <a:ext uri="{FF2B5EF4-FFF2-40B4-BE49-F238E27FC236}">
                <a16:creationId xmlns:a16="http://schemas.microsoft.com/office/drawing/2014/main" id="{33D56E3C-D5E8-0040-618C-71326CCA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5634" name="Text Box 33">
            <a:extLst>
              <a:ext uri="{FF2B5EF4-FFF2-40B4-BE49-F238E27FC236}">
                <a16:creationId xmlns:a16="http://schemas.microsoft.com/office/drawing/2014/main" id="{FD874B64-202E-07C1-CAF5-DF9E794A1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5635" name="Text Box 34">
            <a:extLst>
              <a:ext uri="{FF2B5EF4-FFF2-40B4-BE49-F238E27FC236}">
                <a16:creationId xmlns:a16="http://schemas.microsoft.com/office/drawing/2014/main" id="{EF823699-8712-EAA0-59D8-FB7B4D42A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5636" name="Text Box 35">
            <a:extLst>
              <a:ext uri="{FF2B5EF4-FFF2-40B4-BE49-F238E27FC236}">
                <a16:creationId xmlns:a16="http://schemas.microsoft.com/office/drawing/2014/main" id="{7EFD5C47-751F-4A61-9F53-978C2079E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5637" name="Text Box 36">
            <a:extLst>
              <a:ext uri="{FF2B5EF4-FFF2-40B4-BE49-F238E27FC236}">
                <a16:creationId xmlns:a16="http://schemas.microsoft.com/office/drawing/2014/main" id="{8E6F41C3-BCCF-D6B8-5726-C7D217825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5638" name="Text Box 37">
            <a:extLst>
              <a:ext uri="{FF2B5EF4-FFF2-40B4-BE49-F238E27FC236}">
                <a16:creationId xmlns:a16="http://schemas.microsoft.com/office/drawing/2014/main" id="{D66CCF18-1321-CB6E-51BC-3C2DDB79D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5639" name="Text Box 38">
            <a:extLst>
              <a:ext uri="{FF2B5EF4-FFF2-40B4-BE49-F238E27FC236}">
                <a16:creationId xmlns:a16="http://schemas.microsoft.com/office/drawing/2014/main" id="{5796220D-09FC-F8D9-60E2-081992D8E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5640" name="Text Box 42">
            <a:extLst>
              <a:ext uri="{FF2B5EF4-FFF2-40B4-BE49-F238E27FC236}">
                <a16:creationId xmlns:a16="http://schemas.microsoft.com/office/drawing/2014/main" id="{48035FB6-1E43-8826-74E0-5DF13B3B7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76400"/>
            <a:ext cx="7048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in List with minimum distance (B) and update neighbors</a:t>
            </a:r>
          </a:p>
        </p:txBody>
      </p:sp>
      <p:sp>
        <p:nvSpPr>
          <p:cNvPr id="25647" name="Text Box 49">
            <a:extLst>
              <a:ext uri="{FF2B5EF4-FFF2-40B4-BE49-F238E27FC236}">
                <a16:creationId xmlns:a16="http://schemas.microsoft.com/office/drawing/2014/main" id="{783098FE-1D50-70D8-D502-DB03638FF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9</a:t>
            </a:r>
            <a:endParaRPr lang="en-US" altLang="en-US" sz="1800"/>
          </a:p>
        </p:txBody>
      </p:sp>
      <p:sp>
        <p:nvSpPr>
          <p:cNvPr id="25648" name="Text Box 50">
            <a:extLst>
              <a:ext uri="{FF2B5EF4-FFF2-40B4-BE49-F238E27FC236}">
                <a16:creationId xmlns:a16="http://schemas.microsoft.com/office/drawing/2014/main" id="{7C44EE79-28DD-A7B9-525E-A663D47B5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CC11A5-EE3A-9303-A0E3-CA89C0935062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2933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C157597B-7B90-2E81-5683-E1E1E33D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1B3FB7D-4DC8-4840-8F61-36283671058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EE22201-DC88-5C58-B991-8747FECD9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6628" name="Oval 3">
            <a:extLst>
              <a:ext uri="{FF2B5EF4-FFF2-40B4-BE49-F238E27FC236}">
                <a16:creationId xmlns:a16="http://schemas.microsoft.com/office/drawing/2014/main" id="{B2F48CBA-3EE1-B9AD-C98B-5C5DB4282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4C022010-40ED-E4A0-D51C-E3E9F244F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2E43E29A-9D07-50B6-162D-77F3BF10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31" name="AutoShape 6">
            <a:extLst>
              <a:ext uri="{FF2B5EF4-FFF2-40B4-BE49-F238E27FC236}">
                <a16:creationId xmlns:a16="http://schemas.microsoft.com/office/drawing/2014/main" id="{CC17D3F7-653E-F201-C664-5087DC73DC71}"/>
              </a:ext>
            </a:extLst>
          </p:cNvPr>
          <p:cNvCxnSpPr>
            <a:cxnSpLocks noChangeShapeType="1"/>
            <a:stCxn id="26629" idx="2"/>
            <a:endCxn id="26630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AutoShape 7">
            <a:extLst>
              <a:ext uri="{FF2B5EF4-FFF2-40B4-BE49-F238E27FC236}">
                <a16:creationId xmlns:a16="http://schemas.microsoft.com/office/drawing/2014/main" id="{34E54E54-B9B5-C9D2-95F2-0A0B3FF0CF26}"/>
              </a:ext>
            </a:extLst>
          </p:cNvPr>
          <p:cNvCxnSpPr>
            <a:cxnSpLocks noChangeShapeType="1"/>
            <a:stCxn id="26644" idx="2"/>
            <a:endCxn id="26641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AutoShape 8">
            <a:extLst>
              <a:ext uri="{FF2B5EF4-FFF2-40B4-BE49-F238E27FC236}">
                <a16:creationId xmlns:a16="http://schemas.microsoft.com/office/drawing/2014/main" id="{5EF5618E-B211-1651-82E9-C3B5B457B300}"/>
              </a:ext>
            </a:extLst>
          </p:cNvPr>
          <p:cNvCxnSpPr>
            <a:cxnSpLocks noChangeShapeType="1"/>
            <a:stCxn id="26628" idx="6"/>
            <a:endCxn id="26634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4" name="Oval 9">
            <a:extLst>
              <a:ext uri="{FF2B5EF4-FFF2-40B4-BE49-F238E27FC236}">
                <a16:creationId xmlns:a16="http://schemas.microsoft.com/office/drawing/2014/main" id="{652247F9-7142-9BA1-F36D-5252F5A5D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6635" name="Oval 10">
            <a:extLst>
              <a:ext uri="{FF2B5EF4-FFF2-40B4-BE49-F238E27FC236}">
                <a16:creationId xmlns:a16="http://schemas.microsoft.com/office/drawing/2014/main" id="{6440B0D3-EE66-A1D2-6CF0-36C5C196A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36" name="AutoShape 11">
            <a:extLst>
              <a:ext uri="{FF2B5EF4-FFF2-40B4-BE49-F238E27FC236}">
                <a16:creationId xmlns:a16="http://schemas.microsoft.com/office/drawing/2014/main" id="{AAA51F39-0FF3-0F44-9807-957CB8D720C2}"/>
              </a:ext>
            </a:extLst>
          </p:cNvPr>
          <p:cNvCxnSpPr>
            <a:cxnSpLocks noChangeShapeType="1"/>
            <a:stCxn id="26635" idx="2"/>
            <a:endCxn id="26644" idx="6"/>
          </p:cNvCxnSpPr>
          <p:nvPr/>
        </p:nvCxnSpPr>
        <p:spPr bwMode="auto">
          <a:xfrm flipH="1">
            <a:off x="4876800" y="3810000"/>
            <a:ext cx="14335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2">
            <a:extLst>
              <a:ext uri="{FF2B5EF4-FFF2-40B4-BE49-F238E27FC236}">
                <a16:creationId xmlns:a16="http://schemas.microsoft.com/office/drawing/2014/main" id="{D4EC2047-FE6E-641B-0188-CE2B14889405}"/>
              </a:ext>
            </a:extLst>
          </p:cNvPr>
          <p:cNvCxnSpPr>
            <a:cxnSpLocks noChangeShapeType="1"/>
            <a:stCxn id="26635" idx="1"/>
            <a:endCxn id="26634" idx="5"/>
          </p:cNvCxnSpPr>
          <p:nvPr/>
        </p:nvCxnSpPr>
        <p:spPr bwMode="auto">
          <a:xfrm flipH="1" flipV="1">
            <a:off x="5800725" y="2828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3">
            <a:extLst>
              <a:ext uri="{FF2B5EF4-FFF2-40B4-BE49-F238E27FC236}">
                <a16:creationId xmlns:a16="http://schemas.microsoft.com/office/drawing/2014/main" id="{F7552F68-76EF-7D16-5FA7-BEC569F45397}"/>
              </a:ext>
            </a:extLst>
          </p:cNvPr>
          <p:cNvCxnSpPr>
            <a:cxnSpLocks noChangeShapeType="1"/>
            <a:stCxn id="26629" idx="7"/>
            <a:endCxn id="26635" idx="3"/>
          </p:cNvCxnSpPr>
          <p:nvPr/>
        </p:nvCxnSpPr>
        <p:spPr bwMode="auto">
          <a:xfrm flipV="1">
            <a:off x="5800725" y="3986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4">
            <a:extLst>
              <a:ext uri="{FF2B5EF4-FFF2-40B4-BE49-F238E27FC236}">
                <a16:creationId xmlns:a16="http://schemas.microsoft.com/office/drawing/2014/main" id="{AEDAEEF6-CC34-3C6D-17CB-05716B29B274}"/>
              </a:ext>
            </a:extLst>
          </p:cNvPr>
          <p:cNvCxnSpPr>
            <a:cxnSpLocks noChangeShapeType="1"/>
            <a:stCxn id="26628" idx="5"/>
            <a:endCxn id="26644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5">
            <a:extLst>
              <a:ext uri="{FF2B5EF4-FFF2-40B4-BE49-F238E27FC236}">
                <a16:creationId xmlns:a16="http://schemas.microsoft.com/office/drawing/2014/main" id="{C6664EA7-C0CE-EEC6-1659-342D7372FDAA}"/>
              </a:ext>
            </a:extLst>
          </p:cNvPr>
          <p:cNvCxnSpPr>
            <a:cxnSpLocks noChangeShapeType="1"/>
            <a:stCxn id="26634" idx="3"/>
            <a:endCxn id="26644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1" name="Oval 16">
            <a:extLst>
              <a:ext uri="{FF2B5EF4-FFF2-40B4-BE49-F238E27FC236}">
                <a16:creationId xmlns:a16="http://schemas.microsoft.com/office/drawing/2014/main" id="{6BFC31DB-340A-F8FE-F144-44DCE2A25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42" name="AutoShape 17">
            <a:extLst>
              <a:ext uri="{FF2B5EF4-FFF2-40B4-BE49-F238E27FC236}">
                <a16:creationId xmlns:a16="http://schemas.microsoft.com/office/drawing/2014/main" id="{6992A83C-2271-1EED-2367-358495418E1D}"/>
              </a:ext>
            </a:extLst>
          </p:cNvPr>
          <p:cNvCxnSpPr>
            <a:cxnSpLocks noChangeShapeType="1"/>
            <a:stCxn id="26641" idx="7"/>
            <a:endCxn id="26628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18">
            <a:extLst>
              <a:ext uri="{FF2B5EF4-FFF2-40B4-BE49-F238E27FC236}">
                <a16:creationId xmlns:a16="http://schemas.microsoft.com/office/drawing/2014/main" id="{F4F4DAD9-F6F9-2314-AE22-6AAADEE5CF37}"/>
              </a:ext>
            </a:extLst>
          </p:cNvPr>
          <p:cNvCxnSpPr>
            <a:cxnSpLocks noChangeShapeType="1"/>
            <a:stCxn id="26630" idx="1"/>
            <a:endCxn id="26641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4" name="Oval 19">
            <a:extLst>
              <a:ext uri="{FF2B5EF4-FFF2-40B4-BE49-F238E27FC236}">
                <a16:creationId xmlns:a16="http://schemas.microsoft.com/office/drawing/2014/main" id="{5E69DBD2-A337-6EED-1F36-ED0FFF8A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45" name="AutoShape 20">
            <a:extLst>
              <a:ext uri="{FF2B5EF4-FFF2-40B4-BE49-F238E27FC236}">
                <a16:creationId xmlns:a16="http://schemas.microsoft.com/office/drawing/2014/main" id="{972DFA17-329A-5592-A375-C2221AB26CAC}"/>
              </a:ext>
            </a:extLst>
          </p:cNvPr>
          <p:cNvCxnSpPr>
            <a:cxnSpLocks noChangeShapeType="1"/>
            <a:stCxn id="26629" idx="1"/>
            <a:endCxn id="26644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6" name="AutoShape 21">
            <a:extLst>
              <a:ext uri="{FF2B5EF4-FFF2-40B4-BE49-F238E27FC236}">
                <a16:creationId xmlns:a16="http://schemas.microsoft.com/office/drawing/2014/main" id="{03C571B3-E91C-681D-EE63-082D75A49B28}"/>
              </a:ext>
            </a:extLst>
          </p:cNvPr>
          <p:cNvCxnSpPr>
            <a:cxnSpLocks noChangeShapeType="1"/>
            <a:stCxn id="26630" idx="7"/>
            <a:endCxn id="26644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7" name="Text Box 22">
            <a:extLst>
              <a:ext uri="{FF2B5EF4-FFF2-40B4-BE49-F238E27FC236}">
                <a16:creationId xmlns:a16="http://schemas.microsoft.com/office/drawing/2014/main" id="{AC6F51C8-5080-0AE2-893B-65158BB79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6648" name="Text Box 23">
            <a:extLst>
              <a:ext uri="{FF2B5EF4-FFF2-40B4-BE49-F238E27FC236}">
                <a16:creationId xmlns:a16="http://schemas.microsoft.com/office/drawing/2014/main" id="{E7D2EC52-467C-E984-11D8-5EB568D04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6649" name="Text Box 24">
            <a:extLst>
              <a:ext uri="{FF2B5EF4-FFF2-40B4-BE49-F238E27FC236}">
                <a16:creationId xmlns:a16="http://schemas.microsoft.com/office/drawing/2014/main" id="{BC21B63C-A09E-2048-1326-3AD09D14D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6650" name="Text Box 25">
            <a:extLst>
              <a:ext uri="{FF2B5EF4-FFF2-40B4-BE49-F238E27FC236}">
                <a16:creationId xmlns:a16="http://schemas.microsoft.com/office/drawing/2014/main" id="{6C7A624C-FC15-0E01-5B69-FA9E056CF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6651" name="Text Box 26">
            <a:extLst>
              <a:ext uri="{FF2B5EF4-FFF2-40B4-BE49-F238E27FC236}">
                <a16:creationId xmlns:a16="http://schemas.microsoft.com/office/drawing/2014/main" id="{1891DC68-BCDC-5C74-DD20-AA4340586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6652" name="Text Box 27">
            <a:extLst>
              <a:ext uri="{FF2B5EF4-FFF2-40B4-BE49-F238E27FC236}">
                <a16:creationId xmlns:a16="http://schemas.microsoft.com/office/drawing/2014/main" id="{3F0CF716-7122-FC2E-6CC0-70393DECA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7E1090CA-98DC-FA0B-8FDC-8B77804DD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AB1D3960-63B3-9264-1DB2-BE8862850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6655" name="Text Box 30">
            <a:extLst>
              <a:ext uri="{FF2B5EF4-FFF2-40B4-BE49-F238E27FC236}">
                <a16:creationId xmlns:a16="http://schemas.microsoft.com/office/drawing/2014/main" id="{C56973D9-C98F-B34B-8237-3FD30D006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22B0BDFB-49ED-6B34-6930-ED967585F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6657" name="Text Box 32">
            <a:extLst>
              <a:ext uri="{FF2B5EF4-FFF2-40B4-BE49-F238E27FC236}">
                <a16:creationId xmlns:a16="http://schemas.microsoft.com/office/drawing/2014/main" id="{3A0755D6-96B4-4453-945F-4981AFC0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591501FF-DDE8-5902-95AC-EAE45DAB0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6659" name="Text Box 34">
            <a:extLst>
              <a:ext uri="{FF2B5EF4-FFF2-40B4-BE49-F238E27FC236}">
                <a16:creationId xmlns:a16="http://schemas.microsoft.com/office/drawing/2014/main" id="{61393A50-101A-668F-B644-EEFF67BD4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6660" name="Text Box 35">
            <a:extLst>
              <a:ext uri="{FF2B5EF4-FFF2-40B4-BE49-F238E27FC236}">
                <a16:creationId xmlns:a16="http://schemas.microsoft.com/office/drawing/2014/main" id="{43A09807-CFCF-92DF-AD84-B2AEB627D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6661" name="Text Box 36">
            <a:extLst>
              <a:ext uri="{FF2B5EF4-FFF2-40B4-BE49-F238E27FC236}">
                <a16:creationId xmlns:a16="http://schemas.microsoft.com/office/drawing/2014/main" id="{8EF305A0-B1AC-7FDE-97DA-2637BAA64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6662" name="Text Box 37">
            <a:extLst>
              <a:ext uri="{FF2B5EF4-FFF2-40B4-BE49-F238E27FC236}">
                <a16:creationId xmlns:a16="http://schemas.microsoft.com/office/drawing/2014/main" id="{2F018031-9D98-B5D4-E024-15FA2234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6663" name="Text Box 38">
            <a:extLst>
              <a:ext uri="{FF2B5EF4-FFF2-40B4-BE49-F238E27FC236}">
                <a16:creationId xmlns:a16="http://schemas.microsoft.com/office/drawing/2014/main" id="{D3D6F4BF-CF9B-BD13-7C5D-1A33C7C59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6667" name="Line 45">
            <a:extLst>
              <a:ext uri="{FF2B5EF4-FFF2-40B4-BE49-F238E27FC236}">
                <a16:creationId xmlns:a16="http://schemas.microsoft.com/office/drawing/2014/main" id="{D040B906-845D-48B3-2D3B-74FA2001B2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3573" y="3971925"/>
            <a:ext cx="504826" cy="64611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6670" name="Text Box 48">
            <a:extLst>
              <a:ext uri="{FF2B5EF4-FFF2-40B4-BE49-F238E27FC236}">
                <a16:creationId xmlns:a16="http://schemas.microsoft.com/office/drawing/2014/main" id="{48FFBAF0-4DC9-1592-6AC5-CA2DE9763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9</a:t>
            </a:r>
            <a:endParaRPr lang="en-US" altLang="en-US" sz="1800"/>
          </a:p>
        </p:txBody>
      </p:sp>
      <p:sp>
        <p:nvSpPr>
          <p:cNvPr id="26671" name="Text Box 49">
            <a:extLst>
              <a:ext uri="{FF2B5EF4-FFF2-40B4-BE49-F238E27FC236}">
                <a16:creationId xmlns:a16="http://schemas.microsoft.com/office/drawing/2014/main" id="{9B64A44E-8CCC-7268-2FAE-267E1EF2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6673" name="Text Box 42">
            <a:extLst>
              <a:ext uri="{FF2B5EF4-FFF2-40B4-BE49-F238E27FC236}">
                <a16:creationId xmlns:a16="http://schemas.microsoft.com/office/drawing/2014/main" id="{AC976B21-8D49-852B-089E-50E003784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List with minimum distance (E) and update neighbors</a:t>
            </a:r>
          </a:p>
        </p:txBody>
      </p:sp>
      <p:sp>
        <p:nvSpPr>
          <p:cNvPr id="3" name="Text Box 51">
            <a:extLst>
              <a:ext uri="{FF2B5EF4-FFF2-40B4-BE49-F238E27FC236}">
                <a16:creationId xmlns:a16="http://schemas.microsoft.com/office/drawing/2014/main" id="{2BC4248A-448A-E35D-E493-3CF2D5C01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5097373"/>
            <a:ext cx="2743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We can reach G in 9 using E, but it is not better then the previous path, so no update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B7CCA0-4787-1A23-C24A-D0A58D3D5BCC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4EEB-3D01-BCFD-F523-D68F7A5D9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464E4C03-9D61-FB83-74B7-83EECA20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1B3FB7D-4DC8-4840-8F61-36283671058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D408BAC-B51B-8522-27EF-227D5E6E0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6628" name="Oval 3">
            <a:extLst>
              <a:ext uri="{FF2B5EF4-FFF2-40B4-BE49-F238E27FC236}">
                <a16:creationId xmlns:a16="http://schemas.microsoft.com/office/drawing/2014/main" id="{B7095B22-8FF1-EB91-4489-E611ECB1C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5B07A0B8-031B-0C9D-EC76-94BF431C9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87FA1667-945A-83FB-69CF-D65FCD443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31" name="AutoShape 6">
            <a:extLst>
              <a:ext uri="{FF2B5EF4-FFF2-40B4-BE49-F238E27FC236}">
                <a16:creationId xmlns:a16="http://schemas.microsoft.com/office/drawing/2014/main" id="{46D3C3CF-89CE-39E6-290C-97F60DAB3CBF}"/>
              </a:ext>
            </a:extLst>
          </p:cNvPr>
          <p:cNvCxnSpPr>
            <a:cxnSpLocks noChangeShapeType="1"/>
            <a:stCxn id="26629" idx="2"/>
            <a:endCxn id="26630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AutoShape 7">
            <a:extLst>
              <a:ext uri="{FF2B5EF4-FFF2-40B4-BE49-F238E27FC236}">
                <a16:creationId xmlns:a16="http://schemas.microsoft.com/office/drawing/2014/main" id="{5748291B-6118-4E9F-65FF-EF5AD9C30EE3}"/>
              </a:ext>
            </a:extLst>
          </p:cNvPr>
          <p:cNvCxnSpPr>
            <a:cxnSpLocks noChangeShapeType="1"/>
            <a:stCxn id="26644" idx="2"/>
            <a:endCxn id="26641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AutoShape 8">
            <a:extLst>
              <a:ext uri="{FF2B5EF4-FFF2-40B4-BE49-F238E27FC236}">
                <a16:creationId xmlns:a16="http://schemas.microsoft.com/office/drawing/2014/main" id="{0AB0CBAC-B6E8-62A9-BF26-506E5B5182BE}"/>
              </a:ext>
            </a:extLst>
          </p:cNvPr>
          <p:cNvCxnSpPr>
            <a:cxnSpLocks noChangeShapeType="1"/>
            <a:stCxn id="26628" idx="6"/>
            <a:endCxn id="26634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4" name="Oval 9">
            <a:extLst>
              <a:ext uri="{FF2B5EF4-FFF2-40B4-BE49-F238E27FC236}">
                <a16:creationId xmlns:a16="http://schemas.microsoft.com/office/drawing/2014/main" id="{322D2AFB-0C21-A974-B833-D41991E2A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6635" name="Oval 10">
            <a:extLst>
              <a:ext uri="{FF2B5EF4-FFF2-40B4-BE49-F238E27FC236}">
                <a16:creationId xmlns:a16="http://schemas.microsoft.com/office/drawing/2014/main" id="{F6796D48-1FF2-FF58-3C19-DEE47AD22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36" name="AutoShape 11">
            <a:extLst>
              <a:ext uri="{FF2B5EF4-FFF2-40B4-BE49-F238E27FC236}">
                <a16:creationId xmlns:a16="http://schemas.microsoft.com/office/drawing/2014/main" id="{86184ABD-6CE8-7E73-1AFA-7C4310808C6A}"/>
              </a:ext>
            </a:extLst>
          </p:cNvPr>
          <p:cNvCxnSpPr>
            <a:cxnSpLocks noChangeShapeType="1"/>
            <a:stCxn id="26635" idx="2"/>
            <a:endCxn id="26644" idx="6"/>
          </p:cNvCxnSpPr>
          <p:nvPr/>
        </p:nvCxnSpPr>
        <p:spPr bwMode="auto">
          <a:xfrm flipH="1">
            <a:off x="4876800" y="3810000"/>
            <a:ext cx="14335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2">
            <a:extLst>
              <a:ext uri="{FF2B5EF4-FFF2-40B4-BE49-F238E27FC236}">
                <a16:creationId xmlns:a16="http://schemas.microsoft.com/office/drawing/2014/main" id="{6A0416E9-592B-9F9C-40C7-B140C70C22DC}"/>
              </a:ext>
            </a:extLst>
          </p:cNvPr>
          <p:cNvCxnSpPr>
            <a:cxnSpLocks noChangeShapeType="1"/>
            <a:stCxn id="26635" idx="1"/>
            <a:endCxn id="26634" idx="5"/>
          </p:cNvCxnSpPr>
          <p:nvPr/>
        </p:nvCxnSpPr>
        <p:spPr bwMode="auto">
          <a:xfrm flipH="1" flipV="1">
            <a:off x="5800725" y="2828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3">
            <a:extLst>
              <a:ext uri="{FF2B5EF4-FFF2-40B4-BE49-F238E27FC236}">
                <a16:creationId xmlns:a16="http://schemas.microsoft.com/office/drawing/2014/main" id="{E99AB7EB-0FEA-8AF0-CCA8-11D46665BDAB}"/>
              </a:ext>
            </a:extLst>
          </p:cNvPr>
          <p:cNvCxnSpPr>
            <a:cxnSpLocks noChangeShapeType="1"/>
            <a:stCxn id="26629" idx="7"/>
            <a:endCxn id="26635" idx="3"/>
          </p:cNvCxnSpPr>
          <p:nvPr/>
        </p:nvCxnSpPr>
        <p:spPr bwMode="auto">
          <a:xfrm flipV="1">
            <a:off x="5800725" y="3986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4">
            <a:extLst>
              <a:ext uri="{FF2B5EF4-FFF2-40B4-BE49-F238E27FC236}">
                <a16:creationId xmlns:a16="http://schemas.microsoft.com/office/drawing/2014/main" id="{CE0FBA86-BB79-4D7D-12D0-6640B42D591E}"/>
              </a:ext>
            </a:extLst>
          </p:cNvPr>
          <p:cNvCxnSpPr>
            <a:cxnSpLocks noChangeShapeType="1"/>
            <a:stCxn id="26628" idx="5"/>
            <a:endCxn id="26644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5">
            <a:extLst>
              <a:ext uri="{FF2B5EF4-FFF2-40B4-BE49-F238E27FC236}">
                <a16:creationId xmlns:a16="http://schemas.microsoft.com/office/drawing/2014/main" id="{A6B8770A-CB87-DBBC-C52D-CD95FFD96ABB}"/>
              </a:ext>
            </a:extLst>
          </p:cNvPr>
          <p:cNvCxnSpPr>
            <a:cxnSpLocks noChangeShapeType="1"/>
            <a:stCxn id="26634" idx="3"/>
            <a:endCxn id="26644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1" name="Oval 16">
            <a:extLst>
              <a:ext uri="{FF2B5EF4-FFF2-40B4-BE49-F238E27FC236}">
                <a16:creationId xmlns:a16="http://schemas.microsoft.com/office/drawing/2014/main" id="{E872C181-D9C2-7B4C-908C-8F742889E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42" name="AutoShape 17">
            <a:extLst>
              <a:ext uri="{FF2B5EF4-FFF2-40B4-BE49-F238E27FC236}">
                <a16:creationId xmlns:a16="http://schemas.microsoft.com/office/drawing/2014/main" id="{3717B059-8548-C1FA-E54B-6505FD14409F}"/>
              </a:ext>
            </a:extLst>
          </p:cNvPr>
          <p:cNvCxnSpPr>
            <a:cxnSpLocks noChangeShapeType="1"/>
            <a:stCxn id="26641" idx="7"/>
            <a:endCxn id="26628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18">
            <a:extLst>
              <a:ext uri="{FF2B5EF4-FFF2-40B4-BE49-F238E27FC236}">
                <a16:creationId xmlns:a16="http://schemas.microsoft.com/office/drawing/2014/main" id="{8D90F9A2-5EF4-7883-D591-B08449224EB3}"/>
              </a:ext>
            </a:extLst>
          </p:cNvPr>
          <p:cNvCxnSpPr>
            <a:cxnSpLocks noChangeShapeType="1"/>
            <a:stCxn id="26630" idx="1"/>
            <a:endCxn id="26641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4" name="Oval 19">
            <a:extLst>
              <a:ext uri="{FF2B5EF4-FFF2-40B4-BE49-F238E27FC236}">
                <a16:creationId xmlns:a16="http://schemas.microsoft.com/office/drawing/2014/main" id="{3C163965-D16A-D458-8B1B-545CEFE83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6645" name="AutoShape 20">
            <a:extLst>
              <a:ext uri="{FF2B5EF4-FFF2-40B4-BE49-F238E27FC236}">
                <a16:creationId xmlns:a16="http://schemas.microsoft.com/office/drawing/2014/main" id="{E652F73D-3DE0-E54C-229A-40366178E0A5}"/>
              </a:ext>
            </a:extLst>
          </p:cNvPr>
          <p:cNvCxnSpPr>
            <a:cxnSpLocks noChangeShapeType="1"/>
            <a:stCxn id="26629" idx="1"/>
            <a:endCxn id="26644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6" name="AutoShape 21">
            <a:extLst>
              <a:ext uri="{FF2B5EF4-FFF2-40B4-BE49-F238E27FC236}">
                <a16:creationId xmlns:a16="http://schemas.microsoft.com/office/drawing/2014/main" id="{0E6BFEF3-2F8E-4EDC-1B7A-9B69CEBF92B5}"/>
              </a:ext>
            </a:extLst>
          </p:cNvPr>
          <p:cNvCxnSpPr>
            <a:cxnSpLocks noChangeShapeType="1"/>
            <a:stCxn id="26630" idx="7"/>
            <a:endCxn id="26644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7" name="Text Box 22">
            <a:extLst>
              <a:ext uri="{FF2B5EF4-FFF2-40B4-BE49-F238E27FC236}">
                <a16:creationId xmlns:a16="http://schemas.microsoft.com/office/drawing/2014/main" id="{4EDA1ADA-FCE4-6C94-BD6B-2AC83FE1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6648" name="Text Box 23">
            <a:extLst>
              <a:ext uri="{FF2B5EF4-FFF2-40B4-BE49-F238E27FC236}">
                <a16:creationId xmlns:a16="http://schemas.microsoft.com/office/drawing/2014/main" id="{6E662C10-612B-64B0-E741-5A1313877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6649" name="Text Box 24">
            <a:extLst>
              <a:ext uri="{FF2B5EF4-FFF2-40B4-BE49-F238E27FC236}">
                <a16:creationId xmlns:a16="http://schemas.microsoft.com/office/drawing/2014/main" id="{46F56E3A-56E6-3F34-0FAA-68ECA05F9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6650" name="Text Box 25">
            <a:extLst>
              <a:ext uri="{FF2B5EF4-FFF2-40B4-BE49-F238E27FC236}">
                <a16:creationId xmlns:a16="http://schemas.microsoft.com/office/drawing/2014/main" id="{C770C20F-9587-6BAB-7AEB-A40B59F22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6651" name="Text Box 26">
            <a:extLst>
              <a:ext uri="{FF2B5EF4-FFF2-40B4-BE49-F238E27FC236}">
                <a16:creationId xmlns:a16="http://schemas.microsoft.com/office/drawing/2014/main" id="{16E59B38-6997-05DE-5EFB-9AC6C41C9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6652" name="Text Box 27">
            <a:extLst>
              <a:ext uri="{FF2B5EF4-FFF2-40B4-BE49-F238E27FC236}">
                <a16:creationId xmlns:a16="http://schemas.microsoft.com/office/drawing/2014/main" id="{19005481-C782-0739-6455-5AD6F808E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CFD40305-ACF2-FB1C-0D24-E752BF8C7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31939435-F8F1-4E7D-370B-3D34B564A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6655" name="Text Box 30">
            <a:extLst>
              <a:ext uri="{FF2B5EF4-FFF2-40B4-BE49-F238E27FC236}">
                <a16:creationId xmlns:a16="http://schemas.microsoft.com/office/drawing/2014/main" id="{3CE6908F-E19D-0260-B115-091EE9361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DF6F8A33-E27F-FD68-CAD3-C0E0D71F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6657" name="Text Box 32">
            <a:extLst>
              <a:ext uri="{FF2B5EF4-FFF2-40B4-BE49-F238E27FC236}">
                <a16:creationId xmlns:a16="http://schemas.microsoft.com/office/drawing/2014/main" id="{99F0DA59-35E3-84EE-D99D-A5E645F99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8E499EB7-BC34-9D6E-89F4-744B50699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6659" name="Text Box 34">
            <a:extLst>
              <a:ext uri="{FF2B5EF4-FFF2-40B4-BE49-F238E27FC236}">
                <a16:creationId xmlns:a16="http://schemas.microsoft.com/office/drawing/2014/main" id="{3E9ACB6C-A332-E52C-0C63-E1AD0231B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6660" name="Text Box 35">
            <a:extLst>
              <a:ext uri="{FF2B5EF4-FFF2-40B4-BE49-F238E27FC236}">
                <a16:creationId xmlns:a16="http://schemas.microsoft.com/office/drawing/2014/main" id="{874E9B3E-16D3-CDBB-C4DE-0F939F75C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6661" name="Text Box 36">
            <a:extLst>
              <a:ext uri="{FF2B5EF4-FFF2-40B4-BE49-F238E27FC236}">
                <a16:creationId xmlns:a16="http://schemas.microsoft.com/office/drawing/2014/main" id="{A556C5E2-0A89-4CD0-1E24-EF47160E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6662" name="Text Box 37">
            <a:extLst>
              <a:ext uri="{FF2B5EF4-FFF2-40B4-BE49-F238E27FC236}">
                <a16:creationId xmlns:a16="http://schemas.microsoft.com/office/drawing/2014/main" id="{F463C616-1901-A95E-C64C-2B6FE01C4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6663" name="Text Box 38">
            <a:extLst>
              <a:ext uri="{FF2B5EF4-FFF2-40B4-BE49-F238E27FC236}">
                <a16:creationId xmlns:a16="http://schemas.microsoft.com/office/drawing/2014/main" id="{E4EF779D-18C3-FED1-7307-3B05B2650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6670" name="Text Box 48">
            <a:extLst>
              <a:ext uri="{FF2B5EF4-FFF2-40B4-BE49-F238E27FC236}">
                <a16:creationId xmlns:a16="http://schemas.microsoft.com/office/drawing/2014/main" id="{7EDE6635-A04E-F7AC-C199-4F3EFBC55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9</a:t>
            </a:r>
            <a:endParaRPr lang="en-US" altLang="en-US" sz="1800"/>
          </a:p>
        </p:txBody>
      </p:sp>
      <p:sp>
        <p:nvSpPr>
          <p:cNvPr id="26671" name="Text Box 49">
            <a:extLst>
              <a:ext uri="{FF2B5EF4-FFF2-40B4-BE49-F238E27FC236}">
                <a16:creationId xmlns:a16="http://schemas.microsoft.com/office/drawing/2014/main" id="{61A5ADDC-694C-DF45-FCEF-4FE283282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6673" name="Text Box 42">
            <a:extLst>
              <a:ext uri="{FF2B5EF4-FFF2-40B4-BE49-F238E27FC236}">
                <a16:creationId xmlns:a16="http://schemas.microsoft.com/office/drawing/2014/main" id="{D6344338-09E1-6A14-4A64-EE7BAA63D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List with minimum distance (E) and update neighbors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07E621-6DB2-2BE2-4CAE-F36C9417C815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8570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2CE3FB83-E7AD-8CE6-0E79-384594B6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B55E7FD-191C-4903-9D9A-6A5E150CD484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32C409A-4956-216F-8162-EB7B9BE3F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7652" name="Oval 3">
            <a:extLst>
              <a:ext uri="{FF2B5EF4-FFF2-40B4-BE49-F238E27FC236}">
                <a16:creationId xmlns:a16="http://schemas.microsoft.com/office/drawing/2014/main" id="{4B76BAC4-344B-DB27-01F3-BBA8D2B03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7653" name="Oval 4">
            <a:extLst>
              <a:ext uri="{FF2B5EF4-FFF2-40B4-BE49-F238E27FC236}">
                <a16:creationId xmlns:a16="http://schemas.microsoft.com/office/drawing/2014/main" id="{6BC53D78-CD8C-090F-0C0B-10B2EF583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7654" name="Oval 5">
            <a:extLst>
              <a:ext uri="{FF2B5EF4-FFF2-40B4-BE49-F238E27FC236}">
                <a16:creationId xmlns:a16="http://schemas.microsoft.com/office/drawing/2014/main" id="{8A093ABD-19F3-DAA2-4B85-31D6DD46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55" name="AutoShape 6">
            <a:extLst>
              <a:ext uri="{FF2B5EF4-FFF2-40B4-BE49-F238E27FC236}">
                <a16:creationId xmlns:a16="http://schemas.microsoft.com/office/drawing/2014/main" id="{0F7BD634-CF89-34E2-285D-E0B9B1ED3D61}"/>
              </a:ext>
            </a:extLst>
          </p:cNvPr>
          <p:cNvCxnSpPr>
            <a:cxnSpLocks noChangeShapeType="1"/>
            <a:stCxn id="27653" idx="2"/>
            <a:endCxn id="27654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6" name="AutoShape 7">
            <a:extLst>
              <a:ext uri="{FF2B5EF4-FFF2-40B4-BE49-F238E27FC236}">
                <a16:creationId xmlns:a16="http://schemas.microsoft.com/office/drawing/2014/main" id="{F1436BF1-551D-D54F-69FF-B0CB56073DFB}"/>
              </a:ext>
            </a:extLst>
          </p:cNvPr>
          <p:cNvCxnSpPr>
            <a:cxnSpLocks noChangeShapeType="1"/>
            <a:stCxn id="27668" idx="2"/>
            <a:endCxn id="27665" idx="6"/>
          </p:cNvCxnSpPr>
          <p:nvPr/>
        </p:nvCxnSpPr>
        <p:spPr bwMode="auto">
          <a:xfrm flipH="1">
            <a:off x="2833688" y="3810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7" name="AutoShape 8">
            <a:extLst>
              <a:ext uri="{FF2B5EF4-FFF2-40B4-BE49-F238E27FC236}">
                <a16:creationId xmlns:a16="http://schemas.microsoft.com/office/drawing/2014/main" id="{B0242001-2041-8FA3-0592-F3FD0845C120}"/>
              </a:ext>
            </a:extLst>
          </p:cNvPr>
          <p:cNvCxnSpPr>
            <a:cxnSpLocks noChangeShapeType="1"/>
            <a:stCxn id="27652" idx="6"/>
            <a:endCxn id="27658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8" name="Oval 9">
            <a:extLst>
              <a:ext uri="{FF2B5EF4-FFF2-40B4-BE49-F238E27FC236}">
                <a16:creationId xmlns:a16="http://schemas.microsoft.com/office/drawing/2014/main" id="{5BBC5929-1903-D236-3CDC-992BD4264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7659" name="Oval 10">
            <a:extLst>
              <a:ext uri="{FF2B5EF4-FFF2-40B4-BE49-F238E27FC236}">
                <a16:creationId xmlns:a16="http://schemas.microsoft.com/office/drawing/2014/main" id="{D266AA0B-407C-E274-D313-C782FF063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60" name="AutoShape 11">
            <a:extLst>
              <a:ext uri="{FF2B5EF4-FFF2-40B4-BE49-F238E27FC236}">
                <a16:creationId xmlns:a16="http://schemas.microsoft.com/office/drawing/2014/main" id="{5DA5F843-3517-2277-A654-4FD5CCDAD2F6}"/>
              </a:ext>
            </a:extLst>
          </p:cNvPr>
          <p:cNvCxnSpPr>
            <a:cxnSpLocks noChangeShapeType="1"/>
            <a:stCxn id="27659" idx="2"/>
            <a:endCxn id="27668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2">
            <a:extLst>
              <a:ext uri="{FF2B5EF4-FFF2-40B4-BE49-F238E27FC236}">
                <a16:creationId xmlns:a16="http://schemas.microsoft.com/office/drawing/2014/main" id="{B6C7B56B-A37C-BE74-04A5-6A2CE182F931}"/>
              </a:ext>
            </a:extLst>
          </p:cNvPr>
          <p:cNvCxnSpPr>
            <a:cxnSpLocks noChangeShapeType="1"/>
            <a:stCxn id="27659" idx="1"/>
            <a:endCxn id="27658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3">
            <a:extLst>
              <a:ext uri="{FF2B5EF4-FFF2-40B4-BE49-F238E27FC236}">
                <a16:creationId xmlns:a16="http://schemas.microsoft.com/office/drawing/2014/main" id="{2C8A01E7-6966-7614-D8D6-DA79B8AD7A92}"/>
              </a:ext>
            </a:extLst>
          </p:cNvPr>
          <p:cNvCxnSpPr>
            <a:cxnSpLocks noChangeShapeType="1"/>
            <a:stCxn id="27653" idx="7"/>
            <a:endCxn id="27659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4">
            <a:extLst>
              <a:ext uri="{FF2B5EF4-FFF2-40B4-BE49-F238E27FC236}">
                <a16:creationId xmlns:a16="http://schemas.microsoft.com/office/drawing/2014/main" id="{3B42B4ED-7A9A-A0FA-154F-7F94657770CC}"/>
              </a:ext>
            </a:extLst>
          </p:cNvPr>
          <p:cNvCxnSpPr>
            <a:cxnSpLocks noChangeShapeType="1"/>
            <a:stCxn id="27652" idx="5"/>
            <a:endCxn id="27668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5">
            <a:extLst>
              <a:ext uri="{FF2B5EF4-FFF2-40B4-BE49-F238E27FC236}">
                <a16:creationId xmlns:a16="http://schemas.microsoft.com/office/drawing/2014/main" id="{CC3F893A-E8FF-A7C2-A7EB-D44C93EAF5A9}"/>
              </a:ext>
            </a:extLst>
          </p:cNvPr>
          <p:cNvCxnSpPr>
            <a:cxnSpLocks noChangeShapeType="1"/>
            <a:stCxn id="27658" idx="3"/>
            <a:endCxn id="27668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5" name="Oval 16">
            <a:extLst>
              <a:ext uri="{FF2B5EF4-FFF2-40B4-BE49-F238E27FC236}">
                <a16:creationId xmlns:a16="http://schemas.microsoft.com/office/drawing/2014/main" id="{8A2D29DC-4473-3615-C959-F40A8EFDE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66" name="AutoShape 17">
            <a:extLst>
              <a:ext uri="{FF2B5EF4-FFF2-40B4-BE49-F238E27FC236}">
                <a16:creationId xmlns:a16="http://schemas.microsoft.com/office/drawing/2014/main" id="{A0FD6C8B-94A9-3842-1CBD-8E7BBB94E469}"/>
              </a:ext>
            </a:extLst>
          </p:cNvPr>
          <p:cNvCxnSpPr>
            <a:cxnSpLocks noChangeShapeType="1"/>
            <a:stCxn id="27665" idx="7"/>
            <a:endCxn id="27652" idx="3"/>
          </p:cNvCxnSpPr>
          <p:nvPr/>
        </p:nvCxnSpPr>
        <p:spPr bwMode="auto">
          <a:xfrm flipV="1">
            <a:off x="27527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7" name="AutoShape 18">
            <a:extLst>
              <a:ext uri="{FF2B5EF4-FFF2-40B4-BE49-F238E27FC236}">
                <a16:creationId xmlns:a16="http://schemas.microsoft.com/office/drawing/2014/main" id="{C2A49EDF-4DF9-D16D-0BE1-90F9E75AD0DB}"/>
              </a:ext>
            </a:extLst>
          </p:cNvPr>
          <p:cNvCxnSpPr>
            <a:cxnSpLocks noChangeShapeType="1"/>
            <a:stCxn id="27654" idx="1"/>
            <a:endCxn id="27665" idx="5"/>
          </p:cNvCxnSpPr>
          <p:nvPr/>
        </p:nvCxnSpPr>
        <p:spPr bwMode="auto">
          <a:xfrm flipH="1" flipV="1">
            <a:off x="27527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8" name="Oval 19">
            <a:extLst>
              <a:ext uri="{FF2B5EF4-FFF2-40B4-BE49-F238E27FC236}">
                <a16:creationId xmlns:a16="http://schemas.microsoft.com/office/drawing/2014/main" id="{A6EC1937-372B-0343-8C6D-6DA01331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69" name="AutoShape 20">
            <a:extLst>
              <a:ext uri="{FF2B5EF4-FFF2-40B4-BE49-F238E27FC236}">
                <a16:creationId xmlns:a16="http://schemas.microsoft.com/office/drawing/2014/main" id="{352FB399-6520-00DB-B1B3-8630B6443666}"/>
              </a:ext>
            </a:extLst>
          </p:cNvPr>
          <p:cNvCxnSpPr>
            <a:cxnSpLocks noChangeShapeType="1"/>
            <a:stCxn id="27653" idx="1"/>
            <a:endCxn id="27668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0" name="AutoShape 21">
            <a:extLst>
              <a:ext uri="{FF2B5EF4-FFF2-40B4-BE49-F238E27FC236}">
                <a16:creationId xmlns:a16="http://schemas.microsoft.com/office/drawing/2014/main" id="{BD6292AA-6ECD-3085-FA48-48E7919FC801}"/>
              </a:ext>
            </a:extLst>
          </p:cNvPr>
          <p:cNvCxnSpPr>
            <a:cxnSpLocks noChangeShapeType="1"/>
            <a:stCxn id="27654" idx="7"/>
            <a:endCxn id="27668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1" name="Text Box 22">
            <a:extLst>
              <a:ext uri="{FF2B5EF4-FFF2-40B4-BE49-F238E27FC236}">
                <a16:creationId xmlns:a16="http://schemas.microsoft.com/office/drawing/2014/main" id="{19E48FA4-2207-A41C-61C4-B85FAE750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7672" name="Text Box 23">
            <a:extLst>
              <a:ext uri="{FF2B5EF4-FFF2-40B4-BE49-F238E27FC236}">
                <a16:creationId xmlns:a16="http://schemas.microsoft.com/office/drawing/2014/main" id="{CDE3C290-46C0-11AF-1183-482806FCC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7673" name="Text Box 24">
            <a:extLst>
              <a:ext uri="{FF2B5EF4-FFF2-40B4-BE49-F238E27FC236}">
                <a16:creationId xmlns:a16="http://schemas.microsoft.com/office/drawing/2014/main" id="{CB5DC9C7-1398-7861-2BD2-E166CC45B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7674" name="Text Box 25">
            <a:extLst>
              <a:ext uri="{FF2B5EF4-FFF2-40B4-BE49-F238E27FC236}">
                <a16:creationId xmlns:a16="http://schemas.microsoft.com/office/drawing/2014/main" id="{ADFBC027-AA3F-2B90-3584-E8D076991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7675" name="Text Box 26">
            <a:extLst>
              <a:ext uri="{FF2B5EF4-FFF2-40B4-BE49-F238E27FC236}">
                <a16:creationId xmlns:a16="http://schemas.microsoft.com/office/drawing/2014/main" id="{6FCB346D-DC05-52E7-418D-23CE6174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7676" name="Text Box 27">
            <a:extLst>
              <a:ext uri="{FF2B5EF4-FFF2-40B4-BE49-F238E27FC236}">
                <a16:creationId xmlns:a16="http://schemas.microsoft.com/office/drawing/2014/main" id="{61FD3836-E5C8-4D45-EC7D-0B9D664EA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7677" name="Text Box 28">
            <a:extLst>
              <a:ext uri="{FF2B5EF4-FFF2-40B4-BE49-F238E27FC236}">
                <a16:creationId xmlns:a16="http://schemas.microsoft.com/office/drawing/2014/main" id="{2D523FB1-DF13-3260-C654-BB3915392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7678" name="Text Box 29">
            <a:extLst>
              <a:ext uri="{FF2B5EF4-FFF2-40B4-BE49-F238E27FC236}">
                <a16:creationId xmlns:a16="http://schemas.microsoft.com/office/drawing/2014/main" id="{8478160C-C409-BE74-74B1-DE7D29679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7679" name="Text Box 30">
            <a:extLst>
              <a:ext uri="{FF2B5EF4-FFF2-40B4-BE49-F238E27FC236}">
                <a16:creationId xmlns:a16="http://schemas.microsoft.com/office/drawing/2014/main" id="{FFF002BC-90D7-ACD1-1110-73B14D1C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7680" name="Text Box 31">
            <a:extLst>
              <a:ext uri="{FF2B5EF4-FFF2-40B4-BE49-F238E27FC236}">
                <a16:creationId xmlns:a16="http://schemas.microsoft.com/office/drawing/2014/main" id="{B6D90530-56E4-334B-EE8E-1427B049B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7681" name="Text Box 32">
            <a:extLst>
              <a:ext uri="{FF2B5EF4-FFF2-40B4-BE49-F238E27FC236}">
                <a16:creationId xmlns:a16="http://schemas.microsoft.com/office/drawing/2014/main" id="{9831852B-429B-6A3F-7882-0E34C51EF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7682" name="Text Box 33">
            <a:extLst>
              <a:ext uri="{FF2B5EF4-FFF2-40B4-BE49-F238E27FC236}">
                <a16:creationId xmlns:a16="http://schemas.microsoft.com/office/drawing/2014/main" id="{F80BFB10-A7C7-208A-5105-D3907DAD1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7683" name="Text Box 34">
            <a:extLst>
              <a:ext uri="{FF2B5EF4-FFF2-40B4-BE49-F238E27FC236}">
                <a16:creationId xmlns:a16="http://schemas.microsoft.com/office/drawing/2014/main" id="{60035FE3-7514-7867-86C9-4D35C1B33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7684" name="Text Box 35">
            <a:extLst>
              <a:ext uri="{FF2B5EF4-FFF2-40B4-BE49-F238E27FC236}">
                <a16:creationId xmlns:a16="http://schemas.microsoft.com/office/drawing/2014/main" id="{AB1EFD84-AEB4-E442-9601-0ED9B35B5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7685" name="Text Box 36">
            <a:extLst>
              <a:ext uri="{FF2B5EF4-FFF2-40B4-BE49-F238E27FC236}">
                <a16:creationId xmlns:a16="http://schemas.microsoft.com/office/drawing/2014/main" id="{2127227E-00DD-1A04-D7EA-A4FBDAB7B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7686" name="Text Box 37">
            <a:extLst>
              <a:ext uri="{FF2B5EF4-FFF2-40B4-BE49-F238E27FC236}">
                <a16:creationId xmlns:a16="http://schemas.microsoft.com/office/drawing/2014/main" id="{520E1939-D865-A170-494F-E8D22023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7687" name="Text Box 38">
            <a:extLst>
              <a:ext uri="{FF2B5EF4-FFF2-40B4-BE49-F238E27FC236}">
                <a16:creationId xmlns:a16="http://schemas.microsoft.com/office/drawing/2014/main" id="{6C2BD642-7A6A-61E3-AAB4-B3E411719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7692" name="Line 44">
            <a:extLst>
              <a:ext uri="{FF2B5EF4-FFF2-40B4-BE49-F238E27FC236}">
                <a16:creationId xmlns:a16="http://schemas.microsoft.com/office/drawing/2014/main" id="{74087B48-9B6C-11E3-9E31-5F0D4A1FF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6075" y="4017963"/>
            <a:ext cx="574675" cy="64293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7694" name="Text Box 46">
            <a:extLst>
              <a:ext uri="{FF2B5EF4-FFF2-40B4-BE49-F238E27FC236}">
                <a16:creationId xmlns:a16="http://schemas.microsoft.com/office/drawing/2014/main" id="{E0621E86-8271-AB54-C553-9A30B4A9D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8</a:t>
            </a:r>
            <a:endParaRPr lang="en-US" altLang="en-US" sz="1800"/>
          </a:p>
        </p:txBody>
      </p:sp>
      <p:sp>
        <p:nvSpPr>
          <p:cNvPr id="27695" name="Text Box 47">
            <a:extLst>
              <a:ext uri="{FF2B5EF4-FFF2-40B4-BE49-F238E27FC236}">
                <a16:creationId xmlns:a16="http://schemas.microsoft.com/office/drawing/2014/main" id="{1910B8DA-4FA8-6E43-6B16-2D0A1DC52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7696" name="Text Box 42">
            <a:extLst>
              <a:ext uri="{FF2B5EF4-FFF2-40B4-BE49-F238E27FC236}">
                <a16:creationId xmlns:a16="http://schemas.microsoft.com/office/drawing/2014/main" id="{9F610698-C027-BFDA-8311-10A67067B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List with minimum distance (C) and update neighbors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42AD6-54DD-DC41-2A0D-2776B41811F5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7762-4DB5-82AD-AB6C-65F37854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87E64F1E-24B8-6AB2-CBA9-13C2EDCE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B55E7FD-191C-4903-9D9A-6A5E150CD484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D04E186-2A96-9539-D851-A63E46068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7652" name="Oval 3">
            <a:extLst>
              <a:ext uri="{FF2B5EF4-FFF2-40B4-BE49-F238E27FC236}">
                <a16:creationId xmlns:a16="http://schemas.microsoft.com/office/drawing/2014/main" id="{F5316A3B-8094-8EB9-D03A-606E7D402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7653" name="Oval 4">
            <a:extLst>
              <a:ext uri="{FF2B5EF4-FFF2-40B4-BE49-F238E27FC236}">
                <a16:creationId xmlns:a16="http://schemas.microsoft.com/office/drawing/2014/main" id="{D8C5714D-9113-06DD-D755-11B229B5A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7654" name="Oval 5">
            <a:extLst>
              <a:ext uri="{FF2B5EF4-FFF2-40B4-BE49-F238E27FC236}">
                <a16:creationId xmlns:a16="http://schemas.microsoft.com/office/drawing/2014/main" id="{03F49A37-0F16-281B-34E1-67B09E06C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55" name="AutoShape 6">
            <a:extLst>
              <a:ext uri="{FF2B5EF4-FFF2-40B4-BE49-F238E27FC236}">
                <a16:creationId xmlns:a16="http://schemas.microsoft.com/office/drawing/2014/main" id="{4329F5D8-2B3A-0C06-08D7-AE23D9513FDE}"/>
              </a:ext>
            </a:extLst>
          </p:cNvPr>
          <p:cNvCxnSpPr>
            <a:cxnSpLocks noChangeShapeType="1"/>
            <a:stCxn id="27653" idx="2"/>
            <a:endCxn id="27654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6" name="AutoShape 7">
            <a:extLst>
              <a:ext uri="{FF2B5EF4-FFF2-40B4-BE49-F238E27FC236}">
                <a16:creationId xmlns:a16="http://schemas.microsoft.com/office/drawing/2014/main" id="{4D3F69C6-D2BF-6347-59EC-D1A0DB215E89}"/>
              </a:ext>
            </a:extLst>
          </p:cNvPr>
          <p:cNvCxnSpPr>
            <a:cxnSpLocks noChangeShapeType="1"/>
            <a:stCxn id="27668" idx="2"/>
            <a:endCxn id="27665" idx="6"/>
          </p:cNvCxnSpPr>
          <p:nvPr/>
        </p:nvCxnSpPr>
        <p:spPr bwMode="auto">
          <a:xfrm flipH="1">
            <a:off x="2833688" y="3810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7" name="AutoShape 8">
            <a:extLst>
              <a:ext uri="{FF2B5EF4-FFF2-40B4-BE49-F238E27FC236}">
                <a16:creationId xmlns:a16="http://schemas.microsoft.com/office/drawing/2014/main" id="{7BE5B629-F146-5BC2-8255-6DDE2850B205}"/>
              </a:ext>
            </a:extLst>
          </p:cNvPr>
          <p:cNvCxnSpPr>
            <a:cxnSpLocks noChangeShapeType="1"/>
            <a:stCxn id="27652" idx="6"/>
            <a:endCxn id="27658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8" name="Oval 9">
            <a:extLst>
              <a:ext uri="{FF2B5EF4-FFF2-40B4-BE49-F238E27FC236}">
                <a16:creationId xmlns:a16="http://schemas.microsoft.com/office/drawing/2014/main" id="{7A6CDDE7-0538-C994-8CC8-8A1424E54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7659" name="Oval 10">
            <a:extLst>
              <a:ext uri="{FF2B5EF4-FFF2-40B4-BE49-F238E27FC236}">
                <a16:creationId xmlns:a16="http://schemas.microsoft.com/office/drawing/2014/main" id="{778ED529-A37F-D37C-260B-8611F0C53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60" name="AutoShape 11">
            <a:extLst>
              <a:ext uri="{FF2B5EF4-FFF2-40B4-BE49-F238E27FC236}">
                <a16:creationId xmlns:a16="http://schemas.microsoft.com/office/drawing/2014/main" id="{5D15938F-39FE-0B03-11C1-D6F4268E885F}"/>
              </a:ext>
            </a:extLst>
          </p:cNvPr>
          <p:cNvCxnSpPr>
            <a:cxnSpLocks noChangeShapeType="1"/>
            <a:stCxn id="27659" idx="2"/>
            <a:endCxn id="27668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2">
            <a:extLst>
              <a:ext uri="{FF2B5EF4-FFF2-40B4-BE49-F238E27FC236}">
                <a16:creationId xmlns:a16="http://schemas.microsoft.com/office/drawing/2014/main" id="{976AD717-7B12-2406-490E-ABAC0572155C}"/>
              </a:ext>
            </a:extLst>
          </p:cNvPr>
          <p:cNvCxnSpPr>
            <a:cxnSpLocks noChangeShapeType="1"/>
            <a:stCxn id="27659" idx="1"/>
            <a:endCxn id="27658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3">
            <a:extLst>
              <a:ext uri="{FF2B5EF4-FFF2-40B4-BE49-F238E27FC236}">
                <a16:creationId xmlns:a16="http://schemas.microsoft.com/office/drawing/2014/main" id="{FCA58739-04BC-3468-1C09-56C14466F4BA}"/>
              </a:ext>
            </a:extLst>
          </p:cNvPr>
          <p:cNvCxnSpPr>
            <a:cxnSpLocks noChangeShapeType="1"/>
            <a:stCxn id="27653" idx="7"/>
            <a:endCxn id="27659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4">
            <a:extLst>
              <a:ext uri="{FF2B5EF4-FFF2-40B4-BE49-F238E27FC236}">
                <a16:creationId xmlns:a16="http://schemas.microsoft.com/office/drawing/2014/main" id="{86DD50A0-31C7-12E7-9ED3-4D2AD7B2421A}"/>
              </a:ext>
            </a:extLst>
          </p:cNvPr>
          <p:cNvCxnSpPr>
            <a:cxnSpLocks noChangeShapeType="1"/>
            <a:stCxn id="27652" idx="5"/>
            <a:endCxn id="27668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5">
            <a:extLst>
              <a:ext uri="{FF2B5EF4-FFF2-40B4-BE49-F238E27FC236}">
                <a16:creationId xmlns:a16="http://schemas.microsoft.com/office/drawing/2014/main" id="{763BFD20-32BC-51F8-51AF-A1F87072A7E2}"/>
              </a:ext>
            </a:extLst>
          </p:cNvPr>
          <p:cNvCxnSpPr>
            <a:cxnSpLocks noChangeShapeType="1"/>
            <a:stCxn id="27658" idx="3"/>
            <a:endCxn id="27668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5" name="Oval 16">
            <a:extLst>
              <a:ext uri="{FF2B5EF4-FFF2-40B4-BE49-F238E27FC236}">
                <a16:creationId xmlns:a16="http://schemas.microsoft.com/office/drawing/2014/main" id="{1D674E42-52EC-4820-A7E1-62861B1B7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66" name="AutoShape 17">
            <a:extLst>
              <a:ext uri="{FF2B5EF4-FFF2-40B4-BE49-F238E27FC236}">
                <a16:creationId xmlns:a16="http://schemas.microsoft.com/office/drawing/2014/main" id="{FA7B1949-0BB8-5761-2561-10854CECA76A}"/>
              </a:ext>
            </a:extLst>
          </p:cNvPr>
          <p:cNvCxnSpPr>
            <a:cxnSpLocks noChangeShapeType="1"/>
            <a:stCxn id="27665" idx="7"/>
            <a:endCxn id="27652" idx="3"/>
          </p:cNvCxnSpPr>
          <p:nvPr/>
        </p:nvCxnSpPr>
        <p:spPr bwMode="auto">
          <a:xfrm flipV="1">
            <a:off x="27527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7" name="AutoShape 18">
            <a:extLst>
              <a:ext uri="{FF2B5EF4-FFF2-40B4-BE49-F238E27FC236}">
                <a16:creationId xmlns:a16="http://schemas.microsoft.com/office/drawing/2014/main" id="{0F35B3A4-8526-9E90-9AF7-52D0FC7CD18B}"/>
              </a:ext>
            </a:extLst>
          </p:cNvPr>
          <p:cNvCxnSpPr>
            <a:cxnSpLocks noChangeShapeType="1"/>
            <a:stCxn id="27654" idx="1"/>
            <a:endCxn id="27665" idx="5"/>
          </p:cNvCxnSpPr>
          <p:nvPr/>
        </p:nvCxnSpPr>
        <p:spPr bwMode="auto">
          <a:xfrm flipH="1" flipV="1">
            <a:off x="27527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8" name="Oval 19">
            <a:extLst>
              <a:ext uri="{FF2B5EF4-FFF2-40B4-BE49-F238E27FC236}">
                <a16:creationId xmlns:a16="http://schemas.microsoft.com/office/drawing/2014/main" id="{367A93E5-DD31-EC4C-ED2F-A0DB5E63C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7669" name="AutoShape 20">
            <a:extLst>
              <a:ext uri="{FF2B5EF4-FFF2-40B4-BE49-F238E27FC236}">
                <a16:creationId xmlns:a16="http://schemas.microsoft.com/office/drawing/2014/main" id="{9F072CA4-CB9F-74A5-5C8A-5D585EC6F14E}"/>
              </a:ext>
            </a:extLst>
          </p:cNvPr>
          <p:cNvCxnSpPr>
            <a:cxnSpLocks noChangeShapeType="1"/>
            <a:stCxn id="27653" idx="1"/>
            <a:endCxn id="27668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0" name="AutoShape 21">
            <a:extLst>
              <a:ext uri="{FF2B5EF4-FFF2-40B4-BE49-F238E27FC236}">
                <a16:creationId xmlns:a16="http://schemas.microsoft.com/office/drawing/2014/main" id="{A0496C36-B611-E619-F306-27FDD8540900}"/>
              </a:ext>
            </a:extLst>
          </p:cNvPr>
          <p:cNvCxnSpPr>
            <a:cxnSpLocks noChangeShapeType="1"/>
            <a:stCxn id="27654" idx="7"/>
            <a:endCxn id="27668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1" name="Text Box 22">
            <a:extLst>
              <a:ext uri="{FF2B5EF4-FFF2-40B4-BE49-F238E27FC236}">
                <a16:creationId xmlns:a16="http://schemas.microsoft.com/office/drawing/2014/main" id="{E102AEF6-8A52-5173-040C-06D7491E1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7672" name="Text Box 23">
            <a:extLst>
              <a:ext uri="{FF2B5EF4-FFF2-40B4-BE49-F238E27FC236}">
                <a16:creationId xmlns:a16="http://schemas.microsoft.com/office/drawing/2014/main" id="{A7996F8D-1666-1125-7A5A-9F853DCB5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7673" name="Text Box 24">
            <a:extLst>
              <a:ext uri="{FF2B5EF4-FFF2-40B4-BE49-F238E27FC236}">
                <a16:creationId xmlns:a16="http://schemas.microsoft.com/office/drawing/2014/main" id="{9D821476-2195-5A9C-1C89-EFE80FF9D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7674" name="Text Box 25">
            <a:extLst>
              <a:ext uri="{FF2B5EF4-FFF2-40B4-BE49-F238E27FC236}">
                <a16:creationId xmlns:a16="http://schemas.microsoft.com/office/drawing/2014/main" id="{3D394FCB-F6ED-5ADD-BD61-8693229AA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7675" name="Text Box 26">
            <a:extLst>
              <a:ext uri="{FF2B5EF4-FFF2-40B4-BE49-F238E27FC236}">
                <a16:creationId xmlns:a16="http://schemas.microsoft.com/office/drawing/2014/main" id="{99F565FF-3C4F-89D1-ED50-F62637507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7676" name="Text Box 27">
            <a:extLst>
              <a:ext uri="{FF2B5EF4-FFF2-40B4-BE49-F238E27FC236}">
                <a16:creationId xmlns:a16="http://schemas.microsoft.com/office/drawing/2014/main" id="{B4FEA9BB-3C2F-5B8B-B498-C01A5A752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7677" name="Text Box 28">
            <a:extLst>
              <a:ext uri="{FF2B5EF4-FFF2-40B4-BE49-F238E27FC236}">
                <a16:creationId xmlns:a16="http://schemas.microsoft.com/office/drawing/2014/main" id="{4D45888D-D10C-AAAC-16B0-73009DD3D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7678" name="Text Box 29">
            <a:extLst>
              <a:ext uri="{FF2B5EF4-FFF2-40B4-BE49-F238E27FC236}">
                <a16:creationId xmlns:a16="http://schemas.microsoft.com/office/drawing/2014/main" id="{96E9570B-58EA-BC28-B2D2-365E60BDF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7679" name="Text Box 30">
            <a:extLst>
              <a:ext uri="{FF2B5EF4-FFF2-40B4-BE49-F238E27FC236}">
                <a16:creationId xmlns:a16="http://schemas.microsoft.com/office/drawing/2014/main" id="{5C560281-26BF-6164-2434-CBB08D681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7680" name="Text Box 31">
            <a:extLst>
              <a:ext uri="{FF2B5EF4-FFF2-40B4-BE49-F238E27FC236}">
                <a16:creationId xmlns:a16="http://schemas.microsoft.com/office/drawing/2014/main" id="{56D4CBD7-EE41-9B6A-1E71-11B918D21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7681" name="Text Box 32">
            <a:extLst>
              <a:ext uri="{FF2B5EF4-FFF2-40B4-BE49-F238E27FC236}">
                <a16:creationId xmlns:a16="http://schemas.microsoft.com/office/drawing/2014/main" id="{C138CEFF-7130-4CD4-F508-C8951588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7682" name="Text Box 33">
            <a:extLst>
              <a:ext uri="{FF2B5EF4-FFF2-40B4-BE49-F238E27FC236}">
                <a16:creationId xmlns:a16="http://schemas.microsoft.com/office/drawing/2014/main" id="{9CA56426-AE1D-6615-B318-7A0C63279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7683" name="Text Box 34">
            <a:extLst>
              <a:ext uri="{FF2B5EF4-FFF2-40B4-BE49-F238E27FC236}">
                <a16:creationId xmlns:a16="http://schemas.microsoft.com/office/drawing/2014/main" id="{42CAE908-BAB5-31F7-51BB-005B37F21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7684" name="Text Box 35">
            <a:extLst>
              <a:ext uri="{FF2B5EF4-FFF2-40B4-BE49-F238E27FC236}">
                <a16:creationId xmlns:a16="http://schemas.microsoft.com/office/drawing/2014/main" id="{E0371D1C-E5A4-EB2D-8111-83C302965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7685" name="Text Box 36">
            <a:extLst>
              <a:ext uri="{FF2B5EF4-FFF2-40B4-BE49-F238E27FC236}">
                <a16:creationId xmlns:a16="http://schemas.microsoft.com/office/drawing/2014/main" id="{285B6AE6-6DCA-F462-2DD1-DA96DEE40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7686" name="Text Box 37">
            <a:extLst>
              <a:ext uri="{FF2B5EF4-FFF2-40B4-BE49-F238E27FC236}">
                <a16:creationId xmlns:a16="http://schemas.microsoft.com/office/drawing/2014/main" id="{033F5943-44D4-1630-484B-48E300FF6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7687" name="Text Box 38">
            <a:extLst>
              <a:ext uri="{FF2B5EF4-FFF2-40B4-BE49-F238E27FC236}">
                <a16:creationId xmlns:a16="http://schemas.microsoft.com/office/drawing/2014/main" id="{BF49B854-F005-5140-E3F3-3EF7125BA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7692" name="Line 44">
            <a:extLst>
              <a:ext uri="{FF2B5EF4-FFF2-40B4-BE49-F238E27FC236}">
                <a16:creationId xmlns:a16="http://schemas.microsoft.com/office/drawing/2014/main" id="{EAFE0D95-2618-F152-33B0-C9E3CC891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6075" y="4017963"/>
            <a:ext cx="574675" cy="64293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7694" name="Text Box 46">
            <a:extLst>
              <a:ext uri="{FF2B5EF4-FFF2-40B4-BE49-F238E27FC236}">
                <a16:creationId xmlns:a16="http://schemas.microsoft.com/office/drawing/2014/main" id="{A0EA187D-69E4-AEEF-E990-E73C2EE64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8</a:t>
            </a:r>
            <a:endParaRPr lang="en-US" altLang="en-US" sz="1800"/>
          </a:p>
        </p:txBody>
      </p:sp>
      <p:sp>
        <p:nvSpPr>
          <p:cNvPr id="27695" name="Text Box 47">
            <a:extLst>
              <a:ext uri="{FF2B5EF4-FFF2-40B4-BE49-F238E27FC236}">
                <a16:creationId xmlns:a16="http://schemas.microsoft.com/office/drawing/2014/main" id="{8A91FF8C-C4AC-90CC-107D-B50A34FA4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7696" name="Text Box 42">
            <a:extLst>
              <a:ext uri="{FF2B5EF4-FFF2-40B4-BE49-F238E27FC236}">
                <a16:creationId xmlns:a16="http://schemas.microsoft.com/office/drawing/2014/main" id="{E4ACF048-2A1D-C9B8-019E-9381D9F07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List with minimum distance (C) and update neighbors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CA93F0-5410-CE4D-A73C-B8499C9A078D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075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7BC2EAD5-E782-DB29-EE2E-15711CD7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BF70A47-A8BC-4AA4-B5B8-F8787A4661C0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BFFFD306-1C08-FCB9-459B-644010BB4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Example: Continued...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8676" name="Oval 3">
            <a:extLst>
              <a:ext uri="{FF2B5EF4-FFF2-40B4-BE49-F238E27FC236}">
                <a16:creationId xmlns:a16="http://schemas.microsoft.com/office/drawing/2014/main" id="{B2C9E750-BA68-EF49-EBD8-4EE415DE3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8677" name="Oval 4">
            <a:extLst>
              <a:ext uri="{FF2B5EF4-FFF2-40B4-BE49-F238E27FC236}">
                <a16:creationId xmlns:a16="http://schemas.microsoft.com/office/drawing/2014/main" id="{8B6F9FED-4215-54DB-9F8D-931F9030C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8678" name="Oval 5">
            <a:extLst>
              <a:ext uri="{FF2B5EF4-FFF2-40B4-BE49-F238E27FC236}">
                <a16:creationId xmlns:a16="http://schemas.microsoft.com/office/drawing/2014/main" id="{6E5600CD-8F72-0807-F6D5-A7BEC3B4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8679" name="AutoShape 6">
            <a:extLst>
              <a:ext uri="{FF2B5EF4-FFF2-40B4-BE49-F238E27FC236}">
                <a16:creationId xmlns:a16="http://schemas.microsoft.com/office/drawing/2014/main" id="{3BB2D0E2-FAEC-A0C4-EF32-DD2242F0BC6B}"/>
              </a:ext>
            </a:extLst>
          </p:cNvPr>
          <p:cNvCxnSpPr>
            <a:cxnSpLocks noChangeShapeType="1"/>
            <a:stCxn id="28677" idx="2"/>
            <a:endCxn id="28678" idx="6"/>
          </p:cNvCxnSpPr>
          <p:nvPr/>
        </p:nvCxnSpPr>
        <p:spPr bwMode="auto">
          <a:xfrm flipH="1">
            <a:off x="3810000" y="4953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0" name="AutoShape 7">
            <a:extLst>
              <a:ext uri="{FF2B5EF4-FFF2-40B4-BE49-F238E27FC236}">
                <a16:creationId xmlns:a16="http://schemas.microsoft.com/office/drawing/2014/main" id="{CD597DAA-16F9-46D6-C549-C2FF4EE2406B}"/>
              </a:ext>
            </a:extLst>
          </p:cNvPr>
          <p:cNvCxnSpPr>
            <a:cxnSpLocks noChangeShapeType="1"/>
            <a:stCxn id="28692" idx="2"/>
            <a:endCxn id="28689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AutoShape 8">
            <a:extLst>
              <a:ext uri="{FF2B5EF4-FFF2-40B4-BE49-F238E27FC236}">
                <a16:creationId xmlns:a16="http://schemas.microsoft.com/office/drawing/2014/main" id="{B56D3746-675F-3BCA-580D-A6D0485F063A}"/>
              </a:ext>
            </a:extLst>
          </p:cNvPr>
          <p:cNvCxnSpPr>
            <a:cxnSpLocks noChangeShapeType="1"/>
            <a:stCxn id="28676" idx="6"/>
            <a:endCxn id="28682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2" name="Oval 9">
            <a:extLst>
              <a:ext uri="{FF2B5EF4-FFF2-40B4-BE49-F238E27FC236}">
                <a16:creationId xmlns:a16="http://schemas.microsoft.com/office/drawing/2014/main" id="{E13174E2-A376-5CE2-F2B9-56174D2F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8683" name="Oval 10">
            <a:extLst>
              <a:ext uri="{FF2B5EF4-FFF2-40B4-BE49-F238E27FC236}">
                <a16:creationId xmlns:a16="http://schemas.microsoft.com/office/drawing/2014/main" id="{DEB8CA0C-2943-61E3-C1D5-E61A6E37B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8684" name="AutoShape 11">
            <a:extLst>
              <a:ext uri="{FF2B5EF4-FFF2-40B4-BE49-F238E27FC236}">
                <a16:creationId xmlns:a16="http://schemas.microsoft.com/office/drawing/2014/main" id="{35EA0826-9E91-A3A1-C4BF-E70430B990F4}"/>
              </a:ext>
            </a:extLst>
          </p:cNvPr>
          <p:cNvCxnSpPr>
            <a:cxnSpLocks noChangeShapeType="1"/>
            <a:stCxn id="28683" idx="2"/>
            <a:endCxn id="28692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5" name="AutoShape 12">
            <a:extLst>
              <a:ext uri="{FF2B5EF4-FFF2-40B4-BE49-F238E27FC236}">
                <a16:creationId xmlns:a16="http://schemas.microsoft.com/office/drawing/2014/main" id="{8F3A76FD-7C9E-26E0-561A-F0703557E29B}"/>
              </a:ext>
            </a:extLst>
          </p:cNvPr>
          <p:cNvCxnSpPr>
            <a:cxnSpLocks noChangeShapeType="1"/>
            <a:stCxn id="28683" idx="1"/>
            <a:endCxn id="28682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13">
            <a:extLst>
              <a:ext uri="{FF2B5EF4-FFF2-40B4-BE49-F238E27FC236}">
                <a16:creationId xmlns:a16="http://schemas.microsoft.com/office/drawing/2014/main" id="{983A803A-E246-6805-A6B4-A0DC865704E3}"/>
              </a:ext>
            </a:extLst>
          </p:cNvPr>
          <p:cNvCxnSpPr>
            <a:cxnSpLocks noChangeShapeType="1"/>
            <a:stCxn id="28677" idx="7"/>
            <a:endCxn id="28683" idx="3"/>
          </p:cNvCxnSpPr>
          <p:nvPr/>
        </p:nvCxnSpPr>
        <p:spPr bwMode="auto">
          <a:xfrm flipV="1">
            <a:off x="5800725" y="3971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14">
            <a:extLst>
              <a:ext uri="{FF2B5EF4-FFF2-40B4-BE49-F238E27FC236}">
                <a16:creationId xmlns:a16="http://schemas.microsoft.com/office/drawing/2014/main" id="{4CB85C9B-3DBF-04A1-93AC-AF323827B6D4}"/>
              </a:ext>
            </a:extLst>
          </p:cNvPr>
          <p:cNvCxnSpPr>
            <a:cxnSpLocks noChangeShapeType="1"/>
            <a:stCxn id="28676" idx="5"/>
            <a:endCxn id="28692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5">
            <a:extLst>
              <a:ext uri="{FF2B5EF4-FFF2-40B4-BE49-F238E27FC236}">
                <a16:creationId xmlns:a16="http://schemas.microsoft.com/office/drawing/2014/main" id="{2D29CFDF-3784-3410-3B76-D444ECFE896C}"/>
              </a:ext>
            </a:extLst>
          </p:cNvPr>
          <p:cNvCxnSpPr>
            <a:cxnSpLocks noChangeShapeType="1"/>
            <a:stCxn id="28682" idx="3"/>
            <a:endCxn id="28692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9" name="Oval 16">
            <a:extLst>
              <a:ext uri="{FF2B5EF4-FFF2-40B4-BE49-F238E27FC236}">
                <a16:creationId xmlns:a16="http://schemas.microsoft.com/office/drawing/2014/main" id="{FF3D7A30-54F7-7DCF-5CF4-8EAD63784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8690" name="AutoShape 17">
            <a:extLst>
              <a:ext uri="{FF2B5EF4-FFF2-40B4-BE49-F238E27FC236}">
                <a16:creationId xmlns:a16="http://schemas.microsoft.com/office/drawing/2014/main" id="{690BD828-2A61-5063-3AD8-87D556E63BC4}"/>
              </a:ext>
            </a:extLst>
          </p:cNvPr>
          <p:cNvCxnSpPr>
            <a:cxnSpLocks noChangeShapeType="1"/>
            <a:stCxn id="28689" idx="7"/>
            <a:endCxn id="28676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8">
            <a:extLst>
              <a:ext uri="{FF2B5EF4-FFF2-40B4-BE49-F238E27FC236}">
                <a16:creationId xmlns:a16="http://schemas.microsoft.com/office/drawing/2014/main" id="{E7888BD1-F2EF-031E-A987-8653F3C626B2}"/>
              </a:ext>
            </a:extLst>
          </p:cNvPr>
          <p:cNvCxnSpPr>
            <a:cxnSpLocks noChangeShapeType="1"/>
            <a:stCxn id="28678" idx="1"/>
            <a:endCxn id="28689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2" name="Oval 19">
            <a:extLst>
              <a:ext uri="{FF2B5EF4-FFF2-40B4-BE49-F238E27FC236}">
                <a16:creationId xmlns:a16="http://schemas.microsoft.com/office/drawing/2014/main" id="{7C111678-314D-BB9B-4C60-31FBFBB7F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8693" name="AutoShape 20">
            <a:extLst>
              <a:ext uri="{FF2B5EF4-FFF2-40B4-BE49-F238E27FC236}">
                <a16:creationId xmlns:a16="http://schemas.microsoft.com/office/drawing/2014/main" id="{B9239E9E-70F7-069A-0A32-2D02519DFB5D}"/>
              </a:ext>
            </a:extLst>
          </p:cNvPr>
          <p:cNvCxnSpPr>
            <a:cxnSpLocks noChangeShapeType="1"/>
            <a:stCxn id="28677" idx="1"/>
            <a:endCxn id="28692" idx="5"/>
          </p:cNvCxnSpPr>
          <p:nvPr/>
        </p:nvCxnSpPr>
        <p:spPr bwMode="auto">
          <a:xfrm flipH="1" flipV="1">
            <a:off x="4810125" y="3971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1">
            <a:extLst>
              <a:ext uri="{FF2B5EF4-FFF2-40B4-BE49-F238E27FC236}">
                <a16:creationId xmlns:a16="http://schemas.microsoft.com/office/drawing/2014/main" id="{65EC9DB7-C9AF-E659-7750-BCD3EE4F8262}"/>
              </a:ext>
            </a:extLst>
          </p:cNvPr>
          <p:cNvCxnSpPr>
            <a:cxnSpLocks noChangeShapeType="1"/>
            <a:stCxn id="28678" idx="7"/>
            <a:endCxn id="28692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5" name="Text Box 22">
            <a:extLst>
              <a:ext uri="{FF2B5EF4-FFF2-40B4-BE49-F238E27FC236}">
                <a16:creationId xmlns:a16="http://schemas.microsoft.com/office/drawing/2014/main" id="{B6419CE9-B3FD-0342-57A3-65DD3A1AC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8696" name="Text Box 23">
            <a:extLst>
              <a:ext uri="{FF2B5EF4-FFF2-40B4-BE49-F238E27FC236}">
                <a16:creationId xmlns:a16="http://schemas.microsoft.com/office/drawing/2014/main" id="{7AE8BCD9-DC2A-160F-1A22-EF875A0CC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8697" name="Text Box 24">
            <a:extLst>
              <a:ext uri="{FF2B5EF4-FFF2-40B4-BE49-F238E27FC236}">
                <a16:creationId xmlns:a16="http://schemas.microsoft.com/office/drawing/2014/main" id="{3DDB7CCA-D140-B6AE-3F30-3C4FC3DC2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8698" name="Text Box 25">
            <a:extLst>
              <a:ext uri="{FF2B5EF4-FFF2-40B4-BE49-F238E27FC236}">
                <a16:creationId xmlns:a16="http://schemas.microsoft.com/office/drawing/2014/main" id="{7FCB13FF-B3BE-0AB7-B444-CF9B8F825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8699" name="Text Box 26">
            <a:extLst>
              <a:ext uri="{FF2B5EF4-FFF2-40B4-BE49-F238E27FC236}">
                <a16:creationId xmlns:a16="http://schemas.microsoft.com/office/drawing/2014/main" id="{69E92AC3-1D33-A043-8653-BA52D6536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8700" name="Text Box 27">
            <a:extLst>
              <a:ext uri="{FF2B5EF4-FFF2-40B4-BE49-F238E27FC236}">
                <a16:creationId xmlns:a16="http://schemas.microsoft.com/office/drawing/2014/main" id="{64B0B99B-4A97-DAE2-CFE1-71FE1DBB6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8701" name="Text Box 28">
            <a:extLst>
              <a:ext uri="{FF2B5EF4-FFF2-40B4-BE49-F238E27FC236}">
                <a16:creationId xmlns:a16="http://schemas.microsoft.com/office/drawing/2014/main" id="{2BD8872C-74F3-85CE-8FB2-8D9B05800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8702" name="Text Box 29">
            <a:extLst>
              <a:ext uri="{FF2B5EF4-FFF2-40B4-BE49-F238E27FC236}">
                <a16:creationId xmlns:a16="http://schemas.microsoft.com/office/drawing/2014/main" id="{64319E86-430A-550F-2507-808BAB289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8703" name="Text Box 30">
            <a:extLst>
              <a:ext uri="{FF2B5EF4-FFF2-40B4-BE49-F238E27FC236}">
                <a16:creationId xmlns:a16="http://schemas.microsoft.com/office/drawing/2014/main" id="{46B1957E-1512-0C66-4F95-34875558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8704" name="Text Box 31">
            <a:extLst>
              <a:ext uri="{FF2B5EF4-FFF2-40B4-BE49-F238E27FC236}">
                <a16:creationId xmlns:a16="http://schemas.microsoft.com/office/drawing/2014/main" id="{5532943E-FC72-0274-99D6-421CD24D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8705" name="Text Box 32">
            <a:extLst>
              <a:ext uri="{FF2B5EF4-FFF2-40B4-BE49-F238E27FC236}">
                <a16:creationId xmlns:a16="http://schemas.microsoft.com/office/drawing/2014/main" id="{4A389D4B-CC6B-BD92-EE3B-9BC72E339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8706" name="Text Box 33">
            <a:extLst>
              <a:ext uri="{FF2B5EF4-FFF2-40B4-BE49-F238E27FC236}">
                <a16:creationId xmlns:a16="http://schemas.microsoft.com/office/drawing/2014/main" id="{E8A7B8D6-A39D-9CFC-5367-5FCF7A7F4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8707" name="Text Box 34">
            <a:extLst>
              <a:ext uri="{FF2B5EF4-FFF2-40B4-BE49-F238E27FC236}">
                <a16:creationId xmlns:a16="http://schemas.microsoft.com/office/drawing/2014/main" id="{F36C0535-A76A-6FDB-9A49-040DC2DD1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8708" name="Text Box 35">
            <a:extLst>
              <a:ext uri="{FF2B5EF4-FFF2-40B4-BE49-F238E27FC236}">
                <a16:creationId xmlns:a16="http://schemas.microsoft.com/office/drawing/2014/main" id="{14B37828-2416-3199-5638-4539290AD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8709" name="Text Box 36">
            <a:extLst>
              <a:ext uri="{FF2B5EF4-FFF2-40B4-BE49-F238E27FC236}">
                <a16:creationId xmlns:a16="http://schemas.microsoft.com/office/drawing/2014/main" id="{C67A72E3-0C6E-7FF0-8C8D-D3B923466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8710" name="Text Box 37">
            <a:extLst>
              <a:ext uri="{FF2B5EF4-FFF2-40B4-BE49-F238E27FC236}">
                <a16:creationId xmlns:a16="http://schemas.microsoft.com/office/drawing/2014/main" id="{01E89A1B-AB8E-7186-5FE7-E7EB6B61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8711" name="Text Box 38">
            <a:extLst>
              <a:ext uri="{FF2B5EF4-FFF2-40B4-BE49-F238E27FC236}">
                <a16:creationId xmlns:a16="http://schemas.microsoft.com/office/drawing/2014/main" id="{19482BA0-580F-B2B5-FA9D-C8ADE258A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8716" name="Line 44">
            <a:extLst>
              <a:ext uri="{FF2B5EF4-FFF2-40B4-BE49-F238E27FC236}">
                <a16:creationId xmlns:a16="http://schemas.microsoft.com/office/drawing/2014/main" id="{30959BF0-A428-5749-F041-3916E963FD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5040314"/>
            <a:ext cx="144780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8718" name="Text Box 46">
            <a:extLst>
              <a:ext uri="{FF2B5EF4-FFF2-40B4-BE49-F238E27FC236}">
                <a16:creationId xmlns:a16="http://schemas.microsoft.com/office/drawing/2014/main" id="{657A2843-1F01-DDF8-DF72-63E063822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6</a:t>
            </a:r>
            <a:endParaRPr lang="en-US" altLang="en-US" sz="1800"/>
          </a:p>
        </p:txBody>
      </p:sp>
      <p:sp>
        <p:nvSpPr>
          <p:cNvPr id="28719" name="Text Box 47">
            <a:extLst>
              <a:ext uri="{FF2B5EF4-FFF2-40B4-BE49-F238E27FC236}">
                <a16:creationId xmlns:a16="http://schemas.microsoft.com/office/drawing/2014/main" id="{54F67A61-8ABA-0991-5B47-D3C83B3AC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sp>
        <p:nvSpPr>
          <p:cNvPr id="28723" name="Text Box 42">
            <a:extLst>
              <a:ext uri="{FF2B5EF4-FFF2-40B4-BE49-F238E27FC236}">
                <a16:creationId xmlns:a16="http://schemas.microsoft.com/office/drawing/2014/main" id="{A54475B8-49AC-5544-B5D6-927F475FD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Pick vertex List with minimum distance (G) and update neighbors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FD423A-31F1-D365-59D2-52CA7E7F6C35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239246BA-F5DB-2475-F35A-74D8933E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8B0B1F2-EB5C-4AC2-AF93-166475E4DB47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27398B1-4D04-3FDC-897F-A905132FB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Example (end)</a:t>
            </a:r>
          </a:p>
        </p:txBody>
      </p:sp>
      <p:sp>
        <p:nvSpPr>
          <p:cNvPr id="29700" name="Oval 3">
            <a:extLst>
              <a:ext uri="{FF2B5EF4-FFF2-40B4-BE49-F238E27FC236}">
                <a16:creationId xmlns:a16="http://schemas.microsoft.com/office/drawing/2014/main" id="{3565ADDF-809F-D8FF-6B53-BB75D9466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9701" name="Oval 4">
            <a:extLst>
              <a:ext uri="{FF2B5EF4-FFF2-40B4-BE49-F238E27FC236}">
                <a16:creationId xmlns:a16="http://schemas.microsoft.com/office/drawing/2014/main" id="{99D18C52-A9EC-B797-3AE6-EC21E2267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9702" name="Oval 5">
            <a:extLst>
              <a:ext uri="{FF2B5EF4-FFF2-40B4-BE49-F238E27FC236}">
                <a16:creationId xmlns:a16="http://schemas.microsoft.com/office/drawing/2014/main" id="{7987FA38-5AC3-7271-CD8F-AE1E1AC03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9703" name="AutoShape 6">
            <a:extLst>
              <a:ext uri="{FF2B5EF4-FFF2-40B4-BE49-F238E27FC236}">
                <a16:creationId xmlns:a16="http://schemas.microsoft.com/office/drawing/2014/main" id="{4C0E1572-A685-1BE2-D158-B8E9FDF541E4}"/>
              </a:ext>
            </a:extLst>
          </p:cNvPr>
          <p:cNvCxnSpPr>
            <a:cxnSpLocks noChangeShapeType="1"/>
            <a:stCxn id="29701" idx="2"/>
            <a:endCxn id="29702" idx="6"/>
          </p:cNvCxnSpPr>
          <p:nvPr/>
        </p:nvCxnSpPr>
        <p:spPr bwMode="auto">
          <a:xfrm flipH="1">
            <a:off x="3824288" y="4953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4" name="AutoShape 7">
            <a:extLst>
              <a:ext uri="{FF2B5EF4-FFF2-40B4-BE49-F238E27FC236}">
                <a16:creationId xmlns:a16="http://schemas.microsoft.com/office/drawing/2014/main" id="{CAA27847-9F0F-599E-5445-FCEE3D38B730}"/>
              </a:ext>
            </a:extLst>
          </p:cNvPr>
          <p:cNvCxnSpPr>
            <a:cxnSpLocks noChangeShapeType="1"/>
            <a:stCxn id="29716" idx="2"/>
            <a:endCxn id="29713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5" name="AutoShape 8">
            <a:extLst>
              <a:ext uri="{FF2B5EF4-FFF2-40B4-BE49-F238E27FC236}">
                <a16:creationId xmlns:a16="http://schemas.microsoft.com/office/drawing/2014/main" id="{062957FB-3247-F436-2F10-0CFB63EFBDD8}"/>
              </a:ext>
            </a:extLst>
          </p:cNvPr>
          <p:cNvCxnSpPr>
            <a:cxnSpLocks noChangeShapeType="1"/>
            <a:stCxn id="29700" idx="6"/>
            <a:endCxn id="29706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6" name="Oval 9">
            <a:extLst>
              <a:ext uri="{FF2B5EF4-FFF2-40B4-BE49-F238E27FC236}">
                <a16:creationId xmlns:a16="http://schemas.microsoft.com/office/drawing/2014/main" id="{69289E84-F3DF-6845-B20C-1C4808A86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9707" name="Oval 10">
            <a:extLst>
              <a:ext uri="{FF2B5EF4-FFF2-40B4-BE49-F238E27FC236}">
                <a16:creationId xmlns:a16="http://schemas.microsoft.com/office/drawing/2014/main" id="{5011F660-11F0-412E-6415-BA613E53B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9708" name="AutoShape 11">
            <a:extLst>
              <a:ext uri="{FF2B5EF4-FFF2-40B4-BE49-F238E27FC236}">
                <a16:creationId xmlns:a16="http://schemas.microsoft.com/office/drawing/2014/main" id="{C0E28234-020D-F475-6DEA-032969EBE0F8}"/>
              </a:ext>
            </a:extLst>
          </p:cNvPr>
          <p:cNvCxnSpPr>
            <a:cxnSpLocks noChangeShapeType="1"/>
            <a:stCxn id="29707" idx="2"/>
            <a:endCxn id="29716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2">
            <a:extLst>
              <a:ext uri="{FF2B5EF4-FFF2-40B4-BE49-F238E27FC236}">
                <a16:creationId xmlns:a16="http://schemas.microsoft.com/office/drawing/2014/main" id="{EB332CCB-EA63-BA17-D1FA-BA729731D2A6}"/>
              </a:ext>
            </a:extLst>
          </p:cNvPr>
          <p:cNvCxnSpPr>
            <a:cxnSpLocks noChangeShapeType="1"/>
            <a:stCxn id="29707" idx="1"/>
            <a:endCxn id="29706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13">
            <a:extLst>
              <a:ext uri="{FF2B5EF4-FFF2-40B4-BE49-F238E27FC236}">
                <a16:creationId xmlns:a16="http://schemas.microsoft.com/office/drawing/2014/main" id="{2BD8AE7A-6298-7482-E27F-79F740AE73A9}"/>
              </a:ext>
            </a:extLst>
          </p:cNvPr>
          <p:cNvCxnSpPr>
            <a:cxnSpLocks noChangeShapeType="1"/>
            <a:stCxn id="29701" idx="7"/>
            <a:endCxn id="29707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14">
            <a:extLst>
              <a:ext uri="{FF2B5EF4-FFF2-40B4-BE49-F238E27FC236}">
                <a16:creationId xmlns:a16="http://schemas.microsoft.com/office/drawing/2014/main" id="{9ED0135B-11CD-4535-F652-BE179B0EDD27}"/>
              </a:ext>
            </a:extLst>
          </p:cNvPr>
          <p:cNvCxnSpPr>
            <a:cxnSpLocks noChangeShapeType="1"/>
            <a:stCxn id="29700" idx="5"/>
            <a:endCxn id="29716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5">
            <a:extLst>
              <a:ext uri="{FF2B5EF4-FFF2-40B4-BE49-F238E27FC236}">
                <a16:creationId xmlns:a16="http://schemas.microsoft.com/office/drawing/2014/main" id="{5B44F16D-BC21-396E-D26B-BD2CB282613D}"/>
              </a:ext>
            </a:extLst>
          </p:cNvPr>
          <p:cNvCxnSpPr>
            <a:cxnSpLocks noChangeShapeType="1"/>
            <a:stCxn id="29706" idx="3"/>
            <a:endCxn id="29716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Oval 16">
            <a:extLst>
              <a:ext uri="{FF2B5EF4-FFF2-40B4-BE49-F238E27FC236}">
                <a16:creationId xmlns:a16="http://schemas.microsoft.com/office/drawing/2014/main" id="{EA51ED99-858A-430D-FD0C-FE5602E4C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9714" name="AutoShape 17">
            <a:extLst>
              <a:ext uri="{FF2B5EF4-FFF2-40B4-BE49-F238E27FC236}">
                <a16:creationId xmlns:a16="http://schemas.microsoft.com/office/drawing/2014/main" id="{F48D2AA4-1A09-D7DA-3EC8-90E406ACF151}"/>
              </a:ext>
            </a:extLst>
          </p:cNvPr>
          <p:cNvCxnSpPr>
            <a:cxnSpLocks noChangeShapeType="1"/>
            <a:stCxn id="29713" idx="7"/>
            <a:endCxn id="29700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5" name="AutoShape 18">
            <a:extLst>
              <a:ext uri="{FF2B5EF4-FFF2-40B4-BE49-F238E27FC236}">
                <a16:creationId xmlns:a16="http://schemas.microsoft.com/office/drawing/2014/main" id="{14B7C70B-C3A6-2CFC-C707-2B36E58CD450}"/>
              </a:ext>
            </a:extLst>
          </p:cNvPr>
          <p:cNvCxnSpPr>
            <a:cxnSpLocks noChangeShapeType="1"/>
            <a:stCxn id="29702" idx="1"/>
            <a:endCxn id="29713" idx="5"/>
          </p:cNvCxnSpPr>
          <p:nvPr/>
        </p:nvCxnSpPr>
        <p:spPr bwMode="auto">
          <a:xfrm flipH="1" flipV="1">
            <a:off x="2752725" y="3971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6" name="Oval 19">
            <a:extLst>
              <a:ext uri="{FF2B5EF4-FFF2-40B4-BE49-F238E27FC236}">
                <a16:creationId xmlns:a16="http://schemas.microsoft.com/office/drawing/2014/main" id="{7B062AE6-23F1-34B8-26E4-D48A2442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9717" name="AutoShape 20">
            <a:extLst>
              <a:ext uri="{FF2B5EF4-FFF2-40B4-BE49-F238E27FC236}">
                <a16:creationId xmlns:a16="http://schemas.microsoft.com/office/drawing/2014/main" id="{46B3ED8F-D9E3-59C8-770B-521DE5489ED0}"/>
              </a:ext>
            </a:extLst>
          </p:cNvPr>
          <p:cNvCxnSpPr>
            <a:cxnSpLocks noChangeShapeType="1"/>
            <a:stCxn id="29701" idx="1"/>
            <a:endCxn id="29716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8" name="AutoShape 21">
            <a:extLst>
              <a:ext uri="{FF2B5EF4-FFF2-40B4-BE49-F238E27FC236}">
                <a16:creationId xmlns:a16="http://schemas.microsoft.com/office/drawing/2014/main" id="{88ADEAF6-642B-F5A6-641E-8801AEA2F7F1}"/>
              </a:ext>
            </a:extLst>
          </p:cNvPr>
          <p:cNvCxnSpPr>
            <a:cxnSpLocks noChangeShapeType="1"/>
            <a:stCxn id="29702" idx="7"/>
            <a:endCxn id="29716" idx="3"/>
          </p:cNvCxnSpPr>
          <p:nvPr/>
        </p:nvCxnSpPr>
        <p:spPr bwMode="auto">
          <a:xfrm flipV="1">
            <a:off x="3743325" y="3971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9" name="Text Box 22">
            <a:extLst>
              <a:ext uri="{FF2B5EF4-FFF2-40B4-BE49-F238E27FC236}">
                <a16:creationId xmlns:a16="http://schemas.microsoft.com/office/drawing/2014/main" id="{E3FF86F4-2808-77CC-4EAA-52F59DD6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9720" name="Text Box 23">
            <a:extLst>
              <a:ext uri="{FF2B5EF4-FFF2-40B4-BE49-F238E27FC236}">
                <a16:creationId xmlns:a16="http://schemas.microsoft.com/office/drawing/2014/main" id="{BE62FFC2-D9F2-6CF8-45CB-06F505DA4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9721" name="Text Box 24">
            <a:extLst>
              <a:ext uri="{FF2B5EF4-FFF2-40B4-BE49-F238E27FC236}">
                <a16:creationId xmlns:a16="http://schemas.microsoft.com/office/drawing/2014/main" id="{F5FFFEE8-6AA8-E84D-810D-FB6DF4452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9722" name="Text Box 25">
            <a:extLst>
              <a:ext uri="{FF2B5EF4-FFF2-40B4-BE49-F238E27FC236}">
                <a16:creationId xmlns:a16="http://schemas.microsoft.com/office/drawing/2014/main" id="{97726226-64A1-761A-A9B0-7348FE5C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10</a:t>
            </a:r>
          </a:p>
        </p:txBody>
      </p:sp>
      <p:sp>
        <p:nvSpPr>
          <p:cNvPr id="29723" name="Text Box 26">
            <a:extLst>
              <a:ext uri="{FF2B5EF4-FFF2-40B4-BE49-F238E27FC236}">
                <a16:creationId xmlns:a16="http://schemas.microsoft.com/office/drawing/2014/main" id="{7B7F55D0-E777-74BC-7892-F5E68931D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3</a:t>
            </a:r>
          </a:p>
        </p:txBody>
      </p:sp>
      <p:sp>
        <p:nvSpPr>
          <p:cNvPr id="29724" name="Text Box 27">
            <a:extLst>
              <a:ext uri="{FF2B5EF4-FFF2-40B4-BE49-F238E27FC236}">
                <a16:creationId xmlns:a16="http://schemas.microsoft.com/office/drawing/2014/main" id="{874685F2-68E5-7669-E2D4-257EEE0F1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6</a:t>
            </a:r>
          </a:p>
        </p:txBody>
      </p:sp>
      <p:sp>
        <p:nvSpPr>
          <p:cNvPr id="29725" name="Text Box 28">
            <a:extLst>
              <a:ext uri="{FF2B5EF4-FFF2-40B4-BE49-F238E27FC236}">
                <a16:creationId xmlns:a16="http://schemas.microsoft.com/office/drawing/2014/main" id="{4F7C71AC-30C9-8160-CF2B-873C1154F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4</a:t>
            </a:r>
          </a:p>
        </p:txBody>
      </p:sp>
      <p:sp>
        <p:nvSpPr>
          <p:cNvPr id="29726" name="Text Box 29">
            <a:extLst>
              <a:ext uri="{FF2B5EF4-FFF2-40B4-BE49-F238E27FC236}">
                <a16:creationId xmlns:a16="http://schemas.microsoft.com/office/drawing/2014/main" id="{581D216D-7BC5-A4BF-0409-286BDF6C3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9727" name="Text Box 30">
            <a:extLst>
              <a:ext uri="{FF2B5EF4-FFF2-40B4-BE49-F238E27FC236}">
                <a16:creationId xmlns:a16="http://schemas.microsoft.com/office/drawing/2014/main" id="{373AAC42-5178-CC1E-FF2A-5016EE97F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2</a:t>
            </a:r>
          </a:p>
        </p:txBody>
      </p:sp>
      <p:sp>
        <p:nvSpPr>
          <p:cNvPr id="29728" name="Text Box 31">
            <a:extLst>
              <a:ext uri="{FF2B5EF4-FFF2-40B4-BE49-F238E27FC236}">
                <a16:creationId xmlns:a16="http://schemas.microsoft.com/office/drawing/2014/main" id="{BB63037E-F7EC-5475-9CB8-69517C5B2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8</a:t>
            </a:r>
          </a:p>
        </p:txBody>
      </p:sp>
      <p:sp>
        <p:nvSpPr>
          <p:cNvPr id="29729" name="Text Box 32">
            <a:extLst>
              <a:ext uri="{FF2B5EF4-FFF2-40B4-BE49-F238E27FC236}">
                <a16:creationId xmlns:a16="http://schemas.microsoft.com/office/drawing/2014/main" id="{771EE431-3ADB-EEE0-EAC3-48D439DBB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5</a:t>
            </a:r>
          </a:p>
        </p:txBody>
      </p:sp>
      <p:sp>
        <p:nvSpPr>
          <p:cNvPr id="29730" name="Text Box 33">
            <a:extLst>
              <a:ext uri="{FF2B5EF4-FFF2-40B4-BE49-F238E27FC236}">
                <a16:creationId xmlns:a16="http://schemas.microsoft.com/office/drawing/2014/main" id="{2412C16A-C03B-AED4-F50D-C25C6032E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9731" name="Text Box 34">
            <a:extLst>
              <a:ext uri="{FF2B5EF4-FFF2-40B4-BE49-F238E27FC236}">
                <a16:creationId xmlns:a16="http://schemas.microsoft.com/office/drawing/2014/main" id="{BF28DDEA-AA03-EEAA-5FA9-DE5D8FBF9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0</a:t>
            </a:r>
          </a:p>
        </p:txBody>
      </p:sp>
      <p:sp>
        <p:nvSpPr>
          <p:cNvPr id="29732" name="Text Box 35">
            <a:extLst>
              <a:ext uri="{FF2B5EF4-FFF2-40B4-BE49-F238E27FC236}">
                <a16:creationId xmlns:a16="http://schemas.microsoft.com/office/drawing/2014/main" id="{7015738A-D79E-629B-DE08-701642022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2</a:t>
            </a:r>
            <a:endParaRPr lang="en-US" altLang="en-US" sz="1800"/>
          </a:p>
        </p:txBody>
      </p:sp>
      <p:sp>
        <p:nvSpPr>
          <p:cNvPr id="29733" name="Text Box 36">
            <a:extLst>
              <a:ext uri="{FF2B5EF4-FFF2-40B4-BE49-F238E27FC236}">
                <a16:creationId xmlns:a16="http://schemas.microsoft.com/office/drawing/2014/main" id="{54088DF1-3280-54B0-E477-328F97C7B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9734" name="Text Box 37">
            <a:extLst>
              <a:ext uri="{FF2B5EF4-FFF2-40B4-BE49-F238E27FC236}">
                <a16:creationId xmlns:a16="http://schemas.microsoft.com/office/drawing/2014/main" id="{A4D3AAE7-1402-8133-9D39-6FE9B4C3B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3</a:t>
            </a:r>
            <a:endParaRPr lang="en-US" altLang="en-US" sz="1800"/>
          </a:p>
        </p:txBody>
      </p:sp>
      <p:sp>
        <p:nvSpPr>
          <p:cNvPr id="29735" name="Text Box 38">
            <a:extLst>
              <a:ext uri="{FF2B5EF4-FFF2-40B4-BE49-F238E27FC236}">
                <a16:creationId xmlns:a16="http://schemas.microsoft.com/office/drawing/2014/main" id="{B42734BC-1533-7FEE-F6E0-BB6438A84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1</a:t>
            </a:r>
            <a:endParaRPr lang="en-US" altLang="en-US" sz="1800"/>
          </a:p>
        </p:txBody>
      </p:sp>
      <p:sp>
        <p:nvSpPr>
          <p:cNvPr id="29737" name="Line 40">
            <a:extLst>
              <a:ext uri="{FF2B5EF4-FFF2-40B4-BE49-F238E27FC236}">
                <a16:creationId xmlns:a16="http://schemas.microsoft.com/office/drawing/2014/main" id="{7AC432DC-59A6-1952-451C-9250F94D4E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9738" name="Line 41">
            <a:extLst>
              <a:ext uri="{FF2B5EF4-FFF2-40B4-BE49-F238E27FC236}">
                <a16:creationId xmlns:a16="http://schemas.microsoft.com/office/drawing/2014/main" id="{1DF8CDE1-EFA0-9667-2661-5B7A24E9DA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9739" name="Line 42">
            <a:extLst>
              <a:ext uri="{FF2B5EF4-FFF2-40B4-BE49-F238E27FC236}">
                <a16:creationId xmlns:a16="http://schemas.microsoft.com/office/drawing/2014/main" id="{62FE703D-2875-0662-0655-C1CF55B2EF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9740" name="Line 43">
            <a:extLst>
              <a:ext uri="{FF2B5EF4-FFF2-40B4-BE49-F238E27FC236}">
                <a16:creationId xmlns:a16="http://schemas.microsoft.com/office/drawing/2014/main" id="{166DF8FC-8C28-D444-63F1-37D8BF9CD2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9741" name="Line 44">
            <a:extLst>
              <a:ext uri="{FF2B5EF4-FFF2-40B4-BE49-F238E27FC236}">
                <a16:creationId xmlns:a16="http://schemas.microsoft.com/office/drawing/2014/main" id="{B4E85D54-A1F2-E9D2-B35D-3CEC46CF8D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5105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9742" name="Line 45">
            <a:extLst>
              <a:ext uri="{FF2B5EF4-FFF2-40B4-BE49-F238E27FC236}">
                <a16:creationId xmlns:a16="http://schemas.microsoft.com/office/drawing/2014/main" id="{46523EBC-01C6-224E-7CA4-4E4BFFD386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9743" name="Text Box 46">
            <a:extLst>
              <a:ext uri="{FF2B5EF4-FFF2-40B4-BE49-F238E27FC236}">
                <a16:creationId xmlns:a16="http://schemas.microsoft.com/office/drawing/2014/main" id="{20EBC950-330B-3137-62E1-3CB3DF705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6</a:t>
            </a:r>
            <a:endParaRPr lang="en-US" altLang="en-US" sz="1800"/>
          </a:p>
        </p:txBody>
      </p:sp>
      <p:sp>
        <p:nvSpPr>
          <p:cNvPr id="29744" name="Text Box 47">
            <a:extLst>
              <a:ext uri="{FF2B5EF4-FFF2-40B4-BE49-F238E27FC236}">
                <a16:creationId xmlns:a16="http://schemas.microsoft.com/office/drawing/2014/main" id="{80765574-B0DD-21B2-F035-8FCF47BE2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ym typeface="Symbol" panose="05050102010706020507" pitchFamily="18" charset="2"/>
              </a:rPr>
              <a:t>5</a:t>
            </a:r>
            <a:endParaRPr lang="en-US" altLang="en-US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7DB625-1CBC-F129-04D9-A5B1BD6288A8}"/>
              </a:ext>
            </a:extLst>
          </p:cNvPr>
          <p:cNvGraphicFramePr>
            <a:graphicFrameLocks noGrp="1"/>
          </p:cNvGraphicFramePr>
          <p:nvPr/>
        </p:nvGraphicFramePr>
        <p:xfrm>
          <a:off x="161479" y="2828925"/>
          <a:ext cx="174828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9230469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894854959"/>
                    </a:ext>
                  </a:extLst>
                </a:gridCol>
                <a:gridCol w="852172">
                  <a:extLst>
                    <a:ext uri="{9D8B030D-6E8A-4147-A177-3AD203B41FA5}">
                      <a16:colId xmlns:a16="http://schemas.microsoft.com/office/drawing/2014/main" val="174747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</a:t>
                      </a:r>
                      <a:endParaRPr lang="en-IE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Path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7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4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ADC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7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ADGF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33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ADG</a:t>
                      </a:r>
                      <a:endParaRPr lang="en-IE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963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36AF8035-D48E-810B-99B5-3C1E0EE92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365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0723" name="Picture 5">
            <a:extLst>
              <a:ext uri="{FF2B5EF4-FFF2-40B4-BE49-F238E27FC236}">
                <a16:creationId xmlns:a16="http://schemas.microsoft.com/office/drawing/2014/main" id="{5E408299-CDB7-3210-9102-215641638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754063"/>
            <a:ext cx="79121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F17654-B3E6-05F4-8C7B-EAA53A43E34E}"/>
              </a:ext>
            </a:extLst>
          </p:cNvPr>
          <p:cNvGraphicFramePr>
            <a:graphicFrameLocks noGrp="1"/>
          </p:cNvGraphicFramePr>
          <p:nvPr/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>
            <a:extLst>
              <a:ext uri="{FF2B5EF4-FFF2-40B4-BE49-F238E27FC236}">
                <a16:creationId xmlns:a16="http://schemas.microsoft.com/office/drawing/2014/main" id="{C9B89749-A2B8-F4E7-7BB6-92F7C0A60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1747" name="Picture 5">
            <a:extLst>
              <a:ext uri="{FF2B5EF4-FFF2-40B4-BE49-F238E27FC236}">
                <a16:creationId xmlns:a16="http://schemas.microsoft.com/office/drawing/2014/main" id="{0CC90D21-66A5-BBFB-5730-106BBF3CE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22DA0-E739-7774-D7DB-C30D560A6C5C}"/>
              </a:ext>
            </a:extLst>
          </p:cNvPr>
          <p:cNvGraphicFramePr>
            <a:graphicFrameLocks noGrp="1"/>
          </p:cNvGraphicFramePr>
          <p:nvPr/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988554B5-AFC0-ACAF-6A97-9F3551703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2771" name="Picture 5">
            <a:extLst>
              <a:ext uri="{FF2B5EF4-FFF2-40B4-BE49-F238E27FC236}">
                <a16:creationId xmlns:a16="http://schemas.microsoft.com/office/drawing/2014/main" id="{C7CDADB0-2FC2-23B2-A109-3B7310D5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60438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FB5FC4-3937-70D3-DFD1-D86A7F5DA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405722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>
            <a:extLst>
              <a:ext uri="{FF2B5EF4-FFF2-40B4-BE49-F238E27FC236}">
                <a16:creationId xmlns:a16="http://schemas.microsoft.com/office/drawing/2014/main" id="{40D604EC-047C-CFA8-6BFB-F5EA16ABA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3795" name="Picture 5">
            <a:extLst>
              <a:ext uri="{FF2B5EF4-FFF2-40B4-BE49-F238E27FC236}">
                <a16:creationId xmlns:a16="http://schemas.microsoft.com/office/drawing/2014/main" id="{4BACB3E5-7553-D907-DF17-8E8CAAC18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AE00F0-0D73-1D19-B988-27BF6920B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750469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ACD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ACE</a:t>
                      </a:r>
                      <a:endParaRPr lang="en-I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3B75CE41-3EC6-3F2F-953F-7F67B015A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4819" name="Picture 5">
            <a:extLst>
              <a:ext uri="{FF2B5EF4-FFF2-40B4-BE49-F238E27FC236}">
                <a16:creationId xmlns:a16="http://schemas.microsoft.com/office/drawing/2014/main" id="{B69DF5FD-D8AA-EDFC-BE01-6CBAAEAB9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BCA82B-B032-BD3F-9FBF-A64A0ADE5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905992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ACD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>
            <a:extLst>
              <a:ext uri="{FF2B5EF4-FFF2-40B4-BE49-F238E27FC236}">
                <a16:creationId xmlns:a16="http://schemas.microsoft.com/office/drawing/2014/main" id="{D3A612C7-8B9F-929E-2B2E-C2F853CD5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C4D6C596-0F24-E3BA-849C-1B40F11F6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357E85-DAF4-2134-DB2F-7C5A77647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17731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ACD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E3212B3F-7970-8C55-8790-BF0067A91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6867" name="Picture 5">
            <a:extLst>
              <a:ext uri="{FF2B5EF4-FFF2-40B4-BE49-F238E27FC236}">
                <a16:creationId xmlns:a16="http://schemas.microsoft.com/office/drawing/2014/main" id="{E13AA431-E6AA-2BA4-26BE-9D72F08D5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071563"/>
            <a:ext cx="824706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747648-A687-9CD5-BD69-B64817F8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076470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ACD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id="{8FA7BA75-B7B5-E7B4-C021-CF0669994F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7156065C-7639-A1C9-D485-841B35A1B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5B5C23-032F-4763-A308-19D22D6AB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90426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ACD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3594A6F3-1113-5E03-66E8-7378877B2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</a:rPr>
              <a:t>Another Example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0EF4D4FD-B392-2556-4422-1DA44E90F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02D99F-F554-6B6C-F3F9-0BE57D889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740707"/>
              </p:ext>
            </p:extLst>
          </p:nvPr>
        </p:nvGraphicFramePr>
        <p:xfrm>
          <a:off x="414274" y="1120648"/>
          <a:ext cx="235635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033">
                  <a:extLst>
                    <a:ext uri="{9D8B030D-6E8A-4147-A177-3AD203B41FA5}">
                      <a16:colId xmlns:a16="http://schemas.microsoft.com/office/drawing/2014/main" val="1678992162"/>
                    </a:ext>
                  </a:extLst>
                </a:gridCol>
                <a:gridCol w="1907325">
                  <a:extLst>
                    <a:ext uri="{9D8B030D-6E8A-4147-A177-3AD203B41FA5}">
                      <a16:colId xmlns:a16="http://schemas.microsoft.com/office/drawing/2014/main" val="2671172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3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3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ACBD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9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ACE</a:t>
                      </a:r>
                      <a:endParaRPr lang="en-I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93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9B752E6-E5F7-072C-A030-8A95D49055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86968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Time Complexity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5ACD55F-1440-4566-EC98-AA3170015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343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en-US" sz="2400" dirty="0"/>
              <a:t>|V| vertices and |E|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edges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en-US" sz="2400" dirty="0"/>
              <a:t>Initializati</a:t>
            </a:r>
            <a:r>
              <a:rPr lang="en-US" altLang="en-US" sz="2400" dirty="0">
                <a:solidFill>
                  <a:srgbClr val="000000"/>
                </a:solidFill>
              </a:rPr>
              <a:t>on takes </a:t>
            </a:r>
            <a:r>
              <a:rPr lang="en-US" altLang="en-US" sz="2400" dirty="0">
                <a:solidFill>
                  <a:srgbClr val="C0504D"/>
                </a:solidFill>
              </a:rPr>
              <a:t>O(|V|)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en-US" sz="2400" dirty="0">
                <a:solidFill>
                  <a:srgbClr val="000000"/>
                </a:solidFill>
              </a:rPr>
              <a:t>While loop takes  </a:t>
            </a:r>
            <a:r>
              <a:rPr lang="en-US" altLang="en-US" sz="2400" dirty="0">
                <a:solidFill>
                  <a:srgbClr val="C0504D"/>
                </a:solidFill>
              </a:rPr>
              <a:t>O(|V|)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US" altLang="en-US" sz="2000" dirty="0">
                <a:solidFill>
                  <a:srgbClr val="000000"/>
                </a:solidFill>
              </a:rPr>
              <a:t>Find and remove min distance vertices </a:t>
            </a:r>
            <a:r>
              <a:rPr lang="en-US" altLang="en-US" sz="2000" dirty="0">
                <a:solidFill>
                  <a:srgbClr val="C0504D"/>
                </a:solidFill>
              </a:rPr>
              <a:t>O(|V|)</a:t>
            </a:r>
            <a:endParaRPr lang="en-US" altLang="en-US" sz="2400" dirty="0">
              <a:solidFill>
                <a:srgbClr val="C0504D"/>
              </a:solidFill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en-US" sz="2400" dirty="0">
                <a:solidFill>
                  <a:srgbClr val="000000"/>
                </a:solidFill>
              </a:rPr>
              <a:t>Potentially </a:t>
            </a:r>
            <a:r>
              <a:rPr lang="en-US" altLang="en-US" sz="2400" dirty="0">
                <a:solidFill>
                  <a:srgbClr val="C0504D"/>
                </a:solidFill>
              </a:rPr>
              <a:t>|E| </a:t>
            </a:r>
            <a:r>
              <a:rPr lang="en-US" altLang="en-US" sz="2400" dirty="0">
                <a:solidFill>
                  <a:srgbClr val="000000"/>
                </a:solidFill>
              </a:rPr>
              <a:t>updates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en-US" altLang="en-US" sz="2000" dirty="0">
                <a:solidFill>
                  <a:srgbClr val="000000"/>
                </a:solidFill>
              </a:rPr>
              <a:t>Update costs </a:t>
            </a:r>
            <a:r>
              <a:rPr lang="en-US" altLang="en-US" sz="2000" dirty="0">
                <a:solidFill>
                  <a:srgbClr val="C0504D"/>
                </a:solidFill>
              </a:rPr>
              <a:t>O(1)</a:t>
            </a:r>
            <a:endParaRPr lang="en-US" altLang="en-US" dirty="0">
              <a:solidFill>
                <a:srgbClr val="C0504D"/>
              </a:solidFill>
            </a:endParaRPr>
          </a:p>
          <a:p>
            <a:pPr lvl="2">
              <a:lnSpc>
                <a:spcPct val="120000"/>
              </a:lnSpc>
              <a:spcBef>
                <a:spcPts val="200"/>
              </a:spcBef>
            </a:pPr>
            <a:endParaRPr lang="en-US" altLang="en-US" sz="16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r>
              <a:rPr lang="en-US" altLang="en-US" sz="2400" dirty="0"/>
              <a:t>Total time </a:t>
            </a:r>
            <a:r>
              <a:rPr lang="en-US" altLang="en-US" sz="2400" dirty="0">
                <a:solidFill>
                  <a:srgbClr val="C0504D"/>
                </a:solidFill>
              </a:rPr>
              <a:t>O(|V</a:t>
            </a:r>
            <a:r>
              <a:rPr lang="en-US" altLang="en-US" sz="2400" baseline="30000" dirty="0">
                <a:solidFill>
                  <a:srgbClr val="C0504D"/>
                </a:solidFill>
              </a:rPr>
              <a:t>2</a:t>
            </a:r>
            <a:r>
              <a:rPr lang="en-US" altLang="en-US" sz="2400" dirty="0">
                <a:solidFill>
                  <a:srgbClr val="C0504D"/>
                </a:solidFill>
              </a:rPr>
              <a:t>| + |E|) = O(|V</a:t>
            </a:r>
            <a:r>
              <a:rPr lang="en-US" altLang="en-US" sz="2400" baseline="30000" dirty="0">
                <a:solidFill>
                  <a:srgbClr val="C0504D"/>
                </a:solidFill>
              </a:rPr>
              <a:t>2</a:t>
            </a:r>
            <a:r>
              <a:rPr lang="en-US" altLang="en-US" sz="2400" dirty="0">
                <a:solidFill>
                  <a:srgbClr val="C0504D"/>
                </a:solidFill>
              </a:rPr>
              <a:t>| )</a:t>
            </a:r>
          </a:p>
          <a:p>
            <a:pPr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en-US" sz="2400" dirty="0"/>
              <a:t>There are optimized version that reach: </a:t>
            </a:r>
            <a:r>
              <a:rPr lang="en-US" sz="2400" dirty="0">
                <a:solidFill>
                  <a:srgbClr val="C0504D"/>
                </a:solidFill>
                <a:ea typeface="ＭＳ Ｐゴシック" pitchFamily="-101" charset="-128"/>
                <a:cs typeface="ＭＳ Ｐゴシック" pitchFamily="-101" charset="-128"/>
              </a:rPr>
              <a:t>O(|</a:t>
            </a:r>
            <a:r>
              <a:rPr lang="en-US" sz="2400" dirty="0" err="1">
                <a:solidFill>
                  <a:srgbClr val="C0504D"/>
                </a:solidFill>
                <a:ea typeface="ＭＳ Ｐゴシック" pitchFamily="-101" charset="-128"/>
                <a:cs typeface="ＭＳ Ｐゴシック" pitchFamily="-101" charset="-128"/>
              </a:rPr>
              <a:t>E|log|V</a:t>
            </a:r>
            <a:r>
              <a:rPr lang="en-US" sz="2400" dirty="0">
                <a:solidFill>
                  <a:srgbClr val="C0504D"/>
                </a:solidFill>
                <a:ea typeface="ＭＳ Ｐゴシック" pitchFamily="-101" charset="-128"/>
                <a:cs typeface="ＭＳ Ｐゴシック" pitchFamily="-101" charset="-128"/>
              </a:rPr>
              <a:t>|)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7B6E-5BB3-32AC-64AA-CAF2D6A6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en-IE" dirty="0"/>
          </a:p>
        </p:txBody>
      </p:sp>
      <p:pic>
        <p:nvPicPr>
          <p:cNvPr id="4" name="Picture 2" descr="Strongly connected components- Kosaraju's algorithm | Kamal's Tech Blog">
            <a:extLst>
              <a:ext uri="{FF2B5EF4-FFF2-40B4-BE49-F238E27FC236}">
                <a16:creationId xmlns:a16="http://schemas.microsoft.com/office/drawing/2014/main" id="{C4BC2FDA-6AA3-0E0B-DF13-501ADA4E3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88" y="3923967"/>
            <a:ext cx="4993000" cy="183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rief introduction of Tarjan and SCC - Codeforces">
            <a:extLst>
              <a:ext uri="{FF2B5EF4-FFF2-40B4-BE49-F238E27FC236}">
                <a16:creationId xmlns:a16="http://schemas.microsoft.com/office/drawing/2014/main" id="{B3F00BBA-5D4C-8BD9-2F61-802F3A42A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820423"/>
            <a:ext cx="2520280" cy="25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91CCC-0318-1441-475B-F21A2841AC5A}"/>
              </a:ext>
            </a:extLst>
          </p:cNvPr>
          <p:cNvSpPr txBox="1"/>
          <p:nvPr/>
        </p:nvSpPr>
        <p:spPr>
          <a:xfrm>
            <a:off x="1581192" y="2403201"/>
            <a:ext cx="672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Find the Strongly Connected components</a:t>
            </a:r>
          </a:p>
        </p:txBody>
      </p:sp>
    </p:spTree>
    <p:extLst>
      <p:ext uri="{BB962C8B-B14F-4D97-AF65-F5344CB8AC3E}">
        <p14:creationId xmlns:p14="http://schemas.microsoft.com/office/powerpoint/2010/main" val="33681280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576E-5C10-9A40-5C4F-3CBF206F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en-IE" dirty="0"/>
          </a:p>
        </p:txBody>
      </p:sp>
      <p:pic>
        <p:nvPicPr>
          <p:cNvPr id="4" name="Picture 3" descr="1.jpg">
            <a:extLst>
              <a:ext uri="{FF2B5EF4-FFF2-40B4-BE49-F238E27FC236}">
                <a16:creationId xmlns:a16="http://schemas.microsoft.com/office/drawing/2014/main" id="{9D9E94C0-C40C-AFA5-70A7-26E6AD9F83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2590800"/>
            <a:ext cx="8629650" cy="3552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5428FE-1B8C-CE2F-1BFB-3FCBA8DEBD3B}"/>
              </a:ext>
            </a:extLst>
          </p:cNvPr>
          <p:cNvSpPr txBox="1"/>
          <p:nvPr/>
        </p:nvSpPr>
        <p:spPr>
          <a:xfrm>
            <a:off x="1143000" y="1788390"/>
            <a:ext cx="672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Find the shortest paths form A to all the other nodes</a:t>
            </a:r>
          </a:p>
        </p:txBody>
      </p:sp>
    </p:spTree>
    <p:extLst>
      <p:ext uri="{BB962C8B-B14F-4D97-AF65-F5344CB8AC3E}">
        <p14:creationId xmlns:p14="http://schemas.microsoft.com/office/powerpoint/2010/main" val="1234288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5912</Words>
  <Application>Microsoft Office PowerPoint</Application>
  <PresentationFormat>On-screen Show (4:3)</PresentationFormat>
  <Paragraphs>2154</Paragraphs>
  <Slides>78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4" baseType="lpstr">
      <vt:lpstr>MS PGothic</vt:lpstr>
      <vt:lpstr>Aptos</vt:lpstr>
      <vt:lpstr>Arial</vt:lpstr>
      <vt:lpstr>Calibri</vt:lpstr>
      <vt:lpstr>Cambria Math</vt:lpstr>
      <vt:lpstr>Comic Sans MS</vt:lpstr>
      <vt:lpstr>Constantia</vt:lpstr>
      <vt:lpstr>Courier New</vt:lpstr>
      <vt:lpstr>Monotype Sorts</vt:lpstr>
      <vt:lpstr>Rockwell</vt:lpstr>
      <vt:lpstr>Rockwell Condensed</vt:lpstr>
      <vt:lpstr>Symbol</vt:lpstr>
      <vt:lpstr>Tahoma</vt:lpstr>
      <vt:lpstr>Times New Roman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Initialization</vt:lpstr>
      <vt:lpstr>Example: Update neighbors' distance</vt:lpstr>
      <vt:lpstr>Example: Remove vertex with minimum distance</vt:lpstr>
      <vt:lpstr>Example: Update neighbors</vt:lpstr>
      <vt:lpstr>Example: Update neighbors</vt:lpstr>
      <vt:lpstr>Example: Continued...</vt:lpstr>
      <vt:lpstr>Example: Continued...</vt:lpstr>
      <vt:lpstr>Example: Continued...</vt:lpstr>
      <vt:lpstr>Example: Continued...</vt:lpstr>
      <vt:lpstr>Example: Continued...</vt:lpstr>
      <vt:lpstr>Example: Continued...</vt:lpstr>
      <vt:lpstr>Example: Continued...</vt:lpstr>
      <vt:lpstr>Example (end)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Time Complexity</vt:lpstr>
      <vt:lpstr>Exercises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Week1(CS380).pptx</dc:title>
  <dc:creator>pierpaolodondio</dc:creator>
  <cp:lastModifiedBy>Pierpaolo Dondio</cp:lastModifiedBy>
  <cp:revision>36</cp:revision>
  <dcterms:created xsi:type="dcterms:W3CDTF">2025-09-19T16:19:52Z</dcterms:created>
  <dcterms:modified xsi:type="dcterms:W3CDTF">2025-12-01T18:55:04Z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2025-09-19T00:00:00Z</vt:filetime>
  </property>
  <property fmtid="{D5CDD505-2E9C-101B-9397-08002B2CF9AE}" pid="5" name="Producer">
    <vt:lpwstr>3-Heights(TM) PDF Security Shell 4.8.25.2 (http://www.pdf-tools.com)</vt:lpwstr>
  </property>
</Properties>
</file>