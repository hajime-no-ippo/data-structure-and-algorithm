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1" r:id="rId1"/>
  </p:sldMasterIdLst>
  <p:notesMasterIdLst>
    <p:notesMasterId r:id="rId37"/>
  </p:notesMasterIdLst>
  <p:sldIdLst>
    <p:sldId id="331" r:id="rId2"/>
    <p:sldId id="332" r:id="rId3"/>
    <p:sldId id="842" r:id="rId4"/>
    <p:sldId id="843" r:id="rId5"/>
    <p:sldId id="845" r:id="rId6"/>
    <p:sldId id="846" r:id="rId7"/>
    <p:sldId id="847" r:id="rId8"/>
    <p:sldId id="848" r:id="rId9"/>
    <p:sldId id="849" r:id="rId10"/>
    <p:sldId id="850" r:id="rId11"/>
    <p:sldId id="851" r:id="rId12"/>
    <p:sldId id="879" r:id="rId13"/>
    <p:sldId id="880" r:id="rId14"/>
    <p:sldId id="854" r:id="rId15"/>
    <p:sldId id="857" r:id="rId16"/>
    <p:sldId id="867" r:id="rId17"/>
    <p:sldId id="866" r:id="rId18"/>
    <p:sldId id="872" r:id="rId19"/>
    <p:sldId id="873" r:id="rId20"/>
    <p:sldId id="868" r:id="rId21"/>
    <p:sldId id="862" r:id="rId22"/>
    <p:sldId id="863" r:id="rId23"/>
    <p:sldId id="865" r:id="rId24"/>
    <p:sldId id="870" r:id="rId25"/>
    <p:sldId id="876" r:id="rId26"/>
    <p:sldId id="878" r:id="rId27"/>
    <p:sldId id="884" r:id="rId28"/>
    <p:sldId id="877" r:id="rId29"/>
    <p:sldId id="881" r:id="rId30"/>
    <p:sldId id="882" r:id="rId31"/>
    <p:sldId id="883" r:id="rId32"/>
    <p:sldId id="864" r:id="rId33"/>
    <p:sldId id="859" r:id="rId34"/>
    <p:sldId id="860" r:id="rId35"/>
    <p:sldId id="875" r:id="rId36"/>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23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9" autoAdjust="0"/>
    <p:restoredTop sz="94660"/>
  </p:normalViewPr>
  <p:slideViewPr>
    <p:cSldViewPr>
      <p:cViewPr>
        <p:scale>
          <a:sx n="70" d="100"/>
          <a:sy n="70" d="100"/>
        </p:scale>
        <p:origin x="1204" y="52"/>
      </p:cViewPr>
      <p:guideLst>
        <p:guide orient="horz" pos="2880"/>
        <p:guide pos="2160"/>
      </p:guideLst>
    </p:cSldViewPr>
  </p:slideViewPr>
  <p:notesTextViewPr>
    <p:cViewPr>
      <p:scale>
        <a:sx n="100" d="100"/>
        <a:sy n="100" d="100"/>
      </p:scale>
      <p:origin x="0" y="0"/>
    </p:cViewPr>
  </p:notesTextViewPr>
  <p:sorterViewPr>
    <p:cViewPr>
      <p:scale>
        <a:sx n="180" d="100"/>
        <a:sy n="180" d="100"/>
      </p:scale>
      <p:origin x="0" y="-3157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466F994-E567-4E2A-9CC6-7124331350FA}" type="datetimeFigureOut">
              <a:rPr lang="en-IE" smtClean="0"/>
              <a:t>06/11/2025</a:t>
            </a:fld>
            <a:endParaRPr lang="en-IE"/>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F7DE376-2C33-490B-A7D6-FF41E95A2AB4}" type="slidenum">
              <a:rPr lang="en-IE" smtClean="0"/>
              <a:t>‹#›</a:t>
            </a:fld>
            <a:endParaRPr lang="en-IE"/>
          </a:p>
        </p:txBody>
      </p:sp>
    </p:spTree>
    <p:extLst>
      <p:ext uri="{BB962C8B-B14F-4D97-AF65-F5344CB8AC3E}">
        <p14:creationId xmlns:p14="http://schemas.microsoft.com/office/powerpoint/2010/main" val="2101087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4C85A79-8F4E-4293-A84B-133598B629DB}" type="slidenum">
              <a:rPr lang="en-IE" smtClean="0"/>
              <a:pPr/>
              <a:t>1</a:t>
            </a:fld>
            <a:endParaRPr lang="en-IE"/>
          </a:p>
        </p:txBody>
      </p:sp>
    </p:spTree>
    <p:extLst>
      <p:ext uri="{BB962C8B-B14F-4D97-AF65-F5344CB8AC3E}">
        <p14:creationId xmlns:p14="http://schemas.microsoft.com/office/powerpoint/2010/main" val="90987370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11/6/2025</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IE"/>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2180994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2328658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1D8BD707-D9CF-40AE-B4C6-C98DA3205C09}" type="datetimeFigureOut">
              <a:rPr lang="en-US" smtClean="0"/>
              <a:t>11/6/2025</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IE"/>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2741635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139014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297355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1D8BD707-D9CF-40AE-B4C6-C98DA3205C09}" type="datetimeFigureOut">
              <a:rPr lang="en-US" smtClean="0"/>
              <a:t>11/6/2025</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IE"/>
          </a:p>
        </p:txBody>
      </p:sp>
      <p:sp>
        <p:nvSpPr>
          <p:cNvPr id="5" name="Slide Number Placeholder 4"/>
          <p:cNvSpPr>
            <a:spLocks noGrp="1"/>
          </p:cNvSpPr>
          <p:nvPr>
            <p:ph type="sldNum" sz="quarter" idx="12"/>
          </p:nvPr>
        </p:nvSpPr>
        <p:spPr/>
        <p:txBody>
          <a:body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2854613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3925691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1D8BD707-D9CF-40AE-B4C6-C98DA3205C09}" type="datetimeFigureOut">
              <a:rPr lang="en-US" smtClean="0"/>
              <a:t>11/6/2025</a:t>
            </a:fld>
            <a:endParaRPr lang="en-US"/>
          </a:p>
        </p:txBody>
      </p:sp>
      <p:sp>
        <p:nvSpPr>
          <p:cNvPr id="10" name="Footer Placeholder 9"/>
          <p:cNvSpPr>
            <a:spLocks noGrp="1"/>
          </p:cNvSpPr>
          <p:nvPr>
            <p:ph type="ftr" sz="quarter" idx="11"/>
          </p:nvPr>
        </p:nvSpPr>
        <p:spPr/>
        <p:txBody>
          <a:bodyPr/>
          <a:lstStyle/>
          <a:p>
            <a:endParaRPr lang="en-IE"/>
          </a:p>
        </p:txBody>
      </p:sp>
      <p:sp>
        <p:nvSpPr>
          <p:cNvPr id="11" name="Slide Number Placeholder 10"/>
          <p:cNvSpPr>
            <a:spLocks noGrp="1"/>
          </p:cNvSpPr>
          <p:nvPr>
            <p:ph type="sldNum" sz="quarter" idx="12"/>
          </p:nvPr>
        </p:nvSpPr>
        <p:spPr/>
        <p:txBody>
          <a:body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1026261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1D8BD707-D9CF-40AE-B4C6-C98DA3205C09}" type="datetimeFigureOut">
              <a:rPr lang="en-US" smtClean="0"/>
              <a:t>11/6/2025</a:t>
            </a:fld>
            <a:endParaRPr lang="en-US"/>
          </a:p>
        </p:txBody>
      </p:sp>
      <p:sp>
        <p:nvSpPr>
          <p:cNvPr id="10" name="Slide Number Placeholder 9"/>
          <p:cNvSpPr>
            <a:spLocks noGrp="1"/>
          </p:cNvSpPr>
          <p:nvPr>
            <p:ph type="sldNum" sz="quarter" idx="12"/>
          </p:nvPr>
        </p:nvSpPr>
        <p:spPr/>
        <p:txBody>
          <a:body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4144315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876193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858313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Library">
    <p:spTree>
      <p:nvGrpSpPr>
        <p:cNvPr id="1" name=""/>
        <p:cNvGrpSpPr/>
        <p:nvPr/>
      </p:nvGrpSpPr>
      <p:grpSpPr>
        <a:xfrm>
          <a:off x="0" y="0"/>
          <a:ext cx="0" cy="0"/>
          <a:chOff x="0" y="0"/>
          <a:chExt cx="0" cy="0"/>
        </a:xfrm>
      </p:grpSpPr>
      <p:sp>
        <p:nvSpPr>
          <p:cNvPr id="5" name="Rectangle 4"/>
          <p:cNvSpPr/>
          <p:nvPr/>
        </p:nvSpPr>
        <p:spPr>
          <a:xfrm flipV="1">
            <a:off x="539750" y="6453188"/>
            <a:ext cx="3203575" cy="71437"/>
          </a:xfrm>
          <a:prstGeom prst="rect">
            <a:avLst/>
          </a:prstGeom>
          <a:solidFill>
            <a:srgbClr val="8223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sp>
        <p:nvSpPr>
          <p:cNvPr id="6" name="Rectangle 5"/>
          <p:cNvSpPr/>
          <p:nvPr/>
        </p:nvSpPr>
        <p:spPr>
          <a:xfrm flipV="1">
            <a:off x="4008438" y="6453188"/>
            <a:ext cx="4679950" cy="71437"/>
          </a:xfrm>
          <a:prstGeom prst="rect">
            <a:avLst/>
          </a:prstGeom>
          <a:solidFill>
            <a:srgbClr val="8223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pic>
        <p:nvPicPr>
          <p:cNvPr id="9" name="Picture 2" descr="C:\Users\Rowan\Documents\Maynooth\Powerpoint Template\K7917 - Maynooth University_PowerPoint (Burgundy) Option 1-2-2.jpg"/>
          <p:cNvPicPr>
            <a:picLocks noChangeAspect="1" noChangeArrowheads="1"/>
          </p:cNvPicPr>
          <p:nvPr/>
        </p:nvPicPr>
        <p:blipFill>
          <a:blip r:embed="rId2" cstate="print">
            <a:extLst>
              <a:ext uri="{28A0092B-C50C-407E-A947-70E740481C1C}">
                <a14:useLocalDpi xmlns:a14="http://schemas.microsoft.com/office/drawing/2010/main" val="0"/>
              </a:ext>
            </a:extLst>
          </a:blip>
          <a:srcRect l="19310" t="-320" r="27138"/>
          <a:stretch>
            <a:fillRect/>
          </a:stretch>
        </p:blipFill>
        <p:spPr bwMode="auto">
          <a:xfrm>
            <a:off x="4008438" y="549275"/>
            <a:ext cx="4679950"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descr="C:\Users\Rowan\Documents\Maynooth\Powerpoint Template\K7384 Maynooth University Logo_RGB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388" y="115888"/>
            <a:ext cx="3143250"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Placeholder 7"/>
          <p:cNvSpPr>
            <a:spLocks noGrp="1"/>
          </p:cNvSpPr>
          <p:nvPr>
            <p:ph type="body" sz="quarter" idx="10"/>
          </p:nvPr>
        </p:nvSpPr>
        <p:spPr>
          <a:xfrm>
            <a:off x="611560" y="3140968"/>
            <a:ext cx="3024336" cy="2232025"/>
          </a:xfrm>
          <a:prstGeom prst="rect">
            <a:avLst/>
          </a:prstGeom>
        </p:spPr>
        <p:txBody>
          <a:bodyPr/>
          <a:lstStyle>
            <a:lvl1pPr marL="0" indent="0">
              <a:buNone/>
              <a:defRPr sz="4000" b="1">
                <a:solidFill>
                  <a:srgbClr val="822327"/>
                </a:solidFill>
                <a:latin typeface="+mn-lt"/>
              </a:defRPr>
            </a:lvl1pPr>
            <a:lvl3pPr>
              <a:defRPr>
                <a:solidFill>
                  <a:srgbClr val="822327"/>
                </a:solidFill>
              </a:defRPr>
            </a:lvl3pPr>
            <a:lvl5pPr marL="1828800" indent="0">
              <a:buNone/>
              <a:defRPr/>
            </a:lvl5pPr>
          </a:lstStyle>
          <a:p>
            <a:pPr lvl="0"/>
            <a:r>
              <a:rPr lang="en-US"/>
              <a:t>Click to edit Master text styles</a:t>
            </a:r>
          </a:p>
        </p:txBody>
      </p:sp>
      <p:sp>
        <p:nvSpPr>
          <p:cNvPr id="7" name="Text Placeholder 6"/>
          <p:cNvSpPr>
            <a:spLocks noGrp="1"/>
          </p:cNvSpPr>
          <p:nvPr>
            <p:ph type="body" sz="quarter" idx="11"/>
          </p:nvPr>
        </p:nvSpPr>
        <p:spPr>
          <a:xfrm>
            <a:off x="611189" y="5661025"/>
            <a:ext cx="3024708" cy="720725"/>
          </a:xfrm>
          <a:prstGeom prst="rect">
            <a:avLst/>
          </a:prstGeom>
        </p:spPr>
        <p:txBody>
          <a:bodyPr/>
          <a:lstStyle>
            <a:lvl1pPr marL="0" indent="0">
              <a:buNone/>
              <a:defRPr sz="2400">
                <a:solidFill>
                  <a:srgbClr val="822327"/>
                </a:solidFill>
              </a:defRPr>
            </a:lvl1pPr>
          </a:lstStyle>
          <a:p>
            <a:pPr lvl="0"/>
            <a:r>
              <a:rPr lang="en-US"/>
              <a:t>Click to edit Master text styles</a:t>
            </a:r>
          </a:p>
        </p:txBody>
      </p:sp>
    </p:spTree>
    <p:extLst>
      <p:ext uri="{BB962C8B-B14F-4D97-AF65-F5344CB8AC3E}">
        <p14:creationId xmlns:p14="http://schemas.microsoft.com/office/powerpoint/2010/main" val="29433745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7172325" y="6448425"/>
            <a:ext cx="151288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GB" altLang="en-US" sz="1100" b="1" dirty="0"/>
              <a:t>maynoothuniversity.ie</a:t>
            </a:r>
            <a:endParaRPr lang="en-GB" altLang="en-US" b="1" dirty="0"/>
          </a:p>
        </p:txBody>
      </p:sp>
      <p:sp>
        <p:nvSpPr>
          <p:cNvPr id="5" name="Rectangle 4"/>
          <p:cNvSpPr/>
          <p:nvPr/>
        </p:nvSpPr>
        <p:spPr>
          <a:xfrm flipV="1">
            <a:off x="395288" y="5884863"/>
            <a:ext cx="8316912" cy="71437"/>
          </a:xfrm>
          <a:prstGeom prst="rect">
            <a:avLst/>
          </a:prstGeom>
          <a:solidFill>
            <a:srgbClr val="8223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a:p>
        </p:txBody>
      </p:sp>
      <p:pic>
        <p:nvPicPr>
          <p:cNvPr id="6" name="Picture 3" descr="C:\Users\Rowan\Desktop\K7384 Maynooth University Logo_RGB_300dpi.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288" y="6092825"/>
            <a:ext cx="147637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6"/>
          <p:cNvSpPr>
            <a:spLocks noGrp="1"/>
          </p:cNvSpPr>
          <p:nvPr>
            <p:ph type="body" sz="quarter" idx="12"/>
          </p:nvPr>
        </p:nvSpPr>
        <p:spPr>
          <a:xfrm>
            <a:off x="746311" y="620688"/>
            <a:ext cx="7560890" cy="1008112"/>
          </a:xfrm>
          <a:prstGeom prst="rect">
            <a:avLst/>
          </a:prstGeom>
        </p:spPr>
        <p:txBody>
          <a:bodyPr/>
          <a:lstStyle>
            <a:lvl1pPr marL="0" indent="0">
              <a:buNone/>
              <a:defRPr sz="4000" b="1">
                <a:solidFill>
                  <a:srgbClr val="822327"/>
                </a:solidFill>
                <a:latin typeface="+mn-lt"/>
              </a:defRPr>
            </a:lvl1pPr>
            <a:lvl3pPr>
              <a:defRPr>
                <a:solidFill>
                  <a:schemeClr val="bg1"/>
                </a:solidFill>
              </a:defRPr>
            </a:lvl3pPr>
          </a:lstStyle>
          <a:p>
            <a:pPr lvl="0"/>
            <a:r>
              <a:rPr lang="en-US"/>
              <a:t>Click to edit Master text styles</a:t>
            </a:r>
          </a:p>
        </p:txBody>
      </p:sp>
      <p:sp>
        <p:nvSpPr>
          <p:cNvPr id="7" name="Content Placeholder 2"/>
          <p:cNvSpPr>
            <a:spLocks noGrp="1"/>
          </p:cNvSpPr>
          <p:nvPr>
            <p:ph sz="quarter" idx="11"/>
          </p:nvPr>
        </p:nvSpPr>
        <p:spPr>
          <a:xfrm>
            <a:off x="755650" y="1844675"/>
            <a:ext cx="7561263" cy="3816350"/>
          </a:xfrm>
          <a:prstGeom prst="rect">
            <a:avLst/>
          </a:prstGeom>
        </p:spPr>
        <p:txBody>
          <a:bodyPr/>
          <a:lstStyle>
            <a:lvl1pPr marL="342900" indent="-342900">
              <a:buFont typeface="Arial" panose="020B0604020202020204" pitchFamily="34" charset="0"/>
              <a:buChar char="•"/>
              <a:defRPr sz="2400">
                <a:solidFill>
                  <a:schemeClr val="tx1"/>
                </a:solidFill>
              </a:defRPr>
            </a:lvl1pPr>
          </a:lstStyle>
          <a:p>
            <a:pPr lvl="0"/>
            <a:r>
              <a:rPr lang="en-US" dirty="0"/>
              <a:t>Click to edit Master text styles</a:t>
            </a:r>
          </a:p>
        </p:txBody>
      </p:sp>
    </p:spTree>
    <p:extLst>
      <p:ext uri="{BB962C8B-B14F-4D97-AF65-F5344CB8AC3E}">
        <p14:creationId xmlns:p14="http://schemas.microsoft.com/office/powerpoint/2010/main" val="412970056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5">
                <a:duotone>
                  <a:schemeClr val="accent1">
                    <a:shade val="45000"/>
                    <a:satMod val="135000"/>
                  </a:schemeClr>
                  <a:prstClr val="white"/>
                </a:duotone>
                <a:extLst>
                  <a:ext uri="{BEBA8EAE-BF5A-486C-A8C5-ECC9F3942E4B}">
                    <a14:imgProps xmlns:a14="http://schemas.microsoft.com/office/drawing/2010/main">
                      <a14:imgLayer r:embed="rId1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E"/>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a:lstStyle/>
            <a:p>
              <a:endParaRPr lang="en-IE"/>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1D8BD707-D9CF-40AE-B4C6-C98DA3205C09}" type="datetimeFigureOut">
              <a:rPr lang="en-US" smtClean="0"/>
              <a:t>11/6/2025</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IE"/>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pPr marL="38100">
              <a:lnSpc>
                <a:spcPts val="1240"/>
              </a:lnSpc>
            </a:pPr>
            <a:fld id="{81D60167-4931-47E6-BA6A-407CBD079E47}" type="slidenum">
              <a:rPr lang="en-IE" spc="-25" smtClean="0"/>
              <a:t>‹#›</a:t>
            </a:fld>
            <a:endParaRPr lang="en-IE" spc="-25" dirty="0"/>
          </a:p>
        </p:txBody>
      </p:sp>
    </p:spTree>
    <p:extLst>
      <p:ext uri="{BB962C8B-B14F-4D97-AF65-F5344CB8AC3E}">
        <p14:creationId xmlns:p14="http://schemas.microsoft.com/office/powerpoint/2010/main" val="1453676887"/>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Lst>
  <p:txStyles>
    <p:titleStyle>
      <a:lvl1pPr algn="l" defTabSz="914400" rtl="0" eaLnBrk="1" latinLnBrk="0" hangingPunct="1">
        <a:lnSpc>
          <a:spcPct val="90000"/>
        </a:lnSpc>
        <a:spcBef>
          <a:spcPct val="0"/>
        </a:spcBef>
        <a:buNone/>
        <a:defRPr sz="4200" b="0" kern="1200" cap="all" baseline="0">
          <a:blipFill>
            <a:blip r:embed="rId17">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39552" y="1916832"/>
            <a:ext cx="3346648" cy="2232025"/>
          </a:xfrm>
        </p:spPr>
        <p:txBody>
          <a:bodyPr>
            <a:normAutofit/>
          </a:bodyPr>
          <a:lstStyle/>
          <a:p>
            <a:r>
              <a:rPr lang="en-GB" sz="3000" dirty="0"/>
              <a:t>CS210</a:t>
            </a:r>
          </a:p>
          <a:p>
            <a:r>
              <a:rPr lang="en-GB" sz="3000" dirty="0"/>
              <a:t>Algorithms and Data Structures</a:t>
            </a:r>
          </a:p>
        </p:txBody>
      </p:sp>
      <p:sp>
        <p:nvSpPr>
          <p:cNvPr id="3" name="Text Placeholder 2"/>
          <p:cNvSpPr>
            <a:spLocks noGrp="1"/>
          </p:cNvSpPr>
          <p:nvPr>
            <p:ph type="body" sz="quarter" idx="11"/>
          </p:nvPr>
        </p:nvSpPr>
        <p:spPr>
          <a:xfrm>
            <a:off x="539552" y="4221088"/>
            <a:ext cx="3168352" cy="1646312"/>
          </a:xfrm>
        </p:spPr>
        <p:txBody>
          <a:bodyPr>
            <a:normAutofit fontScale="85000" lnSpcReduction="20000"/>
          </a:bodyPr>
          <a:lstStyle/>
          <a:p>
            <a:r>
              <a:rPr lang="en-GB" sz="2000" dirty="0"/>
              <a:t>Hash Tables</a:t>
            </a:r>
          </a:p>
          <a:p>
            <a:r>
              <a:rPr lang="en-GB" sz="2000" dirty="0"/>
              <a:t>Week 8</a:t>
            </a:r>
          </a:p>
          <a:p>
            <a:r>
              <a:rPr lang="en-GB" sz="2000" dirty="0"/>
              <a:t>Semester 1 2025</a:t>
            </a:r>
          </a:p>
          <a:p>
            <a:endParaRPr lang="en-GB" sz="2000" dirty="0"/>
          </a:p>
          <a:p>
            <a:r>
              <a:rPr lang="en-GB" sz="2000" dirty="0"/>
              <a:t>Dr. Pierpaolo Dondio</a:t>
            </a:r>
          </a:p>
        </p:txBody>
      </p:sp>
    </p:spTree>
    <p:extLst>
      <p:ext uri="{BB962C8B-B14F-4D97-AF65-F5344CB8AC3E}">
        <p14:creationId xmlns:p14="http://schemas.microsoft.com/office/powerpoint/2010/main" val="391929436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85BBDE-771D-F4A9-FCA5-E9F7555B790F}"/>
              </a:ext>
            </a:extLst>
          </p:cNvPr>
          <p:cNvSpPr>
            <a:spLocks noGrp="1"/>
          </p:cNvSpPr>
          <p:nvPr>
            <p:ph type="body" sz="quarter" idx="12"/>
          </p:nvPr>
        </p:nvSpPr>
        <p:spPr/>
        <p:txBody>
          <a:bodyPr/>
          <a:lstStyle/>
          <a:p>
            <a:r>
              <a:rPr lang="en-IE" dirty="0"/>
              <a:t>Week 7</a:t>
            </a:r>
          </a:p>
        </p:txBody>
      </p:sp>
      <p:sp>
        <p:nvSpPr>
          <p:cNvPr id="3" name="Content Placeholder 2">
            <a:extLst>
              <a:ext uri="{FF2B5EF4-FFF2-40B4-BE49-F238E27FC236}">
                <a16:creationId xmlns:a16="http://schemas.microsoft.com/office/drawing/2014/main" id="{7B9EF77D-BE3B-A573-31AB-5C3329CA3843}"/>
              </a:ext>
            </a:extLst>
          </p:cNvPr>
          <p:cNvSpPr>
            <a:spLocks noGrp="1"/>
          </p:cNvSpPr>
          <p:nvPr>
            <p:ph sz="quarter" idx="11"/>
          </p:nvPr>
        </p:nvSpPr>
        <p:spPr>
          <a:xfrm>
            <a:off x="755650" y="1844675"/>
            <a:ext cx="7776790" cy="3413125"/>
          </a:xfrm>
        </p:spPr>
        <p:txBody>
          <a:bodyPr>
            <a:normAutofit lnSpcReduction="10000"/>
          </a:bodyPr>
          <a:lstStyle/>
          <a:p>
            <a:pPr>
              <a:buFont typeface="Wingdings" pitchFamily="2" charset="2"/>
              <a:buChar char="§"/>
            </a:pPr>
            <a:r>
              <a:rPr lang="en-IE" sz="2800" i="1" dirty="0"/>
              <a:t>Hash Function, Index and Tables: definition and functioning</a:t>
            </a:r>
          </a:p>
          <a:p>
            <a:pPr>
              <a:buFont typeface="Wingdings" pitchFamily="2" charset="2"/>
              <a:buChar char="§"/>
            </a:pPr>
            <a:r>
              <a:rPr lang="en-IE" sz="2800" i="1" dirty="0"/>
              <a:t>Closed Addressing Hash Table</a:t>
            </a:r>
          </a:p>
          <a:p>
            <a:pPr>
              <a:buFont typeface="Wingdings" pitchFamily="2" charset="2"/>
              <a:buChar char="§"/>
            </a:pPr>
            <a:r>
              <a:rPr lang="en-IE" sz="2800" i="1" dirty="0"/>
              <a:t>Open address Hash Table</a:t>
            </a:r>
          </a:p>
          <a:p>
            <a:pPr>
              <a:buFont typeface="Wingdings" pitchFamily="2" charset="2"/>
              <a:buChar char="§"/>
            </a:pPr>
            <a:r>
              <a:rPr lang="en-IE" sz="2800" i="1" dirty="0"/>
              <a:t>Dynamic Hashing</a:t>
            </a:r>
          </a:p>
          <a:p>
            <a:pPr>
              <a:buFont typeface="Wingdings" pitchFamily="2" charset="2"/>
              <a:buChar char="§"/>
            </a:pPr>
            <a:r>
              <a:rPr lang="en-IE" sz="2800" i="1" dirty="0"/>
              <a:t>Built-in Java classes</a:t>
            </a:r>
          </a:p>
          <a:p>
            <a:pPr>
              <a:buFont typeface="Wingdings" pitchFamily="2" charset="2"/>
              <a:buChar char="§"/>
            </a:pPr>
            <a:r>
              <a:rPr lang="en-IE" sz="2800" i="1" dirty="0"/>
              <a:t>Examples in Java</a:t>
            </a:r>
          </a:p>
          <a:p>
            <a:pPr>
              <a:buFont typeface="Wingdings" pitchFamily="2" charset="2"/>
              <a:buChar char="§"/>
            </a:pPr>
            <a:endParaRPr lang="en-IE" sz="2800" i="1" dirty="0"/>
          </a:p>
        </p:txBody>
      </p:sp>
    </p:spTree>
    <p:extLst>
      <p:ext uri="{BB962C8B-B14F-4D97-AF65-F5344CB8AC3E}">
        <p14:creationId xmlns:p14="http://schemas.microsoft.com/office/powerpoint/2010/main" val="115105945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45FA7-C622-41CF-9383-3A62F71382D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DE61E06-6ACE-ADCA-342A-6847AC3667CE}"/>
              </a:ext>
            </a:extLst>
          </p:cNvPr>
          <p:cNvSpPr>
            <a:spLocks noGrp="1"/>
          </p:cNvSpPr>
          <p:nvPr>
            <p:ph type="body" sz="quarter" idx="12"/>
          </p:nvPr>
        </p:nvSpPr>
        <p:spPr/>
        <p:txBody>
          <a:bodyPr/>
          <a:lstStyle/>
          <a:p>
            <a:r>
              <a:rPr lang="en-IE" dirty="0"/>
              <a:t>What is an index</a:t>
            </a:r>
          </a:p>
        </p:txBody>
      </p:sp>
      <p:sp>
        <p:nvSpPr>
          <p:cNvPr id="3" name="Content Placeholder 2">
            <a:extLst>
              <a:ext uri="{FF2B5EF4-FFF2-40B4-BE49-F238E27FC236}">
                <a16:creationId xmlns:a16="http://schemas.microsoft.com/office/drawing/2014/main" id="{C870E4E5-7902-07AD-69C5-94035707275D}"/>
              </a:ext>
            </a:extLst>
          </p:cNvPr>
          <p:cNvSpPr>
            <a:spLocks noGrp="1"/>
          </p:cNvSpPr>
          <p:nvPr>
            <p:ph sz="quarter" idx="11"/>
          </p:nvPr>
        </p:nvSpPr>
        <p:spPr>
          <a:xfrm>
            <a:off x="755650" y="1844675"/>
            <a:ext cx="4806950" cy="3794125"/>
          </a:xfrm>
        </p:spPr>
        <p:txBody>
          <a:bodyPr>
            <a:normAutofit fontScale="62500" lnSpcReduction="20000"/>
          </a:bodyPr>
          <a:lstStyle/>
          <a:p>
            <a:pPr>
              <a:buFont typeface="Wingdings" pitchFamily="2" charset="2"/>
              <a:buChar char="§"/>
            </a:pPr>
            <a:r>
              <a:rPr lang="en-IE" sz="2800" i="1" dirty="0"/>
              <a:t>An additional data structure used to access data in a more efficient way</a:t>
            </a:r>
          </a:p>
          <a:p>
            <a:pPr>
              <a:buFont typeface="Wingdings" pitchFamily="2" charset="2"/>
              <a:buChar char="§"/>
            </a:pPr>
            <a:r>
              <a:rPr lang="en-IE" sz="2800" i="1" dirty="0"/>
              <a:t>It contains “keys” that are the location to access the associated value</a:t>
            </a:r>
          </a:p>
          <a:p>
            <a:pPr>
              <a:buFont typeface="Wingdings" pitchFamily="2" charset="2"/>
              <a:buChar char="§"/>
            </a:pPr>
            <a:r>
              <a:rPr lang="en-IE" sz="2800" i="1" dirty="0"/>
              <a:t>The index is small and kept sorted</a:t>
            </a:r>
          </a:p>
          <a:p>
            <a:pPr>
              <a:buFont typeface="Wingdings" pitchFamily="2" charset="2"/>
              <a:buChar char="§"/>
            </a:pPr>
            <a:r>
              <a:rPr lang="en-IE" sz="2800" i="1" dirty="0"/>
              <a:t>The values can be in a large unsorted data structure</a:t>
            </a:r>
          </a:p>
          <a:p>
            <a:pPr>
              <a:buFont typeface="Wingdings" pitchFamily="2" charset="2"/>
              <a:buChar char="§"/>
            </a:pPr>
            <a:r>
              <a:rPr lang="en-IE" sz="2800" i="1" dirty="0"/>
              <a:t>In order to access a value, first we access the index, we get the key, and we access the value/data we were looking for</a:t>
            </a:r>
          </a:p>
          <a:p>
            <a:pPr>
              <a:buFont typeface="Wingdings" pitchFamily="2" charset="2"/>
              <a:buChar char="§"/>
            </a:pPr>
            <a:r>
              <a:rPr lang="en-IE" sz="2800" i="1" dirty="0"/>
              <a:t>Therefore, we need to perform two accesses, one for the index, one for the actual data we are searching</a:t>
            </a:r>
          </a:p>
          <a:p>
            <a:pPr>
              <a:buFont typeface="Wingdings" pitchFamily="2" charset="2"/>
              <a:buChar char="§"/>
            </a:pPr>
            <a:endParaRPr lang="en-IE" sz="2800" i="1" dirty="0"/>
          </a:p>
          <a:p>
            <a:pPr>
              <a:buFont typeface="Wingdings" pitchFamily="2" charset="2"/>
              <a:buChar char="§"/>
            </a:pPr>
            <a:endParaRPr lang="en-IE" sz="2800" i="1" dirty="0"/>
          </a:p>
        </p:txBody>
      </p:sp>
      <p:pic>
        <p:nvPicPr>
          <p:cNvPr id="1028" name="Picture 4" descr="Blog - What is the location of the index within a book?">
            <a:extLst>
              <a:ext uri="{FF2B5EF4-FFF2-40B4-BE49-F238E27FC236}">
                <a16:creationId xmlns:a16="http://schemas.microsoft.com/office/drawing/2014/main" id="{5C7708F1-2507-B58B-821D-E7E6F3F28E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1573936"/>
            <a:ext cx="2280158" cy="3192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77213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C77BD-E620-91D8-11DB-7839DD6E28C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82A1087-8C68-0E8B-A731-BDC62ED59060}"/>
              </a:ext>
            </a:extLst>
          </p:cNvPr>
          <p:cNvSpPr>
            <a:spLocks noGrp="1"/>
          </p:cNvSpPr>
          <p:nvPr>
            <p:ph type="body" sz="quarter" idx="12"/>
          </p:nvPr>
        </p:nvSpPr>
        <p:spPr/>
        <p:txBody>
          <a:bodyPr/>
          <a:lstStyle/>
          <a:p>
            <a:r>
              <a:rPr lang="en-IE" dirty="0"/>
              <a:t>What is an index /2</a:t>
            </a:r>
          </a:p>
        </p:txBody>
      </p:sp>
      <p:sp>
        <p:nvSpPr>
          <p:cNvPr id="3" name="Content Placeholder 2">
            <a:extLst>
              <a:ext uri="{FF2B5EF4-FFF2-40B4-BE49-F238E27FC236}">
                <a16:creationId xmlns:a16="http://schemas.microsoft.com/office/drawing/2014/main" id="{AB4149C4-1CC9-C9F4-BDB3-717D1CE051EB}"/>
              </a:ext>
            </a:extLst>
          </p:cNvPr>
          <p:cNvSpPr>
            <a:spLocks noGrp="1"/>
          </p:cNvSpPr>
          <p:nvPr>
            <p:ph sz="quarter" idx="11"/>
          </p:nvPr>
        </p:nvSpPr>
        <p:spPr>
          <a:xfrm>
            <a:off x="728218" y="1438656"/>
            <a:ext cx="7949437" cy="1529571"/>
          </a:xfrm>
        </p:spPr>
        <p:txBody>
          <a:bodyPr>
            <a:normAutofit/>
          </a:bodyPr>
          <a:lstStyle/>
          <a:p>
            <a:pPr>
              <a:buFont typeface="Wingdings" pitchFamily="2" charset="2"/>
              <a:buChar char="§"/>
            </a:pPr>
            <a:r>
              <a:rPr lang="en-IE" sz="1800" i="1" dirty="0"/>
              <a:t>An index can be implemented as a 2D array</a:t>
            </a:r>
          </a:p>
          <a:p>
            <a:pPr>
              <a:buFont typeface="Wingdings" pitchFamily="2" charset="2"/>
              <a:buChar char="§"/>
            </a:pPr>
            <a:r>
              <a:rPr lang="en-IE" sz="1800" i="1" dirty="0"/>
              <a:t>For each key, it stores the location of a chuck of data</a:t>
            </a:r>
          </a:p>
          <a:p>
            <a:pPr>
              <a:buFont typeface="Wingdings" pitchFamily="2" charset="2"/>
              <a:buChar char="§"/>
            </a:pPr>
            <a:r>
              <a:rPr lang="en-IE" sz="1800" i="1" dirty="0"/>
              <a:t>Index and Data can be two different files, or two tables in a database. It is an abstract data structure</a:t>
            </a:r>
          </a:p>
          <a:p>
            <a:pPr>
              <a:buFont typeface="Wingdings" pitchFamily="2" charset="2"/>
              <a:buChar char="§"/>
            </a:pPr>
            <a:endParaRPr lang="en-IE" sz="1800" i="1" dirty="0"/>
          </a:p>
          <a:p>
            <a:pPr>
              <a:buFont typeface="Wingdings" pitchFamily="2" charset="2"/>
              <a:buChar char="§"/>
            </a:pPr>
            <a:endParaRPr lang="en-IE" sz="1800" i="1" dirty="0"/>
          </a:p>
        </p:txBody>
      </p:sp>
      <p:graphicFrame>
        <p:nvGraphicFramePr>
          <p:cNvPr id="4" name="Table 3">
            <a:extLst>
              <a:ext uri="{FF2B5EF4-FFF2-40B4-BE49-F238E27FC236}">
                <a16:creationId xmlns:a16="http://schemas.microsoft.com/office/drawing/2014/main" id="{6A435288-0FF9-6647-E0B7-DBCC7B2799C1}"/>
              </a:ext>
            </a:extLst>
          </p:cNvPr>
          <p:cNvGraphicFramePr>
            <a:graphicFrameLocks noGrp="1"/>
          </p:cNvGraphicFramePr>
          <p:nvPr>
            <p:extLst>
              <p:ext uri="{D42A27DB-BD31-4B8C-83A1-F6EECF244321}">
                <p14:modId xmlns:p14="http://schemas.microsoft.com/office/powerpoint/2010/main" val="2827201100"/>
              </p:ext>
            </p:extLst>
          </p:nvPr>
        </p:nvGraphicFramePr>
        <p:xfrm>
          <a:off x="228600" y="3489960"/>
          <a:ext cx="2301690" cy="1920240"/>
        </p:xfrm>
        <a:graphic>
          <a:graphicData uri="http://schemas.openxmlformats.org/drawingml/2006/table">
            <a:tbl>
              <a:tblPr firstRow="1" bandRow="1">
                <a:tableStyleId>{5940675A-B579-460E-94D1-54222C63F5DA}</a:tableStyleId>
              </a:tblPr>
              <a:tblGrid>
                <a:gridCol w="1150845">
                  <a:extLst>
                    <a:ext uri="{9D8B030D-6E8A-4147-A177-3AD203B41FA5}">
                      <a16:colId xmlns:a16="http://schemas.microsoft.com/office/drawing/2014/main" val="377975487"/>
                    </a:ext>
                  </a:extLst>
                </a:gridCol>
                <a:gridCol w="1150845">
                  <a:extLst>
                    <a:ext uri="{9D8B030D-6E8A-4147-A177-3AD203B41FA5}">
                      <a16:colId xmlns:a16="http://schemas.microsoft.com/office/drawing/2014/main" val="3164783411"/>
                    </a:ext>
                  </a:extLst>
                </a:gridCol>
              </a:tblGrid>
              <a:tr h="269240">
                <a:tc>
                  <a:txBody>
                    <a:bodyPr/>
                    <a:lstStyle/>
                    <a:p>
                      <a:r>
                        <a:rPr lang="en-US" sz="1500" dirty="0"/>
                        <a:t>ST ID (key)</a:t>
                      </a:r>
                      <a:endParaRPr lang="en-IE" sz="1500" dirty="0"/>
                    </a:p>
                  </a:txBody>
                  <a:tcPr/>
                </a:tc>
                <a:tc>
                  <a:txBody>
                    <a:bodyPr/>
                    <a:lstStyle/>
                    <a:p>
                      <a:r>
                        <a:rPr lang="en-US" sz="1500" dirty="0"/>
                        <a:t>Location</a:t>
                      </a:r>
                      <a:endParaRPr lang="en-IE" sz="1500" dirty="0"/>
                    </a:p>
                  </a:txBody>
                  <a:tcPr/>
                </a:tc>
                <a:extLst>
                  <a:ext uri="{0D108BD9-81ED-4DB2-BD59-A6C34878D82A}">
                    <a16:rowId xmlns:a16="http://schemas.microsoft.com/office/drawing/2014/main" val="3293852809"/>
                  </a:ext>
                </a:extLst>
              </a:tr>
              <a:tr h="269240">
                <a:tc>
                  <a:txBody>
                    <a:bodyPr/>
                    <a:lstStyle/>
                    <a:p>
                      <a:r>
                        <a:rPr lang="en-US" sz="1500" dirty="0"/>
                        <a:t>101</a:t>
                      </a:r>
                      <a:endParaRPr lang="en-IE" sz="1500" dirty="0"/>
                    </a:p>
                  </a:txBody>
                  <a:tcPr/>
                </a:tc>
                <a:tc>
                  <a:txBody>
                    <a:bodyPr/>
                    <a:lstStyle/>
                    <a:p>
                      <a:pPr algn="ctr"/>
                      <a:r>
                        <a:rPr lang="en-US" sz="1500" dirty="0"/>
                        <a:t>3</a:t>
                      </a:r>
                      <a:endParaRPr lang="en-IE" sz="1500" dirty="0"/>
                    </a:p>
                  </a:txBody>
                  <a:tcPr/>
                </a:tc>
                <a:extLst>
                  <a:ext uri="{0D108BD9-81ED-4DB2-BD59-A6C34878D82A}">
                    <a16:rowId xmlns:a16="http://schemas.microsoft.com/office/drawing/2014/main" val="3770971447"/>
                  </a:ext>
                </a:extLst>
              </a:tr>
              <a:tr h="269240">
                <a:tc>
                  <a:txBody>
                    <a:bodyPr/>
                    <a:lstStyle/>
                    <a:p>
                      <a:r>
                        <a:rPr lang="en-US" sz="1500" dirty="0"/>
                        <a:t>221</a:t>
                      </a:r>
                      <a:endParaRPr lang="en-IE" sz="1500" dirty="0"/>
                    </a:p>
                  </a:txBody>
                  <a:tcPr/>
                </a:tc>
                <a:tc>
                  <a:txBody>
                    <a:bodyPr/>
                    <a:lstStyle/>
                    <a:p>
                      <a:pPr algn="ctr"/>
                      <a:r>
                        <a:rPr lang="en-US" sz="1500" dirty="0"/>
                        <a:t>1</a:t>
                      </a:r>
                      <a:endParaRPr lang="en-IE" sz="1500" dirty="0"/>
                    </a:p>
                  </a:txBody>
                  <a:tcPr/>
                </a:tc>
                <a:extLst>
                  <a:ext uri="{0D108BD9-81ED-4DB2-BD59-A6C34878D82A}">
                    <a16:rowId xmlns:a16="http://schemas.microsoft.com/office/drawing/2014/main" val="3454187303"/>
                  </a:ext>
                </a:extLst>
              </a:tr>
              <a:tr h="269240">
                <a:tc>
                  <a:txBody>
                    <a:bodyPr/>
                    <a:lstStyle/>
                    <a:p>
                      <a:r>
                        <a:rPr lang="en-US" sz="1500" dirty="0"/>
                        <a:t>351</a:t>
                      </a:r>
                      <a:endParaRPr lang="en-IE" sz="1500" dirty="0"/>
                    </a:p>
                  </a:txBody>
                  <a:tcPr/>
                </a:tc>
                <a:tc>
                  <a:txBody>
                    <a:bodyPr/>
                    <a:lstStyle/>
                    <a:p>
                      <a:pPr algn="ctr"/>
                      <a:r>
                        <a:rPr lang="en-US" sz="1500" dirty="0"/>
                        <a:t>0</a:t>
                      </a:r>
                      <a:endParaRPr lang="en-IE" sz="1500" dirty="0"/>
                    </a:p>
                  </a:txBody>
                  <a:tcPr/>
                </a:tc>
                <a:extLst>
                  <a:ext uri="{0D108BD9-81ED-4DB2-BD59-A6C34878D82A}">
                    <a16:rowId xmlns:a16="http://schemas.microsoft.com/office/drawing/2014/main" val="4112348689"/>
                  </a:ext>
                </a:extLst>
              </a:tr>
              <a:tr h="269240">
                <a:tc>
                  <a:txBody>
                    <a:bodyPr/>
                    <a:lstStyle/>
                    <a:p>
                      <a:r>
                        <a:rPr lang="en-US" sz="1500" dirty="0"/>
                        <a:t>484</a:t>
                      </a:r>
                      <a:endParaRPr lang="en-IE" sz="1500" dirty="0"/>
                    </a:p>
                  </a:txBody>
                  <a:tcPr/>
                </a:tc>
                <a:tc>
                  <a:txBody>
                    <a:bodyPr/>
                    <a:lstStyle/>
                    <a:p>
                      <a:pPr algn="ctr"/>
                      <a:r>
                        <a:rPr lang="en-US" sz="1500" dirty="0"/>
                        <a:t>2</a:t>
                      </a:r>
                      <a:endParaRPr lang="en-IE" sz="1500" dirty="0"/>
                    </a:p>
                  </a:txBody>
                  <a:tcPr/>
                </a:tc>
                <a:extLst>
                  <a:ext uri="{0D108BD9-81ED-4DB2-BD59-A6C34878D82A}">
                    <a16:rowId xmlns:a16="http://schemas.microsoft.com/office/drawing/2014/main" val="2872286730"/>
                  </a:ext>
                </a:extLst>
              </a:tr>
              <a:tr h="269240">
                <a:tc>
                  <a:txBody>
                    <a:bodyPr/>
                    <a:lstStyle/>
                    <a:p>
                      <a:r>
                        <a:rPr lang="en-US" sz="1500" dirty="0"/>
                        <a:t>510</a:t>
                      </a:r>
                      <a:endParaRPr lang="en-IE" sz="1500" dirty="0"/>
                    </a:p>
                  </a:txBody>
                  <a:tcPr/>
                </a:tc>
                <a:tc>
                  <a:txBody>
                    <a:bodyPr/>
                    <a:lstStyle/>
                    <a:p>
                      <a:pPr algn="ctr"/>
                      <a:r>
                        <a:rPr lang="en-US" sz="1500" dirty="0"/>
                        <a:t>4</a:t>
                      </a:r>
                      <a:endParaRPr lang="en-IE" sz="1500" dirty="0"/>
                    </a:p>
                  </a:txBody>
                  <a:tcPr/>
                </a:tc>
                <a:extLst>
                  <a:ext uri="{0D108BD9-81ED-4DB2-BD59-A6C34878D82A}">
                    <a16:rowId xmlns:a16="http://schemas.microsoft.com/office/drawing/2014/main" val="1482344592"/>
                  </a:ext>
                </a:extLst>
              </a:tr>
            </a:tbl>
          </a:graphicData>
        </a:graphic>
      </p:graphicFrame>
      <p:graphicFrame>
        <p:nvGraphicFramePr>
          <p:cNvPr id="5" name="Table 4">
            <a:extLst>
              <a:ext uri="{FF2B5EF4-FFF2-40B4-BE49-F238E27FC236}">
                <a16:creationId xmlns:a16="http://schemas.microsoft.com/office/drawing/2014/main" id="{5841A5E7-FDDD-258B-E92E-CB32E7AA82DF}"/>
              </a:ext>
            </a:extLst>
          </p:cNvPr>
          <p:cNvGraphicFramePr>
            <a:graphicFrameLocks noGrp="1"/>
          </p:cNvGraphicFramePr>
          <p:nvPr>
            <p:extLst>
              <p:ext uri="{D42A27DB-BD31-4B8C-83A1-F6EECF244321}">
                <p14:modId xmlns:p14="http://schemas.microsoft.com/office/powerpoint/2010/main" val="2095690501"/>
              </p:ext>
            </p:extLst>
          </p:nvPr>
        </p:nvGraphicFramePr>
        <p:xfrm>
          <a:off x="3352799" y="3337560"/>
          <a:ext cx="5638801" cy="2225040"/>
        </p:xfrm>
        <a:graphic>
          <a:graphicData uri="http://schemas.openxmlformats.org/drawingml/2006/table">
            <a:tbl>
              <a:tblPr firstRow="1" bandRow="1">
                <a:tableStyleId>{5940675A-B579-460E-94D1-54222C63F5DA}</a:tableStyleId>
              </a:tblPr>
              <a:tblGrid>
                <a:gridCol w="768903">
                  <a:extLst>
                    <a:ext uri="{9D8B030D-6E8A-4147-A177-3AD203B41FA5}">
                      <a16:colId xmlns:a16="http://schemas.microsoft.com/office/drawing/2014/main" val="489129571"/>
                    </a:ext>
                  </a:extLst>
                </a:gridCol>
                <a:gridCol w="831298">
                  <a:extLst>
                    <a:ext uri="{9D8B030D-6E8A-4147-A177-3AD203B41FA5}">
                      <a16:colId xmlns:a16="http://schemas.microsoft.com/office/drawing/2014/main" val="1495234968"/>
                    </a:ext>
                  </a:extLst>
                </a:gridCol>
                <a:gridCol w="990600">
                  <a:extLst>
                    <a:ext uri="{9D8B030D-6E8A-4147-A177-3AD203B41FA5}">
                      <a16:colId xmlns:a16="http://schemas.microsoft.com/office/drawing/2014/main" val="338743787"/>
                    </a:ext>
                  </a:extLst>
                </a:gridCol>
                <a:gridCol w="685800">
                  <a:extLst>
                    <a:ext uri="{9D8B030D-6E8A-4147-A177-3AD203B41FA5}">
                      <a16:colId xmlns:a16="http://schemas.microsoft.com/office/drawing/2014/main" val="433419900"/>
                    </a:ext>
                  </a:extLst>
                </a:gridCol>
                <a:gridCol w="1371600">
                  <a:extLst>
                    <a:ext uri="{9D8B030D-6E8A-4147-A177-3AD203B41FA5}">
                      <a16:colId xmlns:a16="http://schemas.microsoft.com/office/drawing/2014/main" val="1472209098"/>
                    </a:ext>
                  </a:extLst>
                </a:gridCol>
                <a:gridCol w="990600">
                  <a:extLst>
                    <a:ext uri="{9D8B030D-6E8A-4147-A177-3AD203B41FA5}">
                      <a16:colId xmlns:a16="http://schemas.microsoft.com/office/drawing/2014/main" val="1257924360"/>
                    </a:ext>
                  </a:extLst>
                </a:gridCol>
              </a:tblGrid>
              <a:tr h="370840">
                <a:tc>
                  <a:txBody>
                    <a:bodyPr/>
                    <a:lstStyle/>
                    <a:p>
                      <a:r>
                        <a:rPr lang="en-US" sz="1400" dirty="0"/>
                        <a:t>ST ID</a:t>
                      </a:r>
                      <a:endParaRPr lang="en-IE" sz="1400" dirty="0"/>
                    </a:p>
                  </a:txBody>
                  <a:tcPr/>
                </a:tc>
                <a:tc>
                  <a:txBody>
                    <a:bodyPr/>
                    <a:lstStyle/>
                    <a:p>
                      <a:r>
                        <a:rPr lang="en-US" sz="1400" dirty="0" err="1"/>
                        <a:t>Fname</a:t>
                      </a:r>
                      <a:endParaRPr lang="en-IE" sz="1400" dirty="0"/>
                    </a:p>
                  </a:txBody>
                  <a:tcPr/>
                </a:tc>
                <a:tc>
                  <a:txBody>
                    <a:bodyPr/>
                    <a:lstStyle/>
                    <a:p>
                      <a:r>
                        <a:rPr lang="en-US" sz="1400" dirty="0" err="1"/>
                        <a:t>Lname</a:t>
                      </a:r>
                      <a:endParaRPr lang="en-IE" sz="1400" dirty="0"/>
                    </a:p>
                  </a:txBody>
                  <a:tcPr/>
                </a:tc>
                <a:tc>
                  <a:txBody>
                    <a:bodyPr/>
                    <a:lstStyle/>
                    <a:p>
                      <a:r>
                        <a:rPr lang="en-US" sz="1400" dirty="0"/>
                        <a:t>age</a:t>
                      </a:r>
                      <a:endParaRPr lang="en-IE" sz="1400" dirty="0"/>
                    </a:p>
                  </a:txBody>
                  <a:tcPr/>
                </a:tc>
                <a:tc>
                  <a:txBody>
                    <a:bodyPr/>
                    <a:lstStyle/>
                    <a:p>
                      <a:r>
                        <a:rPr lang="en-US" sz="1400" dirty="0"/>
                        <a:t>Address</a:t>
                      </a:r>
                      <a:endParaRPr lang="en-IE" sz="1400" dirty="0"/>
                    </a:p>
                  </a:txBody>
                  <a:tcPr/>
                </a:tc>
                <a:tc>
                  <a:txBody>
                    <a:bodyPr/>
                    <a:lstStyle/>
                    <a:p>
                      <a:r>
                        <a:rPr lang="en-US" sz="1400" dirty="0"/>
                        <a:t>Tel</a:t>
                      </a:r>
                      <a:endParaRPr lang="en-IE" sz="1400" dirty="0"/>
                    </a:p>
                  </a:txBody>
                  <a:tcPr/>
                </a:tc>
                <a:extLst>
                  <a:ext uri="{0D108BD9-81ED-4DB2-BD59-A6C34878D82A}">
                    <a16:rowId xmlns:a16="http://schemas.microsoft.com/office/drawing/2014/main" val="4014524509"/>
                  </a:ext>
                </a:extLst>
              </a:tr>
              <a:tr h="370840">
                <a:tc>
                  <a:txBody>
                    <a:bodyPr/>
                    <a:lstStyle/>
                    <a:p>
                      <a:r>
                        <a:rPr lang="en-US" sz="1400" dirty="0"/>
                        <a:t>351</a:t>
                      </a:r>
                      <a:endParaRPr lang="en-IE" sz="1400" dirty="0"/>
                    </a:p>
                  </a:txBody>
                  <a:tcPr/>
                </a:tc>
                <a:tc>
                  <a:txBody>
                    <a:bodyPr/>
                    <a:lstStyle/>
                    <a:p>
                      <a:r>
                        <a:rPr lang="en-US" sz="1400" dirty="0"/>
                        <a:t>John</a:t>
                      </a:r>
                      <a:endParaRPr lang="en-IE" sz="1400" dirty="0"/>
                    </a:p>
                  </a:txBody>
                  <a:tcPr/>
                </a:tc>
                <a:tc>
                  <a:txBody>
                    <a:bodyPr/>
                    <a:lstStyle/>
                    <a:p>
                      <a:r>
                        <a:rPr lang="en-US" sz="1400" dirty="0" err="1"/>
                        <a:t>Fsdfsdf</a:t>
                      </a:r>
                      <a:endParaRPr lang="en-IE" sz="1400" dirty="0"/>
                    </a:p>
                  </a:txBody>
                  <a:tcPr/>
                </a:tc>
                <a:tc>
                  <a:txBody>
                    <a:bodyPr/>
                    <a:lstStyle/>
                    <a:p>
                      <a:r>
                        <a:rPr lang="en-US" sz="1400" dirty="0"/>
                        <a:t>32</a:t>
                      </a:r>
                      <a:endParaRPr lang="en-IE" sz="1400" dirty="0"/>
                    </a:p>
                  </a:txBody>
                  <a:tcPr/>
                </a:tc>
                <a:tc>
                  <a:txBody>
                    <a:bodyPr/>
                    <a:lstStyle/>
                    <a:p>
                      <a:r>
                        <a:rPr lang="en-US" sz="1400" dirty="0"/>
                        <a:t>S </a:t>
                      </a:r>
                      <a:r>
                        <a:rPr lang="en-US" sz="1400" dirty="0" err="1"/>
                        <a:t>fsfas</a:t>
                      </a:r>
                      <a:r>
                        <a:rPr lang="en-US" sz="1400" dirty="0"/>
                        <a:t> f ds fa</a:t>
                      </a:r>
                      <a:endParaRPr lang="en-IE" sz="1400" dirty="0"/>
                    </a:p>
                  </a:txBody>
                  <a:tcPr/>
                </a:tc>
                <a:tc>
                  <a:txBody>
                    <a:bodyPr/>
                    <a:lstStyle/>
                    <a:p>
                      <a:r>
                        <a:rPr lang="en-US" sz="1400" dirty="0"/>
                        <a:t>1234</a:t>
                      </a:r>
                      <a:endParaRPr lang="en-IE" sz="1400" dirty="0"/>
                    </a:p>
                  </a:txBody>
                  <a:tcPr/>
                </a:tc>
                <a:extLst>
                  <a:ext uri="{0D108BD9-81ED-4DB2-BD59-A6C34878D82A}">
                    <a16:rowId xmlns:a16="http://schemas.microsoft.com/office/drawing/2014/main" val="2706275548"/>
                  </a:ext>
                </a:extLst>
              </a:tr>
              <a:tr h="370840">
                <a:tc>
                  <a:txBody>
                    <a:bodyPr/>
                    <a:lstStyle/>
                    <a:p>
                      <a:r>
                        <a:rPr lang="en-US" sz="1400" dirty="0"/>
                        <a:t>2221</a:t>
                      </a:r>
                      <a:endParaRPr lang="en-IE" sz="1400" dirty="0"/>
                    </a:p>
                  </a:txBody>
                  <a:tcPr/>
                </a:tc>
                <a:tc>
                  <a:txBody>
                    <a:bodyPr/>
                    <a:lstStyle/>
                    <a:p>
                      <a:r>
                        <a:rPr lang="en-US" sz="1400" dirty="0"/>
                        <a:t>Mary</a:t>
                      </a:r>
                      <a:endParaRPr lang="en-IE" sz="1400" dirty="0"/>
                    </a:p>
                  </a:txBody>
                  <a:tcPr/>
                </a:tc>
                <a:tc>
                  <a:txBody>
                    <a:bodyPr/>
                    <a:lstStyle/>
                    <a:p>
                      <a:r>
                        <a:rPr lang="en-US" sz="1400" dirty="0" err="1"/>
                        <a:t>Dsgds</a:t>
                      </a:r>
                      <a:endParaRPr lang="en-IE" sz="1400" dirty="0"/>
                    </a:p>
                  </a:txBody>
                  <a:tcPr/>
                </a:tc>
                <a:tc>
                  <a:txBody>
                    <a:bodyPr/>
                    <a:lstStyle/>
                    <a:p>
                      <a:r>
                        <a:rPr lang="en-US" sz="1400" dirty="0"/>
                        <a:t>21</a:t>
                      </a:r>
                      <a:endParaRPr lang="en-IE" sz="1400" dirty="0"/>
                    </a:p>
                  </a:txBody>
                  <a:tcPr/>
                </a:tc>
                <a:tc>
                  <a:txBody>
                    <a:bodyPr/>
                    <a:lstStyle/>
                    <a:p>
                      <a:r>
                        <a:rPr lang="en-US" sz="1400" dirty="0"/>
                        <a:t>Saf </a:t>
                      </a:r>
                      <a:r>
                        <a:rPr lang="en-US" sz="1400" dirty="0" err="1"/>
                        <a:t>dsaf</a:t>
                      </a:r>
                      <a:r>
                        <a:rPr lang="en-US" sz="1400" dirty="0"/>
                        <a:t> ds f</a:t>
                      </a:r>
                      <a:endParaRPr lang="en-IE" sz="1400" dirty="0"/>
                    </a:p>
                  </a:txBody>
                  <a:tcPr/>
                </a:tc>
                <a:tc>
                  <a:txBody>
                    <a:bodyPr/>
                    <a:lstStyle/>
                    <a:p>
                      <a:r>
                        <a:rPr lang="en-US" sz="1400" dirty="0"/>
                        <a:t>35345</a:t>
                      </a:r>
                      <a:endParaRPr lang="en-IE" sz="1400" dirty="0"/>
                    </a:p>
                  </a:txBody>
                  <a:tcPr/>
                </a:tc>
                <a:extLst>
                  <a:ext uri="{0D108BD9-81ED-4DB2-BD59-A6C34878D82A}">
                    <a16:rowId xmlns:a16="http://schemas.microsoft.com/office/drawing/2014/main" val="4092172190"/>
                  </a:ext>
                </a:extLst>
              </a:tr>
              <a:tr h="370840">
                <a:tc>
                  <a:txBody>
                    <a:bodyPr/>
                    <a:lstStyle/>
                    <a:p>
                      <a:r>
                        <a:rPr lang="en-US" sz="1400" dirty="0"/>
                        <a:t>484</a:t>
                      </a:r>
                      <a:endParaRPr lang="en-IE" sz="1400" dirty="0"/>
                    </a:p>
                  </a:txBody>
                  <a:tcPr/>
                </a:tc>
                <a:tc>
                  <a:txBody>
                    <a:bodyPr/>
                    <a:lstStyle/>
                    <a:p>
                      <a:r>
                        <a:rPr lang="en-US" sz="1400" dirty="0"/>
                        <a:t>Bob</a:t>
                      </a:r>
                      <a:endParaRPr lang="en-IE" sz="1400" dirty="0"/>
                    </a:p>
                  </a:txBody>
                  <a:tcPr/>
                </a:tc>
                <a:tc>
                  <a:txBody>
                    <a:bodyPr/>
                    <a:lstStyle/>
                    <a:p>
                      <a:r>
                        <a:rPr lang="en-US" sz="1400" dirty="0" err="1"/>
                        <a:t>Dfgdfs</a:t>
                      </a:r>
                      <a:endParaRPr lang="en-IE" sz="1400" dirty="0"/>
                    </a:p>
                  </a:txBody>
                  <a:tcPr/>
                </a:tc>
                <a:tc>
                  <a:txBody>
                    <a:bodyPr/>
                    <a:lstStyle/>
                    <a:p>
                      <a:r>
                        <a:rPr lang="en-US" sz="1400" dirty="0"/>
                        <a:t>22</a:t>
                      </a:r>
                      <a:endParaRPr lang="en-IE" sz="1400" dirty="0"/>
                    </a:p>
                  </a:txBody>
                  <a:tcPr/>
                </a:tc>
                <a:tc>
                  <a:txBody>
                    <a:bodyPr/>
                    <a:lstStyle/>
                    <a:p>
                      <a:r>
                        <a:rPr lang="en-US" sz="1400" dirty="0"/>
                        <a:t> </a:t>
                      </a:r>
                      <a:r>
                        <a:rPr lang="en-US" sz="1400" dirty="0" err="1"/>
                        <a:t>fdsaf</a:t>
                      </a:r>
                      <a:r>
                        <a:rPr lang="en-US" sz="1400" dirty="0"/>
                        <a:t> </a:t>
                      </a:r>
                      <a:endParaRPr lang="en-IE" sz="1400" dirty="0"/>
                    </a:p>
                  </a:txBody>
                  <a:tcPr/>
                </a:tc>
                <a:tc>
                  <a:txBody>
                    <a:bodyPr/>
                    <a:lstStyle/>
                    <a:p>
                      <a:r>
                        <a:rPr lang="en-US" sz="1400" dirty="0"/>
                        <a:t>6445</a:t>
                      </a:r>
                      <a:endParaRPr lang="en-IE" sz="1400" dirty="0"/>
                    </a:p>
                  </a:txBody>
                  <a:tcPr/>
                </a:tc>
                <a:extLst>
                  <a:ext uri="{0D108BD9-81ED-4DB2-BD59-A6C34878D82A}">
                    <a16:rowId xmlns:a16="http://schemas.microsoft.com/office/drawing/2014/main" val="1026305522"/>
                  </a:ext>
                </a:extLst>
              </a:tr>
              <a:tr h="370840">
                <a:tc>
                  <a:txBody>
                    <a:bodyPr/>
                    <a:lstStyle/>
                    <a:p>
                      <a:r>
                        <a:rPr lang="en-US" sz="1400" dirty="0"/>
                        <a:t>101</a:t>
                      </a:r>
                      <a:endParaRPr lang="en-IE" sz="1400" dirty="0"/>
                    </a:p>
                  </a:txBody>
                  <a:tcPr/>
                </a:tc>
                <a:tc>
                  <a:txBody>
                    <a:bodyPr/>
                    <a:lstStyle/>
                    <a:p>
                      <a:r>
                        <a:rPr lang="en-US" sz="1400" dirty="0"/>
                        <a:t>Carol</a:t>
                      </a:r>
                      <a:endParaRPr lang="en-IE" sz="1400" dirty="0"/>
                    </a:p>
                  </a:txBody>
                  <a:tcPr/>
                </a:tc>
                <a:tc>
                  <a:txBody>
                    <a:bodyPr/>
                    <a:lstStyle/>
                    <a:p>
                      <a:r>
                        <a:rPr lang="en-US" sz="1400" dirty="0" err="1"/>
                        <a:t>Ggdgs</a:t>
                      </a:r>
                      <a:endParaRPr lang="en-IE" sz="1400" dirty="0"/>
                    </a:p>
                  </a:txBody>
                  <a:tcPr/>
                </a:tc>
                <a:tc>
                  <a:txBody>
                    <a:bodyPr/>
                    <a:lstStyle/>
                    <a:p>
                      <a:r>
                        <a:rPr lang="en-US" sz="1400" dirty="0"/>
                        <a:t>21</a:t>
                      </a:r>
                      <a:endParaRPr lang="en-IE" sz="1400" dirty="0"/>
                    </a:p>
                  </a:txBody>
                  <a:tcPr/>
                </a:tc>
                <a:tc>
                  <a:txBody>
                    <a:bodyPr/>
                    <a:lstStyle/>
                    <a:p>
                      <a:r>
                        <a:rPr lang="en-US" sz="1400" dirty="0"/>
                        <a:t> </a:t>
                      </a:r>
                      <a:r>
                        <a:rPr lang="en-US" sz="1400" dirty="0" err="1"/>
                        <a:t>gd</a:t>
                      </a:r>
                      <a:r>
                        <a:rPr lang="en-US" sz="1400" dirty="0"/>
                        <a:t> </a:t>
                      </a:r>
                      <a:r>
                        <a:rPr lang="en-US" sz="1400" dirty="0" err="1"/>
                        <a:t>gsd</a:t>
                      </a:r>
                      <a:endParaRPr lang="en-IE" sz="1400" dirty="0"/>
                    </a:p>
                  </a:txBody>
                  <a:tcPr/>
                </a:tc>
                <a:tc>
                  <a:txBody>
                    <a:bodyPr/>
                    <a:lstStyle/>
                    <a:p>
                      <a:r>
                        <a:rPr lang="en-US" sz="1400" dirty="0"/>
                        <a:t>2423</a:t>
                      </a:r>
                      <a:endParaRPr lang="en-IE" sz="1400" dirty="0"/>
                    </a:p>
                  </a:txBody>
                  <a:tcPr/>
                </a:tc>
                <a:extLst>
                  <a:ext uri="{0D108BD9-81ED-4DB2-BD59-A6C34878D82A}">
                    <a16:rowId xmlns:a16="http://schemas.microsoft.com/office/drawing/2014/main" val="4031447301"/>
                  </a:ext>
                </a:extLst>
              </a:tr>
              <a:tr h="370840">
                <a:tc>
                  <a:txBody>
                    <a:bodyPr/>
                    <a:lstStyle/>
                    <a:p>
                      <a:r>
                        <a:rPr lang="en-US" sz="1400" dirty="0"/>
                        <a:t>510</a:t>
                      </a:r>
                      <a:endParaRPr lang="en-IE" sz="1400" dirty="0"/>
                    </a:p>
                  </a:txBody>
                  <a:tcPr/>
                </a:tc>
                <a:tc>
                  <a:txBody>
                    <a:bodyPr/>
                    <a:lstStyle/>
                    <a:p>
                      <a:r>
                        <a:rPr lang="en-US" sz="1400" dirty="0"/>
                        <a:t>Sean</a:t>
                      </a:r>
                      <a:endParaRPr lang="en-IE" sz="1400" dirty="0"/>
                    </a:p>
                  </a:txBody>
                  <a:tcPr/>
                </a:tc>
                <a:tc>
                  <a:txBody>
                    <a:bodyPr/>
                    <a:lstStyle/>
                    <a:p>
                      <a:r>
                        <a:rPr lang="en-US" sz="1400" dirty="0" err="1"/>
                        <a:t>dsgds</a:t>
                      </a:r>
                      <a:endParaRPr lang="en-IE" sz="1400" dirty="0"/>
                    </a:p>
                  </a:txBody>
                  <a:tcPr/>
                </a:tc>
                <a:tc>
                  <a:txBody>
                    <a:bodyPr/>
                    <a:lstStyle/>
                    <a:p>
                      <a:r>
                        <a:rPr lang="en-US" sz="1400" dirty="0"/>
                        <a:t>19</a:t>
                      </a:r>
                      <a:endParaRPr lang="en-IE" sz="1400" dirty="0"/>
                    </a:p>
                  </a:txBody>
                  <a:tcPr/>
                </a:tc>
                <a:tc>
                  <a:txBody>
                    <a:bodyPr/>
                    <a:lstStyle/>
                    <a:p>
                      <a:r>
                        <a:rPr lang="en-US" sz="1400" dirty="0"/>
                        <a:t> </a:t>
                      </a:r>
                      <a:r>
                        <a:rPr lang="en-US" sz="1400" dirty="0" err="1"/>
                        <a:t>sd</a:t>
                      </a:r>
                      <a:r>
                        <a:rPr lang="en-US" sz="1400" dirty="0"/>
                        <a:t> </a:t>
                      </a:r>
                      <a:r>
                        <a:rPr lang="en-US" sz="1400" dirty="0" err="1"/>
                        <a:t>gds</a:t>
                      </a:r>
                      <a:endParaRPr lang="en-IE" sz="1400" dirty="0"/>
                    </a:p>
                  </a:txBody>
                  <a:tcPr/>
                </a:tc>
                <a:tc>
                  <a:txBody>
                    <a:bodyPr/>
                    <a:lstStyle/>
                    <a:p>
                      <a:r>
                        <a:rPr lang="en-US" sz="1400" dirty="0"/>
                        <a:t>654645</a:t>
                      </a:r>
                      <a:endParaRPr lang="en-IE" sz="1400" dirty="0"/>
                    </a:p>
                  </a:txBody>
                  <a:tcPr/>
                </a:tc>
                <a:extLst>
                  <a:ext uri="{0D108BD9-81ED-4DB2-BD59-A6C34878D82A}">
                    <a16:rowId xmlns:a16="http://schemas.microsoft.com/office/drawing/2014/main" val="46535696"/>
                  </a:ext>
                </a:extLst>
              </a:tr>
            </a:tbl>
          </a:graphicData>
        </a:graphic>
      </p:graphicFrame>
      <p:cxnSp>
        <p:nvCxnSpPr>
          <p:cNvPr id="7" name="Straight Arrow Connector 6">
            <a:extLst>
              <a:ext uri="{FF2B5EF4-FFF2-40B4-BE49-F238E27FC236}">
                <a16:creationId xmlns:a16="http://schemas.microsoft.com/office/drawing/2014/main" id="{97CC3AD9-61E3-62E7-CDE1-AFF460B45F92}"/>
              </a:ext>
            </a:extLst>
          </p:cNvPr>
          <p:cNvCxnSpPr>
            <a:cxnSpLocks/>
          </p:cNvCxnSpPr>
          <p:nvPr/>
        </p:nvCxnSpPr>
        <p:spPr>
          <a:xfrm flipV="1">
            <a:off x="2057400" y="3870960"/>
            <a:ext cx="1295399" cy="71551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2D2E0A1D-E3B8-0EFD-D8C8-294D00DDAB4D}"/>
              </a:ext>
            </a:extLst>
          </p:cNvPr>
          <p:cNvCxnSpPr>
            <a:cxnSpLocks/>
          </p:cNvCxnSpPr>
          <p:nvPr/>
        </p:nvCxnSpPr>
        <p:spPr>
          <a:xfrm>
            <a:off x="2057400" y="3947160"/>
            <a:ext cx="1219200" cy="990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725DA97-1266-17E2-CD68-0B75CA8AB6C1}"/>
              </a:ext>
            </a:extLst>
          </p:cNvPr>
          <p:cNvCxnSpPr>
            <a:cxnSpLocks/>
          </p:cNvCxnSpPr>
          <p:nvPr/>
        </p:nvCxnSpPr>
        <p:spPr>
          <a:xfrm>
            <a:off x="2133600" y="4283964"/>
            <a:ext cx="121919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DE78C962-4F1C-EFEB-F27E-9AFCB08FBE12}"/>
              </a:ext>
            </a:extLst>
          </p:cNvPr>
          <p:cNvCxnSpPr>
            <a:cxnSpLocks/>
          </p:cNvCxnSpPr>
          <p:nvPr/>
        </p:nvCxnSpPr>
        <p:spPr>
          <a:xfrm flipV="1">
            <a:off x="2057400" y="4596384"/>
            <a:ext cx="1295399" cy="35128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4B463697-D5F4-49C8-F273-5DABB2F8CB83}"/>
              </a:ext>
            </a:extLst>
          </p:cNvPr>
          <p:cNvCxnSpPr>
            <a:cxnSpLocks/>
          </p:cNvCxnSpPr>
          <p:nvPr/>
        </p:nvCxnSpPr>
        <p:spPr>
          <a:xfrm>
            <a:off x="2133600" y="5234191"/>
            <a:ext cx="1219199" cy="11657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2407D5C5-08E1-B8E9-8694-43302B23A0D4}"/>
              </a:ext>
            </a:extLst>
          </p:cNvPr>
          <p:cNvSpPr txBox="1"/>
          <p:nvPr/>
        </p:nvSpPr>
        <p:spPr>
          <a:xfrm>
            <a:off x="5821457" y="2968228"/>
            <a:ext cx="1615889" cy="369332"/>
          </a:xfrm>
          <a:prstGeom prst="rect">
            <a:avLst/>
          </a:prstGeom>
          <a:noFill/>
        </p:spPr>
        <p:txBody>
          <a:bodyPr wrap="square" rtlCol="0">
            <a:spAutoFit/>
          </a:bodyPr>
          <a:lstStyle/>
          <a:p>
            <a:r>
              <a:rPr lang="en-US" dirty="0"/>
              <a:t>Data</a:t>
            </a:r>
            <a:endParaRPr lang="en-IE" dirty="0"/>
          </a:p>
        </p:txBody>
      </p:sp>
      <p:sp>
        <p:nvSpPr>
          <p:cNvPr id="24" name="TextBox 23">
            <a:extLst>
              <a:ext uri="{FF2B5EF4-FFF2-40B4-BE49-F238E27FC236}">
                <a16:creationId xmlns:a16="http://schemas.microsoft.com/office/drawing/2014/main" id="{CE37BE50-04A2-1FE0-0A8E-EACBF8D703F9}"/>
              </a:ext>
            </a:extLst>
          </p:cNvPr>
          <p:cNvSpPr txBox="1"/>
          <p:nvPr/>
        </p:nvSpPr>
        <p:spPr>
          <a:xfrm>
            <a:off x="898711" y="3108960"/>
            <a:ext cx="1615889" cy="369332"/>
          </a:xfrm>
          <a:prstGeom prst="rect">
            <a:avLst/>
          </a:prstGeom>
          <a:noFill/>
        </p:spPr>
        <p:txBody>
          <a:bodyPr wrap="square" rtlCol="0">
            <a:spAutoFit/>
          </a:bodyPr>
          <a:lstStyle/>
          <a:p>
            <a:r>
              <a:rPr lang="en-US" dirty="0"/>
              <a:t>Index</a:t>
            </a:r>
            <a:endParaRPr lang="en-IE" dirty="0"/>
          </a:p>
        </p:txBody>
      </p:sp>
    </p:spTree>
    <p:extLst>
      <p:ext uri="{BB962C8B-B14F-4D97-AF65-F5344CB8AC3E}">
        <p14:creationId xmlns:p14="http://schemas.microsoft.com/office/powerpoint/2010/main" val="43603054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2E904-AF86-7AC6-934C-1EEF573E4F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B953953-82B0-EAD2-AAA1-02A8C69F74E4}"/>
              </a:ext>
            </a:extLst>
          </p:cNvPr>
          <p:cNvSpPr>
            <a:spLocks noGrp="1"/>
          </p:cNvSpPr>
          <p:nvPr>
            <p:ph type="body" sz="quarter" idx="12"/>
          </p:nvPr>
        </p:nvSpPr>
        <p:spPr/>
        <p:txBody>
          <a:bodyPr>
            <a:normAutofit fontScale="92500" lnSpcReduction="10000"/>
          </a:bodyPr>
          <a:lstStyle/>
          <a:p>
            <a:r>
              <a:rPr lang="en-IE" dirty="0"/>
              <a:t>Complexity of searching by Index</a:t>
            </a:r>
          </a:p>
        </p:txBody>
      </p:sp>
      <p:sp>
        <p:nvSpPr>
          <p:cNvPr id="3" name="Content Placeholder 2">
            <a:extLst>
              <a:ext uri="{FF2B5EF4-FFF2-40B4-BE49-F238E27FC236}">
                <a16:creationId xmlns:a16="http://schemas.microsoft.com/office/drawing/2014/main" id="{A2A6EC81-CAF0-5848-3EFE-9BBEE09DEBE1}"/>
              </a:ext>
            </a:extLst>
          </p:cNvPr>
          <p:cNvSpPr>
            <a:spLocks noGrp="1"/>
          </p:cNvSpPr>
          <p:nvPr>
            <p:ph sz="quarter" idx="11"/>
          </p:nvPr>
        </p:nvSpPr>
        <p:spPr>
          <a:xfrm>
            <a:off x="755650" y="1844675"/>
            <a:ext cx="7321550" cy="3794125"/>
          </a:xfrm>
        </p:spPr>
        <p:txBody>
          <a:bodyPr>
            <a:normAutofit lnSpcReduction="10000"/>
          </a:bodyPr>
          <a:lstStyle/>
          <a:p>
            <a:pPr>
              <a:buFont typeface="Wingdings" pitchFamily="2" charset="2"/>
              <a:buChar char="§"/>
            </a:pPr>
            <a:r>
              <a:rPr lang="en-IE" sz="2800" i="1" dirty="0"/>
              <a:t>If the index is sorted, we can perform a binary search</a:t>
            </a:r>
          </a:p>
          <a:p>
            <a:pPr marL="0" indent="0" algn="ctr">
              <a:buNone/>
            </a:pPr>
            <a:r>
              <a:rPr lang="en-IE" sz="2800" i="1" dirty="0"/>
              <a:t>O(log n)</a:t>
            </a:r>
          </a:p>
          <a:p>
            <a:pPr>
              <a:buFont typeface="Wingdings" pitchFamily="2" charset="2"/>
              <a:buChar char="§"/>
            </a:pPr>
            <a:r>
              <a:rPr lang="en-IE" sz="2800" i="1" dirty="0"/>
              <a:t>Once the index is found, we can access the data file directly</a:t>
            </a:r>
          </a:p>
          <a:p>
            <a:pPr marL="0" indent="0" algn="ctr">
              <a:buNone/>
            </a:pPr>
            <a:r>
              <a:rPr lang="en-IE" sz="2800" i="1" dirty="0"/>
              <a:t>O(1)</a:t>
            </a:r>
          </a:p>
          <a:p>
            <a:pPr>
              <a:buFont typeface="Wingdings" pitchFamily="2" charset="2"/>
              <a:buChar char="§"/>
            </a:pPr>
            <a:r>
              <a:rPr lang="en-IE" sz="2800" i="1" dirty="0"/>
              <a:t>In total, complexity is O(log n)</a:t>
            </a:r>
          </a:p>
          <a:p>
            <a:pPr>
              <a:buFont typeface="Wingdings" pitchFamily="2" charset="2"/>
              <a:buChar char="§"/>
            </a:pPr>
            <a:r>
              <a:rPr lang="en-IE" sz="2800" i="1" dirty="0"/>
              <a:t>Without an index, linear search O(n)</a:t>
            </a:r>
          </a:p>
          <a:p>
            <a:pPr marL="0" indent="0">
              <a:buNone/>
            </a:pPr>
            <a:endParaRPr lang="en-IE" sz="2800" i="1" dirty="0"/>
          </a:p>
          <a:p>
            <a:pPr>
              <a:buFont typeface="Wingdings" pitchFamily="2" charset="2"/>
              <a:buChar char="§"/>
            </a:pPr>
            <a:endParaRPr lang="en-IE" sz="2800" i="1" dirty="0"/>
          </a:p>
          <a:p>
            <a:pPr>
              <a:buFont typeface="Wingdings" pitchFamily="2" charset="2"/>
              <a:buChar char="§"/>
            </a:pPr>
            <a:endParaRPr lang="en-IE" sz="2800" i="1" dirty="0"/>
          </a:p>
        </p:txBody>
      </p:sp>
    </p:spTree>
    <p:extLst>
      <p:ext uri="{BB962C8B-B14F-4D97-AF65-F5344CB8AC3E}">
        <p14:creationId xmlns:p14="http://schemas.microsoft.com/office/powerpoint/2010/main" val="123742702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5CF0C-44EC-983F-083D-C6D121309DE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C41D8E6-ACF0-7194-B1D9-04CB9639B9C1}"/>
              </a:ext>
            </a:extLst>
          </p:cNvPr>
          <p:cNvSpPr>
            <a:spLocks noGrp="1"/>
          </p:cNvSpPr>
          <p:nvPr>
            <p:ph type="body" sz="quarter" idx="12"/>
          </p:nvPr>
        </p:nvSpPr>
        <p:spPr/>
        <p:txBody>
          <a:bodyPr>
            <a:normAutofit/>
          </a:bodyPr>
          <a:lstStyle/>
          <a:p>
            <a:r>
              <a:rPr lang="en-IE" dirty="0"/>
              <a:t>Hash Table</a:t>
            </a:r>
          </a:p>
        </p:txBody>
      </p:sp>
      <p:sp>
        <p:nvSpPr>
          <p:cNvPr id="3" name="Content Placeholder 2">
            <a:extLst>
              <a:ext uri="{FF2B5EF4-FFF2-40B4-BE49-F238E27FC236}">
                <a16:creationId xmlns:a16="http://schemas.microsoft.com/office/drawing/2014/main" id="{C43517CE-66F6-0F28-E212-8EB2DF6F26B0}"/>
              </a:ext>
            </a:extLst>
          </p:cNvPr>
          <p:cNvSpPr>
            <a:spLocks noGrp="1"/>
          </p:cNvSpPr>
          <p:nvPr>
            <p:ph sz="quarter" idx="11"/>
          </p:nvPr>
        </p:nvSpPr>
        <p:spPr>
          <a:xfrm>
            <a:off x="755650" y="1844675"/>
            <a:ext cx="7321550" cy="3794125"/>
          </a:xfrm>
        </p:spPr>
        <p:txBody>
          <a:bodyPr>
            <a:normAutofit/>
          </a:bodyPr>
          <a:lstStyle/>
          <a:p>
            <a:pPr>
              <a:buFont typeface="Wingdings" pitchFamily="2" charset="2"/>
              <a:buChar char="§"/>
            </a:pPr>
            <a:r>
              <a:rPr lang="en-US" sz="1800" dirty="0"/>
              <a:t>A hash table is a data structure that implements an associative array, also called a dictionary or simply map; </a:t>
            </a:r>
          </a:p>
          <a:p>
            <a:pPr>
              <a:buFont typeface="Wingdings" pitchFamily="2" charset="2"/>
              <a:buChar char="§"/>
            </a:pPr>
            <a:r>
              <a:rPr lang="en-US" sz="1800" dirty="0"/>
              <a:t>An associative array is an index, it is an abstract data type that maps keys to values. </a:t>
            </a:r>
          </a:p>
          <a:p>
            <a:pPr>
              <a:buFont typeface="Wingdings" pitchFamily="2" charset="2"/>
              <a:buChar char="§"/>
            </a:pPr>
            <a:r>
              <a:rPr lang="en-US" sz="1800" dirty="0"/>
              <a:t>A hash table uses a hash function to compute an index, also called a hash code, into an array of buckets or slots, from which the desired value can be found.</a:t>
            </a:r>
          </a:p>
          <a:p>
            <a:pPr>
              <a:buFont typeface="Wingdings" pitchFamily="2" charset="2"/>
              <a:buChar char="§"/>
            </a:pPr>
            <a:r>
              <a:rPr lang="en-US" sz="1800" dirty="0"/>
              <a:t>On average, it can reduce the time to access a data item to O(1), while the worst case is O(n)</a:t>
            </a:r>
          </a:p>
          <a:p>
            <a:pPr>
              <a:buFont typeface="Wingdings" pitchFamily="2" charset="2"/>
              <a:buChar char="§"/>
            </a:pPr>
            <a:r>
              <a:rPr lang="en-US" sz="1800" dirty="0"/>
              <a:t>The more data are inserted, the higher is the chance that the hash table index will degenerate towards a linear </a:t>
            </a:r>
            <a:r>
              <a:rPr lang="en-US" sz="1800" dirty="0" err="1"/>
              <a:t>sarch</a:t>
            </a:r>
            <a:r>
              <a:rPr lang="en-US" sz="1800" dirty="0"/>
              <a:t> (worst case)</a:t>
            </a:r>
          </a:p>
        </p:txBody>
      </p:sp>
    </p:spTree>
    <p:extLst>
      <p:ext uri="{BB962C8B-B14F-4D97-AF65-F5344CB8AC3E}">
        <p14:creationId xmlns:p14="http://schemas.microsoft.com/office/powerpoint/2010/main" val="334575875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B4E4A01-DBB5-4934-CF17-CBB33D1097A9}"/>
              </a:ext>
            </a:extLst>
          </p:cNvPr>
          <p:cNvSpPr>
            <a:spLocks noGrp="1"/>
          </p:cNvSpPr>
          <p:nvPr>
            <p:ph type="body" sz="quarter" idx="12"/>
          </p:nvPr>
        </p:nvSpPr>
        <p:spPr>
          <a:xfrm>
            <a:off x="746311" y="381000"/>
            <a:ext cx="7560890" cy="815975"/>
          </a:xfrm>
        </p:spPr>
        <p:txBody>
          <a:bodyPr>
            <a:normAutofit/>
          </a:bodyPr>
          <a:lstStyle/>
          <a:p>
            <a:r>
              <a:rPr lang="en-US" dirty="0"/>
              <a:t>Hash Function</a:t>
            </a:r>
            <a:endParaRPr lang="en-IE" dirty="0"/>
          </a:p>
        </p:txBody>
      </p:sp>
      <p:sp>
        <p:nvSpPr>
          <p:cNvPr id="3" name="Content Placeholder 2">
            <a:extLst>
              <a:ext uri="{FF2B5EF4-FFF2-40B4-BE49-F238E27FC236}">
                <a16:creationId xmlns:a16="http://schemas.microsoft.com/office/drawing/2014/main" id="{FB3835ED-C042-33F3-3683-683D0C54A0D0}"/>
              </a:ext>
            </a:extLst>
          </p:cNvPr>
          <p:cNvSpPr>
            <a:spLocks noGrp="1"/>
          </p:cNvSpPr>
          <p:nvPr>
            <p:ph sz="quarter" idx="11"/>
          </p:nvPr>
        </p:nvSpPr>
        <p:spPr>
          <a:xfrm>
            <a:off x="755650" y="1196975"/>
            <a:ext cx="7561263" cy="1622425"/>
          </a:xfrm>
        </p:spPr>
        <p:txBody>
          <a:bodyPr>
            <a:normAutofit fontScale="92500" lnSpcReduction="20000"/>
          </a:bodyPr>
          <a:lstStyle/>
          <a:p>
            <a:r>
              <a:rPr lang="en-US" sz="2000" dirty="0"/>
              <a:t>Hash table are based on the notion of Hash Function H(x)</a:t>
            </a:r>
          </a:p>
          <a:p>
            <a:r>
              <a:rPr lang="en-US" sz="2000" dirty="0"/>
              <a:t>H(x) transforms (map) the input value into a pre-defined range of values that are used to build an index to access the data</a:t>
            </a:r>
          </a:p>
          <a:p>
            <a:r>
              <a:rPr lang="en-US" sz="2000" dirty="0"/>
              <a:t>Example:</a:t>
            </a:r>
          </a:p>
          <a:p>
            <a:pPr marL="0" indent="0" algn="ctr">
              <a:buNone/>
            </a:pPr>
            <a:r>
              <a:rPr lang="en-US" sz="2000" dirty="0"/>
              <a:t>H(X) = “last digit of a number” [x mod 10]</a:t>
            </a:r>
            <a:endParaRPr lang="en-IE" sz="2000" dirty="0"/>
          </a:p>
        </p:txBody>
      </p:sp>
      <p:graphicFrame>
        <p:nvGraphicFramePr>
          <p:cNvPr id="4" name="Table 3">
            <a:extLst>
              <a:ext uri="{FF2B5EF4-FFF2-40B4-BE49-F238E27FC236}">
                <a16:creationId xmlns:a16="http://schemas.microsoft.com/office/drawing/2014/main" id="{AE9F783B-19A7-455E-89FA-774CD0796B09}"/>
              </a:ext>
            </a:extLst>
          </p:cNvPr>
          <p:cNvGraphicFramePr>
            <a:graphicFrameLocks noGrp="1"/>
          </p:cNvGraphicFramePr>
          <p:nvPr>
            <p:extLst>
              <p:ext uri="{D42A27DB-BD31-4B8C-83A1-F6EECF244321}">
                <p14:modId xmlns:p14="http://schemas.microsoft.com/office/powerpoint/2010/main" val="2882336898"/>
              </p:ext>
            </p:extLst>
          </p:nvPr>
        </p:nvGraphicFramePr>
        <p:xfrm>
          <a:off x="4495800" y="3337560"/>
          <a:ext cx="4495798" cy="2225040"/>
        </p:xfrm>
        <a:graphic>
          <a:graphicData uri="http://schemas.openxmlformats.org/drawingml/2006/table">
            <a:tbl>
              <a:tblPr firstRow="1" bandRow="1">
                <a:tableStyleId>{5940675A-B579-460E-94D1-54222C63F5DA}</a:tableStyleId>
              </a:tblPr>
              <a:tblGrid>
                <a:gridCol w="613044">
                  <a:extLst>
                    <a:ext uri="{9D8B030D-6E8A-4147-A177-3AD203B41FA5}">
                      <a16:colId xmlns:a16="http://schemas.microsoft.com/office/drawing/2014/main" val="489129571"/>
                    </a:ext>
                  </a:extLst>
                </a:gridCol>
                <a:gridCol w="758556">
                  <a:extLst>
                    <a:ext uri="{9D8B030D-6E8A-4147-A177-3AD203B41FA5}">
                      <a16:colId xmlns:a16="http://schemas.microsoft.com/office/drawing/2014/main" val="1495234968"/>
                    </a:ext>
                  </a:extLst>
                </a:gridCol>
                <a:gridCol w="838200">
                  <a:extLst>
                    <a:ext uri="{9D8B030D-6E8A-4147-A177-3AD203B41FA5}">
                      <a16:colId xmlns:a16="http://schemas.microsoft.com/office/drawing/2014/main" val="338743787"/>
                    </a:ext>
                  </a:extLst>
                </a:gridCol>
                <a:gridCol w="533400">
                  <a:extLst>
                    <a:ext uri="{9D8B030D-6E8A-4147-A177-3AD203B41FA5}">
                      <a16:colId xmlns:a16="http://schemas.microsoft.com/office/drawing/2014/main" val="433419900"/>
                    </a:ext>
                  </a:extLst>
                </a:gridCol>
                <a:gridCol w="1066800">
                  <a:extLst>
                    <a:ext uri="{9D8B030D-6E8A-4147-A177-3AD203B41FA5}">
                      <a16:colId xmlns:a16="http://schemas.microsoft.com/office/drawing/2014/main" val="1472209098"/>
                    </a:ext>
                  </a:extLst>
                </a:gridCol>
                <a:gridCol w="685798">
                  <a:extLst>
                    <a:ext uri="{9D8B030D-6E8A-4147-A177-3AD203B41FA5}">
                      <a16:colId xmlns:a16="http://schemas.microsoft.com/office/drawing/2014/main" val="1257924360"/>
                    </a:ext>
                  </a:extLst>
                </a:gridCol>
              </a:tblGrid>
              <a:tr h="370840">
                <a:tc>
                  <a:txBody>
                    <a:bodyPr/>
                    <a:lstStyle/>
                    <a:p>
                      <a:r>
                        <a:rPr lang="en-US" sz="1400" dirty="0"/>
                        <a:t>ST ID</a:t>
                      </a:r>
                      <a:endParaRPr lang="en-IE" sz="1400" dirty="0"/>
                    </a:p>
                  </a:txBody>
                  <a:tcPr/>
                </a:tc>
                <a:tc>
                  <a:txBody>
                    <a:bodyPr/>
                    <a:lstStyle/>
                    <a:p>
                      <a:r>
                        <a:rPr lang="en-US" sz="1400" dirty="0" err="1"/>
                        <a:t>Fname</a:t>
                      </a:r>
                      <a:endParaRPr lang="en-IE" sz="1400" dirty="0"/>
                    </a:p>
                  </a:txBody>
                  <a:tcPr/>
                </a:tc>
                <a:tc>
                  <a:txBody>
                    <a:bodyPr/>
                    <a:lstStyle/>
                    <a:p>
                      <a:r>
                        <a:rPr lang="en-US" sz="1400" dirty="0" err="1"/>
                        <a:t>Lname</a:t>
                      </a:r>
                      <a:endParaRPr lang="en-IE" sz="1400" dirty="0"/>
                    </a:p>
                  </a:txBody>
                  <a:tcPr/>
                </a:tc>
                <a:tc>
                  <a:txBody>
                    <a:bodyPr/>
                    <a:lstStyle/>
                    <a:p>
                      <a:r>
                        <a:rPr lang="en-US" sz="1400" dirty="0"/>
                        <a:t>age</a:t>
                      </a:r>
                      <a:endParaRPr lang="en-IE" sz="1400" dirty="0"/>
                    </a:p>
                  </a:txBody>
                  <a:tcPr/>
                </a:tc>
                <a:tc>
                  <a:txBody>
                    <a:bodyPr/>
                    <a:lstStyle/>
                    <a:p>
                      <a:r>
                        <a:rPr lang="en-US" sz="1400" dirty="0"/>
                        <a:t>Address</a:t>
                      </a:r>
                      <a:endParaRPr lang="en-IE" sz="1400" dirty="0"/>
                    </a:p>
                  </a:txBody>
                  <a:tcPr/>
                </a:tc>
                <a:tc>
                  <a:txBody>
                    <a:bodyPr/>
                    <a:lstStyle/>
                    <a:p>
                      <a:r>
                        <a:rPr lang="en-US" sz="1400" dirty="0"/>
                        <a:t>Tel</a:t>
                      </a:r>
                      <a:endParaRPr lang="en-IE" sz="1400" dirty="0"/>
                    </a:p>
                  </a:txBody>
                  <a:tcPr/>
                </a:tc>
                <a:extLst>
                  <a:ext uri="{0D108BD9-81ED-4DB2-BD59-A6C34878D82A}">
                    <a16:rowId xmlns:a16="http://schemas.microsoft.com/office/drawing/2014/main" val="4014524509"/>
                  </a:ext>
                </a:extLst>
              </a:tr>
              <a:tr h="370840">
                <a:tc>
                  <a:txBody>
                    <a:bodyPr/>
                    <a:lstStyle/>
                    <a:p>
                      <a:r>
                        <a:rPr lang="en-US" sz="1400" dirty="0"/>
                        <a:t>120</a:t>
                      </a:r>
                      <a:endParaRPr lang="en-IE" sz="1400" dirty="0"/>
                    </a:p>
                  </a:txBody>
                  <a:tcPr/>
                </a:tc>
                <a:tc>
                  <a:txBody>
                    <a:bodyPr/>
                    <a:lstStyle/>
                    <a:p>
                      <a:r>
                        <a:rPr lang="en-US" sz="1400" dirty="0"/>
                        <a:t>John</a:t>
                      </a:r>
                      <a:endParaRPr lang="en-IE" sz="1400" dirty="0"/>
                    </a:p>
                  </a:txBody>
                  <a:tcPr/>
                </a:tc>
                <a:tc>
                  <a:txBody>
                    <a:bodyPr/>
                    <a:lstStyle/>
                    <a:p>
                      <a:r>
                        <a:rPr lang="en-US" sz="1400" dirty="0" err="1"/>
                        <a:t>Fsdfsdf</a:t>
                      </a:r>
                      <a:endParaRPr lang="en-IE" sz="1400" dirty="0"/>
                    </a:p>
                  </a:txBody>
                  <a:tcPr/>
                </a:tc>
                <a:tc>
                  <a:txBody>
                    <a:bodyPr/>
                    <a:lstStyle/>
                    <a:p>
                      <a:r>
                        <a:rPr lang="en-US" sz="1400" dirty="0"/>
                        <a:t>32</a:t>
                      </a:r>
                      <a:endParaRPr lang="en-IE" sz="1400" dirty="0"/>
                    </a:p>
                  </a:txBody>
                  <a:tcPr/>
                </a:tc>
                <a:tc>
                  <a:txBody>
                    <a:bodyPr/>
                    <a:lstStyle/>
                    <a:p>
                      <a:r>
                        <a:rPr lang="en-US" sz="1400" dirty="0"/>
                        <a:t>S </a:t>
                      </a:r>
                      <a:r>
                        <a:rPr lang="en-US" sz="1400" dirty="0" err="1"/>
                        <a:t>fsfas</a:t>
                      </a:r>
                      <a:r>
                        <a:rPr lang="en-US" sz="1400" dirty="0"/>
                        <a:t> f ds </a:t>
                      </a:r>
                      <a:endParaRPr lang="en-IE" sz="1400" dirty="0"/>
                    </a:p>
                  </a:txBody>
                  <a:tcPr/>
                </a:tc>
                <a:tc>
                  <a:txBody>
                    <a:bodyPr/>
                    <a:lstStyle/>
                    <a:p>
                      <a:r>
                        <a:rPr lang="en-US" sz="1400" dirty="0"/>
                        <a:t>1234</a:t>
                      </a:r>
                      <a:endParaRPr lang="en-IE" sz="1400" dirty="0"/>
                    </a:p>
                  </a:txBody>
                  <a:tcPr/>
                </a:tc>
                <a:extLst>
                  <a:ext uri="{0D108BD9-81ED-4DB2-BD59-A6C34878D82A}">
                    <a16:rowId xmlns:a16="http://schemas.microsoft.com/office/drawing/2014/main" val="2706275548"/>
                  </a:ext>
                </a:extLst>
              </a:tr>
              <a:tr h="370840">
                <a:tc>
                  <a:txBody>
                    <a:bodyPr/>
                    <a:lstStyle/>
                    <a:p>
                      <a:r>
                        <a:rPr lang="en-US" sz="1400" dirty="0"/>
                        <a:t>351</a:t>
                      </a:r>
                      <a:endParaRPr lang="en-IE" sz="1400" dirty="0"/>
                    </a:p>
                  </a:txBody>
                  <a:tcPr/>
                </a:tc>
                <a:tc>
                  <a:txBody>
                    <a:bodyPr/>
                    <a:lstStyle/>
                    <a:p>
                      <a:r>
                        <a:rPr lang="en-US" sz="1400" dirty="0"/>
                        <a:t>Mary</a:t>
                      </a:r>
                      <a:endParaRPr lang="en-IE" sz="1400" dirty="0"/>
                    </a:p>
                  </a:txBody>
                  <a:tcPr/>
                </a:tc>
                <a:tc>
                  <a:txBody>
                    <a:bodyPr/>
                    <a:lstStyle/>
                    <a:p>
                      <a:r>
                        <a:rPr lang="en-US" sz="1400" dirty="0" err="1"/>
                        <a:t>Dsgds</a:t>
                      </a:r>
                      <a:endParaRPr lang="en-IE" sz="1400" dirty="0"/>
                    </a:p>
                  </a:txBody>
                  <a:tcPr/>
                </a:tc>
                <a:tc>
                  <a:txBody>
                    <a:bodyPr/>
                    <a:lstStyle/>
                    <a:p>
                      <a:r>
                        <a:rPr lang="en-US" sz="1400" dirty="0"/>
                        <a:t>21</a:t>
                      </a:r>
                      <a:endParaRPr lang="en-IE" sz="1400" dirty="0"/>
                    </a:p>
                  </a:txBody>
                  <a:tcPr/>
                </a:tc>
                <a:tc>
                  <a:txBody>
                    <a:bodyPr/>
                    <a:lstStyle/>
                    <a:p>
                      <a:r>
                        <a:rPr lang="en-US" sz="1400" dirty="0"/>
                        <a:t>Saf </a:t>
                      </a:r>
                      <a:r>
                        <a:rPr lang="en-US" sz="1400" dirty="0" err="1"/>
                        <a:t>dsaf</a:t>
                      </a:r>
                      <a:r>
                        <a:rPr lang="en-US" sz="1400" dirty="0"/>
                        <a:t> ds </a:t>
                      </a:r>
                      <a:endParaRPr lang="en-IE" sz="1400" dirty="0"/>
                    </a:p>
                  </a:txBody>
                  <a:tcPr/>
                </a:tc>
                <a:tc>
                  <a:txBody>
                    <a:bodyPr/>
                    <a:lstStyle/>
                    <a:p>
                      <a:r>
                        <a:rPr lang="en-US" sz="1400" dirty="0"/>
                        <a:t>35345</a:t>
                      </a:r>
                      <a:endParaRPr lang="en-IE" sz="1400" dirty="0"/>
                    </a:p>
                  </a:txBody>
                  <a:tcPr/>
                </a:tc>
                <a:extLst>
                  <a:ext uri="{0D108BD9-81ED-4DB2-BD59-A6C34878D82A}">
                    <a16:rowId xmlns:a16="http://schemas.microsoft.com/office/drawing/2014/main" val="4092172190"/>
                  </a:ext>
                </a:extLst>
              </a:tr>
              <a:tr h="370840">
                <a:tc>
                  <a:txBody>
                    <a:bodyPr/>
                    <a:lstStyle/>
                    <a:p>
                      <a:r>
                        <a:rPr lang="en-US" sz="1400" dirty="0"/>
                        <a:t>482</a:t>
                      </a:r>
                      <a:endParaRPr lang="en-IE" sz="1400" dirty="0"/>
                    </a:p>
                  </a:txBody>
                  <a:tcPr/>
                </a:tc>
                <a:tc>
                  <a:txBody>
                    <a:bodyPr/>
                    <a:lstStyle/>
                    <a:p>
                      <a:r>
                        <a:rPr lang="en-US" sz="1400" dirty="0"/>
                        <a:t>Bob</a:t>
                      </a:r>
                      <a:endParaRPr lang="en-IE" sz="1400" dirty="0"/>
                    </a:p>
                  </a:txBody>
                  <a:tcPr/>
                </a:tc>
                <a:tc>
                  <a:txBody>
                    <a:bodyPr/>
                    <a:lstStyle/>
                    <a:p>
                      <a:r>
                        <a:rPr lang="en-US" sz="1400" dirty="0" err="1"/>
                        <a:t>Dfgdfs</a:t>
                      </a:r>
                      <a:endParaRPr lang="en-IE" sz="1400" dirty="0"/>
                    </a:p>
                  </a:txBody>
                  <a:tcPr/>
                </a:tc>
                <a:tc>
                  <a:txBody>
                    <a:bodyPr/>
                    <a:lstStyle/>
                    <a:p>
                      <a:r>
                        <a:rPr lang="en-US" sz="1400" dirty="0"/>
                        <a:t>22</a:t>
                      </a:r>
                      <a:endParaRPr lang="en-IE" sz="1400" dirty="0"/>
                    </a:p>
                  </a:txBody>
                  <a:tcPr/>
                </a:tc>
                <a:tc>
                  <a:txBody>
                    <a:bodyPr/>
                    <a:lstStyle/>
                    <a:p>
                      <a:r>
                        <a:rPr lang="en-US" sz="1400" dirty="0"/>
                        <a:t> </a:t>
                      </a:r>
                      <a:r>
                        <a:rPr lang="en-US" sz="1400" dirty="0" err="1"/>
                        <a:t>fdsaf</a:t>
                      </a:r>
                      <a:r>
                        <a:rPr lang="en-US" sz="1400" dirty="0"/>
                        <a:t> </a:t>
                      </a:r>
                      <a:endParaRPr lang="en-IE" sz="1400" dirty="0"/>
                    </a:p>
                  </a:txBody>
                  <a:tcPr/>
                </a:tc>
                <a:tc>
                  <a:txBody>
                    <a:bodyPr/>
                    <a:lstStyle/>
                    <a:p>
                      <a:r>
                        <a:rPr lang="en-US" sz="1400" dirty="0"/>
                        <a:t>6445</a:t>
                      </a:r>
                      <a:endParaRPr lang="en-IE" sz="1400" dirty="0"/>
                    </a:p>
                  </a:txBody>
                  <a:tcPr/>
                </a:tc>
                <a:extLst>
                  <a:ext uri="{0D108BD9-81ED-4DB2-BD59-A6C34878D82A}">
                    <a16:rowId xmlns:a16="http://schemas.microsoft.com/office/drawing/2014/main" val="1026305522"/>
                  </a:ext>
                </a:extLst>
              </a:tr>
              <a:tr h="370840">
                <a:tc>
                  <a:txBody>
                    <a:bodyPr/>
                    <a:lstStyle/>
                    <a:p>
                      <a:r>
                        <a:rPr lang="en-US" sz="1400" dirty="0"/>
                        <a:t>103</a:t>
                      </a:r>
                      <a:endParaRPr lang="en-IE" sz="1400" dirty="0"/>
                    </a:p>
                  </a:txBody>
                  <a:tcPr/>
                </a:tc>
                <a:tc>
                  <a:txBody>
                    <a:bodyPr/>
                    <a:lstStyle/>
                    <a:p>
                      <a:r>
                        <a:rPr lang="en-US" sz="1400" dirty="0"/>
                        <a:t>Carol</a:t>
                      </a:r>
                      <a:endParaRPr lang="en-IE" sz="1400" dirty="0"/>
                    </a:p>
                  </a:txBody>
                  <a:tcPr/>
                </a:tc>
                <a:tc>
                  <a:txBody>
                    <a:bodyPr/>
                    <a:lstStyle/>
                    <a:p>
                      <a:r>
                        <a:rPr lang="en-US" sz="1400" dirty="0" err="1"/>
                        <a:t>Ggdgs</a:t>
                      </a:r>
                      <a:endParaRPr lang="en-IE" sz="1400" dirty="0"/>
                    </a:p>
                  </a:txBody>
                  <a:tcPr/>
                </a:tc>
                <a:tc>
                  <a:txBody>
                    <a:bodyPr/>
                    <a:lstStyle/>
                    <a:p>
                      <a:r>
                        <a:rPr lang="en-US" sz="1400" dirty="0"/>
                        <a:t>21</a:t>
                      </a:r>
                      <a:endParaRPr lang="en-IE" sz="1400" dirty="0"/>
                    </a:p>
                  </a:txBody>
                  <a:tcPr/>
                </a:tc>
                <a:tc>
                  <a:txBody>
                    <a:bodyPr/>
                    <a:lstStyle/>
                    <a:p>
                      <a:r>
                        <a:rPr lang="en-US" sz="1400" dirty="0"/>
                        <a:t> </a:t>
                      </a:r>
                      <a:r>
                        <a:rPr lang="en-US" sz="1400" dirty="0" err="1"/>
                        <a:t>gd</a:t>
                      </a:r>
                      <a:r>
                        <a:rPr lang="en-US" sz="1400" dirty="0"/>
                        <a:t> </a:t>
                      </a:r>
                      <a:r>
                        <a:rPr lang="en-US" sz="1400" dirty="0" err="1"/>
                        <a:t>gsd</a:t>
                      </a:r>
                      <a:endParaRPr lang="en-IE" sz="1400" dirty="0"/>
                    </a:p>
                  </a:txBody>
                  <a:tcPr/>
                </a:tc>
                <a:tc>
                  <a:txBody>
                    <a:bodyPr/>
                    <a:lstStyle/>
                    <a:p>
                      <a:r>
                        <a:rPr lang="en-US" sz="1400" dirty="0"/>
                        <a:t>2423</a:t>
                      </a:r>
                      <a:endParaRPr lang="en-IE" sz="1400" dirty="0"/>
                    </a:p>
                  </a:txBody>
                  <a:tcPr/>
                </a:tc>
                <a:extLst>
                  <a:ext uri="{0D108BD9-81ED-4DB2-BD59-A6C34878D82A}">
                    <a16:rowId xmlns:a16="http://schemas.microsoft.com/office/drawing/2014/main" val="4031447301"/>
                  </a:ext>
                </a:extLst>
              </a:tr>
              <a:tr h="370840">
                <a:tc>
                  <a:txBody>
                    <a:bodyPr/>
                    <a:lstStyle/>
                    <a:p>
                      <a:r>
                        <a:rPr lang="en-US" sz="1400" dirty="0"/>
                        <a:t>514</a:t>
                      </a:r>
                      <a:endParaRPr lang="en-IE" sz="1400" dirty="0"/>
                    </a:p>
                  </a:txBody>
                  <a:tcPr/>
                </a:tc>
                <a:tc>
                  <a:txBody>
                    <a:bodyPr/>
                    <a:lstStyle/>
                    <a:p>
                      <a:r>
                        <a:rPr lang="en-US" sz="1400" dirty="0"/>
                        <a:t>Sean</a:t>
                      </a:r>
                      <a:endParaRPr lang="en-IE" sz="1400" dirty="0"/>
                    </a:p>
                  </a:txBody>
                  <a:tcPr/>
                </a:tc>
                <a:tc>
                  <a:txBody>
                    <a:bodyPr/>
                    <a:lstStyle/>
                    <a:p>
                      <a:r>
                        <a:rPr lang="en-US" sz="1400" dirty="0" err="1"/>
                        <a:t>dsgds</a:t>
                      </a:r>
                      <a:endParaRPr lang="en-IE" sz="1400" dirty="0"/>
                    </a:p>
                  </a:txBody>
                  <a:tcPr/>
                </a:tc>
                <a:tc>
                  <a:txBody>
                    <a:bodyPr/>
                    <a:lstStyle/>
                    <a:p>
                      <a:r>
                        <a:rPr lang="en-US" sz="1400" dirty="0"/>
                        <a:t>19</a:t>
                      </a:r>
                      <a:endParaRPr lang="en-IE" sz="1400" dirty="0"/>
                    </a:p>
                  </a:txBody>
                  <a:tcPr/>
                </a:tc>
                <a:tc>
                  <a:txBody>
                    <a:bodyPr/>
                    <a:lstStyle/>
                    <a:p>
                      <a:r>
                        <a:rPr lang="en-US" sz="1400" dirty="0"/>
                        <a:t> </a:t>
                      </a:r>
                      <a:r>
                        <a:rPr lang="en-US" sz="1400" dirty="0" err="1"/>
                        <a:t>sd</a:t>
                      </a:r>
                      <a:r>
                        <a:rPr lang="en-US" sz="1400" dirty="0"/>
                        <a:t> </a:t>
                      </a:r>
                      <a:r>
                        <a:rPr lang="en-US" sz="1400" dirty="0" err="1"/>
                        <a:t>gds</a:t>
                      </a:r>
                      <a:endParaRPr lang="en-IE" sz="1400" dirty="0"/>
                    </a:p>
                  </a:txBody>
                  <a:tcPr/>
                </a:tc>
                <a:tc>
                  <a:txBody>
                    <a:bodyPr/>
                    <a:lstStyle/>
                    <a:p>
                      <a:r>
                        <a:rPr lang="en-US" sz="1400" dirty="0"/>
                        <a:t>65464</a:t>
                      </a:r>
                      <a:endParaRPr lang="en-IE" sz="1400" dirty="0"/>
                    </a:p>
                  </a:txBody>
                  <a:tcPr/>
                </a:tc>
                <a:extLst>
                  <a:ext uri="{0D108BD9-81ED-4DB2-BD59-A6C34878D82A}">
                    <a16:rowId xmlns:a16="http://schemas.microsoft.com/office/drawing/2014/main" val="46535696"/>
                  </a:ext>
                </a:extLst>
              </a:tr>
            </a:tbl>
          </a:graphicData>
        </a:graphic>
      </p:graphicFrame>
      <p:sp>
        <p:nvSpPr>
          <p:cNvPr id="5" name="TextBox 4">
            <a:extLst>
              <a:ext uri="{FF2B5EF4-FFF2-40B4-BE49-F238E27FC236}">
                <a16:creationId xmlns:a16="http://schemas.microsoft.com/office/drawing/2014/main" id="{6EF0E682-4190-92F9-2594-8DA561C03227}"/>
              </a:ext>
            </a:extLst>
          </p:cNvPr>
          <p:cNvSpPr txBox="1"/>
          <p:nvPr/>
        </p:nvSpPr>
        <p:spPr>
          <a:xfrm>
            <a:off x="6477000" y="2968228"/>
            <a:ext cx="1615889" cy="369332"/>
          </a:xfrm>
          <a:prstGeom prst="rect">
            <a:avLst/>
          </a:prstGeom>
          <a:noFill/>
        </p:spPr>
        <p:txBody>
          <a:bodyPr wrap="square" rtlCol="0">
            <a:spAutoFit/>
          </a:bodyPr>
          <a:lstStyle/>
          <a:p>
            <a:r>
              <a:rPr lang="en-US" dirty="0"/>
              <a:t>Data</a:t>
            </a:r>
            <a:endParaRPr lang="en-IE" dirty="0"/>
          </a:p>
        </p:txBody>
      </p:sp>
      <p:sp>
        <p:nvSpPr>
          <p:cNvPr id="6" name="Rectangle 5">
            <a:extLst>
              <a:ext uri="{FF2B5EF4-FFF2-40B4-BE49-F238E27FC236}">
                <a16:creationId xmlns:a16="http://schemas.microsoft.com/office/drawing/2014/main" id="{849DA8F7-9D15-2226-E9AA-3D6803F30F1D}"/>
              </a:ext>
            </a:extLst>
          </p:cNvPr>
          <p:cNvSpPr/>
          <p:nvPr/>
        </p:nvSpPr>
        <p:spPr>
          <a:xfrm>
            <a:off x="1600200" y="4050268"/>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7" name="Rectangle 6">
            <a:extLst>
              <a:ext uri="{FF2B5EF4-FFF2-40B4-BE49-F238E27FC236}">
                <a16:creationId xmlns:a16="http://schemas.microsoft.com/office/drawing/2014/main" id="{D0AB21D2-C6E4-CF6D-52A4-BB350F9FE705}"/>
              </a:ext>
            </a:extLst>
          </p:cNvPr>
          <p:cNvSpPr/>
          <p:nvPr/>
        </p:nvSpPr>
        <p:spPr>
          <a:xfrm>
            <a:off x="350043" y="3313176"/>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ST. ID</a:t>
            </a:r>
            <a:endParaRPr lang="en-IE" sz="1500" dirty="0"/>
          </a:p>
        </p:txBody>
      </p:sp>
      <p:sp>
        <p:nvSpPr>
          <p:cNvPr id="8" name="Rectangle 7">
            <a:extLst>
              <a:ext uri="{FF2B5EF4-FFF2-40B4-BE49-F238E27FC236}">
                <a16:creationId xmlns:a16="http://schemas.microsoft.com/office/drawing/2014/main" id="{069E6076-2AE7-3F73-4392-25402C37FDDC}"/>
              </a:ext>
            </a:extLst>
          </p:cNvPr>
          <p:cNvSpPr/>
          <p:nvPr/>
        </p:nvSpPr>
        <p:spPr>
          <a:xfrm>
            <a:off x="350043" y="4050268"/>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482</a:t>
            </a:r>
            <a:endParaRPr lang="en-IE" sz="1500" dirty="0"/>
          </a:p>
        </p:txBody>
      </p:sp>
      <p:cxnSp>
        <p:nvCxnSpPr>
          <p:cNvPr id="10" name="Straight Arrow Connector 9">
            <a:extLst>
              <a:ext uri="{FF2B5EF4-FFF2-40B4-BE49-F238E27FC236}">
                <a16:creationId xmlns:a16="http://schemas.microsoft.com/office/drawing/2014/main" id="{32314DBB-C074-F82D-AF8A-FC6A979B230A}"/>
              </a:ext>
            </a:extLst>
          </p:cNvPr>
          <p:cNvCxnSpPr>
            <a:stCxn id="8" idx="3"/>
            <a:endCxn id="6" idx="1"/>
          </p:cNvCxnSpPr>
          <p:nvPr/>
        </p:nvCxnSpPr>
        <p:spPr>
          <a:xfrm>
            <a:off x="1161256" y="4234934"/>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EDECADBC-0AD8-47B5-D8A9-5D8FD89BDC84}"/>
              </a:ext>
            </a:extLst>
          </p:cNvPr>
          <p:cNvCxnSpPr/>
          <p:nvPr/>
        </p:nvCxnSpPr>
        <p:spPr>
          <a:xfrm>
            <a:off x="2411413" y="4234934"/>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A6096359-8935-0996-3513-7177E86B14F7}"/>
              </a:ext>
            </a:extLst>
          </p:cNvPr>
          <p:cNvSpPr/>
          <p:nvPr/>
        </p:nvSpPr>
        <p:spPr>
          <a:xfrm>
            <a:off x="2840036" y="4050268"/>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2</a:t>
            </a:r>
            <a:endParaRPr lang="en-IE" sz="1500" dirty="0"/>
          </a:p>
        </p:txBody>
      </p:sp>
      <p:cxnSp>
        <p:nvCxnSpPr>
          <p:cNvPr id="14" name="Straight Arrow Connector 13">
            <a:extLst>
              <a:ext uri="{FF2B5EF4-FFF2-40B4-BE49-F238E27FC236}">
                <a16:creationId xmlns:a16="http://schemas.microsoft.com/office/drawing/2014/main" id="{BB893D9B-D5FC-A7D0-B1FB-77467042E7F6}"/>
              </a:ext>
            </a:extLst>
          </p:cNvPr>
          <p:cNvCxnSpPr>
            <a:cxnSpLocks/>
          </p:cNvCxnSpPr>
          <p:nvPr/>
        </p:nvCxnSpPr>
        <p:spPr>
          <a:xfrm>
            <a:off x="3651249" y="4234934"/>
            <a:ext cx="844551" cy="49072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C99C21B8-C023-247A-EA65-3E567BC62A6C}"/>
              </a:ext>
            </a:extLst>
          </p:cNvPr>
          <p:cNvSpPr/>
          <p:nvPr/>
        </p:nvSpPr>
        <p:spPr>
          <a:xfrm>
            <a:off x="1600200" y="4910328"/>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17" name="Rectangle 16">
            <a:extLst>
              <a:ext uri="{FF2B5EF4-FFF2-40B4-BE49-F238E27FC236}">
                <a16:creationId xmlns:a16="http://schemas.microsoft.com/office/drawing/2014/main" id="{42D5F1AA-7C48-3D7A-A24B-9C45010E39A9}"/>
              </a:ext>
            </a:extLst>
          </p:cNvPr>
          <p:cNvSpPr/>
          <p:nvPr/>
        </p:nvSpPr>
        <p:spPr>
          <a:xfrm>
            <a:off x="350043" y="4910328"/>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120</a:t>
            </a:r>
            <a:endParaRPr lang="en-IE" sz="1500" dirty="0"/>
          </a:p>
        </p:txBody>
      </p:sp>
      <p:cxnSp>
        <p:nvCxnSpPr>
          <p:cNvPr id="18" name="Straight Arrow Connector 17">
            <a:extLst>
              <a:ext uri="{FF2B5EF4-FFF2-40B4-BE49-F238E27FC236}">
                <a16:creationId xmlns:a16="http://schemas.microsoft.com/office/drawing/2014/main" id="{EAED8D30-621A-1E28-E727-C97E412D849A}"/>
              </a:ext>
            </a:extLst>
          </p:cNvPr>
          <p:cNvCxnSpPr>
            <a:stCxn id="17" idx="3"/>
            <a:endCxn id="16" idx="1"/>
          </p:cNvCxnSpPr>
          <p:nvPr/>
        </p:nvCxnSpPr>
        <p:spPr>
          <a:xfrm>
            <a:off x="1161256" y="5094994"/>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111FCD61-329B-26D3-AB9F-55C42F476CE3}"/>
              </a:ext>
            </a:extLst>
          </p:cNvPr>
          <p:cNvCxnSpPr/>
          <p:nvPr/>
        </p:nvCxnSpPr>
        <p:spPr>
          <a:xfrm>
            <a:off x="2411413" y="5094994"/>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0" name="Rectangle 19">
            <a:extLst>
              <a:ext uri="{FF2B5EF4-FFF2-40B4-BE49-F238E27FC236}">
                <a16:creationId xmlns:a16="http://schemas.microsoft.com/office/drawing/2014/main" id="{B56BD84A-EDE0-99B9-D073-322AD0B41F21}"/>
              </a:ext>
            </a:extLst>
          </p:cNvPr>
          <p:cNvSpPr/>
          <p:nvPr/>
        </p:nvSpPr>
        <p:spPr>
          <a:xfrm>
            <a:off x="2840036" y="4910328"/>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0</a:t>
            </a:r>
            <a:endParaRPr lang="en-IE" sz="1500" dirty="0"/>
          </a:p>
        </p:txBody>
      </p:sp>
      <p:cxnSp>
        <p:nvCxnSpPr>
          <p:cNvPr id="21" name="Straight Arrow Connector 20">
            <a:extLst>
              <a:ext uri="{FF2B5EF4-FFF2-40B4-BE49-F238E27FC236}">
                <a16:creationId xmlns:a16="http://schemas.microsoft.com/office/drawing/2014/main" id="{83589499-C6F1-0E72-989B-3D0DF650B04C}"/>
              </a:ext>
            </a:extLst>
          </p:cNvPr>
          <p:cNvCxnSpPr>
            <a:cxnSpLocks/>
          </p:cNvCxnSpPr>
          <p:nvPr/>
        </p:nvCxnSpPr>
        <p:spPr>
          <a:xfrm flipV="1">
            <a:off x="3651249" y="3962400"/>
            <a:ext cx="844551" cy="113259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6862420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E0BB-A661-D8B7-30D8-C2A22963746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952EB65-7E58-5E78-23D6-47F41082FD70}"/>
              </a:ext>
            </a:extLst>
          </p:cNvPr>
          <p:cNvSpPr>
            <a:spLocks noGrp="1"/>
          </p:cNvSpPr>
          <p:nvPr>
            <p:ph type="body" sz="quarter" idx="12"/>
          </p:nvPr>
        </p:nvSpPr>
        <p:spPr>
          <a:xfrm>
            <a:off x="746311" y="381000"/>
            <a:ext cx="7560890" cy="815975"/>
          </a:xfrm>
        </p:spPr>
        <p:txBody>
          <a:bodyPr>
            <a:normAutofit/>
          </a:bodyPr>
          <a:lstStyle/>
          <a:p>
            <a:r>
              <a:rPr lang="en-US" dirty="0"/>
              <a:t>Hash Table Terminology</a:t>
            </a:r>
            <a:endParaRPr lang="en-IE" dirty="0"/>
          </a:p>
        </p:txBody>
      </p:sp>
      <p:sp>
        <p:nvSpPr>
          <p:cNvPr id="3" name="Content Placeholder 2">
            <a:extLst>
              <a:ext uri="{FF2B5EF4-FFF2-40B4-BE49-F238E27FC236}">
                <a16:creationId xmlns:a16="http://schemas.microsoft.com/office/drawing/2014/main" id="{49468ED4-36F3-28DE-C6AE-BDA22222AF4A}"/>
              </a:ext>
            </a:extLst>
          </p:cNvPr>
          <p:cNvSpPr>
            <a:spLocks noGrp="1"/>
          </p:cNvSpPr>
          <p:nvPr>
            <p:ph sz="quarter" idx="11"/>
          </p:nvPr>
        </p:nvSpPr>
        <p:spPr>
          <a:xfrm>
            <a:off x="593538" y="1156079"/>
            <a:ext cx="7561263" cy="1053722"/>
          </a:xfrm>
        </p:spPr>
        <p:txBody>
          <a:bodyPr>
            <a:normAutofit/>
          </a:bodyPr>
          <a:lstStyle/>
          <a:p>
            <a:r>
              <a:rPr lang="en-US" sz="1800" dirty="0"/>
              <a:t>In a Hash Table the input to the hash function is called a “key”, the hash function will map the key into a “hashed” value that is the location of a “bucket”, the place where the data are stored</a:t>
            </a:r>
          </a:p>
        </p:txBody>
      </p:sp>
      <p:pic>
        <p:nvPicPr>
          <p:cNvPr id="2050" name="Picture 2">
            <a:extLst>
              <a:ext uri="{FF2B5EF4-FFF2-40B4-BE49-F238E27FC236}">
                <a16:creationId xmlns:a16="http://schemas.microsoft.com/office/drawing/2014/main" id="{E0947721-AF5B-5988-BC2C-F2E618B8B1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057400"/>
            <a:ext cx="2362200" cy="1724781"/>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83BBB2D7-97CC-4293-76AE-CF275E8E2445}"/>
              </a:ext>
            </a:extLst>
          </p:cNvPr>
          <p:cNvSpPr txBox="1">
            <a:spLocks/>
          </p:cNvSpPr>
          <p:nvPr/>
        </p:nvSpPr>
        <p:spPr>
          <a:xfrm>
            <a:off x="638968" y="4079498"/>
            <a:ext cx="8124032" cy="1851025"/>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4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en-US" sz="1800" dirty="0"/>
              <a:t>The keys can be anything, numbers , strings, objects… the hash function will map them into indexes to be used to access the right bucket</a:t>
            </a:r>
          </a:p>
          <a:p>
            <a:r>
              <a:rPr lang="en-US" sz="1800" dirty="0"/>
              <a:t>Time complexity. After the hash function is computed in constant time O(1), we can access the right bucket containing the right data in O(1)</a:t>
            </a:r>
          </a:p>
          <a:p>
            <a:r>
              <a:rPr lang="en-US" sz="1800" dirty="0"/>
              <a:t>All fine, until </a:t>
            </a:r>
            <a:r>
              <a:rPr lang="en-US" sz="1800" b="1" dirty="0"/>
              <a:t>collisions</a:t>
            </a:r>
            <a:r>
              <a:rPr lang="en-US" sz="1800" dirty="0"/>
              <a:t> start to happen!</a:t>
            </a:r>
            <a:endParaRPr lang="en-IE" sz="1800" dirty="0"/>
          </a:p>
        </p:txBody>
      </p:sp>
    </p:spTree>
    <p:extLst>
      <p:ext uri="{BB962C8B-B14F-4D97-AF65-F5344CB8AC3E}">
        <p14:creationId xmlns:p14="http://schemas.microsoft.com/office/powerpoint/2010/main" val="252018556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00849-828E-4020-20EA-52A70564D37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4E7411-4193-15DC-0E66-6D50386CBA7B}"/>
              </a:ext>
            </a:extLst>
          </p:cNvPr>
          <p:cNvSpPr>
            <a:spLocks noGrp="1"/>
          </p:cNvSpPr>
          <p:nvPr>
            <p:ph type="body" sz="quarter" idx="12"/>
          </p:nvPr>
        </p:nvSpPr>
        <p:spPr>
          <a:xfrm>
            <a:off x="746311" y="381000"/>
            <a:ext cx="7560890" cy="815975"/>
          </a:xfrm>
        </p:spPr>
        <p:txBody>
          <a:bodyPr>
            <a:normAutofit/>
          </a:bodyPr>
          <a:lstStyle/>
          <a:p>
            <a:r>
              <a:rPr lang="en-US" dirty="0"/>
              <a:t>Collisions</a:t>
            </a:r>
            <a:endParaRPr lang="en-IE" dirty="0"/>
          </a:p>
        </p:txBody>
      </p:sp>
      <p:sp>
        <p:nvSpPr>
          <p:cNvPr id="3" name="Content Placeholder 2">
            <a:extLst>
              <a:ext uri="{FF2B5EF4-FFF2-40B4-BE49-F238E27FC236}">
                <a16:creationId xmlns:a16="http://schemas.microsoft.com/office/drawing/2014/main" id="{BF885CBC-901E-85DE-8ABF-6E286CD82F37}"/>
              </a:ext>
            </a:extLst>
          </p:cNvPr>
          <p:cNvSpPr>
            <a:spLocks noGrp="1"/>
          </p:cNvSpPr>
          <p:nvPr>
            <p:ph sz="quarter" idx="11"/>
          </p:nvPr>
        </p:nvSpPr>
        <p:spPr>
          <a:xfrm>
            <a:off x="593538" y="1156078"/>
            <a:ext cx="8017062" cy="1622425"/>
          </a:xfrm>
        </p:spPr>
        <p:txBody>
          <a:bodyPr>
            <a:normAutofit/>
          </a:bodyPr>
          <a:lstStyle/>
          <a:p>
            <a:r>
              <a:rPr lang="en-US" sz="1800" dirty="0"/>
              <a:t>What if the function H(x) returns the same value for 2 different keys?</a:t>
            </a:r>
          </a:p>
          <a:p>
            <a:endParaRPr lang="en-IE" sz="1800" dirty="0"/>
          </a:p>
        </p:txBody>
      </p:sp>
      <p:sp>
        <p:nvSpPr>
          <p:cNvPr id="9" name="Content Placeholder 2">
            <a:extLst>
              <a:ext uri="{FF2B5EF4-FFF2-40B4-BE49-F238E27FC236}">
                <a16:creationId xmlns:a16="http://schemas.microsoft.com/office/drawing/2014/main" id="{5A05DEAB-553D-2EDA-46A3-1E084AFB269E}"/>
              </a:ext>
            </a:extLst>
          </p:cNvPr>
          <p:cNvSpPr txBox="1">
            <a:spLocks/>
          </p:cNvSpPr>
          <p:nvPr/>
        </p:nvSpPr>
        <p:spPr>
          <a:xfrm>
            <a:off x="241498" y="3355464"/>
            <a:ext cx="8661003" cy="2265779"/>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4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en-US" sz="1800" dirty="0"/>
              <a:t>What data is at position 2? The data about the key 482 or 762?</a:t>
            </a:r>
          </a:p>
          <a:p>
            <a:r>
              <a:rPr lang="en-US" sz="1800" dirty="0"/>
              <a:t>At the start the Hash Table is empty. If we insert 482 first, 482 goes to the position 2. Then, when we insert 762, it should also go to position 2, but it is already taken. We need to handle this situation…</a:t>
            </a:r>
          </a:p>
          <a:p>
            <a:r>
              <a:rPr lang="en-US" sz="1800" dirty="0"/>
              <a:t>This is called a collisions and the Hash Table needs a way to handle collisions</a:t>
            </a:r>
          </a:p>
          <a:p>
            <a:r>
              <a:rPr lang="en-US" sz="1800" dirty="0"/>
              <a:t>Load factor = number in the hash table / size of the hash table (% of hash table positions used)</a:t>
            </a:r>
          </a:p>
        </p:txBody>
      </p:sp>
      <p:sp>
        <p:nvSpPr>
          <p:cNvPr id="4" name="Rectangle 3">
            <a:extLst>
              <a:ext uri="{FF2B5EF4-FFF2-40B4-BE49-F238E27FC236}">
                <a16:creationId xmlns:a16="http://schemas.microsoft.com/office/drawing/2014/main" id="{21BE8DFB-C94F-0684-7CD7-547C53F15F8C}"/>
              </a:ext>
            </a:extLst>
          </p:cNvPr>
          <p:cNvSpPr/>
          <p:nvPr/>
        </p:nvSpPr>
        <p:spPr>
          <a:xfrm>
            <a:off x="3886200" y="1752600"/>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5" name="Rectangle 4">
            <a:extLst>
              <a:ext uri="{FF2B5EF4-FFF2-40B4-BE49-F238E27FC236}">
                <a16:creationId xmlns:a16="http://schemas.microsoft.com/office/drawing/2014/main" id="{6EBF79E7-E1D7-0226-9629-1032515DE034}"/>
              </a:ext>
            </a:extLst>
          </p:cNvPr>
          <p:cNvSpPr/>
          <p:nvPr/>
        </p:nvSpPr>
        <p:spPr>
          <a:xfrm>
            <a:off x="2636043" y="175260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482</a:t>
            </a:r>
            <a:endParaRPr lang="en-IE" sz="1500" dirty="0"/>
          </a:p>
        </p:txBody>
      </p:sp>
      <p:cxnSp>
        <p:nvCxnSpPr>
          <p:cNvPr id="6" name="Straight Arrow Connector 5">
            <a:extLst>
              <a:ext uri="{FF2B5EF4-FFF2-40B4-BE49-F238E27FC236}">
                <a16:creationId xmlns:a16="http://schemas.microsoft.com/office/drawing/2014/main" id="{B07E3082-D318-1659-613C-2B282B2CCB3A}"/>
              </a:ext>
            </a:extLst>
          </p:cNvPr>
          <p:cNvCxnSpPr>
            <a:stCxn id="5" idx="3"/>
            <a:endCxn id="4" idx="1"/>
          </p:cNvCxnSpPr>
          <p:nvPr/>
        </p:nvCxnSpPr>
        <p:spPr>
          <a:xfrm>
            <a:off x="3447256" y="1937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726DD71E-DC02-FE42-EEAC-25526281F84F}"/>
              </a:ext>
            </a:extLst>
          </p:cNvPr>
          <p:cNvCxnSpPr/>
          <p:nvPr/>
        </p:nvCxnSpPr>
        <p:spPr>
          <a:xfrm>
            <a:off x="4697413" y="1937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ABC8FD5B-C548-229A-C76F-A70DB7A029C8}"/>
              </a:ext>
            </a:extLst>
          </p:cNvPr>
          <p:cNvSpPr/>
          <p:nvPr/>
        </p:nvSpPr>
        <p:spPr>
          <a:xfrm>
            <a:off x="5126036" y="175260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2</a:t>
            </a:r>
            <a:endParaRPr lang="en-IE" sz="1500" dirty="0"/>
          </a:p>
        </p:txBody>
      </p:sp>
      <p:sp>
        <p:nvSpPr>
          <p:cNvPr id="10" name="Rectangle 9">
            <a:extLst>
              <a:ext uri="{FF2B5EF4-FFF2-40B4-BE49-F238E27FC236}">
                <a16:creationId xmlns:a16="http://schemas.microsoft.com/office/drawing/2014/main" id="{DF7FC72F-19B1-01E2-E930-BCAB3668C8F7}"/>
              </a:ext>
            </a:extLst>
          </p:cNvPr>
          <p:cNvSpPr/>
          <p:nvPr/>
        </p:nvSpPr>
        <p:spPr>
          <a:xfrm>
            <a:off x="3886200" y="2612660"/>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11" name="Rectangle 10">
            <a:extLst>
              <a:ext uri="{FF2B5EF4-FFF2-40B4-BE49-F238E27FC236}">
                <a16:creationId xmlns:a16="http://schemas.microsoft.com/office/drawing/2014/main" id="{6AE83E17-E334-BE61-20C0-E2299A638712}"/>
              </a:ext>
            </a:extLst>
          </p:cNvPr>
          <p:cNvSpPr/>
          <p:nvPr/>
        </p:nvSpPr>
        <p:spPr>
          <a:xfrm>
            <a:off x="2636043" y="261266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762</a:t>
            </a:r>
            <a:endParaRPr lang="en-IE" sz="1500" dirty="0"/>
          </a:p>
        </p:txBody>
      </p:sp>
      <p:cxnSp>
        <p:nvCxnSpPr>
          <p:cNvPr id="12" name="Straight Arrow Connector 11">
            <a:extLst>
              <a:ext uri="{FF2B5EF4-FFF2-40B4-BE49-F238E27FC236}">
                <a16:creationId xmlns:a16="http://schemas.microsoft.com/office/drawing/2014/main" id="{26ECE2B2-2009-3F0D-138E-5A91C8347F6E}"/>
              </a:ext>
            </a:extLst>
          </p:cNvPr>
          <p:cNvCxnSpPr>
            <a:stCxn id="11" idx="3"/>
            <a:endCxn id="10" idx="1"/>
          </p:cNvCxnSpPr>
          <p:nvPr/>
        </p:nvCxnSpPr>
        <p:spPr>
          <a:xfrm>
            <a:off x="3447256" y="279732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01BC520F-FE6A-4A51-B5BF-D5C66CEAEF63}"/>
              </a:ext>
            </a:extLst>
          </p:cNvPr>
          <p:cNvCxnSpPr/>
          <p:nvPr/>
        </p:nvCxnSpPr>
        <p:spPr>
          <a:xfrm>
            <a:off x="4697413" y="279732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8A8F668E-F1C8-CCF8-1129-0C55FD74FBC7}"/>
              </a:ext>
            </a:extLst>
          </p:cNvPr>
          <p:cNvSpPr/>
          <p:nvPr/>
        </p:nvSpPr>
        <p:spPr>
          <a:xfrm>
            <a:off x="5126036" y="261266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2</a:t>
            </a:r>
            <a:endParaRPr lang="en-IE" sz="1500" dirty="0"/>
          </a:p>
        </p:txBody>
      </p:sp>
    </p:spTree>
    <p:extLst>
      <p:ext uri="{BB962C8B-B14F-4D97-AF65-F5344CB8AC3E}">
        <p14:creationId xmlns:p14="http://schemas.microsoft.com/office/powerpoint/2010/main" val="289707370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1E621-675F-2659-DD95-77C482AA4D8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3449017-FFB2-6FFB-1394-D4434CECE751}"/>
              </a:ext>
            </a:extLst>
          </p:cNvPr>
          <p:cNvSpPr>
            <a:spLocks noGrp="1"/>
          </p:cNvSpPr>
          <p:nvPr>
            <p:ph type="body" sz="quarter" idx="12"/>
          </p:nvPr>
        </p:nvSpPr>
        <p:spPr>
          <a:xfrm>
            <a:off x="746311" y="381000"/>
            <a:ext cx="7560890" cy="815975"/>
          </a:xfrm>
        </p:spPr>
        <p:txBody>
          <a:bodyPr>
            <a:normAutofit/>
          </a:bodyPr>
          <a:lstStyle/>
          <a:p>
            <a:r>
              <a:rPr lang="en-US" dirty="0"/>
              <a:t>Some ideas</a:t>
            </a:r>
            <a:endParaRPr lang="en-IE" dirty="0"/>
          </a:p>
        </p:txBody>
      </p:sp>
      <p:sp>
        <p:nvSpPr>
          <p:cNvPr id="3" name="Content Placeholder 2">
            <a:extLst>
              <a:ext uri="{FF2B5EF4-FFF2-40B4-BE49-F238E27FC236}">
                <a16:creationId xmlns:a16="http://schemas.microsoft.com/office/drawing/2014/main" id="{DA9289C7-1CB7-1DED-6A17-8654EC2AFB54}"/>
              </a:ext>
            </a:extLst>
          </p:cNvPr>
          <p:cNvSpPr>
            <a:spLocks noGrp="1"/>
          </p:cNvSpPr>
          <p:nvPr>
            <p:ph sz="quarter" idx="11"/>
          </p:nvPr>
        </p:nvSpPr>
        <p:spPr>
          <a:xfrm>
            <a:off x="593538" y="1156078"/>
            <a:ext cx="8017062" cy="4330322"/>
          </a:xfrm>
        </p:spPr>
        <p:txBody>
          <a:bodyPr>
            <a:normAutofit fontScale="92500" lnSpcReduction="10000"/>
          </a:bodyPr>
          <a:lstStyle/>
          <a:p>
            <a:pPr>
              <a:lnSpc>
                <a:spcPct val="120000"/>
              </a:lnSpc>
              <a:spcBef>
                <a:spcPts val="0"/>
              </a:spcBef>
            </a:pPr>
            <a:r>
              <a:rPr lang="en-US" sz="1800" dirty="0"/>
              <a:t>First, we should try to avoid collisions or minimize them</a:t>
            </a:r>
          </a:p>
          <a:p>
            <a:pPr>
              <a:lnSpc>
                <a:spcPct val="120000"/>
              </a:lnSpc>
              <a:spcBef>
                <a:spcPts val="0"/>
              </a:spcBef>
            </a:pPr>
            <a:r>
              <a:rPr lang="en-US" sz="1800" dirty="0"/>
              <a:t>Solution: the hash function H(x) should only return unique values</a:t>
            </a:r>
          </a:p>
          <a:p>
            <a:pPr>
              <a:lnSpc>
                <a:spcPct val="120000"/>
              </a:lnSpc>
              <a:spcBef>
                <a:spcPts val="0"/>
              </a:spcBef>
            </a:pPr>
            <a:r>
              <a:rPr lang="en-US" sz="1800" dirty="0"/>
              <a:t>Not possible in practice!</a:t>
            </a:r>
          </a:p>
          <a:p>
            <a:pPr>
              <a:lnSpc>
                <a:spcPct val="120000"/>
              </a:lnSpc>
              <a:spcBef>
                <a:spcPts val="0"/>
              </a:spcBef>
            </a:pPr>
            <a:r>
              <a:rPr lang="en-US" sz="1800" dirty="0"/>
              <a:t>The input space is much larger than the output of the hash function</a:t>
            </a:r>
          </a:p>
          <a:p>
            <a:pPr>
              <a:lnSpc>
                <a:spcPct val="120000"/>
              </a:lnSpc>
              <a:spcBef>
                <a:spcPts val="0"/>
              </a:spcBef>
            </a:pPr>
            <a:r>
              <a:rPr lang="en-US" sz="1800" dirty="0"/>
              <a:t>Example: we want to create a hash table to store information about students, each student is represented by a 10 character string</a:t>
            </a:r>
          </a:p>
          <a:p>
            <a:pPr>
              <a:lnSpc>
                <a:spcPct val="120000"/>
              </a:lnSpc>
              <a:spcBef>
                <a:spcPts val="0"/>
              </a:spcBef>
            </a:pPr>
            <a:r>
              <a:rPr lang="en-US" sz="1800" dirty="0"/>
              <a:t>There are 141 trillions combinations!</a:t>
            </a:r>
          </a:p>
          <a:p>
            <a:pPr>
              <a:lnSpc>
                <a:spcPct val="120000"/>
              </a:lnSpc>
              <a:spcBef>
                <a:spcPts val="0"/>
              </a:spcBef>
            </a:pPr>
            <a:r>
              <a:rPr lang="en-US" sz="1800" dirty="0"/>
              <a:t>Our data table is much smaller, collisions are inevitable</a:t>
            </a:r>
          </a:p>
          <a:p>
            <a:pPr>
              <a:lnSpc>
                <a:spcPct val="120000"/>
              </a:lnSpc>
              <a:spcBef>
                <a:spcPts val="0"/>
              </a:spcBef>
            </a:pPr>
            <a:r>
              <a:rPr lang="en-US" sz="1800" dirty="0"/>
              <a:t>Second solution: H(x) should minimize the collisions by spreading the input values equally</a:t>
            </a:r>
          </a:p>
          <a:p>
            <a:pPr marL="0" indent="0">
              <a:lnSpc>
                <a:spcPct val="120000"/>
              </a:lnSpc>
              <a:spcBef>
                <a:spcPts val="0"/>
              </a:spcBef>
              <a:buNone/>
            </a:pPr>
            <a:r>
              <a:rPr lang="en-US" sz="1800" dirty="0"/>
              <a:t>Example:</a:t>
            </a:r>
          </a:p>
          <a:p>
            <a:pPr>
              <a:lnSpc>
                <a:spcPct val="120000"/>
              </a:lnSpc>
              <a:spcBef>
                <a:spcPts val="0"/>
              </a:spcBef>
            </a:pPr>
            <a:r>
              <a:rPr lang="en-US" sz="1800" dirty="0"/>
              <a:t>Input: a string s of 5 characters, 128 buckets available</a:t>
            </a:r>
          </a:p>
          <a:p>
            <a:pPr>
              <a:lnSpc>
                <a:spcPct val="120000"/>
              </a:lnSpc>
              <a:spcBef>
                <a:spcPts val="0"/>
              </a:spcBef>
            </a:pPr>
            <a:r>
              <a:rPr lang="en-US" sz="1800" dirty="0"/>
              <a:t>H1(x) =  ASCII(s[0]) mod 128</a:t>
            </a:r>
          </a:p>
          <a:p>
            <a:pPr>
              <a:lnSpc>
                <a:spcPct val="120000"/>
              </a:lnSpc>
              <a:spcBef>
                <a:spcPts val="0"/>
              </a:spcBef>
            </a:pPr>
            <a:r>
              <a:rPr lang="en-US" sz="1800" dirty="0"/>
              <a:t>H2(x)  = for c in s:  {h = (h * 31 + </a:t>
            </a:r>
            <a:r>
              <a:rPr lang="en-US" sz="1800" dirty="0" err="1"/>
              <a:t>ord</a:t>
            </a:r>
            <a:r>
              <a:rPr lang="en-US" sz="1800" dirty="0"/>
              <a:t>(c)) % 128}</a:t>
            </a:r>
          </a:p>
        </p:txBody>
      </p:sp>
    </p:spTree>
    <p:extLst>
      <p:ext uri="{BB962C8B-B14F-4D97-AF65-F5344CB8AC3E}">
        <p14:creationId xmlns:p14="http://schemas.microsoft.com/office/powerpoint/2010/main" val="329359846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EB52-A90F-93D0-ACB3-BB37EF1AB2E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827CE7C-E622-0E7C-C0E2-AD5A5EE26AB5}"/>
              </a:ext>
            </a:extLst>
          </p:cNvPr>
          <p:cNvSpPr>
            <a:spLocks noGrp="1"/>
          </p:cNvSpPr>
          <p:nvPr>
            <p:ph type="body" sz="quarter" idx="12"/>
          </p:nvPr>
        </p:nvSpPr>
        <p:spPr>
          <a:xfrm>
            <a:off x="746311" y="381000"/>
            <a:ext cx="7560890" cy="815975"/>
          </a:xfrm>
        </p:spPr>
        <p:txBody>
          <a:bodyPr>
            <a:normAutofit/>
          </a:bodyPr>
          <a:lstStyle/>
          <a:p>
            <a:r>
              <a:rPr lang="en-US" dirty="0"/>
              <a:t>Some ideas</a:t>
            </a:r>
            <a:endParaRPr lang="en-IE" dirty="0"/>
          </a:p>
        </p:txBody>
      </p:sp>
      <p:sp>
        <p:nvSpPr>
          <p:cNvPr id="3" name="Content Placeholder 2">
            <a:extLst>
              <a:ext uri="{FF2B5EF4-FFF2-40B4-BE49-F238E27FC236}">
                <a16:creationId xmlns:a16="http://schemas.microsoft.com/office/drawing/2014/main" id="{E23584F8-787E-95C0-7EF7-E2362CE9A344}"/>
              </a:ext>
            </a:extLst>
          </p:cNvPr>
          <p:cNvSpPr>
            <a:spLocks noGrp="1"/>
          </p:cNvSpPr>
          <p:nvPr>
            <p:ph sz="quarter" idx="11"/>
          </p:nvPr>
        </p:nvSpPr>
        <p:spPr>
          <a:xfrm>
            <a:off x="593538" y="1156078"/>
            <a:ext cx="8017062" cy="4330322"/>
          </a:xfrm>
        </p:spPr>
        <p:txBody>
          <a:bodyPr>
            <a:normAutofit/>
          </a:bodyPr>
          <a:lstStyle/>
          <a:p>
            <a:r>
              <a:rPr lang="en-US" sz="1800" dirty="0"/>
              <a:t>H1(x) =  ASCII(s[0]) mod 128</a:t>
            </a:r>
          </a:p>
          <a:p>
            <a:r>
              <a:rPr lang="en-US" sz="1800" dirty="0"/>
              <a:t>H2(x)  = for c in s:  {h = (h * 31 + </a:t>
            </a:r>
            <a:r>
              <a:rPr lang="en-US" sz="1800" dirty="0" err="1"/>
              <a:t>ord</a:t>
            </a:r>
            <a:r>
              <a:rPr lang="en-US" sz="1800" dirty="0"/>
              <a:t>(c)) mod 128}</a:t>
            </a:r>
          </a:p>
          <a:p>
            <a:r>
              <a:rPr lang="en-US" sz="1800" dirty="0"/>
              <a:t>All the names starting with the same letter go to the same bucket.</a:t>
            </a:r>
          </a:p>
          <a:p>
            <a:r>
              <a:rPr lang="en-US" sz="1800" dirty="0"/>
              <a:t>Like “apple” or “ant” or “all” goes to the same bucket</a:t>
            </a:r>
          </a:p>
          <a:p>
            <a:r>
              <a:rPr lang="en-US" sz="1800" dirty="0"/>
              <a:t>Since the initial letter is not uniformly distributed, some buckets will have a lot of collisions, some other will be under used.</a:t>
            </a:r>
          </a:p>
          <a:p>
            <a:r>
              <a:rPr lang="en-US" sz="1800" dirty="0"/>
              <a:t>We want H(x) to distribute the values in the most uniform way we can</a:t>
            </a:r>
          </a:p>
          <a:p>
            <a:r>
              <a:rPr lang="en-US" sz="1800" dirty="0"/>
              <a:t>H2(x) is more complex but it is more random and names are spread more uniformly over buckets.</a:t>
            </a:r>
          </a:p>
          <a:p>
            <a:endParaRPr lang="en-IE" sz="1800" dirty="0"/>
          </a:p>
        </p:txBody>
      </p:sp>
    </p:spTree>
    <p:extLst>
      <p:ext uri="{BB962C8B-B14F-4D97-AF65-F5344CB8AC3E}">
        <p14:creationId xmlns:p14="http://schemas.microsoft.com/office/powerpoint/2010/main" val="77298389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1D88B-03A4-0647-EAE4-46C6A82BE1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471E60F-EDBF-AB75-3039-F2EA6D437D2C}"/>
              </a:ext>
            </a:extLst>
          </p:cNvPr>
          <p:cNvSpPr>
            <a:spLocks noGrp="1"/>
          </p:cNvSpPr>
          <p:nvPr>
            <p:ph type="body" sz="quarter" idx="12"/>
          </p:nvPr>
        </p:nvSpPr>
        <p:spPr>
          <a:xfrm>
            <a:off x="76199" y="609600"/>
            <a:ext cx="8957003" cy="1008112"/>
          </a:xfrm>
        </p:spPr>
        <p:txBody>
          <a:bodyPr>
            <a:normAutofit fontScale="92500"/>
          </a:bodyPr>
          <a:lstStyle/>
          <a:p>
            <a:pPr algn="ctr"/>
            <a:r>
              <a:rPr lang="en-US" dirty="0"/>
              <a:t>How to Handle Collisions / Chaining</a:t>
            </a:r>
            <a:endParaRPr lang="en-IE" dirty="0"/>
          </a:p>
        </p:txBody>
      </p:sp>
      <p:sp>
        <p:nvSpPr>
          <p:cNvPr id="5" name="TextBox 4">
            <a:extLst>
              <a:ext uri="{FF2B5EF4-FFF2-40B4-BE49-F238E27FC236}">
                <a16:creationId xmlns:a16="http://schemas.microsoft.com/office/drawing/2014/main" id="{BF59335F-2D67-6A95-6141-05A2D890DBAA}"/>
              </a:ext>
            </a:extLst>
          </p:cNvPr>
          <p:cNvSpPr txBox="1"/>
          <p:nvPr/>
        </p:nvSpPr>
        <p:spPr>
          <a:xfrm>
            <a:off x="304800" y="1295400"/>
            <a:ext cx="4255010" cy="4524315"/>
          </a:xfrm>
          <a:prstGeom prst="rect">
            <a:avLst/>
          </a:prstGeom>
          <a:noFill/>
        </p:spPr>
        <p:txBody>
          <a:bodyPr wrap="square" rtlCol="0">
            <a:spAutoFit/>
          </a:bodyPr>
          <a:lstStyle/>
          <a:p>
            <a:pPr marL="285750" indent="-285750">
              <a:buFont typeface="Arial" panose="020B0604020202020204" pitchFamily="34" charset="0"/>
              <a:buChar char="•"/>
            </a:pPr>
            <a:r>
              <a:rPr lang="en-US" dirty="0"/>
              <a:t>Bucket can store more than 1 data value</a:t>
            </a:r>
          </a:p>
          <a:p>
            <a:pPr marL="285750" indent="-285750">
              <a:buFont typeface="Arial" panose="020B0604020202020204" pitchFamily="34" charset="0"/>
              <a:buChar char="•"/>
            </a:pPr>
            <a:r>
              <a:rPr lang="en-US" dirty="0"/>
              <a:t>A bucket is usually a dynamic array or a list. (in memory) or a block of data (on disk)</a:t>
            </a:r>
          </a:p>
          <a:p>
            <a:pPr marL="285750" indent="-285750">
              <a:buFont typeface="Arial" panose="020B0604020202020204" pitchFamily="34" charset="0"/>
              <a:buChar char="•"/>
            </a:pPr>
            <a:r>
              <a:rPr lang="en-US" dirty="0"/>
              <a:t>When there is a collision, the element is added to the list of elements for that bucket</a:t>
            </a:r>
          </a:p>
          <a:p>
            <a:pPr marL="285750" indent="-285750">
              <a:buFont typeface="Arial" panose="020B0604020202020204" pitchFamily="34" charset="0"/>
              <a:buChar char="•"/>
            </a:pPr>
            <a:r>
              <a:rPr lang="en-US" dirty="0"/>
              <a:t>Using the Hash function, I can get the position of a bucket and then I do linear search inside each bucket list, that should be small enough to keep good performance</a:t>
            </a:r>
          </a:p>
          <a:p>
            <a:pPr marL="285750" indent="-285750">
              <a:buFont typeface="Arial" panose="020B0604020202020204" pitchFamily="34" charset="0"/>
              <a:buChar char="•"/>
            </a:pPr>
            <a:r>
              <a:rPr lang="en-US" dirty="0"/>
              <a:t>If a bucket is full due to too many collisions and they have fixed size,  we could use overflow buckets</a:t>
            </a:r>
          </a:p>
        </p:txBody>
      </p:sp>
      <p:pic>
        <p:nvPicPr>
          <p:cNvPr id="12290" name="Picture 2" descr="Andrew Forney - LMU CS">
            <a:extLst>
              <a:ext uri="{FF2B5EF4-FFF2-40B4-BE49-F238E27FC236}">
                <a16:creationId xmlns:a16="http://schemas.microsoft.com/office/drawing/2014/main" id="{4C0CF931-6C4B-E821-F608-2642E9279D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6927" y="1292352"/>
            <a:ext cx="4493853" cy="2136648"/>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chaining when implementing a Hash Table ...">
            <a:extLst>
              <a:ext uri="{FF2B5EF4-FFF2-40B4-BE49-F238E27FC236}">
                <a16:creationId xmlns:a16="http://schemas.microsoft.com/office/drawing/2014/main" id="{6B9BF466-24C8-CB22-1E6C-FF3A89136A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3557557"/>
            <a:ext cx="2443739" cy="2157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646247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A768B-90F9-7320-6C17-5617E49526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5F8D547-B412-88E0-8C4C-AB3CBA58528F}"/>
              </a:ext>
            </a:extLst>
          </p:cNvPr>
          <p:cNvSpPr>
            <a:spLocks noGrp="1"/>
          </p:cNvSpPr>
          <p:nvPr>
            <p:ph type="body" sz="quarter" idx="12"/>
          </p:nvPr>
        </p:nvSpPr>
        <p:spPr>
          <a:xfrm>
            <a:off x="76199" y="609600"/>
            <a:ext cx="8957003" cy="1008112"/>
          </a:xfrm>
        </p:spPr>
        <p:txBody>
          <a:bodyPr>
            <a:normAutofit fontScale="92500"/>
          </a:bodyPr>
          <a:lstStyle/>
          <a:p>
            <a:pPr algn="ctr"/>
            <a:r>
              <a:rPr lang="en-US" dirty="0"/>
              <a:t>Collisions / Chaining and Overflow</a:t>
            </a:r>
            <a:endParaRPr lang="en-IE" dirty="0"/>
          </a:p>
        </p:txBody>
      </p:sp>
      <p:pic>
        <p:nvPicPr>
          <p:cNvPr id="4" name="Picture 9" descr="fig13_10">
            <a:extLst>
              <a:ext uri="{FF2B5EF4-FFF2-40B4-BE49-F238E27FC236}">
                <a16:creationId xmlns:a16="http://schemas.microsoft.com/office/drawing/2014/main" id="{24FDF437-9055-8687-B2B4-959E2042E92A}"/>
              </a:ext>
            </a:extLst>
          </p:cNvPr>
          <p:cNvPicPr>
            <a:picLocks noChangeAspect="1" noChangeArrowheads="1"/>
          </p:cNvPicPr>
          <p:nvPr/>
        </p:nvPicPr>
        <p:blipFill>
          <a:blip r:embed="rId2" cstate="print"/>
          <a:srcRect/>
          <a:stretch>
            <a:fillRect/>
          </a:stretch>
        </p:blipFill>
        <p:spPr bwMode="auto">
          <a:xfrm>
            <a:off x="4168720" y="1516733"/>
            <a:ext cx="4652065" cy="3824534"/>
          </a:xfrm>
          <a:prstGeom prst="rect">
            <a:avLst/>
          </a:prstGeom>
          <a:noFill/>
          <a:ln w="9525">
            <a:noFill/>
            <a:miter lim="800000"/>
            <a:headEnd/>
            <a:tailEnd/>
          </a:ln>
        </p:spPr>
      </p:pic>
      <p:sp>
        <p:nvSpPr>
          <p:cNvPr id="5" name="TextBox 4">
            <a:extLst>
              <a:ext uri="{FF2B5EF4-FFF2-40B4-BE49-F238E27FC236}">
                <a16:creationId xmlns:a16="http://schemas.microsoft.com/office/drawing/2014/main" id="{2B3C3E28-CC0C-BE20-3636-0B8EA7D7F77F}"/>
              </a:ext>
            </a:extLst>
          </p:cNvPr>
          <p:cNvSpPr txBox="1"/>
          <p:nvPr/>
        </p:nvSpPr>
        <p:spPr>
          <a:xfrm>
            <a:off x="323215" y="1951672"/>
            <a:ext cx="365760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If a bucket is full due to too many collisions and they have fixed size,  we could use overflow buckets, common to all the buckets</a:t>
            </a:r>
          </a:p>
        </p:txBody>
      </p:sp>
    </p:spTree>
    <p:extLst>
      <p:ext uri="{BB962C8B-B14F-4D97-AF65-F5344CB8AC3E}">
        <p14:creationId xmlns:p14="http://schemas.microsoft.com/office/powerpoint/2010/main" val="242443965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82ECB-6C08-876B-7781-CB488A54C5D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058BB25-23A5-2B20-73BD-661D93A00489}"/>
              </a:ext>
            </a:extLst>
          </p:cNvPr>
          <p:cNvSpPr>
            <a:spLocks noGrp="1"/>
          </p:cNvSpPr>
          <p:nvPr>
            <p:ph type="body" sz="quarter" idx="12"/>
          </p:nvPr>
        </p:nvSpPr>
        <p:spPr>
          <a:xfrm>
            <a:off x="76199" y="609600"/>
            <a:ext cx="8957003" cy="1008112"/>
          </a:xfrm>
        </p:spPr>
        <p:txBody>
          <a:bodyPr>
            <a:normAutofit fontScale="92500" lnSpcReduction="10000"/>
          </a:bodyPr>
          <a:lstStyle/>
          <a:p>
            <a:pPr algn="ctr"/>
            <a:r>
              <a:rPr lang="en-US" dirty="0"/>
              <a:t>How to Handle Collisions / Open Addressing</a:t>
            </a:r>
            <a:endParaRPr lang="en-IE" dirty="0"/>
          </a:p>
        </p:txBody>
      </p:sp>
      <p:sp>
        <p:nvSpPr>
          <p:cNvPr id="5" name="TextBox 4">
            <a:extLst>
              <a:ext uri="{FF2B5EF4-FFF2-40B4-BE49-F238E27FC236}">
                <a16:creationId xmlns:a16="http://schemas.microsoft.com/office/drawing/2014/main" id="{F20047FC-E5F8-DE7B-4D20-6410D516ECDC}"/>
              </a:ext>
            </a:extLst>
          </p:cNvPr>
          <p:cNvSpPr txBox="1"/>
          <p:nvPr/>
        </p:nvSpPr>
        <p:spPr>
          <a:xfrm>
            <a:off x="299690" y="1752600"/>
            <a:ext cx="4958110" cy="3970318"/>
          </a:xfrm>
          <a:prstGeom prst="rect">
            <a:avLst/>
          </a:prstGeom>
          <a:noFill/>
        </p:spPr>
        <p:txBody>
          <a:bodyPr wrap="square" rtlCol="0">
            <a:spAutoFit/>
          </a:bodyPr>
          <a:lstStyle/>
          <a:p>
            <a:pPr marL="285750" indent="-285750">
              <a:buFont typeface="Arial" panose="020B0604020202020204" pitchFamily="34" charset="0"/>
              <a:buChar char="•"/>
            </a:pPr>
            <a:r>
              <a:rPr lang="en-US" dirty="0"/>
              <a:t>Buckets store </a:t>
            </a:r>
            <a:r>
              <a:rPr lang="en-US" b="1" u="sng" dirty="0"/>
              <a:t>exactly 1 value</a:t>
            </a:r>
          </a:p>
          <a:p>
            <a:pPr marL="285750" indent="-285750">
              <a:buFont typeface="Arial" panose="020B0604020202020204" pitchFamily="34" charset="0"/>
              <a:buChar char="•"/>
            </a:pPr>
            <a:r>
              <a:rPr lang="en-US" dirty="0"/>
              <a:t>If there is a collision</a:t>
            </a:r>
          </a:p>
          <a:p>
            <a:pPr marL="285750" indent="-285750">
              <a:buFont typeface="Arial" panose="020B0604020202020204" pitchFamily="34" charset="0"/>
              <a:buChar char="•"/>
            </a:pPr>
            <a:r>
              <a:rPr lang="en-US" dirty="0"/>
              <a:t>If a collision happens, the algorithm </a:t>
            </a:r>
            <a:r>
              <a:rPr lang="en-US" b="1" dirty="0"/>
              <a:t>probes</a:t>
            </a:r>
            <a:r>
              <a:rPr lang="en-US" dirty="0"/>
              <a:t> (searches) for another empty bucket according to a rule.</a:t>
            </a:r>
          </a:p>
          <a:p>
            <a:pPr marL="285750" indent="-285750">
              <a:buFont typeface="Arial" panose="020B0604020202020204" pitchFamily="34" charset="0"/>
              <a:buChar char="•"/>
            </a:pPr>
            <a:r>
              <a:rPr lang="en-US" dirty="0"/>
              <a:t>Let’s assume the size of the hash table is </a:t>
            </a:r>
            <a:r>
              <a:rPr lang="en-US" i="1" dirty="0"/>
              <a:t>size</a:t>
            </a:r>
          </a:p>
          <a:p>
            <a:pPr marL="285750" indent="-285750">
              <a:buFont typeface="Arial" panose="020B0604020202020204" pitchFamily="34" charset="0"/>
              <a:buChar char="•"/>
            </a:pPr>
            <a:r>
              <a:rPr lang="en-US" dirty="0"/>
              <a:t>Main three strategies:</a:t>
            </a:r>
          </a:p>
          <a:p>
            <a:pPr marL="800100" lvl="1" indent="-342900">
              <a:buFont typeface="+mj-lt"/>
              <a:buAutoNum type="arabicPeriod"/>
            </a:pPr>
            <a:r>
              <a:rPr lang="en-US" dirty="0"/>
              <a:t>Linear probing: check next slots → </a:t>
            </a:r>
            <a:r>
              <a:rPr lang="en-US" i="1" dirty="0"/>
              <a:t>(index + n) % size for n=1….size</a:t>
            </a:r>
          </a:p>
          <a:p>
            <a:pPr marL="800100" lvl="1" indent="-342900">
              <a:buFont typeface="+mj-lt"/>
              <a:buAutoNum type="arabicPeriod"/>
            </a:pPr>
            <a:r>
              <a:rPr lang="en-US" dirty="0"/>
              <a:t>Quadratic probing: check (index + n²), (index + n²), </a:t>
            </a:r>
            <a:r>
              <a:rPr lang="en-US" i="1" dirty="0"/>
              <a:t>for n=1….size</a:t>
            </a:r>
            <a:endParaRPr lang="en-US" dirty="0"/>
          </a:p>
          <a:p>
            <a:pPr marL="800100" lvl="1" indent="-342900">
              <a:buFont typeface="+mj-lt"/>
              <a:buAutoNum type="arabicPeriod"/>
            </a:pPr>
            <a:r>
              <a:rPr lang="en-US" dirty="0"/>
              <a:t>Double hashing: use a second hash function for the step size.</a:t>
            </a:r>
          </a:p>
        </p:txBody>
      </p:sp>
      <p:pic>
        <p:nvPicPr>
          <p:cNvPr id="7174" name="Picture 6" descr="Open addressing and chaining | Intro to ...">
            <a:extLst>
              <a:ext uri="{FF2B5EF4-FFF2-40B4-BE49-F238E27FC236}">
                <a16:creationId xmlns:a16="http://schemas.microsoft.com/office/drawing/2014/main" id="{2C8BA2D0-E2FD-5CE0-4C9D-91A383C02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2362200"/>
            <a:ext cx="2295525"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668888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C6DBE-11B9-190D-F5CC-2F6FE202364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AFEF581-A0FF-821E-66E5-04B9CE7D44D8}"/>
              </a:ext>
            </a:extLst>
          </p:cNvPr>
          <p:cNvSpPr>
            <a:spLocks noGrp="1"/>
          </p:cNvSpPr>
          <p:nvPr>
            <p:ph type="body" sz="quarter" idx="12"/>
          </p:nvPr>
        </p:nvSpPr>
        <p:spPr>
          <a:xfrm>
            <a:off x="12192" y="298344"/>
            <a:ext cx="8957003" cy="1008112"/>
          </a:xfrm>
        </p:spPr>
        <p:txBody>
          <a:bodyPr>
            <a:normAutofit/>
          </a:bodyPr>
          <a:lstStyle/>
          <a:p>
            <a:pPr algn="ctr"/>
            <a:r>
              <a:rPr lang="en-US" dirty="0"/>
              <a:t>Linear Probing</a:t>
            </a:r>
            <a:endParaRPr lang="en-IE" dirty="0"/>
          </a:p>
        </p:txBody>
      </p:sp>
      <p:sp>
        <p:nvSpPr>
          <p:cNvPr id="5" name="TextBox 4">
            <a:extLst>
              <a:ext uri="{FF2B5EF4-FFF2-40B4-BE49-F238E27FC236}">
                <a16:creationId xmlns:a16="http://schemas.microsoft.com/office/drawing/2014/main" id="{19A06173-D291-34E7-DFD5-CAF787C253C0}"/>
              </a:ext>
            </a:extLst>
          </p:cNvPr>
          <p:cNvSpPr txBox="1"/>
          <p:nvPr/>
        </p:nvSpPr>
        <p:spPr>
          <a:xfrm>
            <a:off x="302738" y="990600"/>
            <a:ext cx="4650262" cy="4524315"/>
          </a:xfrm>
          <a:prstGeom prst="rect">
            <a:avLst/>
          </a:prstGeom>
          <a:noFill/>
        </p:spPr>
        <p:txBody>
          <a:bodyPr wrap="square" rtlCol="0">
            <a:spAutoFit/>
          </a:bodyPr>
          <a:lstStyle/>
          <a:p>
            <a:r>
              <a:rPr lang="en-US" dirty="0"/>
              <a:t>Linear probing is a method to resolve collisions in a hash table using open addressing.</a:t>
            </a:r>
          </a:p>
          <a:p>
            <a:r>
              <a:rPr lang="en-US" dirty="0"/>
              <a:t>When a key hashes to a bucket that is already occupied, linear probing searches for the next available bucket in a sequential manner.</a:t>
            </a:r>
          </a:p>
          <a:p>
            <a:r>
              <a:rPr lang="en-US" dirty="0"/>
              <a:t>Typically, the next bucket is checked by adding 1 each time.</a:t>
            </a:r>
          </a:p>
          <a:p>
            <a:r>
              <a:rPr lang="en-US" dirty="0"/>
              <a:t>Formula:  </a:t>
            </a:r>
            <a:r>
              <a:rPr lang="en-US" b="1" i="1" dirty="0"/>
              <a:t>Index = (</a:t>
            </a:r>
            <a:r>
              <a:rPr lang="en-US" b="1" i="1" dirty="0" err="1"/>
              <a:t>h+i</a:t>
            </a:r>
            <a:r>
              <a:rPr lang="en-US" b="1" i="1" dirty="0"/>
              <a:t>) mod capacity</a:t>
            </a:r>
            <a:endParaRPr lang="en-US" b="1" dirty="0"/>
          </a:p>
          <a:p>
            <a:pPr marL="285750" indent="-285750">
              <a:buFont typeface="Arial" panose="020B0604020202020204" pitchFamily="34" charset="0"/>
              <a:buChar char="•"/>
            </a:pPr>
            <a:r>
              <a:rPr lang="en-US" dirty="0"/>
              <a:t>Pros: simple, memory-efficient</a:t>
            </a:r>
          </a:p>
          <a:p>
            <a:pPr marL="285750" indent="-285750">
              <a:buFont typeface="Arial" panose="020B0604020202020204" pitchFamily="34" charset="0"/>
              <a:buChar char="•"/>
            </a:pPr>
            <a:r>
              <a:rPr lang="en-US" dirty="0"/>
              <a:t>Cons: primary clustering of consecutive slots, sensitive to high load factor</a:t>
            </a:r>
          </a:p>
          <a:p>
            <a:pPr marL="285750" indent="-285750">
              <a:buFont typeface="Arial" panose="020B0604020202020204" pitchFamily="34" charset="0"/>
              <a:buChar char="•"/>
            </a:pPr>
            <a:r>
              <a:rPr lang="en-US" dirty="0"/>
              <a:t>Complexity: O(1) with no collisions, gradually becoming O(n) with high number of collisions</a:t>
            </a:r>
          </a:p>
        </p:txBody>
      </p:sp>
      <p:pic>
        <p:nvPicPr>
          <p:cNvPr id="13314" name="Picture 2" descr="11.5: Hashing- Open Addressing - Engineering LibreTexts">
            <a:extLst>
              <a:ext uri="{FF2B5EF4-FFF2-40B4-BE49-F238E27FC236}">
                <a16:creationId xmlns:a16="http://schemas.microsoft.com/office/drawing/2014/main" id="{DE3AA25C-F4C3-AE8D-22D6-3F67CA4E13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7141" y="2087181"/>
            <a:ext cx="4176814"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0159FDC-D04E-73DD-BD36-33C8703C399B}"/>
              </a:ext>
            </a:extLst>
          </p:cNvPr>
          <p:cNvSpPr txBox="1"/>
          <p:nvPr/>
        </p:nvSpPr>
        <p:spPr>
          <a:xfrm>
            <a:off x="5257800" y="1053025"/>
            <a:ext cx="4572000" cy="646331"/>
          </a:xfrm>
          <a:prstGeom prst="rect">
            <a:avLst/>
          </a:prstGeom>
          <a:noFill/>
        </p:spPr>
        <p:txBody>
          <a:bodyPr wrap="square">
            <a:spAutoFit/>
          </a:bodyPr>
          <a:lstStyle/>
          <a:p>
            <a:r>
              <a:rPr lang="en-US" b="1" i="1" dirty="0"/>
              <a:t>Index = (</a:t>
            </a:r>
            <a:r>
              <a:rPr lang="en-US" b="1" i="1" dirty="0" err="1"/>
              <a:t>h+i</a:t>
            </a:r>
            <a:r>
              <a:rPr lang="en-US" b="1" i="1" dirty="0"/>
              <a:t>) mod capacity,</a:t>
            </a:r>
          </a:p>
          <a:p>
            <a:r>
              <a:rPr lang="en-US" b="1" i="1" dirty="0" err="1"/>
              <a:t>i</a:t>
            </a:r>
            <a:r>
              <a:rPr lang="en-US" b="1" i="1" dirty="0"/>
              <a:t>=0,1,…</a:t>
            </a:r>
            <a:endParaRPr lang="en-US" b="1" dirty="0"/>
          </a:p>
        </p:txBody>
      </p:sp>
    </p:spTree>
    <p:extLst>
      <p:ext uri="{BB962C8B-B14F-4D97-AF65-F5344CB8AC3E}">
        <p14:creationId xmlns:p14="http://schemas.microsoft.com/office/powerpoint/2010/main" val="234961040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6026-6740-5B50-69C6-C5004C84BA0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5CCEDEA-7BB3-0CF7-23F2-4FA1F6290C1D}"/>
              </a:ext>
            </a:extLst>
          </p:cNvPr>
          <p:cNvSpPr>
            <a:spLocks noGrp="1"/>
          </p:cNvSpPr>
          <p:nvPr>
            <p:ph type="body" sz="quarter" idx="12"/>
          </p:nvPr>
        </p:nvSpPr>
        <p:spPr>
          <a:xfrm>
            <a:off x="12192" y="298344"/>
            <a:ext cx="8957003" cy="1008112"/>
          </a:xfrm>
        </p:spPr>
        <p:txBody>
          <a:bodyPr>
            <a:normAutofit/>
          </a:bodyPr>
          <a:lstStyle/>
          <a:p>
            <a:pPr algn="ctr"/>
            <a:r>
              <a:rPr lang="en-US" dirty="0"/>
              <a:t>Quadratic Probing</a:t>
            </a:r>
            <a:endParaRPr lang="en-IE" dirty="0"/>
          </a:p>
        </p:txBody>
      </p:sp>
      <p:sp>
        <p:nvSpPr>
          <p:cNvPr id="5" name="TextBox 4">
            <a:extLst>
              <a:ext uri="{FF2B5EF4-FFF2-40B4-BE49-F238E27FC236}">
                <a16:creationId xmlns:a16="http://schemas.microsoft.com/office/drawing/2014/main" id="{C6EFB593-AF4B-7CC7-64AA-BDD1C5CC4DE9}"/>
              </a:ext>
            </a:extLst>
          </p:cNvPr>
          <p:cNvSpPr txBox="1"/>
          <p:nvPr/>
        </p:nvSpPr>
        <p:spPr>
          <a:xfrm>
            <a:off x="302738" y="990600"/>
            <a:ext cx="4650262" cy="4801314"/>
          </a:xfrm>
          <a:prstGeom prst="rect">
            <a:avLst/>
          </a:prstGeom>
          <a:noFill/>
        </p:spPr>
        <p:txBody>
          <a:bodyPr wrap="square" rtlCol="0">
            <a:spAutoFit/>
          </a:bodyPr>
          <a:lstStyle/>
          <a:p>
            <a:r>
              <a:rPr lang="en-US" b="1" dirty="0"/>
              <a:t>Quadratic probing</a:t>
            </a:r>
            <a:r>
              <a:rPr lang="en-US" dirty="0"/>
              <a:t> is an </a:t>
            </a:r>
            <a:r>
              <a:rPr lang="en-US" b="1" dirty="0"/>
              <a:t>open addressing collision resolution technique</a:t>
            </a:r>
            <a:r>
              <a:rPr lang="en-US" dirty="0"/>
              <a:t>.</a:t>
            </a:r>
          </a:p>
          <a:p>
            <a:r>
              <a:rPr lang="en-US" dirty="0"/>
              <a:t>When a collision occurs, instead of checking the </a:t>
            </a:r>
            <a:r>
              <a:rPr lang="en-US" b="1" dirty="0"/>
              <a:t>next sequential slot</a:t>
            </a:r>
            <a:r>
              <a:rPr lang="en-US" dirty="0"/>
              <a:t> (like linear probing), it checks slots at a </a:t>
            </a:r>
            <a:r>
              <a:rPr lang="en-US" b="1" dirty="0"/>
              <a:t>quadratic distance</a:t>
            </a:r>
            <a:r>
              <a:rPr lang="en-US" dirty="0"/>
              <a:t> from the original hash.</a:t>
            </a:r>
          </a:p>
          <a:p>
            <a:r>
              <a:rPr lang="en-US" dirty="0"/>
              <a:t>Formula:  </a:t>
            </a:r>
            <a:r>
              <a:rPr lang="en-US" b="1" i="1" dirty="0"/>
              <a:t>Index = (h+i^2) mod capacity</a:t>
            </a:r>
            <a:endParaRPr lang="en-US" b="1" dirty="0"/>
          </a:p>
          <a:p>
            <a:pPr marL="285750" indent="-285750">
              <a:buFont typeface="Arial" panose="020B0604020202020204" pitchFamily="34" charset="0"/>
              <a:buChar char="•"/>
            </a:pPr>
            <a:r>
              <a:rPr lang="en-US" dirty="0"/>
              <a:t>Pros: still simple, avoid big primary sequential clusters</a:t>
            </a:r>
          </a:p>
          <a:p>
            <a:pPr marL="285750" indent="-285750">
              <a:buFont typeface="Arial" panose="020B0604020202020204" pitchFamily="34" charset="0"/>
              <a:buChar char="•"/>
            </a:pPr>
            <a:r>
              <a:rPr lang="en-US" dirty="0"/>
              <a:t>Cons: clusters are still possible (they are called secondary clusters), no guarantee to find a place in the table</a:t>
            </a:r>
          </a:p>
          <a:p>
            <a:pPr marL="285750" indent="-285750">
              <a:buFont typeface="Arial" panose="020B0604020202020204" pitchFamily="34" charset="0"/>
              <a:buChar char="•"/>
            </a:pPr>
            <a:r>
              <a:rPr lang="en-US" dirty="0"/>
              <a:t>Complexity: O(1) with no collisions, gradually becoming O(n) with high number of collisions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D2DEE29-5981-3EAD-7D59-C318F6FC05B6}"/>
                  </a:ext>
                </a:extLst>
              </p:cNvPr>
              <p:cNvSpPr txBox="1"/>
              <p:nvPr/>
            </p:nvSpPr>
            <p:spPr>
              <a:xfrm>
                <a:off x="4672300" y="1095802"/>
                <a:ext cx="416896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𝑖𝑛𝑑𝑒𝑥</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h</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2</m:t>
                              </m:r>
                            </m:sup>
                          </m:sSup>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𝑐𝑎𝑝𝑎𝑐𝑖𝑡𝑦</m:t>
                      </m:r>
                      <m:r>
                        <a:rPr lang="en-US" b="0" i="0" smtClean="0">
                          <a:latin typeface="Cambria Math" panose="02040503050406030204" pitchFamily="18" charset="0"/>
                        </a:rPr>
                        <m:t>, </m:t>
                      </m:r>
                      <m:r>
                        <m:rPr>
                          <m:sty m:val="p"/>
                        </m:rPr>
                        <a:rPr lang="en-US" b="0" i="0" smtClean="0">
                          <a:latin typeface="Cambria Math" panose="02040503050406030204" pitchFamily="18" charset="0"/>
                        </a:rPr>
                        <m:t>i</m:t>
                      </m:r>
                      <m:r>
                        <a:rPr lang="en-US" b="0" i="0" smtClean="0">
                          <a:latin typeface="Cambria Math" panose="02040503050406030204" pitchFamily="18" charset="0"/>
                        </a:rPr>
                        <m:t>=0,1,…</m:t>
                      </m:r>
                    </m:oMath>
                  </m:oMathPara>
                </a14:m>
                <a:endParaRPr lang="en-US" b="0" dirty="0"/>
              </a:p>
            </p:txBody>
          </p:sp>
        </mc:Choice>
        <mc:Fallback>
          <p:sp>
            <p:nvSpPr>
              <p:cNvPr id="3" name="TextBox 2">
                <a:extLst>
                  <a:ext uri="{FF2B5EF4-FFF2-40B4-BE49-F238E27FC236}">
                    <a16:creationId xmlns:a16="http://schemas.microsoft.com/office/drawing/2014/main" id="{7D2DEE29-5981-3EAD-7D59-C318F6FC05B6}"/>
                  </a:ext>
                </a:extLst>
              </p:cNvPr>
              <p:cNvSpPr txBox="1">
                <a:spLocks noRot="1" noChangeAspect="1" noMove="1" noResize="1" noEditPoints="1" noAdjustHandles="1" noChangeArrowheads="1" noChangeShapeType="1" noTextEdit="1"/>
              </p:cNvSpPr>
              <p:nvPr/>
            </p:nvSpPr>
            <p:spPr>
              <a:xfrm>
                <a:off x="4672300" y="1095802"/>
                <a:ext cx="4168962" cy="276999"/>
              </a:xfrm>
              <a:prstGeom prst="rect">
                <a:avLst/>
              </a:prstGeom>
              <a:blipFill>
                <a:blip r:embed="rId2"/>
                <a:stretch>
                  <a:fillRect l="-1316" b="-37778"/>
                </a:stretch>
              </a:blipFill>
            </p:spPr>
            <p:txBody>
              <a:bodyPr/>
              <a:lstStyle/>
              <a:p>
                <a:r>
                  <a:rPr lang="en-IE">
                    <a:noFill/>
                  </a:rPr>
                  <a:t> </a:t>
                </a:r>
              </a:p>
            </p:txBody>
          </p:sp>
        </mc:Fallback>
      </mc:AlternateContent>
      <p:graphicFrame>
        <p:nvGraphicFramePr>
          <p:cNvPr id="4" name="Table 3">
            <a:extLst>
              <a:ext uri="{FF2B5EF4-FFF2-40B4-BE49-F238E27FC236}">
                <a16:creationId xmlns:a16="http://schemas.microsoft.com/office/drawing/2014/main" id="{B8BE536D-8661-1D03-679B-4F1062E186D9}"/>
              </a:ext>
            </a:extLst>
          </p:cNvPr>
          <p:cNvGraphicFramePr>
            <a:graphicFrameLocks noGrp="1"/>
          </p:cNvGraphicFramePr>
          <p:nvPr>
            <p:extLst>
              <p:ext uri="{D42A27DB-BD31-4B8C-83A1-F6EECF244321}">
                <p14:modId xmlns:p14="http://schemas.microsoft.com/office/powerpoint/2010/main" val="620238338"/>
              </p:ext>
            </p:extLst>
          </p:nvPr>
        </p:nvGraphicFramePr>
        <p:xfrm>
          <a:off x="5126736" y="1628342"/>
          <a:ext cx="1371600" cy="256032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1620418216"/>
                    </a:ext>
                  </a:extLst>
                </a:gridCol>
                <a:gridCol w="685800">
                  <a:extLst>
                    <a:ext uri="{9D8B030D-6E8A-4147-A177-3AD203B41FA5}">
                      <a16:colId xmlns:a16="http://schemas.microsoft.com/office/drawing/2014/main" val="1939434737"/>
                    </a:ext>
                  </a:extLst>
                </a:gridCol>
              </a:tblGrid>
              <a:tr h="237833">
                <a:tc>
                  <a:txBody>
                    <a:bodyPr/>
                    <a:lstStyle/>
                    <a:p>
                      <a:pPr>
                        <a:buNone/>
                      </a:pPr>
                      <a:r>
                        <a:rPr lang="en-IE" sz="1500" dirty="0"/>
                        <a:t>Index</a:t>
                      </a:r>
                    </a:p>
                  </a:txBody>
                  <a:tcPr anchor="ctr"/>
                </a:tc>
                <a:tc>
                  <a:txBody>
                    <a:bodyPr/>
                    <a:lstStyle/>
                    <a:p>
                      <a:pPr>
                        <a:buNone/>
                      </a:pPr>
                      <a:r>
                        <a:rPr lang="en-IE" sz="1500" dirty="0"/>
                        <a:t>Value</a:t>
                      </a:r>
                    </a:p>
                  </a:txBody>
                  <a:tcPr anchor="ctr"/>
                </a:tc>
                <a:extLst>
                  <a:ext uri="{0D108BD9-81ED-4DB2-BD59-A6C34878D82A}">
                    <a16:rowId xmlns:a16="http://schemas.microsoft.com/office/drawing/2014/main" val="2050612894"/>
                  </a:ext>
                </a:extLst>
              </a:tr>
              <a:tr h="237833">
                <a:tc>
                  <a:txBody>
                    <a:bodyPr/>
                    <a:lstStyle/>
                    <a:p>
                      <a:pPr>
                        <a:buNone/>
                      </a:pPr>
                      <a:r>
                        <a:rPr lang="en-IE" sz="1500"/>
                        <a:t>0</a:t>
                      </a:r>
                    </a:p>
                  </a:txBody>
                  <a:tcPr anchor="ctr"/>
                </a:tc>
                <a:tc>
                  <a:txBody>
                    <a:bodyPr/>
                    <a:lstStyle/>
                    <a:p>
                      <a:pPr>
                        <a:buNone/>
                      </a:pPr>
                      <a:r>
                        <a:rPr lang="en-IE" sz="1500" dirty="0"/>
                        <a:t>17</a:t>
                      </a:r>
                    </a:p>
                  </a:txBody>
                  <a:tcPr anchor="ctr"/>
                </a:tc>
                <a:extLst>
                  <a:ext uri="{0D108BD9-81ED-4DB2-BD59-A6C34878D82A}">
                    <a16:rowId xmlns:a16="http://schemas.microsoft.com/office/drawing/2014/main" val="521528808"/>
                  </a:ext>
                </a:extLst>
              </a:tr>
              <a:tr h="237833">
                <a:tc>
                  <a:txBody>
                    <a:bodyPr/>
                    <a:lstStyle/>
                    <a:p>
                      <a:pPr>
                        <a:buNone/>
                      </a:pPr>
                      <a:r>
                        <a:rPr lang="en-IE" sz="1500"/>
                        <a:t>1</a:t>
                      </a:r>
                    </a:p>
                  </a:txBody>
                  <a:tcPr anchor="ctr"/>
                </a:tc>
                <a:tc>
                  <a:txBody>
                    <a:bodyPr/>
                    <a:lstStyle/>
                    <a:p>
                      <a:pPr>
                        <a:buNone/>
                      </a:pPr>
                      <a:r>
                        <a:rPr lang="en-US" sz="1500" dirty="0"/>
                        <a:t>8</a:t>
                      </a:r>
                      <a:endParaRPr lang="en-IE" sz="1500" dirty="0"/>
                    </a:p>
                  </a:txBody>
                  <a:tcPr anchor="ctr"/>
                </a:tc>
                <a:extLst>
                  <a:ext uri="{0D108BD9-81ED-4DB2-BD59-A6C34878D82A}">
                    <a16:rowId xmlns:a16="http://schemas.microsoft.com/office/drawing/2014/main" val="1779296604"/>
                  </a:ext>
                </a:extLst>
              </a:tr>
              <a:tr h="237833">
                <a:tc>
                  <a:txBody>
                    <a:bodyPr/>
                    <a:lstStyle/>
                    <a:p>
                      <a:pPr>
                        <a:buNone/>
                      </a:pPr>
                      <a:r>
                        <a:rPr lang="en-IE" sz="1500"/>
                        <a:t>2</a:t>
                      </a:r>
                    </a:p>
                  </a:txBody>
                  <a:tcPr anchor="ctr"/>
                </a:tc>
                <a:tc>
                  <a:txBody>
                    <a:bodyPr/>
                    <a:lstStyle/>
                    <a:p>
                      <a:pPr>
                        <a:buNone/>
                      </a:pPr>
                      <a:r>
                        <a:rPr lang="en-IE" sz="1500"/>
                        <a:t>-</a:t>
                      </a:r>
                    </a:p>
                  </a:txBody>
                  <a:tcPr anchor="ctr"/>
                </a:tc>
                <a:extLst>
                  <a:ext uri="{0D108BD9-81ED-4DB2-BD59-A6C34878D82A}">
                    <a16:rowId xmlns:a16="http://schemas.microsoft.com/office/drawing/2014/main" val="1094509631"/>
                  </a:ext>
                </a:extLst>
              </a:tr>
              <a:tr h="237833">
                <a:tc>
                  <a:txBody>
                    <a:bodyPr/>
                    <a:lstStyle/>
                    <a:p>
                      <a:pPr>
                        <a:buNone/>
                      </a:pPr>
                      <a:r>
                        <a:rPr lang="en-IE" sz="1500" dirty="0"/>
                        <a:t>3</a:t>
                      </a:r>
                    </a:p>
                  </a:txBody>
                  <a:tcPr anchor="ctr"/>
                </a:tc>
                <a:tc>
                  <a:txBody>
                    <a:bodyPr/>
                    <a:lstStyle/>
                    <a:p>
                      <a:pPr>
                        <a:buNone/>
                      </a:pPr>
                      <a:r>
                        <a:rPr lang="en-IE" sz="1500"/>
                        <a:t>3</a:t>
                      </a:r>
                    </a:p>
                  </a:txBody>
                  <a:tcPr anchor="ctr"/>
                </a:tc>
                <a:extLst>
                  <a:ext uri="{0D108BD9-81ED-4DB2-BD59-A6C34878D82A}">
                    <a16:rowId xmlns:a16="http://schemas.microsoft.com/office/drawing/2014/main" val="1928643230"/>
                  </a:ext>
                </a:extLst>
              </a:tr>
              <a:tr h="237833">
                <a:tc>
                  <a:txBody>
                    <a:bodyPr/>
                    <a:lstStyle/>
                    <a:p>
                      <a:pPr>
                        <a:buNone/>
                      </a:pPr>
                      <a:r>
                        <a:rPr lang="en-IE" sz="1500"/>
                        <a:t>4</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4724942"/>
                  </a:ext>
                </a:extLst>
              </a:tr>
              <a:tr h="237833">
                <a:tc>
                  <a:txBody>
                    <a:bodyPr/>
                    <a:lstStyle/>
                    <a:p>
                      <a:pPr>
                        <a:buNone/>
                      </a:pPr>
                      <a:r>
                        <a:rPr lang="en-IE" sz="1500"/>
                        <a:t>5</a:t>
                      </a:r>
                    </a:p>
                  </a:txBody>
                  <a:tcPr anchor="ctr"/>
                </a:tc>
                <a:tc>
                  <a:txBody>
                    <a:bodyPr/>
                    <a:lstStyle/>
                    <a:p>
                      <a:pPr>
                        <a:buNone/>
                      </a:pPr>
                      <a:r>
                        <a:rPr lang="en-IE" sz="1500"/>
                        <a:t>-</a:t>
                      </a:r>
                    </a:p>
                  </a:txBody>
                  <a:tcPr anchor="ctr"/>
                </a:tc>
                <a:extLst>
                  <a:ext uri="{0D108BD9-81ED-4DB2-BD59-A6C34878D82A}">
                    <a16:rowId xmlns:a16="http://schemas.microsoft.com/office/drawing/2014/main" val="1868443493"/>
                  </a:ext>
                </a:extLst>
              </a:tr>
              <a:tr h="237833">
                <a:tc>
                  <a:txBody>
                    <a:bodyPr/>
                    <a:lstStyle/>
                    <a:p>
                      <a:pPr>
                        <a:buNone/>
                      </a:pPr>
                      <a:r>
                        <a:rPr lang="en-IE" sz="1500"/>
                        <a:t>6</a:t>
                      </a:r>
                    </a:p>
                  </a:txBody>
                  <a:tcPr anchor="ctr"/>
                </a:tc>
                <a:tc>
                  <a:txBody>
                    <a:bodyPr/>
                    <a:lstStyle/>
                    <a:p>
                      <a:pPr>
                        <a:buNone/>
                      </a:pPr>
                      <a:r>
                        <a:rPr lang="en-IE" sz="1500" dirty="0"/>
                        <a:t>-</a:t>
                      </a:r>
                    </a:p>
                  </a:txBody>
                  <a:tcPr anchor="ctr"/>
                </a:tc>
                <a:extLst>
                  <a:ext uri="{0D108BD9-81ED-4DB2-BD59-A6C34878D82A}">
                    <a16:rowId xmlns:a16="http://schemas.microsoft.com/office/drawing/2014/main" val="3876748933"/>
                  </a:ext>
                </a:extLst>
              </a:tr>
            </a:tbl>
          </a:graphicData>
        </a:graphic>
      </p:graphicFrame>
      <p:sp>
        <p:nvSpPr>
          <p:cNvPr id="7" name="TextBox 6">
            <a:extLst>
              <a:ext uri="{FF2B5EF4-FFF2-40B4-BE49-F238E27FC236}">
                <a16:creationId xmlns:a16="http://schemas.microsoft.com/office/drawing/2014/main" id="{2F9FD58F-FE20-6F33-5C65-CAE234AE2C5F}"/>
              </a:ext>
            </a:extLst>
          </p:cNvPr>
          <p:cNvSpPr txBox="1"/>
          <p:nvPr/>
        </p:nvSpPr>
        <p:spPr>
          <a:xfrm>
            <a:off x="5105400" y="4267200"/>
            <a:ext cx="4038600" cy="1477328"/>
          </a:xfrm>
          <a:prstGeom prst="rect">
            <a:avLst/>
          </a:prstGeom>
          <a:noFill/>
        </p:spPr>
        <p:txBody>
          <a:bodyPr wrap="square" rtlCol="0">
            <a:spAutoFit/>
          </a:bodyPr>
          <a:lstStyle/>
          <a:p>
            <a:r>
              <a:rPr lang="en-US" sz="1500" dirty="0"/>
              <a:t>Add 14</a:t>
            </a:r>
          </a:p>
          <a:p>
            <a:pPr marL="285750" indent="-285750">
              <a:buFont typeface="Arial" panose="020B0604020202020204" pitchFamily="34" charset="0"/>
              <a:buChar char="•"/>
            </a:pPr>
            <a:r>
              <a:rPr lang="en-US" sz="1500" dirty="0"/>
              <a:t>14 mod 7 = 0 (Bucket 0 occupied)</a:t>
            </a:r>
          </a:p>
          <a:p>
            <a:pPr marL="285750" indent="-285750">
              <a:buFont typeface="Arial" panose="020B0604020202020204" pitchFamily="34" charset="0"/>
              <a:buChar char="•"/>
            </a:pPr>
            <a:r>
              <a:rPr lang="en-US" sz="1500" dirty="0"/>
              <a:t>Try bucket (0+1^2) = 1 (Bucket 1 occupied)</a:t>
            </a:r>
          </a:p>
          <a:p>
            <a:pPr marL="285750" indent="-285750">
              <a:buFont typeface="Arial" panose="020B0604020202020204" pitchFamily="34" charset="0"/>
              <a:buChar char="•"/>
            </a:pPr>
            <a:r>
              <a:rPr lang="en-US" sz="1500" dirty="0"/>
              <a:t>Try bucket (0+2^2) = 4 Buket 4 Free)</a:t>
            </a:r>
          </a:p>
          <a:p>
            <a:pPr marL="285750" indent="-285750">
              <a:buFont typeface="Arial" panose="020B0604020202020204" pitchFamily="34" charset="0"/>
              <a:buChar char="•"/>
            </a:pPr>
            <a:r>
              <a:rPr lang="en-US" sz="1500" dirty="0"/>
              <a:t>Insert 14 into bucket 4  </a:t>
            </a:r>
            <a:endParaRPr lang="en-IE" sz="1500" dirty="0"/>
          </a:p>
        </p:txBody>
      </p:sp>
      <p:graphicFrame>
        <p:nvGraphicFramePr>
          <p:cNvPr id="8" name="Table 7">
            <a:extLst>
              <a:ext uri="{FF2B5EF4-FFF2-40B4-BE49-F238E27FC236}">
                <a16:creationId xmlns:a16="http://schemas.microsoft.com/office/drawing/2014/main" id="{53E74BF1-B5FB-E648-C247-95859A7B1773}"/>
              </a:ext>
            </a:extLst>
          </p:cNvPr>
          <p:cNvGraphicFramePr>
            <a:graphicFrameLocks noGrp="1"/>
          </p:cNvGraphicFramePr>
          <p:nvPr>
            <p:extLst>
              <p:ext uri="{D42A27DB-BD31-4B8C-83A1-F6EECF244321}">
                <p14:modId xmlns:p14="http://schemas.microsoft.com/office/powerpoint/2010/main" val="3296696538"/>
              </p:ext>
            </p:extLst>
          </p:nvPr>
        </p:nvGraphicFramePr>
        <p:xfrm>
          <a:off x="7133844" y="1640535"/>
          <a:ext cx="1371600" cy="256032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1620418216"/>
                    </a:ext>
                  </a:extLst>
                </a:gridCol>
                <a:gridCol w="685800">
                  <a:extLst>
                    <a:ext uri="{9D8B030D-6E8A-4147-A177-3AD203B41FA5}">
                      <a16:colId xmlns:a16="http://schemas.microsoft.com/office/drawing/2014/main" val="1939434737"/>
                    </a:ext>
                  </a:extLst>
                </a:gridCol>
              </a:tblGrid>
              <a:tr h="0">
                <a:tc>
                  <a:txBody>
                    <a:bodyPr/>
                    <a:lstStyle/>
                    <a:p>
                      <a:pPr>
                        <a:buNone/>
                      </a:pPr>
                      <a:r>
                        <a:rPr lang="en-IE" sz="1500" dirty="0"/>
                        <a:t>Index</a:t>
                      </a:r>
                    </a:p>
                  </a:txBody>
                  <a:tcPr anchor="ctr"/>
                </a:tc>
                <a:tc>
                  <a:txBody>
                    <a:bodyPr/>
                    <a:lstStyle/>
                    <a:p>
                      <a:pPr>
                        <a:buNone/>
                      </a:pPr>
                      <a:r>
                        <a:rPr lang="en-IE" sz="1500"/>
                        <a:t>Value</a:t>
                      </a:r>
                    </a:p>
                  </a:txBody>
                  <a:tcPr anchor="ctr"/>
                </a:tc>
                <a:extLst>
                  <a:ext uri="{0D108BD9-81ED-4DB2-BD59-A6C34878D82A}">
                    <a16:rowId xmlns:a16="http://schemas.microsoft.com/office/drawing/2014/main" val="2050612894"/>
                  </a:ext>
                </a:extLst>
              </a:tr>
              <a:tr h="0">
                <a:tc>
                  <a:txBody>
                    <a:bodyPr/>
                    <a:lstStyle/>
                    <a:p>
                      <a:pPr>
                        <a:buNone/>
                      </a:pPr>
                      <a:r>
                        <a:rPr lang="en-IE" sz="1500"/>
                        <a:t>0</a:t>
                      </a:r>
                    </a:p>
                  </a:txBody>
                  <a:tcPr anchor="ctr"/>
                </a:tc>
                <a:tc>
                  <a:txBody>
                    <a:bodyPr/>
                    <a:lstStyle/>
                    <a:p>
                      <a:pPr>
                        <a:buNone/>
                      </a:pPr>
                      <a:r>
                        <a:rPr lang="en-IE" sz="1500" dirty="0"/>
                        <a:t>17</a:t>
                      </a:r>
                    </a:p>
                  </a:txBody>
                  <a:tcPr anchor="ctr"/>
                </a:tc>
                <a:extLst>
                  <a:ext uri="{0D108BD9-81ED-4DB2-BD59-A6C34878D82A}">
                    <a16:rowId xmlns:a16="http://schemas.microsoft.com/office/drawing/2014/main" val="521528808"/>
                  </a:ext>
                </a:extLst>
              </a:tr>
              <a:tr h="0">
                <a:tc>
                  <a:txBody>
                    <a:bodyPr/>
                    <a:lstStyle/>
                    <a:p>
                      <a:pPr>
                        <a:buNone/>
                      </a:pPr>
                      <a:r>
                        <a:rPr lang="en-IE" sz="1500" dirty="0"/>
                        <a:t>1</a:t>
                      </a:r>
                    </a:p>
                  </a:txBody>
                  <a:tcPr anchor="ctr"/>
                </a:tc>
                <a:tc>
                  <a:txBody>
                    <a:bodyPr/>
                    <a:lstStyle/>
                    <a:p>
                      <a:pPr>
                        <a:buNone/>
                      </a:pPr>
                      <a:r>
                        <a:rPr lang="en-US" sz="1500" dirty="0"/>
                        <a:t>8</a:t>
                      </a:r>
                      <a:endParaRPr lang="en-IE" sz="1500" dirty="0"/>
                    </a:p>
                  </a:txBody>
                  <a:tcPr anchor="ctr"/>
                </a:tc>
                <a:extLst>
                  <a:ext uri="{0D108BD9-81ED-4DB2-BD59-A6C34878D82A}">
                    <a16:rowId xmlns:a16="http://schemas.microsoft.com/office/drawing/2014/main" val="1779296604"/>
                  </a:ext>
                </a:extLst>
              </a:tr>
              <a:tr h="0">
                <a:tc>
                  <a:txBody>
                    <a:bodyPr/>
                    <a:lstStyle/>
                    <a:p>
                      <a:pPr>
                        <a:buNone/>
                      </a:pPr>
                      <a:r>
                        <a:rPr lang="en-IE" sz="1500"/>
                        <a:t>2</a:t>
                      </a:r>
                    </a:p>
                  </a:txBody>
                  <a:tcPr anchor="ctr"/>
                </a:tc>
                <a:tc>
                  <a:txBody>
                    <a:bodyPr/>
                    <a:lstStyle/>
                    <a:p>
                      <a:pPr>
                        <a:buNone/>
                      </a:pPr>
                      <a:r>
                        <a:rPr lang="en-IE" sz="1500"/>
                        <a:t>-</a:t>
                      </a:r>
                    </a:p>
                  </a:txBody>
                  <a:tcPr anchor="ctr"/>
                </a:tc>
                <a:extLst>
                  <a:ext uri="{0D108BD9-81ED-4DB2-BD59-A6C34878D82A}">
                    <a16:rowId xmlns:a16="http://schemas.microsoft.com/office/drawing/2014/main" val="1094509631"/>
                  </a:ext>
                </a:extLst>
              </a:tr>
              <a:tr h="0">
                <a:tc>
                  <a:txBody>
                    <a:bodyPr/>
                    <a:lstStyle/>
                    <a:p>
                      <a:pPr>
                        <a:buNone/>
                      </a:pPr>
                      <a:r>
                        <a:rPr lang="en-IE" sz="1500" dirty="0"/>
                        <a:t>3</a:t>
                      </a:r>
                    </a:p>
                  </a:txBody>
                  <a:tcPr anchor="ctr"/>
                </a:tc>
                <a:tc>
                  <a:txBody>
                    <a:bodyPr/>
                    <a:lstStyle/>
                    <a:p>
                      <a:pPr>
                        <a:buNone/>
                      </a:pPr>
                      <a:r>
                        <a:rPr lang="en-IE" sz="1500"/>
                        <a:t>3</a:t>
                      </a:r>
                    </a:p>
                  </a:txBody>
                  <a:tcPr anchor="ctr"/>
                </a:tc>
                <a:extLst>
                  <a:ext uri="{0D108BD9-81ED-4DB2-BD59-A6C34878D82A}">
                    <a16:rowId xmlns:a16="http://schemas.microsoft.com/office/drawing/2014/main" val="1928643230"/>
                  </a:ext>
                </a:extLst>
              </a:tr>
              <a:tr h="0">
                <a:tc>
                  <a:txBody>
                    <a:bodyPr/>
                    <a:lstStyle/>
                    <a:p>
                      <a:pPr>
                        <a:buNone/>
                      </a:pPr>
                      <a:r>
                        <a:rPr lang="en-IE" sz="1500" b="1" dirty="0"/>
                        <a:t>4</a:t>
                      </a:r>
                    </a:p>
                  </a:txBody>
                  <a:tcPr anchor="ctr"/>
                </a:tc>
                <a:tc>
                  <a:txBody>
                    <a:bodyPr/>
                    <a:lstStyle/>
                    <a:p>
                      <a:pPr>
                        <a:buNone/>
                      </a:pPr>
                      <a:r>
                        <a:rPr lang="en-US" sz="1500" b="1" dirty="0"/>
                        <a:t>14</a:t>
                      </a:r>
                      <a:endParaRPr lang="en-IE" sz="1500" b="1" dirty="0"/>
                    </a:p>
                  </a:txBody>
                  <a:tcPr anchor="ctr"/>
                </a:tc>
                <a:extLst>
                  <a:ext uri="{0D108BD9-81ED-4DB2-BD59-A6C34878D82A}">
                    <a16:rowId xmlns:a16="http://schemas.microsoft.com/office/drawing/2014/main" val="4724942"/>
                  </a:ext>
                </a:extLst>
              </a:tr>
              <a:tr h="0">
                <a:tc>
                  <a:txBody>
                    <a:bodyPr/>
                    <a:lstStyle/>
                    <a:p>
                      <a:pPr>
                        <a:buNone/>
                      </a:pPr>
                      <a:r>
                        <a:rPr lang="en-IE" sz="1500"/>
                        <a:t>5</a:t>
                      </a:r>
                    </a:p>
                  </a:txBody>
                  <a:tcPr anchor="ctr"/>
                </a:tc>
                <a:tc>
                  <a:txBody>
                    <a:bodyPr/>
                    <a:lstStyle/>
                    <a:p>
                      <a:pPr>
                        <a:buNone/>
                      </a:pPr>
                      <a:r>
                        <a:rPr lang="en-IE" sz="1500"/>
                        <a:t>-</a:t>
                      </a:r>
                    </a:p>
                  </a:txBody>
                  <a:tcPr anchor="ctr"/>
                </a:tc>
                <a:extLst>
                  <a:ext uri="{0D108BD9-81ED-4DB2-BD59-A6C34878D82A}">
                    <a16:rowId xmlns:a16="http://schemas.microsoft.com/office/drawing/2014/main" val="1868443493"/>
                  </a:ext>
                </a:extLst>
              </a:tr>
              <a:tr h="0">
                <a:tc>
                  <a:txBody>
                    <a:bodyPr/>
                    <a:lstStyle/>
                    <a:p>
                      <a:pPr>
                        <a:buNone/>
                      </a:pPr>
                      <a:r>
                        <a:rPr lang="en-IE" sz="1500"/>
                        <a:t>6</a:t>
                      </a:r>
                    </a:p>
                  </a:txBody>
                  <a:tcPr anchor="ctr"/>
                </a:tc>
                <a:tc>
                  <a:txBody>
                    <a:bodyPr/>
                    <a:lstStyle/>
                    <a:p>
                      <a:pPr>
                        <a:buNone/>
                      </a:pPr>
                      <a:r>
                        <a:rPr lang="en-IE" sz="1500" dirty="0"/>
                        <a:t>-</a:t>
                      </a:r>
                    </a:p>
                  </a:txBody>
                  <a:tcPr anchor="ctr"/>
                </a:tc>
                <a:extLst>
                  <a:ext uri="{0D108BD9-81ED-4DB2-BD59-A6C34878D82A}">
                    <a16:rowId xmlns:a16="http://schemas.microsoft.com/office/drawing/2014/main" val="3876748933"/>
                  </a:ext>
                </a:extLst>
              </a:tr>
            </a:tbl>
          </a:graphicData>
        </a:graphic>
      </p:graphicFrame>
    </p:spTree>
    <p:extLst>
      <p:ext uri="{BB962C8B-B14F-4D97-AF65-F5344CB8AC3E}">
        <p14:creationId xmlns:p14="http://schemas.microsoft.com/office/powerpoint/2010/main" val="34989723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3E3EA-90D3-6006-EDA5-8708B56639A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A10C57E-4FB8-6A8A-FB50-850F6E88B85B}"/>
              </a:ext>
            </a:extLst>
          </p:cNvPr>
          <p:cNvSpPr>
            <a:spLocks noGrp="1"/>
          </p:cNvSpPr>
          <p:nvPr>
            <p:ph type="body" sz="quarter" idx="12"/>
          </p:nvPr>
        </p:nvSpPr>
        <p:spPr>
          <a:xfrm>
            <a:off x="12192" y="298344"/>
            <a:ext cx="8957003" cy="1008112"/>
          </a:xfrm>
        </p:spPr>
        <p:txBody>
          <a:bodyPr>
            <a:normAutofit/>
          </a:bodyPr>
          <a:lstStyle/>
          <a:p>
            <a:pPr algn="ctr"/>
            <a:r>
              <a:rPr lang="en-US" dirty="0"/>
              <a:t>Double Hashing</a:t>
            </a:r>
            <a:endParaRPr lang="en-IE"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BAA512E-CC41-1005-B19E-4BA0067F4108}"/>
                  </a:ext>
                </a:extLst>
              </p:cNvPr>
              <p:cNvSpPr txBox="1"/>
              <p:nvPr/>
            </p:nvSpPr>
            <p:spPr>
              <a:xfrm>
                <a:off x="304799" y="2061186"/>
                <a:ext cx="8664395" cy="3970318"/>
              </a:xfrm>
              <a:prstGeom prst="rect">
                <a:avLst/>
              </a:prstGeom>
              <a:noFill/>
            </p:spPr>
            <p:txBody>
              <a:bodyPr wrap="square" rtlCol="0">
                <a:spAutoFit/>
              </a:bodyPr>
              <a:lstStyle/>
              <a:p>
                <a:r>
                  <a:rPr lang="en-IE" dirty="0"/>
                  <a:t>Double hashing uses two hash functions instead of one.</a:t>
                </a:r>
              </a:p>
              <a:p>
                <a:pPr marL="285750" indent="-285750">
                  <a:buFont typeface="Arial" panose="020B0604020202020204" pitchFamily="34" charset="0"/>
                  <a:buChar char="•"/>
                </a:pPr>
                <a:r>
                  <a:rPr lang="en-IE" dirty="0"/>
                  <a:t>The first hash function </a:t>
                </a:r>
                <a14:m>
                  <m:oMath xmlns:m="http://schemas.openxmlformats.org/officeDocument/2006/math">
                    <m:sSub>
                      <m:sSubPr>
                        <m:ctrlPr>
                          <a:rPr lang="ar-AE"/>
                        </m:ctrlPr>
                      </m:sSubPr>
                      <m:e>
                        <m:r>
                          <a:rPr lang="ar-AE" b="0" i="1" smtClean="0">
                            <a:latin typeface="Cambria Math" panose="02040503050406030204" pitchFamily="18" charset="0"/>
                          </a:rPr>
                          <m:t>h</m:t>
                        </m:r>
                      </m:e>
                      <m:sub>
                        <m:r>
                          <a:rPr lang="ar-AE" b="0" smtClean="0">
                            <a:latin typeface="Cambria Math" panose="02040503050406030204" pitchFamily="18" charset="0"/>
                          </a:rPr>
                          <m:t>1</m:t>
                        </m:r>
                      </m:sub>
                    </m:sSub>
                    <m:d>
                      <m:dPr>
                        <m:ctrlPr>
                          <a:rPr lang="ar-AE" i="1"/>
                        </m:ctrlPr>
                      </m:dPr>
                      <m:e>
                        <m:r>
                          <a:rPr lang="ar-AE" b="0" i="1" smtClean="0">
                            <a:latin typeface="Cambria Math" panose="02040503050406030204" pitchFamily="18" charset="0"/>
                          </a:rPr>
                          <m:t>𝑘𝑒𝑦</m:t>
                        </m:r>
                      </m:e>
                    </m:d>
                  </m:oMath>
                </a14:m>
                <a:r>
                  <a:rPr lang="en-IE" dirty="0"/>
                  <a:t> determines the initial bucket.</a:t>
                </a:r>
              </a:p>
              <a:p>
                <a:pPr marL="285750" indent="-285750">
                  <a:buFont typeface="Arial" panose="020B0604020202020204" pitchFamily="34" charset="0"/>
                  <a:buChar char="•"/>
                </a:pPr>
                <a:r>
                  <a:rPr lang="en-IE" dirty="0"/>
                  <a:t>The second hash function </a:t>
                </a:r>
                <a14:m>
                  <m:oMath xmlns:m="http://schemas.openxmlformats.org/officeDocument/2006/math">
                    <m:sSub>
                      <m:sSubPr>
                        <m:ctrlPr>
                          <a:rPr lang="ar-AE"/>
                        </m:ctrlPr>
                      </m:sSubPr>
                      <m:e>
                        <m:r>
                          <a:rPr lang="ar-AE" b="0" i="1" smtClean="0">
                            <a:latin typeface="Cambria Math" panose="02040503050406030204" pitchFamily="18" charset="0"/>
                          </a:rPr>
                          <m:t>h</m:t>
                        </m:r>
                      </m:e>
                      <m:sub>
                        <m:r>
                          <a:rPr lang="ar-AE" b="0" smtClean="0">
                            <a:latin typeface="Cambria Math" panose="02040503050406030204" pitchFamily="18" charset="0"/>
                          </a:rPr>
                          <m:t>2</m:t>
                        </m:r>
                      </m:sub>
                    </m:sSub>
                    <m:d>
                      <m:dPr>
                        <m:ctrlPr>
                          <a:rPr lang="ar-AE" i="1"/>
                        </m:ctrlPr>
                      </m:dPr>
                      <m:e>
                        <m:r>
                          <a:rPr lang="ar-AE" b="0" i="1" smtClean="0">
                            <a:latin typeface="Cambria Math" panose="02040503050406030204" pitchFamily="18" charset="0"/>
                          </a:rPr>
                          <m:t>𝑘𝑒𝑦</m:t>
                        </m:r>
                      </m:e>
                    </m:d>
                  </m:oMath>
                </a14:m>
                <a:r>
                  <a:rPr lang="en-IE" dirty="0"/>
                  <a:t> determines the step size for probing if a collision occurs.</a:t>
                </a:r>
              </a:p>
              <a:p>
                <a:r>
                  <a:rPr lang="en-US" dirty="0"/>
                  <a:t>Even keys with same initial hash go to different sequences of buckets since h1 and h2 are different → reduces clustering significantly.</a:t>
                </a:r>
              </a:p>
              <a:p>
                <a:r>
                  <a:rPr lang="en-US" dirty="0"/>
                  <a:t>Example:</a:t>
                </a:r>
              </a:p>
              <a:p>
                <a:r>
                  <a:rPr lang="en-US" dirty="0"/>
                  <a:t>Suppose we have:</a:t>
                </a:r>
              </a:p>
              <a:p>
                <a:r>
                  <a:rPr lang="en-US" dirty="0"/>
                  <a:t>Hash table capacity = 7</a:t>
                </a:r>
              </a:p>
              <a:p>
                <a:r>
                  <a:rPr lang="en-US" dirty="0"/>
                  <a:t>Keys = 10, 3, 17</a:t>
                </a:r>
              </a:p>
              <a:p>
                <a:r>
                  <a:rPr lang="en-US" dirty="0"/>
                  <a:t>Define two hash functions:</a:t>
                </a:r>
              </a:p>
              <a:p>
                <a:r>
                  <a:rPr lang="en-US" dirty="0"/>
                  <a:t>h1(key) = key % 7 → initial bucket</a:t>
                </a:r>
              </a:p>
              <a:p>
                <a:r>
                  <a:rPr lang="en-US" dirty="0"/>
                  <a:t>h2(key) = key % 5 → step size (must be non-zero and less than capacity)</a:t>
                </a:r>
              </a:p>
              <a:p>
                <a:endParaRPr lang="en-IE" dirty="0"/>
              </a:p>
            </p:txBody>
          </p:sp>
        </mc:Choice>
        <mc:Fallback>
          <p:sp>
            <p:nvSpPr>
              <p:cNvPr id="5" name="TextBox 4">
                <a:extLst>
                  <a:ext uri="{FF2B5EF4-FFF2-40B4-BE49-F238E27FC236}">
                    <a16:creationId xmlns:a16="http://schemas.microsoft.com/office/drawing/2014/main" id="{FBAA512E-CC41-1005-B19E-4BA0067F4108}"/>
                  </a:ext>
                </a:extLst>
              </p:cNvPr>
              <p:cNvSpPr txBox="1">
                <a:spLocks noRot="1" noChangeAspect="1" noMove="1" noResize="1" noEditPoints="1" noAdjustHandles="1" noChangeArrowheads="1" noChangeShapeType="1" noTextEdit="1"/>
              </p:cNvSpPr>
              <p:nvPr/>
            </p:nvSpPr>
            <p:spPr>
              <a:xfrm>
                <a:off x="304799" y="2061186"/>
                <a:ext cx="8664395" cy="3970318"/>
              </a:xfrm>
              <a:prstGeom prst="rect">
                <a:avLst/>
              </a:prstGeom>
              <a:blipFill>
                <a:blip r:embed="rId2"/>
                <a:stretch>
                  <a:fillRect l="-563" t="-768"/>
                </a:stretch>
              </a:blipFill>
            </p:spPr>
            <p:txBody>
              <a:bodyPr/>
              <a:lstStyle/>
              <a:p>
                <a:r>
                  <a:rPr lang="en-IE">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ED6518A-4E59-21D2-FAC3-13C3D19D3A33}"/>
                  </a:ext>
                </a:extLst>
              </p:cNvPr>
              <p:cNvSpPr txBox="1"/>
              <p:nvPr/>
            </p:nvSpPr>
            <p:spPr>
              <a:xfrm>
                <a:off x="2184369" y="1225670"/>
                <a:ext cx="4905254" cy="29527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1700" b="0" i="1" smtClean="0">
                          <a:latin typeface="Cambria Math" panose="02040503050406030204" pitchFamily="18" charset="0"/>
                        </a:rPr>
                        <m:t>𝑖𝑛𝑑𝑒𝑥</m:t>
                      </m:r>
                      <m:r>
                        <a:rPr lang="en-US" sz="1700" b="0" i="1" smtClean="0">
                          <a:latin typeface="Cambria Math" panose="02040503050406030204" pitchFamily="18" charset="0"/>
                        </a:rPr>
                        <m:t>=</m:t>
                      </m:r>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h</m:t>
                              </m:r>
                            </m:e>
                            <m:sub>
                              <m:r>
                                <a:rPr lang="en-US" sz="1700" b="0" i="1" smtClean="0">
                                  <a:latin typeface="Cambria Math" panose="02040503050406030204" pitchFamily="18" charset="0"/>
                                </a:rPr>
                                <m:t>1</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𝑥</m:t>
                              </m:r>
                            </m:e>
                          </m:d>
                          <m:r>
                            <a:rPr lang="en-US" sz="1700" b="0" i="1" smtClean="0">
                              <a:latin typeface="Cambria Math" panose="02040503050406030204" pitchFamily="18" charset="0"/>
                            </a:rPr>
                            <m:t>+</m:t>
                          </m:r>
                          <m:r>
                            <a:rPr lang="en-US" sz="1700" b="0" i="1" smtClean="0">
                              <a:latin typeface="Cambria Math" panose="02040503050406030204" pitchFamily="18" charset="0"/>
                            </a:rPr>
                            <m:t>𝑖</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h</m:t>
                              </m:r>
                            </m:e>
                            <m:sub>
                              <m:r>
                                <a:rPr lang="en-US" sz="1700" b="0" i="1" smtClean="0">
                                  <a:latin typeface="Cambria Math" panose="02040503050406030204" pitchFamily="18" charset="0"/>
                                </a:rPr>
                                <m:t>2</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𝑥</m:t>
                              </m:r>
                            </m:e>
                          </m:d>
                        </m:e>
                      </m:d>
                      <m:r>
                        <a:rPr lang="en-US" sz="1700" b="0" i="1" smtClean="0">
                          <a:latin typeface="Cambria Math" panose="02040503050406030204" pitchFamily="18" charset="0"/>
                        </a:rPr>
                        <m:t>𝑚𝑜𝑑</m:t>
                      </m:r>
                      <m:r>
                        <a:rPr lang="en-US" sz="1700" b="0" i="1" smtClean="0">
                          <a:latin typeface="Cambria Math" panose="02040503050406030204" pitchFamily="18" charset="0"/>
                        </a:rPr>
                        <m:t> </m:t>
                      </m:r>
                      <m:r>
                        <a:rPr lang="en-US" sz="1700" b="0" i="1" smtClean="0">
                          <a:latin typeface="Cambria Math" panose="02040503050406030204" pitchFamily="18" charset="0"/>
                        </a:rPr>
                        <m:t>𝑠𝑖𝑧𝑒</m:t>
                      </m:r>
                      <m:r>
                        <a:rPr lang="en-US" sz="1700" b="0" i="1" smtClean="0">
                          <a:latin typeface="Cambria Math" panose="02040503050406030204" pitchFamily="18" charset="0"/>
                        </a:rPr>
                        <m:t>,  </m:t>
                      </m:r>
                      <m:r>
                        <a:rPr lang="en-US" sz="1700" b="0" i="1" smtClean="0">
                          <a:latin typeface="Cambria Math" panose="02040503050406030204" pitchFamily="18" charset="0"/>
                        </a:rPr>
                        <m:t>𝑖</m:t>
                      </m:r>
                      <m:r>
                        <a:rPr lang="en-US" sz="1700" b="0" i="1" smtClean="0">
                          <a:latin typeface="Cambria Math" panose="02040503050406030204" pitchFamily="18" charset="0"/>
                        </a:rPr>
                        <m:t>=</m:t>
                      </m:r>
                      <m:r>
                        <a:rPr lang="en-US" sz="1700" b="0" i="1" smtClean="0">
                          <a:latin typeface="Cambria Math" panose="02040503050406030204" pitchFamily="18" charset="0"/>
                        </a:rPr>
                        <m:t>0</m:t>
                      </m:r>
                      <m:r>
                        <a:rPr lang="en-US" sz="1700" b="0" i="1" smtClean="0">
                          <a:latin typeface="Cambria Math" panose="02040503050406030204" pitchFamily="18" charset="0"/>
                        </a:rPr>
                        <m:t>,</m:t>
                      </m:r>
                      <m:r>
                        <a:rPr lang="en-US" sz="1700" b="0" i="1" smtClean="0">
                          <a:latin typeface="Cambria Math" panose="02040503050406030204" pitchFamily="18" charset="0"/>
                        </a:rPr>
                        <m:t>1</m:t>
                      </m:r>
                      <m:r>
                        <a:rPr lang="en-US" sz="1700" b="0" i="1" smtClean="0">
                          <a:latin typeface="Cambria Math" panose="02040503050406030204" pitchFamily="18" charset="0"/>
                        </a:rPr>
                        <m:t>,…</m:t>
                      </m:r>
                    </m:oMath>
                  </m:oMathPara>
                </a14:m>
                <a:endParaRPr lang="en-US" sz="1700" b="0" i="1" dirty="0"/>
              </a:p>
            </p:txBody>
          </p:sp>
        </mc:Choice>
        <mc:Fallback>
          <p:sp>
            <p:nvSpPr>
              <p:cNvPr id="3" name="TextBox 2">
                <a:extLst>
                  <a:ext uri="{FF2B5EF4-FFF2-40B4-BE49-F238E27FC236}">
                    <a16:creationId xmlns:a16="http://schemas.microsoft.com/office/drawing/2014/main" id="{BED6518A-4E59-21D2-FAC3-13C3D19D3A33}"/>
                  </a:ext>
                </a:extLst>
              </p:cNvPr>
              <p:cNvSpPr txBox="1">
                <a:spLocks noRot="1" noChangeAspect="1" noMove="1" noResize="1" noEditPoints="1" noAdjustHandles="1" noChangeArrowheads="1" noChangeShapeType="1" noTextEdit="1"/>
              </p:cNvSpPr>
              <p:nvPr/>
            </p:nvSpPr>
            <p:spPr>
              <a:xfrm>
                <a:off x="2184369" y="1225670"/>
                <a:ext cx="4905254" cy="295274"/>
              </a:xfrm>
              <a:prstGeom prst="rect">
                <a:avLst/>
              </a:prstGeom>
              <a:blipFill>
                <a:blip r:embed="rId3"/>
                <a:stretch>
                  <a:fillRect l="-621" b="-10417"/>
                </a:stretch>
              </a:blipFill>
            </p:spPr>
            <p:txBody>
              <a:bodyPr/>
              <a:lstStyle/>
              <a:p>
                <a:r>
                  <a:rPr lang="en-IE">
                    <a:noFill/>
                  </a:rPr>
                  <a:t> </a:t>
                </a:r>
              </a:p>
            </p:txBody>
          </p:sp>
        </mc:Fallback>
      </mc:AlternateContent>
    </p:spTree>
    <p:extLst>
      <p:ext uri="{BB962C8B-B14F-4D97-AF65-F5344CB8AC3E}">
        <p14:creationId xmlns:p14="http://schemas.microsoft.com/office/powerpoint/2010/main" val="257322507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544B-8F79-6B7D-32FC-1964425A3BB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65B3999-ADF9-5FEF-8DF0-754A85926C79}"/>
              </a:ext>
            </a:extLst>
          </p:cNvPr>
          <p:cNvSpPr>
            <a:spLocks noGrp="1"/>
          </p:cNvSpPr>
          <p:nvPr>
            <p:ph type="body" sz="quarter" idx="12"/>
          </p:nvPr>
        </p:nvSpPr>
        <p:spPr>
          <a:xfrm>
            <a:off x="12192" y="298344"/>
            <a:ext cx="8957003" cy="1008112"/>
          </a:xfrm>
        </p:spPr>
        <p:txBody>
          <a:bodyPr>
            <a:normAutofit/>
          </a:bodyPr>
          <a:lstStyle/>
          <a:p>
            <a:pPr algn="ctr"/>
            <a:r>
              <a:rPr lang="en-US" dirty="0"/>
              <a:t>Double Hashing</a:t>
            </a:r>
            <a:endParaRPr lang="en-IE" dirty="0"/>
          </a:p>
        </p:txBody>
      </p:sp>
      <p:graphicFrame>
        <p:nvGraphicFramePr>
          <p:cNvPr id="4" name="Table 3">
            <a:extLst>
              <a:ext uri="{FF2B5EF4-FFF2-40B4-BE49-F238E27FC236}">
                <a16:creationId xmlns:a16="http://schemas.microsoft.com/office/drawing/2014/main" id="{9976B567-DFD2-C6BD-7475-35B313BBA6FA}"/>
              </a:ext>
            </a:extLst>
          </p:cNvPr>
          <p:cNvGraphicFramePr>
            <a:graphicFrameLocks noGrp="1"/>
          </p:cNvGraphicFramePr>
          <p:nvPr>
            <p:extLst>
              <p:ext uri="{D42A27DB-BD31-4B8C-83A1-F6EECF244321}">
                <p14:modId xmlns:p14="http://schemas.microsoft.com/office/powerpoint/2010/main" val="2675116274"/>
              </p:ext>
            </p:extLst>
          </p:nvPr>
        </p:nvGraphicFramePr>
        <p:xfrm>
          <a:off x="990600" y="1828800"/>
          <a:ext cx="1371600" cy="320040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1620418216"/>
                    </a:ext>
                  </a:extLst>
                </a:gridCol>
                <a:gridCol w="685800">
                  <a:extLst>
                    <a:ext uri="{9D8B030D-6E8A-4147-A177-3AD203B41FA5}">
                      <a16:colId xmlns:a16="http://schemas.microsoft.com/office/drawing/2014/main" val="1939434737"/>
                    </a:ext>
                  </a:extLst>
                </a:gridCol>
              </a:tblGrid>
              <a:tr h="237833">
                <a:tc>
                  <a:txBody>
                    <a:bodyPr/>
                    <a:lstStyle/>
                    <a:p>
                      <a:pPr>
                        <a:buNone/>
                      </a:pPr>
                      <a:r>
                        <a:rPr lang="en-IE" sz="1500" dirty="0"/>
                        <a:t>Index</a:t>
                      </a:r>
                    </a:p>
                  </a:txBody>
                  <a:tcPr anchor="ctr"/>
                </a:tc>
                <a:tc>
                  <a:txBody>
                    <a:bodyPr/>
                    <a:lstStyle/>
                    <a:p>
                      <a:pPr>
                        <a:buNone/>
                      </a:pPr>
                      <a:r>
                        <a:rPr lang="en-IE" sz="1500" dirty="0"/>
                        <a:t>Value</a:t>
                      </a:r>
                    </a:p>
                  </a:txBody>
                  <a:tcPr anchor="ctr"/>
                </a:tc>
                <a:extLst>
                  <a:ext uri="{0D108BD9-81ED-4DB2-BD59-A6C34878D82A}">
                    <a16:rowId xmlns:a16="http://schemas.microsoft.com/office/drawing/2014/main" val="2050612894"/>
                  </a:ext>
                </a:extLst>
              </a:tr>
              <a:tr h="237833">
                <a:tc>
                  <a:txBody>
                    <a:bodyPr/>
                    <a:lstStyle/>
                    <a:p>
                      <a:pPr>
                        <a:buNone/>
                      </a:pPr>
                      <a:r>
                        <a:rPr lang="en-IE" sz="1500"/>
                        <a:t>0</a:t>
                      </a:r>
                    </a:p>
                  </a:txBody>
                  <a:tcPr anchor="ctr"/>
                </a:tc>
                <a:tc>
                  <a:txBody>
                    <a:bodyPr/>
                    <a:lstStyle/>
                    <a:p>
                      <a:pPr>
                        <a:buNone/>
                      </a:pPr>
                      <a:r>
                        <a:rPr lang="en-IE" sz="1500" dirty="0"/>
                        <a:t>17</a:t>
                      </a:r>
                    </a:p>
                  </a:txBody>
                  <a:tcPr anchor="ctr"/>
                </a:tc>
                <a:extLst>
                  <a:ext uri="{0D108BD9-81ED-4DB2-BD59-A6C34878D82A}">
                    <a16:rowId xmlns:a16="http://schemas.microsoft.com/office/drawing/2014/main" val="521528808"/>
                  </a:ext>
                </a:extLst>
              </a:tr>
              <a:tr h="237833">
                <a:tc>
                  <a:txBody>
                    <a:bodyPr/>
                    <a:lstStyle/>
                    <a:p>
                      <a:pPr>
                        <a:buNone/>
                      </a:pPr>
                      <a:r>
                        <a:rPr lang="en-IE" sz="1500"/>
                        <a:t>1</a:t>
                      </a:r>
                    </a:p>
                  </a:txBody>
                  <a:tcPr anchor="ctr"/>
                </a:tc>
                <a:tc>
                  <a:txBody>
                    <a:bodyPr/>
                    <a:lstStyle/>
                    <a:p>
                      <a:pPr>
                        <a:buNone/>
                      </a:pPr>
                      <a:r>
                        <a:rPr lang="en-US" sz="1500" dirty="0"/>
                        <a:t>8</a:t>
                      </a:r>
                      <a:endParaRPr lang="en-IE" sz="1500" dirty="0"/>
                    </a:p>
                  </a:txBody>
                  <a:tcPr anchor="ctr"/>
                </a:tc>
                <a:extLst>
                  <a:ext uri="{0D108BD9-81ED-4DB2-BD59-A6C34878D82A}">
                    <a16:rowId xmlns:a16="http://schemas.microsoft.com/office/drawing/2014/main" val="1779296604"/>
                  </a:ext>
                </a:extLst>
              </a:tr>
              <a:tr h="237833">
                <a:tc>
                  <a:txBody>
                    <a:bodyPr/>
                    <a:lstStyle/>
                    <a:p>
                      <a:pPr>
                        <a:buNone/>
                      </a:pPr>
                      <a:r>
                        <a:rPr lang="en-IE" sz="1500"/>
                        <a:t>2</a:t>
                      </a:r>
                    </a:p>
                  </a:txBody>
                  <a:tcPr anchor="ctr"/>
                </a:tc>
                <a:tc>
                  <a:txBody>
                    <a:bodyPr/>
                    <a:lstStyle/>
                    <a:p>
                      <a:pPr>
                        <a:buNone/>
                      </a:pPr>
                      <a:r>
                        <a:rPr lang="en-IE" sz="1500"/>
                        <a:t>-</a:t>
                      </a:r>
                    </a:p>
                  </a:txBody>
                  <a:tcPr anchor="ctr"/>
                </a:tc>
                <a:extLst>
                  <a:ext uri="{0D108BD9-81ED-4DB2-BD59-A6C34878D82A}">
                    <a16:rowId xmlns:a16="http://schemas.microsoft.com/office/drawing/2014/main" val="1094509631"/>
                  </a:ext>
                </a:extLst>
              </a:tr>
              <a:tr h="237833">
                <a:tc>
                  <a:txBody>
                    <a:bodyPr/>
                    <a:lstStyle/>
                    <a:p>
                      <a:pPr>
                        <a:buNone/>
                      </a:pPr>
                      <a:r>
                        <a:rPr lang="en-IE" sz="1500" dirty="0"/>
                        <a:t>3</a:t>
                      </a:r>
                    </a:p>
                  </a:txBody>
                  <a:tcPr anchor="ctr"/>
                </a:tc>
                <a:tc>
                  <a:txBody>
                    <a:bodyPr/>
                    <a:lstStyle/>
                    <a:p>
                      <a:pPr>
                        <a:buNone/>
                      </a:pPr>
                      <a:r>
                        <a:rPr lang="en-IE" sz="1500"/>
                        <a:t>3</a:t>
                      </a:r>
                    </a:p>
                  </a:txBody>
                  <a:tcPr anchor="ctr"/>
                </a:tc>
                <a:extLst>
                  <a:ext uri="{0D108BD9-81ED-4DB2-BD59-A6C34878D82A}">
                    <a16:rowId xmlns:a16="http://schemas.microsoft.com/office/drawing/2014/main" val="1928643230"/>
                  </a:ext>
                </a:extLst>
              </a:tr>
              <a:tr h="237833">
                <a:tc>
                  <a:txBody>
                    <a:bodyPr/>
                    <a:lstStyle/>
                    <a:p>
                      <a:pPr>
                        <a:buNone/>
                      </a:pPr>
                      <a:r>
                        <a:rPr lang="en-IE" sz="1500"/>
                        <a:t>4</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4724942"/>
                  </a:ext>
                </a:extLst>
              </a:tr>
              <a:tr h="237833">
                <a:tc>
                  <a:txBody>
                    <a:bodyPr/>
                    <a:lstStyle/>
                    <a:p>
                      <a:pPr>
                        <a:buNone/>
                      </a:pPr>
                      <a:r>
                        <a:rPr lang="en-IE" sz="1500"/>
                        <a:t>5</a:t>
                      </a:r>
                    </a:p>
                  </a:txBody>
                  <a:tcPr anchor="ctr"/>
                </a:tc>
                <a:tc>
                  <a:txBody>
                    <a:bodyPr/>
                    <a:lstStyle/>
                    <a:p>
                      <a:pPr>
                        <a:buNone/>
                      </a:pPr>
                      <a:r>
                        <a:rPr lang="en-US" sz="1500" dirty="0"/>
                        <a:t>3</a:t>
                      </a:r>
                      <a:r>
                        <a:rPr lang="en-IE" sz="1500" dirty="0"/>
                        <a:t>4</a:t>
                      </a:r>
                    </a:p>
                  </a:txBody>
                  <a:tcPr anchor="ctr"/>
                </a:tc>
                <a:extLst>
                  <a:ext uri="{0D108BD9-81ED-4DB2-BD59-A6C34878D82A}">
                    <a16:rowId xmlns:a16="http://schemas.microsoft.com/office/drawing/2014/main" val="1868443493"/>
                  </a:ext>
                </a:extLst>
              </a:tr>
              <a:tr h="237833">
                <a:tc>
                  <a:txBody>
                    <a:bodyPr/>
                    <a:lstStyle/>
                    <a:p>
                      <a:pPr>
                        <a:buNone/>
                      </a:pPr>
                      <a:r>
                        <a:rPr lang="en-IE" sz="1500"/>
                        <a:t>6</a:t>
                      </a:r>
                    </a:p>
                  </a:txBody>
                  <a:tcPr anchor="ctr"/>
                </a:tc>
                <a:tc>
                  <a:txBody>
                    <a:bodyPr/>
                    <a:lstStyle/>
                    <a:p>
                      <a:pPr>
                        <a:buNone/>
                      </a:pPr>
                      <a:r>
                        <a:rPr lang="en-IE" sz="1500" dirty="0"/>
                        <a:t>-</a:t>
                      </a:r>
                    </a:p>
                  </a:txBody>
                  <a:tcPr anchor="ctr"/>
                </a:tc>
                <a:extLst>
                  <a:ext uri="{0D108BD9-81ED-4DB2-BD59-A6C34878D82A}">
                    <a16:rowId xmlns:a16="http://schemas.microsoft.com/office/drawing/2014/main" val="3876748933"/>
                  </a:ext>
                </a:extLst>
              </a:tr>
              <a:tr h="237833">
                <a:tc>
                  <a:txBody>
                    <a:bodyPr/>
                    <a:lstStyle/>
                    <a:p>
                      <a:pPr>
                        <a:buNone/>
                      </a:pPr>
                      <a:r>
                        <a:rPr lang="en-US" sz="1500" dirty="0"/>
                        <a:t>7</a:t>
                      </a:r>
                      <a:endParaRPr lang="en-IE" sz="1500" dirty="0"/>
                    </a:p>
                  </a:txBody>
                  <a:tcPr anchor="ctr"/>
                </a:tc>
                <a:tc>
                  <a:txBody>
                    <a:bodyPr/>
                    <a:lstStyle/>
                    <a:p>
                      <a:pPr>
                        <a:buNone/>
                      </a:pPr>
                      <a:endParaRPr lang="en-IE" sz="1500" dirty="0"/>
                    </a:p>
                  </a:txBody>
                  <a:tcPr anchor="ctr"/>
                </a:tc>
                <a:extLst>
                  <a:ext uri="{0D108BD9-81ED-4DB2-BD59-A6C34878D82A}">
                    <a16:rowId xmlns:a16="http://schemas.microsoft.com/office/drawing/2014/main" val="3513390846"/>
                  </a:ext>
                </a:extLst>
              </a:tr>
              <a:tr h="237833">
                <a:tc>
                  <a:txBody>
                    <a:bodyPr/>
                    <a:lstStyle/>
                    <a:p>
                      <a:pPr>
                        <a:buNone/>
                      </a:pPr>
                      <a:r>
                        <a:rPr lang="en-US" sz="1500" dirty="0"/>
                        <a:t>8</a:t>
                      </a:r>
                      <a:endParaRPr lang="en-IE" sz="1500" dirty="0"/>
                    </a:p>
                  </a:txBody>
                  <a:tcPr anchor="ctr"/>
                </a:tc>
                <a:tc>
                  <a:txBody>
                    <a:bodyPr/>
                    <a:lstStyle/>
                    <a:p>
                      <a:pPr>
                        <a:buNone/>
                      </a:pPr>
                      <a:endParaRPr lang="en-IE" sz="1500" dirty="0"/>
                    </a:p>
                  </a:txBody>
                  <a:tcPr anchor="ctr"/>
                </a:tc>
                <a:extLst>
                  <a:ext uri="{0D108BD9-81ED-4DB2-BD59-A6C34878D82A}">
                    <a16:rowId xmlns:a16="http://schemas.microsoft.com/office/drawing/2014/main" val="974491227"/>
                  </a:ext>
                </a:extLst>
              </a:tr>
            </a:tbl>
          </a:graphicData>
        </a:graphic>
      </p:graphicFrame>
      <p:sp>
        <p:nvSpPr>
          <p:cNvPr id="6" name="TextBox 5">
            <a:extLst>
              <a:ext uri="{FF2B5EF4-FFF2-40B4-BE49-F238E27FC236}">
                <a16:creationId xmlns:a16="http://schemas.microsoft.com/office/drawing/2014/main" id="{DCAA4F5F-9DEC-392A-2CF1-9D2F37FD7534}"/>
              </a:ext>
            </a:extLst>
          </p:cNvPr>
          <p:cNvSpPr txBox="1"/>
          <p:nvPr/>
        </p:nvSpPr>
        <p:spPr>
          <a:xfrm>
            <a:off x="423672" y="1120980"/>
            <a:ext cx="1780032" cy="323165"/>
          </a:xfrm>
          <a:prstGeom prst="rect">
            <a:avLst/>
          </a:prstGeom>
          <a:noFill/>
        </p:spPr>
        <p:txBody>
          <a:bodyPr wrap="square" rtlCol="0">
            <a:spAutoFit/>
          </a:bodyPr>
          <a:lstStyle/>
          <a:p>
            <a:pPr algn="ctr"/>
            <a:r>
              <a:rPr lang="en-US" sz="1500" dirty="0"/>
              <a:t>H1(x) = x mod 9</a:t>
            </a:r>
            <a:endParaRPr lang="en-IE" sz="1500" dirty="0"/>
          </a:p>
        </p:txBody>
      </p:sp>
      <p:graphicFrame>
        <p:nvGraphicFramePr>
          <p:cNvPr id="7" name="Table 6">
            <a:extLst>
              <a:ext uri="{FF2B5EF4-FFF2-40B4-BE49-F238E27FC236}">
                <a16:creationId xmlns:a16="http://schemas.microsoft.com/office/drawing/2014/main" id="{12132D3B-4645-A38D-B030-FA82A21BBDDA}"/>
              </a:ext>
            </a:extLst>
          </p:cNvPr>
          <p:cNvGraphicFramePr>
            <a:graphicFrameLocks noGrp="1"/>
          </p:cNvGraphicFramePr>
          <p:nvPr>
            <p:extLst>
              <p:ext uri="{D42A27DB-BD31-4B8C-83A1-F6EECF244321}">
                <p14:modId xmlns:p14="http://schemas.microsoft.com/office/powerpoint/2010/main" val="2101267228"/>
              </p:ext>
            </p:extLst>
          </p:nvPr>
        </p:nvGraphicFramePr>
        <p:xfrm>
          <a:off x="7467600" y="1828800"/>
          <a:ext cx="1371600" cy="320040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1620418216"/>
                    </a:ext>
                  </a:extLst>
                </a:gridCol>
                <a:gridCol w="685800">
                  <a:extLst>
                    <a:ext uri="{9D8B030D-6E8A-4147-A177-3AD203B41FA5}">
                      <a16:colId xmlns:a16="http://schemas.microsoft.com/office/drawing/2014/main" val="1939434737"/>
                    </a:ext>
                  </a:extLst>
                </a:gridCol>
              </a:tblGrid>
              <a:tr h="320040">
                <a:tc>
                  <a:txBody>
                    <a:bodyPr/>
                    <a:lstStyle/>
                    <a:p>
                      <a:pPr>
                        <a:buNone/>
                      </a:pPr>
                      <a:r>
                        <a:rPr lang="en-IE" sz="1500" dirty="0"/>
                        <a:t>Index</a:t>
                      </a:r>
                    </a:p>
                  </a:txBody>
                  <a:tcPr anchor="ctr"/>
                </a:tc>
                <a:tc>
                  <a:txBody>
                    <a:bodyPr/>
                    <a:lstStyle/>
                    <a:p>
                      <a:pPr>
                        <a:buNone/>
                      </a:pPr>
                      <a:r>
                        <a:rPr lang="en-IE" sz="1500"/>
                        <a:t>Value</a:t>
                      </a:r>
                    </a:p>
                  </a:txBody>
                  <a:tcPr anchor="ctr"/>
                </a:tc>
                <a:extLst>
                  <a:ext uri="{0D108BD9-81ED-4DB2-BD59-A6C34878D82A}">
                    <a16:rowId xmlns:a16="http://schemas.microsoft.com/office/drawing/2014/main" val="2050612894"/>
                  </a:ext>
                </a:extLst>
              </a:tr>
              <a:tr h="320040">
                <a:tc>
                  <a:txBody>
                    <a:bodyPr/>
                    <a:lstStyle/>
                    <a:p>
                      <a:pPr>
                        <a:buNone/>
                      </a:pPr>
                      <a:r>
                        <a:rPr lang="en-IE" sz="1500" dirty="0"/>
                        <a:t>0</a:t>
                      </a:r>
                    </a:p>
                  </a:txBody>
                  <a:tcPr anchor="ctr"/>
                </a:tc>
                <a:tc>
                  <a:txBody>
                    <a:bodyPr/>
                    <a:lstStyle/>
                    <a:p>
                      <a:pPr>
                        <a:buNone/>
                      </a:pPr>
                      <a:r>
                        <a:rPr lang="en-IE" sz="1500" dirty="0"/>
                        <a:t>17</a:t>
                      </a:r>
                    </a:p>
                  </a:txBody>
                  <a:tcPr anchor="ctr"/>
                </a:tc>
                <a:extLst>
                  <a:ext uri="{0D108BD9-81ED-4DB2-BD59-A6C34878D82A}">
                    <a16:rowId xmlns:a16="http://schemas.microsoft.com/office/drawing/2014/main" val="521528808"/>
                  </a:ext>
                </a:extLst>
              </a:tr>
              <a:tr h="320040">
                <a:tc>
                  <a:txBody>
                    <a:bodyPr/>
                    <a:lstStyle/>
                    <a:p>
                      <a:pPr>
                        <a:buNone/>
                      </a:pPr>
                      <a:r>
                        <a:rPr lang="en-IE" sz="1500" dirty="0"/>
                        <a:t>1</a:t>
                      </a:r>
                    </a:p>
                  </a:txBody>
                  <a:tcPr anchor="ctr"/>
                </a:tc>
                <a:tc>
                  <a:txBody>
                    <a:bodyPr/>
                    <a:lstStyle/>
                    <a:p>
                      <a:pPr>
                        <a:buNone/>
                      </a:pPr>
                      <a:r>
                        <a:rPr lang="en-US" sz="1500" dirty="0"/>
                        <a:t>8</a:t>
                      </a:r>
                      <a:endParaRPr lang="en-IE" sz="1500" dirty="0"/>
                    </a:p>
                  </a:txBody>
                  <a:tcPr anchor="ctr"/>
                </a:tc>
                <a:extLst>
                  <a:ext uri="{0D108BD9-81ED-4DB2-BD59-A6C34878D82A}">
                    <a16:rowId xmlns:a16="http://schemas.microsoft.com/office/drawing/2014/main" val="1779296604"/>
                  </a:ext>
                </a:extLst>
              </a:tr>
              <a:tr h="320040">
                <a:tc>
                  <a:txBody>
                    <a:bodyPr/>
                    <a:lstStyle/>
                    <a:p>
                      <a:pPr>
                        <a:buNone/>
                      </a:pPr>
                      <a:r>
                        <a:rPr lang="en-IE" sz="1500"/>
                        <a:t>2</a:t>
                      </a:r>
                    </a:p>
                  </a:txBody>
                  <a:tcPr anchor="ctr"/>
                </a:tc>
                <a:tc>
                  <a:txBody>
                    <a:bodyPr/>
                    <a:lstStyle/>
                    <a:p>
                      <a:pPr>
                        <a:buNone/>
                      </a:pPr>
                      <a:r>
                        <a:rPr lang="en-IE" sz="1500"/>
                        <a:t>-</a:t>
                      </a:r>
                    </a:p>
                  </a:txBody>
                  <a:tcPr anchor="ctr"/>
                </a:tc>
                <a:extLst>
                  <a:ext uri="{0D108BD9-81ED-4DB2-BD59-A6C34878D82A}">
                    <a16:rowId xmlns:a16="http://schemas.microsoft.com/office/drawing/2014/main" val="1094509631"/>
                  </a:ext>
                </a:extLst>
              </a:tr>
              <a:tr h="320040">
                <a:tc>
                  <a:txBody>
                    <a:bodyPr/>
                    <a:lstStyle/>
                    <a:p>
                      <a:pPr>
                        <a:buNone/>
                      </a:pPr>
                      <a:r>
                        <a:rPr lang="en-IE" sz="1500" dirty="0"/>
                        <a:t>3</a:t>
                      </a:r>
                    </a:p>
                  </a:txBody>
                  <a:tcPr anchor="ctr"/>
                </a:tc>
                <a:tc>
                  <a:txBody>
                    <a:bodyPr/>
                    <a:lstStyle/>
                    <a:p>
                      <a:pPr>
                        <a:buNone/>
                      </a:pPr>
                      <a:r>
                        <a:rPr lang="en-IE" sz="1500"/>
                        <a:t>3</a:t>
                      </a:r>
                    </a:p>
                  </a:txBody>
                  <a:tcPr anchor="ctr"/>
                </a:tc>
                <a:extLst>
                  <a:ext uri="{0D108BD9-81ED-4DB2-BD59-A6C34878D82A}">
                    <a16:rowId xmlns:a16="http://schemas.microsoft.com/office/drawing/2014/main" val="1928643230"/>
                  </a:ext>
                </a:extLst>
              </a:tr>
              <a:tr h="320040">
                <a:tc>
                  <a:txBody>
                    <a:bodyPr/>
                    <a:lstStyle/>
                    <a:p>
                      <a:pPr>
                        <a:buNone/>
                      </a:pPr>
                      <a:r>
                        <a:rPr lang="en-IE" sz="1500" b="0" dirty="0"/>
                        <a:t>4</a:t>
                      </a:r>
                    </a:p>
                  </a:txBody>
                  <a:tcPr anchor="ctr"/>
                </a:tc>
                <a:tc>
                  <a:txBody>
                    <a:bodyPr/>
                    <a:lstStyle/>
                    <a:p>
                      <a:pPr>
                        <a:buNone/>
                      </a:pPr>
                      <a:r>
                        <a:rPr lang="en-US" sz="1500" b="0" dirty="0"/>
                        <a:t>-</a:t>
                      </a:r>
                      <a:endParaRPr lang="en-IE" sz="1500" b="0" dirty="0"/>
                    </a:p>
                  </a:txBody>
                  <a:tcPr anchor="ctr"/>
                </a:tc>
                <a:extLst>
                  <a:ext uri="{0D108BD9-81ED-4DB2-BD59-A6C34878D82A}">
                    <a16:rowId xmlns:a16="http://schemas.microsoft.com/office/drawing/2014/main" val="4724942"/>
                  </a:ext>
                </a:extLst>
              </a:tr>
              <a:tr h="320040">
                <a:tc>
                  <a:txBody>
                    <a:bodyPr/>
                    <a:lstStyle/>
                    <a:p>
                      <a:pPr>
                        <a:buNone/>
                      </a:pPr>
                      <a:r>
                        <a:rPr lang="en-IE" sz="1500" b="0"/>
                        <a:t>5</a:t>
                      </a:r>
                    </a:p>
                  </a:txBody>
                  <a:tcPr anchor="ctr"/>
                </a:tc>
                <a:tc>
                  <a:txBody>
                    <a:bodyPr/>
                    <a:lstStyle/>
                    <a:p>
                      <a:pPr>
                        <a:buNone/>
                      </a:pPr>
                      <a:r>
                        <a:rPr lang="en-US" sz="1500" b="0" dirty="0"/>
                        <a:t>3</a:t>
                      </a:r>
                      <a:r>
                        <a:rPr lang="en-IE" sz="1500" b="0" dirty="0"/>
                        <a:t>4</a:t>
                      </a:r>
                    </a:p>
                  </a:txBody>
                  <a:tcPr anchor="ctr"/>
                </a:tc>
                <a:extLst>
                  <a:ext uri="{0D108BD9-81ED-4DB2-BD59-A6C34878D82A}">
                    <a16:rowId xmlns:a16="http://schemas.microsoft.com/office/drawing/2014/main" val="1868443493"/>
                  </a:ext>
                </a:extLst>
              </a:tr>
              <a:tr h="320040">
                <a:tc>
                  <a:txBody>
                    <a:bodyPr/>
                    <a:lstStyle/>
                    <a:p>
                      <a:pPr>
                        <a:buNone/>
                      </a:pPr>
                      <a:r>
                        <a:rPr lang="en-IE" sz="1500"/>
                        <a:t>6</a:t>
                      </a:r>
                    </a:p>
                  </a:txBody>
                  <a:tcPr anchor="ctr"/>
                </a:tc>
                <a:tc>
                  <a:txBody>
                    <a:bodyPr/>
                    <a:lstStyle/>
                    <a:p>
                      <a:pPr>
                        <a:buNone/>
                      </a:pPr>
                      <a:r>
                        <a:rPr lang="en-IE" sz="1500" dirty="0"/>
                        <a:t>-</a:t>
                      </a:r>
                    </a:p>
                  </a:txBody>
                  <a:tcPr anchor="ctr"/>
                </a:tc>
                <a:extLst>
                  <a:ext uri="{0D108BD9-81ED-4DB2-BD59-A6C34878D82A}">
                    <a16:rowId xmlns:a16="http://schemas.microsoft.com/office/drawing/2014/main" val="3876748933"/>
                  </a:ext>
                </a:extLst>
              </a:tr>
              <a:tr h="320040">
                <a:tc>
                  <a:txBody>
                    <a:bodyPr/>
                    <a:lstStyle/>
                    <a:p>
                      <a:pPr>
                        <a:buNone/>
                      </a:pPr>
                      <a:r>
                        <a:rPr lang="en-US" sz="1500" dirty="0"/>
                        <a:t>7</a:t>
                      </a:r>
                      <a:endParaRPr lang="en-IE" sz="1500" dirty="0"/>
                    </a:p>
                  </a:txBody>
                  <a:tcPr anchor="ctr"/>
                </a:tc>
                <a:tc>
                  <a:txBody>
                    <a:bodyPr/>
                    <a:lstStyle/>
                    <a:p>
                      <a:pPr>
                        <a:buNone/>
                      </a:pPr>
                      <a:endParaRPr lang="en-IE" sz="1500" dirty="0"/>
                    </a:p>
                  </a:txBody>
                  <a:tcPr anchor="ctr"/>
                </a:tc>
                <a:extLst>
                  <a:ext uri="{0D108BD9-81ED-4DB2-BD59-A6C34878D82A}">
                    <a16:rowId xmlns:a16="http://schemas.microsoft.com/office/drawing/2014/main" val="779489902"/>
                  </a:ext>
                </a:extLst>
              </a:tr>
              <a:tr h="320040">
                <a:tc>
                  <a:txBody>
                    <a:bodyPr/>
                    <a:lstStyle/>
                    <a:p>
                      <a:pPr>
                        <a:buNone/>
                      </a:pPr>
                      <a:r>
                        <a:rPr lang="en-US" sz="1500" dirty="0"/>
                        <a:t>8</a:t>
                      </a:r>
                      <a:endParaRPr lang="en-IE" sz="1500" dirty="0"/>
                    </a:p>
                  </a:txBody>
                  <a:tcPr anchor="ctr"/>
                </a:tc>
                <a:tc>
                  <a:txBody>
                    <a:bodyPr/>
                    <a:lstStyle/>
                    <a:p>
                      <a:pPr>
                        <a:buNone/>
                      </a:pPr>
                      <a:endParaRPr lang="en-IE" sz="1500" dirty="0"/>
                    </a:p>
                  </a:txBody>
                  <a:tcPr anchor="ctr"/>
                </a:tc>
                <a:extLst>
                  <a:ext uri="{0D108BD9-81ED-4DB2-BD59-A6C34878D82A}">
                    <a16:rowId xmlns:a16="http://schemas.microsoft.com/office/drawing/2014/main" val="1911197150"/>
                  </a:ext>
                </a:extLst>
              </a:tr>
            </a:tbl>
          </a:graphicData>
        </a:graphic>
      </p:graphicFrame>
      <p:sp>
        <p:nvSpPr>
          <p:cNvPr id="8" name="TextBox 7">
            <a:extLst>
              <a:ext uri="{FF2B5EF4-FFF2-40B4-BE49-F238E27FC236}">
                <a16:creationId xmlns:a16="http://schemas.microsoft.com/office/drawing/2014/main" id="{82299483-251C-D463-6974-3085BCCC19D2}"/>
              </a:ext>
            </a:extLst>
          </p:cNvPr>
          <p:cNvSpPr txBox="1"/>
          <p:nvPr/>
        </p:nvSpPr>
        <p:spPr>
          <a:xfrm>
            <a:off x="2362200" y="1111361"/>
            <a:ext cx="1780032" cy="323165"/>
          </a:xfrm>
          <a:prstGeom prst="rect">
            <a:avLst/>
          </a:prstGeom>
          <a:noFill/>
        </p:spPr>
        <p:txBody>
          <a:bodyPr wrap="square" rtlCol="0">
            <a:spAutoFit/>
          </a:bodyPr>
          <a:lstStyle/>
          <a:p>
            <a:pPr algn="ctr"/>
            <a:r>
              <a:rPr lang="en-US" sz="1500" dirty="0"/>
              <a:t>H2(x) = x mod 5</a:t>
            </a:r>
            <a:endParaRPr lang="en-IE" sz="1500" dirty="0"/>
          </a:p>
        </p:txBody>
      </p:sp>
      <p:sp>
        <p:nvSpPr>
          <p:cNvPr id="9" name="TextBox 8">
            <a:extLst>
              <a:ext uri="{FF2B5EF4-FFF2-40B4-BE49-F238E27FC236}">
                <a16:creationId xmlns:a16="http://schemas.microsoft.com/office/drawing/2014/main" id="{8B3A5190-E836-E72D-0D92-DFC160615968}"/>
              </a:ext>
            </a:extLst>
          </p:cNvPr>
          <p:cNvSpPr txBox="1"/>
          <p:nvPr/>
        </p:nvSpPr>
        <p:spPr>
          <a:xfrm>
            <a:off x="4322064" y="1111360"/>
            <a:ext cx="1780032" cy="323165"/>
          </a:xfrm>
          <a:prstGeom prst="rect">
            <a:avLst/>
          </a:prstGeom>
          <a:noFill/>
        </p:spPr>
        <p:txBody>
          <a:bodyPr wrap="square" rtlCol="0">
            <a:spAutoFit/>
          </a:bodyPr>
          <a:lstStyle/>
          <a:p>
            <a:pPr algn="ctr"/>
            <a:r>
              <a:rPr lang="en-US" sz="1500" dirty="0"/>
              <a:t>H1+ </a:t>
            </a:r>
            <a:r>
              <a:rPr lang="en-US" sz="1500" dirty="0" err="1"/>
              <a:t>i</a:t>
            </a:r>
            <a:r>
              <a:rPr lang="en-US" sz="1500" dirty="0"/>
              <a:t>*H2</a:t>
            </a:r>
            <a:endParaRPr lang="en-IE" sz="1500" dirty="0"/>
          </a:p>
        </p:txBody>
      </p:sp>
      <p:cxnSp>
        <p:nvCxnSpPr>
          <p:cNvPr id="11" name="Straight Arrow Connector 10">
            <a:extLst>
              <a:ext uri="{FF2B5EF4-FFF2-40B4-BE49-F238E27FC236}">
                <a16:creationId xmlns:a16="http://schemas.microsoft.com/office/drawing/2014/main" id="{4293BB3C-3DB5-2E60-C698-81FBE9D70739}"/>
              </a:ext>
            </a:extLst>
          </p:cNvPr>
          <p:cNvCxnSpPr>
            <a:cxnSpLocks/>
          </p:cNvCxnSpPr>
          <p:nvPr/>
        </p:nvCxnSpPr>
        <p:spPr>
          <a:xfrm>
            <a:off x="2781300" y="2895600"/>
            <a:ext cx="438150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9BED1B27-F5D1-94EA-8902-4655A32033E9}"/>
              </a:ext>
            </a:extLst>
          </p:cNvPr>
          <p:cNvSpPr txBox="1"/>
          <p:nvPr/>
        </p:nvSpPr>
        <p:spPr>
          <a:xfrm>
            <a:off x="2667000" y="3410712"/>
            <a:ext cx="4648200" cy="1708160"/>
          </a:xfrm>
          <a:prstGeom prst="rect">
            <a:avLst/>
          </a:prstGeom>
          <a:noFill/>
        </p:spPr>
        <p:txBody>
          <a:bodyPr wrap="square" rtlCol="0">
            <a:spAutoFit/>
          </a:bodyPr>
          <a:lstStyle/>
          <a:p>
            <a:r>
              <a:rPr lang="en-US" sz="1500" dirty="0"/>
              <a:t>Add 14</a:t>
            </a:r>
          </a:p>
          <a:p>
            <a:pPr marL="285750" indent="-285750">
              <a:buFont typeface="Arial" panose="020B0604020202020204" pitchFamily="34" charset="0"/>
              <a:buChar char="•"/>
            </a:pPr>
            <a:r>
              <a:rPr lang="en-US" sz="1500" dirty="0"/>
              <a:t>14 mod  9 + 0 * 14 mod 5 = 5 (bucket 5 occupied)</a:t>
            </a:r>
          </a:p>
          <a:p>
            <a:pPr marL="285750" indent="-285750">
              <a:buFont typeface="Arial" panose="020B0604020202020204" pitchFamily="34" charset="0"/>
              <a:buChar char="•"/>
            </a:pPr>
            <a:r>
              <a:rPr lang="en-US" sz="1500" dirty="0"/>
              <a:t>Try bucket  = (14 mod 9 + 1*14 mod 5 ) mod 9 = 14 mod 9 = 5 (bucket 5 occupied)</a:t>
            </a:r>
          </a:p>
          <a:p>
            <a:pPr marL="285750" indent="-285750">
              <a:buFont typeface="Arial" panose="020B0604020202020204" pitchFamily="34" charset="0"/>
              <a:buChar char="•"/>
            </a:pPr>
            <a:r>
              <a:rPr lang="en-US" sz="1500" dirty="0"/>
              <a:t>Try bucket  = (14 mod 9 + 2*14 mod 5 ) mod 9 = 8 mod 9 = 8 (bucket 8 free)</a:t>
            </a:r>
          </a:p>
        </p:txBody>
      </p:sp>
    </p:spTree>
    <p:extLst>
      <p:ext uri="{BB962C8B-B14F-4D97-AF65-F5344CB8AC3E}">
        <p14:creationId xmlns:p14="http://schemas.microsoft.com/office/powerpoint/2010/main" val="25965226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6E862-E9F7-22A8-1DE2-0DC03331CAA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FB1402A-CC85-42B4-5C43-487EE62AFFFC}"/>
              </a:ext>
            </a:extLst>
          </p:cNvPr>
          <p:cNvSpPr>
            <a:spLocks noGrp="1"/>
          </p:cNvSpPr>
          <p:nvPr>
            <p:ph type="body" sz="quarter" idx="12"/>
          </p:nvPr>
        </p:nvSpPr>
        <p:spPr>
          <a:xfrm>
            <a:off x="12192" y="298344"/>
            <a:ext cx="8957003" cy="1008112"/>
          </a:xfrm>
        </p:spPr>
        <p:txBody>
          <a:bodyPr>
            <a:normAutofit/>
          </a:bodyPr>
          <a:lstStyle/>
          <a:p>
            <a:pPr algn="ctr"/>
            <a:r>
              <a:rPr lang="en-US" dirty="0"/>
              <a:t>Double Hashing</a:t>
            </a:r>
            <a:endParaRPr lang="en-IE" dirty="0"/>
          </a:p>
        </p:txBody>
      </p:sp>
      <p:graphicFrame>
        <p:nvGraphicFramePr>
          <p:cNvPr id="4" name="Table 3">
            <a:extLst>
              <a:ext uri="{FF2B5EF4-FFF2-40B4-BE49-F238E27FC236}">
                <a16:creationId xmlns:a16="http://schemas.microsoft.com/office/drawing/2014/main" id="{B229E9AD-8494-8971-B029-CC331DFF4C40}"/>
              </a:ext>
            </a:extLst>
          </p:cNvPr>
          <p:cNvGraphicFramePr>
            <a:graphicFrameLocks noGrp="1"/>
          </p:cNvGraphicFramePr>
          <p:nvPr/>
        </p:nvGraphicFramePr>
        <p:xfrm>
          <a:off x="990600" y="1828800"/>
          <a:ext cx="1371600" cy="320040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1620418216"/>
                    </a:ext>
                  </a:extLst>
                </a:gridCol>
                <a:gridCol w="685800">
                  <a:extLst>
                    <a:ext uri="{9D8B030D-6E8A-4147-A177-3AD203B41FA5}">
                      <a16:colId xmlns:a16="http://schemas.microsoft.com/office/drawing/2014/main" val="1939434737"/>
                    </a:ext>
                  </a:extLst>
                </a:gridCol>
              </a:tblGrid>
              <a:tr h="237833">
                <a:tc>
                  <a:txBody>
                    <a:bodyPr/>
                    <a:lstStyle/>
                    <a:p>
                      <a:pPr>
                        <a:buNone/>
                      </a:pPr>
                      <a:r>
                        <a:rPr lang="en-IE" sz="1500" dirty="0"/>
                        <a:t>Index</a:t>
                      </a:r>
                    </a:p>
                  </a:txBody>
                  <a:tcPr anchor="ctr"/>
                </a:tc>
                <a:tc>
                  <a:txBody>
                    <a:bodyPr/>
                    <a:lstStyle/>
                    <a:p>
                      <a:pPr>
                        <a:buNone/>
                      </a:pPr>
                      <a:r>
                        <a:rPr lang="en-IE" sz="1500" dirty="0"/>
                        <a:t>Value</a:t>
                      </a:r>
                    </a:p>
                  </a:txBody>
                  <a:tcPr anchor="ctr"/>
                </a:tc>
                <a:extLst>
                  <a:ext uri="{0D108BD9-81ED-4DB2-BD59-A6C34878D82A}">
                    <a16:rowId xmlns:a16="http://schemas.microsoft.com/office/drawing/2014/main" val="2050612894"/>
                  </a:ext>
                </a:extLst>
              </a:tr>
              <a:tr h="237833">
                <a:tc>
                  <a:txBody>
                    <a:bodyPr/>
                    <a:lstStyle/>
                    <a:p>
                      <a:pPr>
                        <a:buNone/>
                      </a:pPr>
                      <a:r>
                        <a:rPr lang="en-IE" sz="1500"/>
                        <a:t>0</a:t>
                      </a:r>
                    </a:p>
                  </a:txBody>
                  <a:tcPr anchor="ctr"/>
                </a:tc>
                <a:tc>
                  <a:txBody>
                    <a:bodyPr/>
                    <a:lstStyle/>
                    <a:p>
                      <a:pPr>
                        <a:buNone/>
                      </a:pPr>
                      <a:r>
                        <a:rPr lang="en-IE" sz="1500" dirty="0"/>
                        <a:t>17</a:t>
                      </a:r>
                    </a:p>
                  </a:txBody>
                  <a:tcPr anchor="ctr"/>
                </a:tc>
                <a:extLst>
                  <a:ext uri="{0D108BD9-81ED-4DB2-BD59-A6C34878D82A}">
                    <a16:rowId xmlns:a16="http://schemas.microsoft.com/office/drawing/2014/main" val="521528808"/>
                  </a:ext>
                </a:extLst>
              </a:tr>
              <a:tr h="237833">
                <a:tc>
                  <a:txBody>
                    <a:bodyPr/>
                    <a:lstStyle/>
                    <a:p>
                      <a:pPr>
                        <a:buNone/>
                      </a:pPr>
                      <a:r>
                        <a:rPr lang="en-IE" sz="1500"/>
                        <a:t>1</a:t>
                      </a:r>
                    </a:p>
                  </a:txBody>
                  <a:tcPr anchor="ctr"/>
                </a:tc>
                <a:tc>
                  <a:txBody>
                    <a:bodyPr/>
                    <a:lstStyle/>
                    <a:p>
                      <a:pPr>
                        <a:buNone/>
                      </a:pPr>
                      <a:r>
                        <a:rPr lang="en-US" sz="1500" dirty="0"/>
                        <a:t>8</a:t>
                      </a:r>
                      <a:endParaRPr lang="en-IE" sz="1500" dirty="0"/>
                    </a:p>
                  </a:txBody>
                  <a:tcPr anchor="ctr"/>
                </a:tc>
                <a:extLst>
                  <a:ext uri="{0D108BD9-81ED-4DB2-BD59-A6C34878D82A}">
                    <a16:rowId xmlns:a16="http://schemas.microsoft.com/office/drawing/2014/main" val="1779296604"/>
                  </a:ext>
                </a:extLst>
              </a:tr>
              <a:tr h="237833">
                <a:tc>
                  <a:txBody>
                    <a:bodyPr/>
                    <a:lstStyle/>
                    <a:p>
                      <a:pPr>
                        <a:buNone/>
                      </a:pPr>
                      <a:r>
                        <a:rPr lang="en-IE" sz="1500"/>
                        <a:t>2</a:t>
                      </a:r>
                    </a:p>
                  </a:txBody>
                  <a:tcPr anchor="ctr"/>
                </a:tc>
                <a:tc>
                  <a:txBody>
                    <a:bodyPr/>
                    <a:lstStyle/>
                    <a:p>
                      <a:pPr>
                        <a:buNone/>
                      </a:pPr>
                      <a:r>
                        <a:rPr lang="en-IE" sz="1500"/>
                        <a:t>-</a:t>
                      </a:r>
                    </a:p>
                  </a:txBody>
                  <a:tcPr anchor="ctr"/>
                </a:tc>
                <a:extLst>
                  <a:ext uri="{0D108BD9-81ED-4DB2-BD59-A6C34878D82A}">
                    <a16:rowId xmlns:a16="http://schemas.microsoft.com/office/drawing/2014/main" val="1094509631"/>
                  </a:ext>
                </a:extLst>
              </a:tr>
              <a:tr h="237833">
                <a:tc>
                  <a:txBody>
                    <a:bodyPr/>
                    <a:lstStyle/>
                    <a:p>
                      <a:pPr>
                        <a:buNone/>
                      </a:pPr>
                      <a:r>
                        <a:rPr lang="en-IE" sz="1500" dirty="0"/>
                        <a:t>3</a:t>
                      </a:r>
                    </a:p>
                  </a:txBody>
                  <a:tcPr anchor="ctr"/>
                </a:tc>
                <a:tc>
                  <a:txBody>
                    <a:bodyPr/>
                    <a:lstStyle/>
                    <a:p>
                      <a:pPr>
                        <a:buNone/>
                      </a:pPr>
                      <a:r>
                        <a:rPr lang="en-IE" sz="1500"/>
                        <a:t>3</a:t>
                      </a:r>
                    </a:p>
                  </a:txBody>
                  <a:tcPr anchor="ctr"/>
                </a:tc>
                <a:extLst>
                  <a:ext uri="{0D108BD9-81ED-4DB2-BD59-A6C34878D82A}">
                    <a16:rowId xmlns:a16="http://schemas.microsoft.com/office/drawing/2014/main" val="1928643230"/>
                  </a:ext>
                </a:extLst>
              </a:tr>
              <a:tr h="237833">
                <a:tc>
                  <a:txBody>
                    <a:bodyPr/>
                    <a:lstStyle/>
                    <a:p>
                      <a:pPr>
                        <a:buNone/>
                      </a:pPr>
                      <a:r>
                        <a:rPr lang="en-IE" sz="1500"/>
                        <a:t>4</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4724942"/>
                  </a:ext>
                </a:extLst>
              </a:tr>
              <a:tr h="237833">
                <a:tc>
                  <a:txBody>
                    <a:bodyPr/>
                    <a:lstStyle/>
                    <a:p>
                      <a:pPr>
                        <a:buNone/>
                      </a:pPr>
                      <a:r>
                        <a:rPr lang="en-IE" sz="1500"/>
                        <a:t>5</a:t>
                      </a:r>
                    </a:p>
                  </a:txBody>
                  <a:tcPr anchor="ctr"/>
                </a:tc>
                <a:tc>
                  <a:txBody>
                    <a:bodyPr/>
                    <a:lstStyle/>
                    <a:p>
                      <a:pPr>
                        <a:buNone/>
                      </a:pPr>
                      <a:r>
                        <a:rPr lang="en-US" sz="1500" dirty="0"/>
                        <a:t>3</a:t>
                      </a:r>
                      <a:r>
                        <a:rPr lang="en-IE" sz="1500" dirty="0"/>
                        <a:t>4</a:t>
                      </a:r>
                    </a:p>
                  </a:txBody>
                  <a:tcPr anchor="ctr"/>
                </a:tc>
                <a:extLst>
                  <a:ext uri="{0D108BD9-81ED-4DB2-BD59-A6C34878D82A}">
                    <a16:rowId xmlns:a16="http://schemas.microsoft.com/office/drawing/2014/main" val="1868443493"/>
                  </a:ext>
                </a:extLst>
              </a:tr>
              <a:tr h="237833">
                <a:tc>
                  <a:txBody>
                    <a:bodyPr/>
                    <a:lstStyle/>
                    <a:p>
                      <a:pPr>
                        <a:buNone/>
                      </a:pPr>
                      <a:r>
                        <a:rPr lang="en-IE" sz="1500"/>
                        <a:t>6</a:t>
                      </a:r>
                    </a:p>
                  </a:txBody>
                  <a:tcPr anchor="ctr"/>
                </a:tc>
                <a:tc>
                  <a:txBody>
                    <a:bodyPr/>
                    <a:lstStyle/>
                    <a:p>
                      <a:pPr>
                        <a:buNone/>
                      </a:pPr>
                      <a:r>
                        <a:rPr lang="en-IE" sz="1500" dirty="0"/>
                        <a:t>-</a:t>
                      </a:r>
                    </a:p>
                  </a:txBody>
                  <a:tcPr anchor="ctr"/>
                </a:tc>
                <a:extLst>
                  <a:ext uri="{0D108BD9-81ED-4DB2-BD59-A6C34878D82A}">
                    <a16:rowId xmlns:a16="http://schemas.microsoft.com/office/drawing/2014/main" val="3876748933"/>
                  </a:ext>
                </a:extLst>
              </a:tr>
              <a:tr h="237833">
                <a:tc>
                  <a:txBody>
                    <a:bodyPr/>
                    <a:lstStyle/>
                    <a:p>
                      <a:pPr>
                        <a:buNone/>
                      </a:pPr>
                      <a:r>
                        <a:rPr lang="en-US" sz="1500" dirty="0"/>
                        <a:t>7</a:t>
                      </a:r>
                      <a:endParaRPr lang="en-IE" sz="1500" dirty="0"/>
                    </a:p>
                  </a:txBody>
                  <a:tcPr anchor="ctr"/>
                </a:tc>
                <a:tc>
                  <a:txBody>
                    <a:bodyPr/>
                    <a:lstStyle/>
                    <a:p>
                      <a:pPr>
                        <a:buNone/>
                      </a:pPr>
                      <a:endParaRPr lang="en-IE" sz="1500" dirty="0"/>
                    </a:p>
                  </a:txBody>
                  <a:tcPr anchor="ctr"/>
                </a:tc>
                <a:extLst>
                  <a:ext uri="{0D108BD9-81ED-4DB2-BD59-A6C34878D82A}">
                    <a16:rowId xmlns:a16="http://schemas.microsoft.com/office/drawing/2014/main" val="3513390846"/>
                  </a:ext>
                </a:extLst>
              </a:tr>
              <a:tr h="237833">
                <a:tc>
                  <a:txBody>
                    <a:bodyPr/>
                    <a:lstStyle/>
                    <a:p>
                      <a:pPr>
                        <a:buNone/>
                      </a:pPr>
                      <a:r>
                        <a:rPr lang="en-US" sz="1500" dirty="0"/>
                        <a:t>8</a:t>
                      </a:r>
                      <a:endParaRPr lang="en-IE" sz="1500" dirty="0"/>
                    </a:p>
                  </a:txBody>
                  <a:tcPr anchor="ctr"/>
                </a:tc>
                <a:tc>
                  <a:txBody>
                    <a:bodyPr/>
                    <a:lstStyle/>
                    <a:p>
                      <a:pPr>
                        <a:buNone/>
                      </a:pPr>
                      <a:endParaRPr lang="en-IE" sz="1500" dirty="0"/>
                    </a:p>
                  </a:txBody>
                  <a:tcPr anchor="ctr"/>
                </a:tc>
                <a:extLst>
                  <a:ext uri="{0D108BD9-81ED-4DB2-BD59-A6C34878D82A}">
                    <a16:rowId xmlns:a16="http://schemas.microsoft.com/office/drawing/2014/main" val="974491227"/>
                  </a:ext>
                </a:extLst>
              </a:tr>
            </a:tbl>
          </a:graphicData>
        </a:graphic>
      </p:graphicFrame>
      <p:sp>
        <p:nvSpPr>
          <p:cNvPr id="6" name="TextBox 5">
            <a:extLst>
              <a:ext uri="{FF2B5EF4-FFF2-40B4-BE49-F238E27FC236}">
                <a16:creationId xmlns:a16="http://schemas.microsoft.com/office/drawing/2014/main" id="{F11C934B-EC32-6E62-E243-64D1079C4C93}"/>
              </a:ext>
            </a:extLst>
          </p:cNvPr>
          <p:cNvSpPr txBox="1"/>
          <p:nvPr/>
        </p:nvSpPr>
        <p:spPr>
          <a:xfrm>
            <a:off x="423672" y="1120980"/>
            <a:ext cx="1780032" cy="323165"/>
          </a:xfrm>
          <a:prstGeom prst="rect">
            <a:avLst/>
          </a:prstGeom>
          <a:noFill/>
        </p:spPr>
        <p:txBody>
          <a:bodyPr wrap="square" rtlCol="0">
            <a:spAutoFit/>
          </a:bodyPr>
          <a:lstStyle/>
          <a:p>
            <a:pPr algn="ctr"/>
            <a:r>
              <a:rPr lang="en-US" sz="1500" dirty="0"/>
              <a:t>H1(x) = x mod 9</a:t>
            </a:r>
            <a:endParaRPr lang="en-IE" sz="1500" dirty="0"/>
          </a:p>
        </p:txBody>
      </p:sp>
      <p:graphicFrame>
        <p:nvGraphicFramePr>
          <p:cNvPr id="7" name="Table 6">
            <a:extLst>
              <a:ext uri="{FF2B5EF4-FFF2-40B4-BE49-F238E27FC236}">
                <a16:creationId xmlns:a16="http://schemas.microsoft.com/office/drawing/2014/main" id="{55EC9150-5CAB-D3E2-F4CE-26D2D9CADAB7}"/>
              </a:ext>
            </a:extLst>
          </p:cNvPr>
          <p:cNvGraphicFramePr>
            <a:graphicFrameLocks noGrp="1"/>
          </p:cNvGraphicFramePr>
          <p:nvPr>
            <p:extLst>
              <p:ext uri="{D42A27DB-BD31-4B8C-83A1-F6EECF244321}">
                <p14:modId xmlns:p14="http://schemas.microsoft.com/office/powerpoint/2010/main" val="1372003921"/>
              </p:ext>
            </p:extLst>
          </p:nvPr>
        </p:nvGraphicFramePr>
        <p:xfrm>
          <a:off x="7467600" y="1828800"/>
          <a:ext cx="1371600" cy="320040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1620418216"/>
                    </a:ext>
                  </a:extLst>
                </a:gridCol>
                <a:gridCol w="685800">
                  <a:extLst>
                    <a:ext uri="{9D8B030D-6E8A-4147-A177-3AD203B41FA5}">
                      <a16:colId xmlns:a16="http://schemas.microsoft.com/office/drawing/2014/main" val="1939434737"/>
                    </a:ext>
                  </a:extLst>
                </a:gridCol>
              </a:tblGrid>
              <a:tr h="320040">
                <a:tc>
                  <a:txBody>
                    <a:bodyPr/>
                    <a:lstStyle/>
                    <a:p>
                      <a:pPr>
                        <a:buNone/>
                      </a:pPr>
                      <a:r>
                        <a:rPr lang="en-IE" sz="1500" dirty="0"/>
                        <a:t>Index</a:t>
                      </a:r>
                    </a:p>
                  </a:txBody>
                  <a:tcPr anchor="ctr"/>
                </a:tc>
                <a:tc>
                  <a:txBody>
                    <a:bodyPr/>
                    <a:lstStyle/>
                    <a:p>
                      <a:pPr>
                        <a:buNone/>
                      </a:pPr>
                      <a:r>
                        <a:rPr lang="en-IE" sz="1500"/>
                        <a:t>Value</a:t>
                      </a:r>
                    </a:p>
                  </a:txBody>
                  <a:tcPr anchor="ctr"/>
                </a:tc>
                <a:extLst>
                  <a:ext uri="{0D108BD9-81ED-4DB2-BD59-A6C34878D82A}">
                    <a16:rowId xmlns:a16="http://schemas.microsoft.com/office/drawing/2014/main" val="2050612894"/>
                  </a:ext>
                </a:extLst>
              </a:tr>
              <a:tr h="320040">
                <a:tc>
                  <a:txBody>
                    <a:bodyPr/>
                    <a:lstStyle/>
                    <a:p>
                      <a:pPr>
                        <a:buNone/>
                      </a:pPr>
                      <a:r>
                        <a:rPr lang="en-IE" sz="1500" dirty="0"/>
                        <a:t>0</a:t>
                      </a:r>
                    </a:p>
                  </a:txBody>
                  <a:tcPr anchor="ctr"/>
                </a:tc>
                <a:tc>
                  <a:txBody>
                    <a:bodyPr/>
                    <a:lstStyle/>
                    <a:p>
                      <a:pPr>
                        <a:buNone/>
                      </a:pPr>
                      <a:r>
                        <a:rPr lang="en-IE" sz="1500" dirty="0"/>
                        <a:t>17</a:t>
                      </a:r>
                    </a:p>
                  </a:txBody>
                  <a:tcPr anchor="ctr"/>
                </a:tc>
                <a:extLst>
                  <a:ext uri="{0D108BD9-81ED-4DB2-BD59-A6C34878D82A}">
                    <a16:rowId xmlns:a16="http://schemas.microsoft.com/office/drawing/2014/main" val="521528808"/>
                  </a:ext>
                </a:extLst>
              </a:tr>
              <a:tr h="320040">
                <a:tc>
                  <a:txBody>
                    <a:bodyPr/>
                    <a:lstStyle/>
                    <a:p>
                      <a:pPr>
                        <a:buNone/>
                      </a:pPr>
                      <a:r>
                        <a:rPr lang="en-IE" sz="1500" dirty="0"/>
                        <a:t>1</a:t>
                      </a:r>
                    </a:p>
                  </a:txBody>
                  <a:tcPr anchor="ctr"/>
                </a:tc>
                <a:tc>
                  <a:txBody>
                    <a:bodyPr/>
                    <a:lstStyle/>
                    <a:p>
                      <a:pPr>
                        <a:buNone/>
                      </a:pPr>
                      <a:r>
                        <a:rPr lang="en-US" sz="1500" dirty="0"/>
                        <a:t>8</a:t>
                      </a:r>
                      <a:endParaRPr lang="en-IE" sz="1500" dirty="0"/>
                    </a:p>
                  </a:txBody>
                  <a:tcPr anchor="ctr"/>
                </a:tc>
                <a:extLst>
                  <a:ext uri="{0D108BD9-81ED-4DB2-BD59-A6C34878D82A}">
                    <a16:rowId xmlns:a16="http://schemas.microsoft.com/office/drawing/2014/main" val="1779296604"/>
                  </a:ext>
                </a:extLst>
              </a:tr>
              <a:tr h="320040">
                <a:tc>
                  <a:txBody>
                    <a:bodyPr/>
                    <a:lstStyle/>
                    <a:p>
                      <a:pPr>
                        <a:buNone/>
                      </a:pPr>
                      <a:r>
                        <a:rPr lang="en-IE" sz="1500"/>
                        <a:t>2</a:t>
                      </a:r>
                    </a:p>
                  </a:txBody>
                  <a:tcPr anchor="ctr"/>
                </a:tc>
                <a:tc>
                  <a:txBody>
                    <a:bodyPr/>
                    <a:lstStyle/>
                    <a:p>
                      <a:pPr>
                        <a:buNone/>
                      </a:pPr>
                      <a:r>
                        <a:rPr lang="en-IE" sz="1500"/>
                        <a:t>-</a:t>
                      </a:r>
                    </a:p>
                  </a:txBody>
                  <a:tcPr anchor="ctr"/>
                </a:tc>
                <a:extLst>
                  <a:ext uri="{0D108BD9-81ED-4DB2-BD59-A6C34878D82A}">
                    <a16:rowId xmlns:a16="http://schemas.microsoft.com/office/drawing/2014/main" val="1094509631"/>
                  </a:ext>
                </a:extLst>
              </a:tr>
              <a:tr h="320040">
                <a:tc>
                  <a:txBody>
                    <a:bodyPr/>
                    <a:lstStyle/>
                    <a:p>
                      <a:pPr>
                        <a:buNone/>
                      </a:pPr>
                      <a:r>
                        <a:rPr lang="en-IE" sz="1500" dirty="0"/>
                        <a:t>3</a:t>
                      </a:r>
                    </a:p>
                  </a:txBody>
                  <a:tcPr anchor="ctr"/>
                </a:tc>
                <a:tc>
                  <a:txBody>
                    <a:bodyPr/>
                    <a:lstStyle/>
                    <a:p>
                      <a:pPr>
                        <a:buNone/>
                      </a:pPr>
                      <a:r>
                        <a:rPr lang="en-IE" sz="1500"/>
                        <a:t>3</a:t>
                      </a:r>
                    </a:p>
                  </a:txBody>
                  <a:tcPr anchor="ctr"/>
                </a:tc>
                <a:extLst>
                  <a:ext uri="{0D108BD9-81ED-4DB2-BD59-A6C34878D82A}">
                    <a16:rowId xmlns:a16="http://schemas.microsoft.com/office/drawing/2014/main" val="1928643230"/>
                  </a:ext>
                </a:extLst>
              </a:tr>
              <a:tr h="320040">
                <a:tc>
                  <a:txBody>
                    <a:bodyPr/>
                    <a:lstStyle/>
                    <a:p>
                      <a:pPr>
                        <a:buNone/>
                      </a:pPr>
                      <a:r>
                        <a:rPr lang="en-IE" sz="1500" b="0" dirty="0"/>
                        <a:t>4</a:t>
                      </a:r>
                    </a:p>
                  </a:txBody>
                  <a:tcPr anchor="ctr"/>
                </a:tc>
                <a:tc>
                  <a:txBody>
                    <a:bodyPr/>
                    <a:lstStyle/>
                    <a:p>
                      <a:pPr>
                        <a:buNone/>
                      </a:pPr>
                      <a:r>
                        <a:rPr lang="en-US" sz="1500" b="0" dirty="0"/>
                        <a:t>-</a:t>
                      </a:r>
                      <a:endParaRPr lang="en-IE" sz="1500" b="0" dirty="0"/>
                    </a:p>
                  </a:txBody>
                  <a:tcPr anchor="ctr"/>
                </a:tc>
                <a:extLst>
                  <a:ext uri="{0D108BD9-81ED-4DB2-BD59-A6C34878D82A}">
                    <a16:rowId xmlns:a16="http://schemas.microsoft.com/office/drawing/2014/main" val="4724942"/>
                  </a:ext>
                </a:extLst>
              </a:tr>
              <a:tr h="320040">
                <a:tc>
                  <a:txBody>
                    <a:bodyPr/>
                    <a:lstStyle/>
                    <a:p>
                      <a:pPr>
                        <a:buNone/>
                      </a:pPr>
                      <a:r>
                        <a:rPr lang="en-IE" sz="1500" b="0"/>
                        <a:t>5</a:t>
                      </a:r>
                    </a:p>
                  </a:txBody>
                  <a:tcPr anchor="ctr"/>
                </a:tc>
                <a:tc>
                  <a:txBody>
                    <a:bodyPr/>
                    <a:lstStyle/>
                    <a:p>
                      <a:pPr>
                        <a:buNone/>
                      </a:pPr>
                      <a:r>
                        <a:rPr lang="en-US" sz="1500" b="0" dirty="0"/>
                        <a:t>3</a:t>
                      </a:r>
                      <a:r>
                        <a:rPr lang="en-IE" sz="1500" b="0" dirty="0"/>
                        <a:t>4</a:t>
                      </a:r>
                    </a:p>
                  </a:txBody>
                  <a:tcPr anchor="ctr"/>
                </a:tc>
                <a:extLst>
                  <a:ext uri="{0D108BD9-81ED-4DB2-BD59-A6C34878D82A}">
                    <a16:rowId xmlns:a16="http://schemas.microsoft.com/office/drawing/2014/main" val="1868443493"/>
                  </a:ext>
                </a:extLst>
              </a:tr>
              <a:tr h="320040">
                <a:tc>
                  <a:txBody>
                    <a:bodyPr/>
                    <a:lstStyle/>
                    <a:p>
                      <a:pPr>
                        <a:buNone/>
                      </a:pPr>
                      <a:r>
                        <a:rPr lang="en-IE" sz="1500"/>
                        <a:t>6</a:t>
                      </a:r>
                    </a:p>
                  </a:txBody>
                  <a:tcPr anchor="ctr"/>
                </a:tc>
                <a:tc>
                  <a:txBody>
                    <a:bodyPr/>
                    <a:lstStyle/>
                    <a:p>
                      <a:pPr>
                        <a:buNone/>
                      </a:pPr>
                      <a:r>
                        <a:rPr lang="en-IE" sz="1500" dirty="0"/>
                        <a:t>-</a:t>
                      </a:r>
                    </a:p>
                  </a:txBody>
                  <a:tcPr anchor="ctr"/>
                </a:tc>
                <a:extLst>
                  <a:ext uri="{0D108BD9-81ED-4DB2-BD59-A6C34878D82A}">
                    <a16:rowId xmlns:a16="http://schemas.microsoft.com/office/drawing/2014/main" val="3876748933"/>
                  </a:ext>
                </a:extLst>
              </a:tr>
              <a:tr h="320040">
                <a:tc>
                  <a:txBody>
                    <a:bodyPr/>
                    <a:lstStyle/>
                    <a:p>
                      <a:pPr>
                        <a:buNone/>
                      </a:pPr>
                      <a:r>
                        <a:rPr lang="en-US" sz="1500" dirty="0"/>
                        <a:t>7</a:t>
                      </a:r>
                      <a:endParaRPr lang="en-IE" sz="1500" dirty="0"/>
                    </a:p>
                  </a:txBody>
                  <a:tcPr anchor="ctr"/>
                </a:tc>
                <a:tc>
                  <a:txBody>
                    <a:bodyPr/>
                    <a:lstStyle/>
                    <a:p>
                      <a:pPr>
                        <a:buNone/>
                      </a:pPr>
                      <a:endParaRPr lang="en-IE" sz="1500" dirty="0"/>
                    </a:p>
                  </a:txBody>
                  <a:tcPr anchor="ctr"/>
                </a:tc>
                <a:extLst>
                  <a:ext uri="{0D108BD9-81ED-4DB2-BD59-A6C34878D82A}">
                    <a16:rowId xmlns:a16="http://schemas.microsoft.com/office/drawing/2014/main" val="779489902"/>
                  </a:ext>
                </a:extLst>
              </a:tr>
              <a:tr h="320040">
                <a:tc>
                  <a:txBody>
                    <a:bodyPr/>
                    <a:lstStyle/>
                    <a:p>
                      <a:pPr>
                        <a:buNone/>
                      </a:pPr>
                      <a:r>
                        <a:rPr lang="en-US" sz="1500" dirty="0"/>
                        <a:t>8</a:t>
                      </a:r>
                      <a:endParaRPr lang="en-IE" sz="1500" dirty="0"/>
                    </a:p>
                  </a:txBody>
                  <a:tcPr anchor="ctr"/>
                </a:tc>
                <a:tc>
                  <a:txBody>
                    <a:bodyPr/>
                    <a:lstStyle/>
                    <a:p>
                      <a:pPr>
                        <a:buNone/>
                      </a:pPr>
                      <a:r>
                        <a:rPr lang="en-US" sz="1500" dirty="0"/>
                        <a:t>14</a:t>
                      </a:r>
                      <a:endParaRPr lang="en-IE" sz="1500" dirty="0"/>
                    </a:p>
                  </a:txBody>
                  <a:tcPr anchor="ctr"/>
                </a:tc>
                <a:extLst>
                  <a:ext uri="{0D108BD9-81ED-4DB2-BD59-A6C34878D82A}">
                    <a16:rowId xmlns:a16="http://schemas.microsoft.com/office/drawing/2014/main" val="1911197150"/>
                  </a:ext>
                </a:extLst>
              </a:tr>
            </a:tbl>
          </a:graphicData>
        </a:graphic>
      </p:graphicFrame>
      <p:sp>
        <p:nvSpPr>
          <p:cNvPr id="8" name="TextBox 7">
            <a:extLst>
              <a:ext uri="{FF2B5EF4-FFF2-40B4-BE49-F238E27FC236}">
                <a16:creationId xmlns:a16="http://schemas.microsoft.com/office/drawing/2014/main" id="{65685D13-C44D-949B-20A5-F3BCC65C64D4}"/>
              </a:ext>
            </a:extLst>
          </p:cNvPr>
          <p:cNvSpPr txBox="1"/>
          <p:nvPr/>
        </p:nvSpPr>
        <p:spPr>
          <a:xfrm>
            <a:off x="2362200" y="1111361"/>
            <a:ext cx="1780032" cy="323165"/>
          </a:xfrm>
          <a:prstGeom prst="rect">
            <a:avLst/>
          </a:prstGeom>
          <a:noFill/>
        </p:spPr>
        <p:txBody>
          <a:bodyPr wrap="square" rtlCol="0">
            <a:spAutoFit/>
          </a:bodyPr>
          <a:lstStyle/>
          <a:p>
            <a:pPr algn="ctr"/>
            <a:r>
              <a:rPr lang="en-US" sz="1500" dirty="0"/>
              <a:t>H2(x) = x mod 5</a:t>
            </a:r>
            <a:endParaRPr lang="en-IE" sz="1500" dirty="0"/>
          </a:p>
        </p:txBody>
      </p:sp>
      <p:sp>
        <p:nvSpPr>
          <p:cNvPr id="9" name="TextBox 8">
            <a:extLst>
              <a:ext uri="{FF2B5EF4-FFF2-40B4-BE49-F238E27FC236}">
                <a16:creationId xmlns:a16="http://schemas.microsoft.com/office/drawing/2014/main" id="{FB78F23E-4F66-B542-7F0C-BA4D20D67AB1}"/>
              </a:ext>
            </a:extLst>
          </p:cNvPr>
          <p:cNvSpPr txBox="1"/>
          <p:nvPr/>
        </p:nvSpPr>
        <p:spPr>
          <a:xfrm>
            <a:off x="4322064" y="1111360"/>
            <a:ext cx="1780032" cy="323165"/>
          </a:xfrm>
          <a:prstGeom prst="rect">
            <a:avLst/>
          </a:prstGeom>
          <a:noFill/>
        </p:spPr>
        <p:txBody>
          <a:bodyPr wrap="square" rtlCol="0">
            <a:spAutoFit/>
          </a:bodyPr>
          <a:lstStyle/>
          <a:p>
            <a:pPr algn="ctr"/>
            <a:r>
              <a:rPr lang="en-US" sz="1500" dirty="0"/>
              <a:t>H1+ </a:t>
            </a:r>
            <a:r>
              <a:rPr lang="en-US" sz="1500" dirty="0" err="1"/>
              <a:t>i</a:t>
            </a:r>
            <a:r>
              <a:rPr lang="en-US" sz="1500" dirty="0"/>
              <a:t>*H2</a:t>
            </a:r>
            <a:endParaRPr lang="en-IE" sz="1500" dirty="0"/>
          </a:p>
        </p:txBody>
      </p:sp>
      <p:cxnSp>
        <p:nvCxnSpPr>
          <p:cNvPr id="11" name="Straight Arrow Connector 10">
            <a:extLst>
              <a:ext uri="{FF2B5EF4-FFF2-40B4-BE49-F238E27FC236}">
                <a16:creationId xmlns:a16="http://schemas.microsoft.com/office/drawing/2014/main" id="{52D8978C-59BF-7A11-7336-48B073CD4190}"/>
              </a:ext>
            </a:extLst>
          </p:cNvPr>
          <p:cNvCxnSpPr>
            <a:cxnSpLocks/>
          </p:cNvCxnSpPr>
          <p:nvPr/>
        </p:nvCxnSpPr>
        <p:spPr>
          <a:xfrm>
            <a:off x="2781300" y="2895600"/>
            <a:ext cx="438150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909FF819-C3F8-F205-B1FA-E65FB9BE8590}"/>
              </a:ext>
            </a:extLst>
          </p:cNvPr>
          <p:cNvSpPr txBox="1"/>
          <p:nvPr/>
        </p:nvSpPr>
        <p:spPr>
          <a:xfrm>
            <a:off x="2667000" y="3410712"/>
            <a:ext cx="4648200" cy="1708160"/>
          </a:xfrm>
          <a:prstGeom prst="rect">
            <a:avLst/>
          </a:prstGeom>
          <a:noFill/>
        </p:spPr>
        <p:txBody>
          <a:bodyPr wrap="square" rtlCol="0">
            <a:spAutoFit/>
          </a:bodyPr>
          <a:lstStyle/>
          <a:p>
            <a:r>
              <a:rPr lang="en-US" sz="1500" dirty="0"/>
              <a:t>Add 14</a:t>
            </a:r>
          </a:p>
          <a:p>
            <a:pPr marL="285750" indent="-285750">
              <a:buFont typeface="Arial" panose="020B0604020202020204" pitchFamily="34" charset="0"/>
              <a:buChar char="•"/>
            </a:pPr>
            <a:r>
              <a:rPr lang="en-US" sz="1500" dirty="0"/>
              <a:t>14 mod  9 + 0 * 14 mod 5 = 5 (bucket 5 occupied)</a:t>
            </a:r>
          </a:p>
          <a:p>
            <a:pPr marL="285750" indent="-285750">
              <a:buFont typeface="Arial" panose="020B0604020202020204" pitchFamily="34" charset="0"/>
              <a:buChar char="•"/>
            </a:pPr>
            <a:r>
              <a:rPr lang="en-US" sz="1500" dirty="0"/>
              <a:t>Try bucket  = (14 mod 9 + 1*14 mod 5 ) mod 9 = 14 mod 9 = 5 (bucket 5 occupied)</a:t>
            </a:r>
          </a:p>
          <a:p>
            <a:pPr marL="285750" indent="-285750">
              <a:buFont typeface="Arial" panose="020B0604020202020204" pitchFamily="34" charset="0"/>
              <a:buChar char="•"/>
            </a:pPr>
            <a:r>
              <a:rPr lang="en-US" sz="1500" dirty="0"/>
              <a:t>Try bucket  = (14 mod 9 + 2*14 mod 5 ) mod 9 = 8 mod 9 = 8 (bucket 8 free)</a:t>
            </a:r>
          </a:p>
        </p:txBody>
      </p:sp>
    </p:spTree>
    <p:extLst>
      <p:ext uri="{BB962C8B-B14F-4D97-AF65-F5344CB8AC3E}">
        <p14:creationId xmlns:p14="http://schemas.microsoft.com/office/powerpoint/2010/main" val="37557590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34FFA4-AF97-7F1C-0479-8938DAFAE814}"/>
              </a:ext>
            </a:extLst>
          </p:cNvPr>
          <p:cNvSpPr>
            <a:spLocks noGrp="1"/>
          </p:cNvSpPr>
          <p:nvPr>
            <p:ph type="body" sz="quarter" idx="12"/>
          </p:nvPr>
        </p:nvSpPr>
        <p:spPr/>
        <p:txBody>
          <a:bodyPr/>
          <a:lstStyle/>
          <a:p>
            <a:r>
              <a:rPr lang="en-US" dirty="0"/>
              <a:t>Comparison</a:t>
            </a:r>
            <a:endParaRPr lang="en-IE" dirty="0"/>
          </a:p>
        </p:txBody>
      </p:sp>
      <p:sp>
        <p:nvSpPr>
          <p:cNvPr id="3" name="Content Placeholder 2">
            <a:extLst>
              <a:ext uri="{FF2B5EF4-FFF2-40B4-BE49-F238E27FC236}">
                <a16:creationId xmlns:a16="http://schemas.microsoft.com/office/drawing/2014/main" id="{25664BC5-E30B-A804-2D1F-1F0A6FA5B89B}"/>
              </a:ext>
            </a:extLst>
          </p:cNvPr>
          <p:cNvSpPr>
            <a:spLocks noGrp="1"/>
          </p:cNvSpPr>
          <p:nvPr>
            <p:ph sz="quarter" idx="11"/>
          </p:nvPr>
        </p:nvSpPr>
        <p:spPr>
          <a:xfrm>
            <a:off x="533400" y="1375537"/>
            <a:ext cx="8039511" cy="1748663"/>
          </a:xfrm>
        </p:spPr>
        <p:txBody>
          <a:bodyPr>
            <a:normAutofit lnSpcReduction="10000"/>
          </a:bodyPr>
          <a:lstStyle/>
          <a:p>
            <a:pPr algn="just">
              <a:lnSpc>
                <a:spcPct val="100000"/>
              </a:lnSpc>
            </a:pPr>
            <a:r>
              <a:rPr lang="en-US" sz="1700" dirty="0"/>
              <a:t>All the techniques start with a search complexity of O(1) and they degenerate to linear search O(n) when the load factor starts to grow</a:t>
            </a:r>
          </a:p>
          <a:p>
            <a:pPr algn="just">
              <a:lnSpc>
                <a:spcPct val="100000"/>
              </a:lnSpc>
            </a:pPr>
            <a:r>
              <a:rPr lang="en-IE" sz="1700" dirty="0"/>
              <a:t>However, they degenerate “at different speed”. Linear probing is the easier to implement, but the first to degenerate.. Chaining is more complex (it requires also more memory to build the index and access the data) but it is more robust to high load factor</a:t>
            </a:r>
          </a:p>
          <a:p>
            <a:pPr algn="just">
              <a:lnSpc>
                <a:spcPct val="100000"/>
              </a:lnSpc>
            </a:pPr>
            <a:endParaRPr lang="en-IE" sz="1700" dirty="0"/>
          </a:p>
        </p:txBody>
      </p:sp>
      <p:graphicFrame>
        <p:nvGraphicFramePr>
          <p:cNvPr id="4" name="Table 3">
            <a:extLst>
              <a:ext uri="{FF2B5EF4-FFF2-40B4-BE49-F238E27FC236}">
                <a16:creationId xmlns:a16="http://schemas.microsoft.com/office/drawing/2014/main" id="{D2F4F9D1-A792-5E21-2EB9-79BCFDBACB90}"/>
              </a:ext>
            </a:extLst>
          </p:cNvPr>
          <p:cNvGraphicFramePr>
            <a:graphicFrameLocks noGrp="1"/>
          </p:cNvGraphicFramePr>
          <p:nvPr>
            <p:extLst>
              <p:ext uri="{D42A27DB-BD31-4B8C-83A1-F6EECF244321}">
                <p14:modId xmlns:p14="http://schemas.microsoft.com/office/powerpoint/2010/main" val="2729787905"/>
              </p:ext>
            </p:extLst>
          </p:nvPr>
        </p:nvGraphicFramePr>
        <p:xfrm>
          <a:off x="542544" y="3124200"/>
          <a:ext cx="8152000" cy="2581352"/>
        </p:xfrm>
        <a:graphic>
          <a:graphicData uri="http://schemas.openxmlformats.org/drawingml/2006/table">
            <a:tbl>
              <a:tblPr firstRow="1" firstCol="1" bandRow="1">
                <a:tableStyleId>{5940675A-B579-460E-94D1-54222C63F5DA}</a:tableStyleId>
              </a:tblPr>
              <a:tblGrid>
                <a:gridCol w="1630400">
                  <a:extLst>
                    <a:ext uri="{9D8B030D-6E8A-4147-A177-3AD203B41FA5}">
                      <a16:colId xmlns:a16="http://schemas.microsoft.com/office/drawing/2014/main" val="1540645756"/>
                    </a:ext>
                  </a:extLst>
                </a:gridCol>
                <a:gridCol w="1630400">
                  <a:extLst>
                    <a:ext uri="{9D8B030D-6E8A-4147-A177-3AD203B41FA5}">
                      <a16:colId xmlns:a16="http://schemas.microsoft.com/office/drawing/2014/main" val="2153985505"/>
                    </a:ext>
                  </a:extLst>
                </a:gridCol>
                <a:gridCol w="1630400">
                  <a:extLst>
                    <a:ext uri="{9D8B030D-6E8A-4147-A177-3AD203B41FA5}">
                      <a16:colId xmlns:a16="http://schemas.microsoft.com/office/drawing/2014/main" val="1725107683"/>
                    </a:ext>
                  </a:extLst>
                </a:gridCol>
                <a:gridCol w="1630400">
                  <a:extLst>
                    <a:ext uri="{9D8B030D-6E8A-4147-A177-3AD203B41FA5}">
                      <a16:colId xmlns:a16="http://schemas.microsoft.com/office/drawing/2014/main" val="3730466113"/>
                    </a:ext>
                  </a:extLst>
                </a:gridCol>
                <a:gridCol w="1630400">
                  <a:extLst>
                    <a:ext uri="{9D8B030D-6E8A-4147-A177-3AD203B41FA5}">
                      <a16:colId xmlns:a16="http://schemas.microsoft.com/office/drawing/2014/main" val="3958484684"/>
                    </a:ext>
                  </a:extLst>
                </a:gridCol>
              </a:tblGrid>
              <a:tr h="417274">
                <a:tc>
                  <a:txBody>
                    <a:bodyPr/>
                    <a:lstStyle/>
                    <a:p>
                      <a:pPr algn="ctr">
                        <a:lnSpc>
                          <a:spcPct val="115000"/>
                        </a:lnSpc>
                        <a:spcAft>
                          <a:spcPts val="800"/>
                        </a:spcAft>
                        <a:buNone/>
                      </a:pPr>
                      <a:r>
                        <a:rPr lang="en-IE" sz="1400" b="1" kern="100" dirty="0">
                          <a:effectLst/>
                        </a:rPr>
                        <a:t>Load Factor (α)</a:t>
                      </a:r>
                      <a:endParaRPr lang="en-IE"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b="1" kern="100" dirty="0">
                          <a:effectLst/>
                        </a:rPr>
                        <a:t>Linear Probing</a:t>
                      </a:r>
                      <a:endParaRPr lang="en-IE"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b="1" kern="100" dirty="0">
                          <a:effectLst/>
                        </a:rPr>
                        <a:t>Quadratic Probing</a:t>
                      </a:r>
                      <a:endParaRPr lang="en-IE"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b="1" kern="100" dirty="0">
                          <a:effectLst/>
                        </a:rPr>
                        <a:t>Double Hashing</a:t>
                      </a:r>
                      <a:endParaRPr lang="en-IE"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b="1" kern="100" dirty="0">
                          <a:effectLst/>
                        </a:rPr>
                        <a:t>Chaining</a:t>
                      </a:r>
                      <a:endParaRPr lang="en-IE"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51314452"/>
                  </a:ext>
                </a:extLst>
              </a:tr>
              <a:tr h="351992">
                <a:tc>
                  <a:txBody>
                    <a:bodyPr/>
                    <a:lstStyle/>
                    <a:p>
                      <a:pPr algn="ctr">
                        <a:lnSpc>
                          <a:spcPct val="115000"/>
                        </a:lnSpc>
                        <a:spcAft>
                          <a:spcPts val="800"/>
                        </a:spcAft>
                        <a:buNone/>
                      </a:pPr>
                      <a:r>
                        <a:rPr lang="en-IE" sz="1400" b="1" kern="100" dirty="0">
                          <a:effectLst/>
                        </a:rPr>
                        <a:t>0.1 – 0.5</a:t>
                      </a:r>
                      <a:endParaRPr lang="en-IE"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dirty="0">
                          <a:effectLst/>
                        </a:rPr>
                        <a:t>Excellent O(1)</a:t>
                      </a:r>
                      <a:endParaRPr lang="en-I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dirty="0">
                          <a:effectLst/>
                        </a:rPr>
                        <a:t>Excellent O(1)</a:t>
                      </a:r>
                      <a:endParaRPr lang="en-I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dirty="0">
                          <a:effectLst/>
                        </a:rPr>
                        <a:t>Excellent O(1)</a:t>
                      </a:r>
                      <a:endParaRPr lang="en-I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dirty="0">
                          <a:effectLst/>
                        </a:rPr>
                        <a:t>Excellent O(1)</a:t>
                      </a:r>
                      <a:endParaRPr lang="en-I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76816124"/>
                  </a:ext>
                </a:extLst>
              </a:tr>
              <a:tr h="425247">
                <a:tc>
                  <a:txBody>
                    <a:bodyPr/>
                    <a:lstStyle/>
                    <a:p>
                      <a:pPr algn="ctr">
                        <a:lnSpc>
                          <a:spcPct val="115000"/>
                        </a:lnSpc>
                        <a:spcAft>
                          <a:spcPts val="800"/>
                        </a:spcAft>
                        <a:buNone/>
                      </a:pPr>
                      <a:r>
                        <a:rPr lang="en-IE" sz="1400" b="1" kern="100" dirty="0">
                          <a:effectLst/>
                        </a:rPr>
                        <a:t>0.6 – 0.8</a:t>
                      </a:r>
                      <a:endParaRPr lang="en-IE"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dirty="0">
                          <a:effectLst/>
                        </a:rPr>
                        <a:t>Degrades (clustering)</a:t>
                      </a:r>
                      <a:endParaRPr lang="en-I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a:effectLst/>
                        </a:rPr>
                        <a:t>Good</a:t>
                      </a:r>
                      <a:endParaRPr lang="en-IE"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a:effectLst/>
                        </a:rPr>
                        <a:t>Very Good</a:t>
                      </a:r>
                      <a:endParaRPr lang="en-IE"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dirty="0">
                          <a:effectLst/>
                        </a:rPr>
                        <a:t>Still Good</a:t>
                      </a:r>
                      <a:endParaRPr lang="en-I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1041898"/>
                  </a:ext>
                </a:extLst>
              </a:tr>
              <a:tr h="425247">
                <a:tc>
                  <a:txBody>
                    <a:bodyPr/>
                    <a:lstStyle/>
                    <a:p>
                      <a:pPr algn="ctr">
                        <a:lnSpc>
                          <a:spcPct val="115000"/>
                        </a:lnSpc>
                        <a:spcAft>
                          <a:spcPts val="800"/>
                        </a:spcAft>
                        <a:buNone/>
                      </a:pPr>
                      <a:r>
                        <a:rPr lang="en-IE" sz="1400" b="1" kern="100">
                          <a:effectLst/>
                        </a:rPr>
                        <a:t>0.8 – 1.0</a:t>
                      </a:r>
                      <a:endParaRPr lang="en-IE" sz="1400" b="1"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dirty="0">
                          <a:effectLst/>
                        </a:rPr>
                        <a:t>Poor</a:t>
                      </a:r>
                      <a:endParaRPr lang="en-I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dirty="0">
                          <a:effectLst/>
                        </a:rPr>
                        <a:t>Fair</a:t>
                      </a:r>
                      <a:endParaRPr lang="en-I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a:effectLst/>
                        </a:rPr>
                        <a:t>Still OK</a:t>
                      </a:r>
                      <a:endParaRPr lang="en-IE"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a:effectLst/>
                        </a:rPr>
                        <a:t>Good (slower but stable)</a:t>
                      </a:r>
                      <a:endParaRPr lang="en-IE"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45162670"/>
                  </a:ext>
                </a:extLst>
              </a:tr>
              <a:tr h="634305">
                <a:tc>
                  <a:txBody>
                    <a:bodyPr/>
                    <a:lstStyle/>
                    <a:p>
                      <a:pPr algn="ctr">
                        <a:lnSpc>
                          <a:spcPct val="115000"/>
                        </a:lnSpc>
                        <a:spcAft>
                          <a:spcPts val="800"/>
                        </a:spcAft>
                        <a:buNone/>
                      </a:pPr>
                      <a:r>
                        <a:rPr lang="en-IE" sz="1400" b="1" kern="100" dirty="0">
                          <a:effectLst/>
                        </a:rPr>
                        <a:t>&gt; 1.0</a:t>
                      </a:r>
                      <a:endParaRPr lang="en-IE" sz="1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a:effectLst/>
                        </a:rPr>
                        <a:t>Not possible (open addressing must resize)</a:t>
                      </a:r>
                      <a:endParaRPr lang="en-IE" sz="1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dirty="0">
                          <a:effectLst/>
                        </a:rPr>
                        <a:t>Not possible</a:t>
                      </a:r>
                      <a:endParaRPr lang="en-I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dirty="0">
                          <a:effectLst/>
                        </a:rPr>
                        <a:t>Not possible</a:t>
                      </a:r>
                      <a:endParaRPr lang="en-I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IE" sz="1400" kern="100" dirty="0">
                          <a:effectLst/>
                        </a:rPr>
                        <a:t>Still works (chains just grow)</a:t>
                      </a:r>
                      <a:endParaRPr lang="en-I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65075497"/>
                  </a:ext>
                </a:extLst>
              </a:tr>
            </a:tbl>
          </a:graphicData>
        </a:graphic>
      </p:graphicFrame>
    </p:spTree>
    <p:extLst>
      <p:ext uri="{BB962C8B-B14F-4D97-AF65-F5344CB8AC3E}">
        <p14:creationId xmlns:p14="http://schemas.microsoft.com/office/powerpoint/2010/main" val="302693408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1E9840-D800-609C-5D73-73BF543369A0}"/>
              </a:ext>
            </a:extLst>
          </p:cNvPr>
          <p:cNvSpPr>
            <a:spLocks noGrp="1"/>
          </p:cNvSpPr>
          <p:nvPr>
            <p:ph type="body" sz="quarter" idx="12"/>
          </p:nvPr>
        </p:nvSpPr>
        <p:spPr>
          <a:xfrm>
            <a:off x="746310" y="620688"/>
            <a:ext cx="8169089" cy="1008112"/>
          </a:xfrm>
        </p:spPr>
        <p:txBody>
          <a:bodyPr>
            <a:normAutofit fontScale="92500"/>
          </a:bodyPr>
          <a:lstStyle/>
          <a:p>
            <a:r>
              <a:rPr lang="en-US" dirty="0"/>
              <a:t>Dynamic And Extendible Hashing</a:t>
            </a:r>
            <a:endParaRPr lang="en-IE" dirty="0"/>
          </a:p>
        </p:txBody>
      </p:sp>
      <p:sp>
        <p:nvSpPr>
          <p:cNvPr id="3" name="Content Placeholder 2">
            <a:extLst>
              <a:ext uri="{FF2B5EF4-FFF2-40B4-BE49-F238E27FC236}">
                <a16:creationId xmlns:a16="http://schemas.microsoft.com/office/drawing/2014/main" id="{1C6BB8E0-2975-D579-59FC-693FC47E7B46}"/>
              </a:ext>
            </a:extLst>
          </p:cNvPr>
          <p:cNvSpPr>
            <a:spLocks noGrp="1"/>
          </p:cNvSpPr>
          <p:nvPr>
            <p:ph sz="quarter" idx="11"/>
          </p:nvPr>
        </p:nvSpPr>
        <p:spPr/>
        <p:txBody>
          <a:bodyPr>
            <a:normAutofit/>
          </a:bodyPr>
          <a:lstStyle/>
          <a:p>
            <a:r>
              <a:rPr lang="en-US" dirty="0"/>
              <a:t>Dynamic and Extendible Hashing Techniques</a:t>
            </a:r>
          </a:p>
          <a:p>
            <a:pPr lvl="1"/>
            <a:r>
              <a:rPr lang="en-US" sz="2200" dirty="0"/>
              <a:t>Hashing techniques are adapted to allow the dynamic growth and shrinking of the number of file records.</a:t>
            </a:r>
          </a:p>
          <a:p>
            <a:r>
              <a:rPr lang="en-US" dirty="0"/>
              <a:t>Dynamic hashing use the binary representation of the hash value h(K) in order to access a directory.</a:t>
            </a:r>
          </a:p>
          <a:p>
            <a:pPr lvl="1"/>
            <a:r>
              <a:rPr lang="en-US" sz="2200" dirty="0"/>
              <a:t>In extendible hashing the directory is an array of size 2</a:t>
            </a:r>
            <a:r>
              <a:rPr lang="en-US" sz="2200" baseline="30000" dirty="0"/>
              <a:t>d</a:t>
            </a:r>
            <a:r>
              <a:rPr lang="en-US" sz="2200" dirty="0"/>
              <a:t> where d is called the global depth. </a:t>
            </a:r>
          </a:p>
          <a:p>
            <a:endParaRPr lang="en-IE" dirty="0"/>
          </a:p>
        </p:txBody>
      </p:sp>
    </p:spTree>
    <p:extLst>
      <p:ext uri="{BB962C8B-B14F-4D97-AF65-F5344CB8AC3E}">
        <p14:creationId xmlns:p14="http://schemas.microsoft.com/office/powerpoint/2010/main" val="45395406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E179E-9889-EBDD-BF15-BBDB59011A4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85D8999-7014-3722-4BF7-B82C5DBEC0E1}"/>
              </a:ext>
            </a:extLst>
          </p:cNvPr>
          <p:cNvSpPr>
            <a:spLocks noGrp="1"/>
          </p:cNvSpPr>
          <p:nvPr>
            <p:ph type="body" sz="quarter" idx="12"/>
          </p:nvPr>
        </p:nvSpPr>
        <p:spPr>
          <a:xfrm>
            <a:off x="746310" y="620688"/>
            <a:ext cx="8245289" cy="1008112"/>
          </a:xfrm>
        </p:spPr>
        <p:txBody>
          <a:bodyPr>
            <a:normAutofit fontScale="92500"/>
          </a:bodyPr>
          <a:lstStyle/>
          <a:p>
            <a:r>
              <a:rPr lang="en-US" dirty="0"/>
              <a:t>Dynamic And Extendible Hashing</a:t>
            </a:r>
            <a:endParaRPr lang="en-IE" dirty="0"/>
          </a:p>
        </p:txBody>
      </p:sp>
      <p:sp>
        <p:nvSpPr>
          <p:cNvPr id="3" name="Content Placeholder 2">
            <a:extLst>
              <a:ext uri="{FF2B5EF4-FFF2-40B4-BE49-F238E27FC236}">
                <a16:creationId xmlns:a16="http://schemas.microsoft.com/office/drawing/2014/main" id="{C32E611A-4A07-F835-FA40-F94F1220001E}"/>
              </a:ext>
            </a:extLst>
          </p:cNvPr>
          <p:cNvSpPr>
            <a:spLocks noGrp="1"/>
          </p:cNvSpPr>
          <p:nvPr>
            <p:ph sz="quarter" idx="11"/>
          </p:nvPr>
        </p:nvSpPr>
        <p:spPr>
          <a:xfrm>
            <a:off x="533400" y="1676400"/>
            <a:ext cx="8381999" cy="3816350"/>
          </a:xfrm>
        </p:spPr>
        <p:txBody>
          <a:bodyPr>
            <a:noAutofit/>
          </a:bodyPr>
          <a:lstStyle/>
          <a:p>
            <a:pPr>
              <a:lnSpc>
                <a:spcPct val="120000"/>
              </a:lnSpc>
            </a:pPr>
            <a:r>
              <a:rPr lang="en-US" sz="1700" dirty="0"/>
              <a:t>The directories can be stored on disk, and they expand or shrink dynamically.</a:t>
            </a:r>
          </a:p>
          <a:p>
            <a:pPr lvl="1">
              <a:lnSpc>
                <a:spcPct val="120000"/>
              </a:lnSpc>
            </a:pPr>
            <a:r>
              <a:rPr lang="en-US" sz="1700" dirty="0"/>
              <a:t>Directory entries point to the disk blocks that contain the stored records.</a:t>
            </a:r>
          </a:p>
          <a:p>
            <a:pPr>
              <a:lnSpc>
                <a:spcPct val="120000"/>
              </a:lnSpc>
            </a:pPr>
            <a:r>
              <a:rPr lang="en-US" sz="1700" dirty="0"/>
              <a:t>An insertion in a disk block that is full causes the block to split into two blocks and the records are redistributed among the two blocks.</a:t>
            </a:r>
          </a:p>
          <a:p>
            <a:pPr lvl="1">
              <a:lnSpc>
                <a:spcPct val="120000"/>
              </a:lnSpc>
            </a:pPr>
            <a:r>
              <a:rPr lang="en-US" sz="1700" dirty="0"/>
              <a:t>The directory is updated appropriately.</a:t>
            </a:r>
          </a:p>
          <a:p>
            <a:pPr>
              <a:lnSpc>
                <a:spcPct val="120000"/>
              </a:lnSpc>
            </a:pPr>
            <a:r>
              <a:rPr lang="en-US" sz="1700" dirty="0"/>
              <a:t>The directories can be stored on disk, and they expand or shrink dynamically.</a:t>
            </a:r>
          </a:p>
          <a:p>
            <a:pPr lvl="1">
              <a:lnSpc>
                <a:spcPct val="120000"/>
              </a:lnSpc>
            </a:pPr>
            <a:r>
              <a:rPr lang="en-US" sz="1700" dirty="0"/>
              <a:t>Directory entries point to the disk blocks that contain the stored records.</a:t>
            </a:r>
          </a:p>
          <a:p>
            <a:pPr>
              <a:lnSpc>
                <a:spcPct val="120000"/>
              </a:lnSpc>
            </a:pPr>
            <a:r>
              <a:rPr lang="en-US" sz="1700" dirty="0"/>
              <a:t>An insertion in a disk block that is full causes the block to split into two blocks and the records are redistributed among the two blocks.</a:t>
            </a:r>
          </a:p>
          <a:p>
            <a:pPr lvl="1">
              <a:lnSpc>
                <a:spcPct val="120000"/>
              </a:lnSpc>
            </a:pPr>
            <a:r>
              <a:rPr lang="en-US" sz="1700" dirty="0"/>
              <a:t>The directory is updated appropriately.</a:t>
            </a:r>
          </a:p>
        </p:txBody>
      </p:sp>
    </p:spTree>
    <p:extLst>
      <p:ext uri="{BB962C8B-B14F-4D97-AF65-F5344CB8AC3E}">
        <p14:creationId xmlns:p14="http://schemas.microsoft.com/office/powerpoint/2010/main" val="323153452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E56012-A8E4-97B5-7FA5-CA4E761F0C2B}"/>
              </a:ext>
            </a:extLst>
          </p:cNvPr>
          <p:cNvSpPr>
            <a:spLocks noGrp="1"/>
          </p:cNvSpPr>
          <p:nvPr>
            <p:ph type="body" sz="quarter" idx="12"/>
          </p:nvPr>
        </p:nvSpPr>
        <p:spPr/>
        <p:txBody>
          <a:bodyPr/>
          <a:lstStyle/>
          <a:p>
            <a:r>
              <a:rPr lang="en-US" dirty="0"/>
              <a:t>Extendible Hashing</a:t>
            </a:r>
            <a:endParaRPr lang="en-IE" dirty="0"/>
          </a:p>
        </p:txBody>
      </p:sp>
      <p:pic>
        <p:nvPicPr>
          <p:cNvPr id="4" name="Picture 9" descr="fig13_11">
            <a:extLst>
              <a:ext uri="{FF2B5EF4-FFF2-40B4-BE49-F238E27FC236}">
                <a16:creationId xmlns:a16="http://schemas.microsoft.com/office/drawing/2014/main" id="{F2F0DB4B-8353-5BB8-4529-737905D32F4C}"/>
              </a:ext>
            </a:extLst>
          </p:cNvPr>
          <p:cNvPicPr>
            <a:picLocks noChangeAspect="1" noChangeArrowheads="1"/>
          </p:cNvPicPr>
          <p:nvPr/>
        </p:nvPicPr>
        <p:blipFill>
          <a:blip r:embed="rId2" cstate="print"/>
          <a:srcRect/>
          <a:stretch>
            <a:fillRect/>
          </a:stretch>
        </p:blipFill>
        <p:spPr bwMode="auto">
          <a:xfrm>
            <a:off x="4953000" y="1458796"/>
            <a:ext cx="4062413" cy="4062412"/>
          </a:xfrm>
          <a:prstGeom prst="rect">
            <a:avLst/>
          </a:prstGeom>
          <a:noFill/>
          <a:ln w="9525">
            <a:noFill/>
            <a:miter lim="800000"/>
            <a:headEnd/>
            <a:tailEnd/>
          </a:ln>
        </p:spPr>
      </p:pic>
      <p:sp>
        <p:nvSpPr>
          <p:cNvPr id="6" name="TextBox 5">
            <a:extLst>
              <a:ext uri="{FF2B5EF4-FFF2-40B4-BE49-F238E27FC236}">
                <a16:creationId xmlns:a16="http://schemas.microsoft.com/office/drawing/2014/main" id="{82C964A6-68D6-25E9-C100-009C466D43AC}"/>
              </a:ext>
            </a:extLst>
          </p:cNvPr>
          <p:cNvSpPr txBox="1"/>
          <p:nvPr/>
        </p:nvSpPr>
        <p:spPr>
          <a:xfrm>
            <a:off x="533400" y="1474036"/>
            <a:ext cx="4572000" cy="3970318"/>
          </a:xfrm>
          <a:prstGeom prst="rect">
            <a:avLst/>
          </a:prstGeom>
          <a:noFill/>
        </p:spPr>
        <p:txBody>
          <a:bodyPr wrap="square">
            <a:spAutoFit/>
          </a:bodyPr>
          <a:lstStyle/>
          <a:p>
            <a:r>
              <a:rPr lang="en-US" b="1" dirty="0"/>
              <a:t>Key structure:</a:t>
            </a:r>
            <a:endParaRPr lang="en-US" dirty="0"/>
          </a:p>
          <a:p>
            <a:r>
              <a:rPr lang="en-US" dirty="0"/>
              <a:t>A </a:t>
            </a:r>
            <a:r>
              <a:rPr lang="en-US" b="1" dirty="0"/>
              <a:t>directory</a:t>
            </a:r>
            <a:r>
              <a:rPr lang="en-US" dirty="0"/>
              <a:t>: array of pointers to buckets.</a:t>
            </a:r>
          </a:p>
          <a:p>
            <a:endParaRPr lang="en-US" dirty="0"/>
          </a:p>
          <a:p>
            <a:r>
              <a:rPr lang="en-US" dirty="0"/>
              <a:t>Each </a:t>
            </a:r>
            <a:r>
              <a:rPr lang="en-US" b="1" dirty="0"/>
              <a:t>bucket</a:t>
            </a:r>
            <a:r>
              <a:rPr lang="en-US" dirty="0"/>
              <a:t>: holds a few key-value pairs and a local depth.</a:t>
            </a:r>
          </a:p>
          <a:p>
            <a:endParaRPr lang="en-US" b="1" dirty="0"/>
          </a:p>
          <a:p>
            <a:r>
              <a:rPr lang="en-US" b="1" dirty="0"/>
              <a:t>Global depth</a:t>
            </a:r>
            <a:r>
              <a:rPr lang="en-US" dirty="0"/>
              <a:t>: number of hash bits used to index the directory.</a:t>
            </a:r>
          </a:p>
          <a:p>
            <a:endParaRPr lang="en-US" b="1" dirty="0"/>
          </a:p>
          <a:p>
            <a:r>
              <a:rPr lang="en-US" b="1" dirty="0"/>
              <a:t>Expansion rule:</a:t>
            </a:r>
            <a:endParaRPr lang="en-US" dirty="0"/>
          </a:p>
          <a:p>
            <a:r>
              <a:rPr lang="en-US" dirty="0"/>
              <a:t>When a bucket overflows, it splits.</a:t>
            </a:r>
          </a:p>
          <a:p>
            <a:r>
              <a:rPr lang="en-US" dirty="0"/>
              <a:t>If the bucket’s local depth becomes larger than the global depth → </a:t>
            </a:r>
            <a:r>
              <a:rPr lang="en-US" b="1" dirty="0"/>
              <a:t>double the directory size</a:t>
            </a:r>
            <a:r>
              <a:rPr lang="en-US" dirty="0"/>
              <a:t> (expand).</a:t>
            </a:r>
          </a:p>
        </p:txBody>
      </p:sp>
    </p:spTree>
    <p:extLst>
      <p:ext uri="{BB962C8B-B14F-4D97-AF65-F5344CB8AC3E}">
        <p14:creationId xmlns:p14="http://schemas.microsoft.com/office/powerpoint/2010/main" val="21917595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41FC-C310-5867-AFC8-8C4EBF72AEA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C03A3DB-3AA8-3C4F-C647-D612EA8E347C}"/>
              </a:ext>
            </a:extLst>
          </p:cNvPr>
          <p:cNvSpPr>
            <a:spLocks noGrp="1"/>
          </p:cNvSpPr>
          <p:nvPr>
            <p:ph type="body" sz="quarter" idx="12"/>
          </p:nvPr>
        </p:nvSpPr>
        <p:spPr/>
        <p:txBody>
          <a:bodyPr/>
          <a:lstStyle/>
          <a:p>
            <a:r>
              <a:rPr lang="en-US" dirty="0"/>
              <a:t>Dynamic Hashing</a:t>
            </a:r>
            <a:endParaRPr lang="en-IE" dirty="0"/>
          </a:p>
        </p:txBody>
      </p:sp>
      <p:sp>
        <p:nvSpPr>
          <p:cNvPr id="3" name="Rectangle 2">
            <a:extLst>
              <a:ext uri="{FF2B5EF4-FFF2-40B4-BE49-F238E27FC236}">
                <a16:creationId xmlns:a16="http://schemas.microsoft.com/office/drawing/2014/main" id="{D5DC78C8-E0D1-4131-449D-9BB67CB5C888}"/>
              </a:ext>
            </a:extLst>
          </p:cNvPr>
          <p:cNvSpPr/>
          <p:nvPr/>
        </p:nvSpPr>
        <p:spPr>
          <a:xfrm>
            <a:off x="1752600" y="2133600"/>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5" name="Rectangle 4">
            <a:extLst>
              <a:ext uri="{FF2B5EF4-FFF2-40B4-BE49-F238E27FC236}">
                <a16:creationId xmlns:a16="http://schemas.microsoft.com/office/drawing/2014/main" id="{C1776827-10C5-A1A1-58B2-042DBF4C2D5C}"/>
              </a:ext>
            </a:extLst>
          </p:cNvPr>
          <p:cNvSpPr/>
          <p:nvPr/>
        </p:nvSpPr>
        <p:spPr>
          <a:xfrm>
            <a:off x="502443" y="213360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482</a:t>
            </a:r>
            <a:endParaRPr lang="en-IE" sz="1500" dirty="0"/>
          </a:p>
        </p:txBody>
      </p:sp>
      <p:cxnSp>
        <p:nvCxnSpPr>
          <p:cNvPr id="6" name="Straight Arrow Connector 5">
            <a:extLst>
              <a:ext uri="{FF2B5EF4-FFF2-40B4-BE49-F238E27FC236}">
                <a16:creationId xmlns:a16="http://schemas.microsoft.com/office/drawing/2014/main" id="{91CB9040-C2EE-AB5F-6124-0BCC4552D0DC}"/>
              </a:ext>
            </a:extLst>
          </p:cNvPr>
          <p:cNvCxnSpPr>
            <a:stCxn id="5" idx="3"/>
            <a:endCxn id="3" idx="1"/>
          </p:cNvCxnSpPr>
          <p:nvPr/>
        </p:nvCxnSpPr>
        <p:spPr>
          <a:xfrm>
            <a:off x="1313656"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5DCD1DC9-E2D2-CB19-0BA0-E26A4A560B5C}"/>
              </a:ext>
            </a:extLst>
          </p:cNvPr>
          <p:cNvCxnSpPr/>
          <p:nvPr/>
        </p:nvCxnSpPr>
        <p:spPr>
          <a:xfrm>
            <a:off x="2563813"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A94E1C0D-EF44-38F1-82D0-AC46696E4824}"/>
              </a:ext>
            </a:extLst>
          </p:cNvPr>
          <p:cNvSpPr/>
          <p:nvPr/>
        </p:nvSpPr>
        <p:spPr>
          <a:xfrm>
            <a:off x="2992436" y="2133600"/>
            <a:ext cx="1122364"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solidFill>
                  <a:srgbClr val="FF0000"/>
                </a:solidFill>
              </a:rPr>
              <a:t>10</a:t>
            </a:r>
            <a:r>
              <a:rPr lang="en-US" sz="1500" dirty="0"/>
              <a:t>00101</a:t>
            </a:r>
            <a:endParaRPr lang="en-IE" sz="1500" dirty="0"/>
          </a:p>
        </p:txBody>
      </p:sp>
      <p:sp>
        <p:nvSpPr>
          <p:cNvPr id="12" name="TextBox 11">
            <a:extLst>
              <a:ext uri="{FF2B5EF4-FFF2-40B4-BE49-F238E27FC236}">
                <a16:creationId xmlns:a16="http://schemas.microsoft.com/office/drawing/2014/main" id="{DA1319BF-2457-6B20-2897-A695EA05E3D4}"/>
              </a:ext>
            </a:extLst>
          </p:cNvPr>
          <p:cNvSpPr txBox="1"/>
          <p:nvPr/>
        </p:nvSpPr>
        <p:spPr>
          <a:xfrm>
            <a:off x="381000" y="2895600"/>
            <a:ext cx="5682760" cy="2708434"/>
          </a:xfrm>
          <a:prstGeom prst="rect">
            <a:avLst/>
          </a:prstGeom>
          <a:noFill/>
        </p:spPr>
        <p:txBody>
          <a:bodyPr wrap="square" rtlCol="0">
            <a:spAutoFit/>
          </a:bodyPr>
          <a:lstStyle/>
          <a:p>
            <a:r>
              <a:rPr lang="en-US" sz="1700" dirty="0"/>
              <a:t>Let’s assume</a:t>
            </a:r>
          </a:p>
          <a:p>
            <a:pPr marL="285750" indent="-285750">
              <a:buFont typeface="Arial" panose="020B0604020202020204" pitchFamily="34" charset="0"/>
              <a:buChar char="•"/>
            </a:pPr>
            <a:r>
              <a:rPr lang="en-US" sz="1700" dirty="0"/>
              <a:t>Bucket size = 2</a:t>
            </a:r>
          </a:p>
          <a:p>
            <a:pPr marL="285750" indent="-285750">
              <a:buFont typeface="Arial" panose="020B0604020202020204" pitchFamily="34" charset="0"/>
              <a:buChar char="•"/>
            </a:pPr>
            <a:endParaRPr lang="en-US" sz="1700" dirty="0"/>
          </a:p>
          <a:p>
            <a:pPr marL="285750" indent="-285750">
              <a:buFont typeface="Arial" panose="020B0604020202020204" pitchFamily="34" charset="0"/>
              <a:buChar char="•"/>
            </a:pPr>
            <a:r>
              <a:rPr lang="en-US" sz="1700" dirty="0"/>
              <a:t>At the beginning, only the first 2 bits are used to compute the bucket location. Therefore 4 buckets are indexed at the start (2^2)</a:t>
            </a:r>
          </a:p>
          <a:p>
            <a:pPr marL="285750" indent="-285750">
              <a:buFont typeface="Arial" panose="020B0604020202020204" pitchFamily="34" charset="0"/>
              <a:buChar char="•"/>
            </a:pPr>
            <a:endParaRPr lang="en-US" sz="1700" dirty="0"/>
          </a:p>
          <a:p>
            <a:pPr marL="285750" indent="-285750">
              <a:buFont typeface="Arial" panose="020B0604020202020204" pitchFamily="34" charset="0"/>
              <a:buChar char="•"/>
            </a:pPr>
            <a:r>
              <a:rPr lang="en-US" sz="1700" dirty="0"/>
              <a:t>The hash function returns 7 bits (global depth = 2^7 = 128), a max of 128 buckets can be supported. In real systems, it can go up to 32 bits or more.</a:t>
            </a:r>
            <a:endParaRPr lang="en-IE" sz="1700" dirty="0"/>
          </a:p>
        </p:txBody>
      </p:sp>
      <p:graphicFrame>
        <p:nvGraphicFramePr>
          <p:cNvPr id="4" name="Table 3">
            <a:extLst>
              <a:ext uri="{FF2B5EF4-FFF2-40B4-BE49-F238E27FC236}">
                <a16:creationId xmlns:a16="http://schemas.microsoft.com/office/drawing/2014/main" id="{68D62C41-98CB-F86F-B601-A986E7580F80}"/>
              </a:ext>
            </a:extLst>
          </p:cNvPr>
          <p:cNvGraphicFramePr>
            <a:graphicFrameLocks noGrp="1"/>
          </p:cNvGraphicFramePr>
          <p:nvPr>
            <p:extLst>
              <p:ext uri="{D42A27DB-BD31-4B8C-83A1-F6EECF244321}">
                <p14:modId xmlns:p14="http://schemas.microsoft.com/office/powerpoint/2010/main" val="2281543098"/>
              </p:ext>
            </p:extLst>
          </p:nvPr>
        </p:nvGraphicFramePr>
        <p:xfrm>
          <a:off x="6364224" y="16764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0</a:t>
                      </a:r>
                      <a:r>
                        <a:rPr lang="en-IE" sz="1500" dirty="0"/>
                        <a:t>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0" name="Table 9">
            <a:extLst>
              <a:ext uri="{FF2B5EF4-FFF2-40B4-BE49-F238E27FC236}">
                <a16:creationId xmlns:a16="http://schemas.microsoft.com/office/drawing/2014/main" id="{B8B85524-EE72-5EAA-0B77-04A9F72C995F}"/>
              </a:ext>
            </a:extLst>
          </p:cNvPr>
          <p:cNvGraphicFramePr>
            <a:graphicFrameLocks noGrp="1"/>
          </p:cNvGraphicFramePr>
          <p:nvPr>
            <p:extLst>
              <p:ext uri="{D42A27DB-BD31-4B8C-83A1-F6EECF244321}">
                <p14:modId xmlns:p14="http://schemas.microsoft.com/office/powerpoint/2010/main" val="2846178658"/>
              </p:ext>
            </p:extLst>
          </p:nvPr>
        </p:nvGraphicFramePr>
        <p:xfrm>
          <a:off x="6391656" y="26670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3" name="Table 12">
            <a:extLst>
              <a:ext uri="{FF2B5EF4-FFF2-40B4-BE49-F238E27FC236}">
                <a16:creationId xmlns:a16="http://schemas.microsoft.com/office/drawing/2014/main" id="{6E4C63C5-D7D9-69E2-244E-B115D3C07268}"/>
              </a:ext>
            </a:extLst>
          </p:cNvPr>
          <p:cNvGraphicFramePr>
            <a:graphicFrameLocks noGrp="1"/>
          </p:cNvGraphicFramePr>
          <p:nvPr>
            <p:extLst>
              <p:ext uri="{D42A27DB-BD31-4B8C-83A1-F6EECF244321}">
                <p14:modId xmlns:p14="http://schemas.microsoft.com/office/powerpoint/2010/main" val="2544369806"/>
              </p:ext>
            </p:extLst>
          </p:nvPr>
        </p:nvGraphicFramePr>
        <p:xfrm>
          <a:off x="6400800" y="372749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4" name="Table 13">
            <a:extLst>
              <a:ext uri="{FF2B5EF4-FFF2-40B4-BE49-F238E27FC236}">
                <a16:creationId xmlns:a16="http://schemas.microsoft.com/office/drawing/2014/main" id="{1BE9B663-C1EF-3FAD-05A4-2112AB2CF152}"/>
              </a:ext>
            </a:extLst>
          </p:cNvPr>
          <p:cNvGraphicFramePr>
            <a:graphicFrameLocks noGrp="1"/>
          </p:cNvGraphicFramePr>
          <p:nvPr>
            <p:extLst>
              <p:ext uri="{D42A27DB-BD31-4B8C-83A1-F6EECF244321}">
                <p14:modId xmlns:p14="http://schemas.microsoft.com/office/powerpoint/2010/main" val="1152415613"/>
              </p:ext>
            </p:extLst>
          </p:nvPr>
        </p:nvGraphicFramePr>
        <p:xfrm>
          <a:off x="6400800" y="4707636"/>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spTree>
    <p:extLst>
      <p:ext uri="{BB962C8B-B14F-4D97-AF65-F5344CB8AC3E}">
        <p14:creationId xmlns:p14="http://schemas.microsoft.com/office/powerpoint/2010/main" val="368035163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5651D-36D7-ACA1-9A49-38373535E4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1CF28A3-7517-9BC3-A96E-5ADA738C7304}"/>
              </a:ext>
            </a:extLst>
          </p:cNvPr>
          <p:cNvSpPr>
            <a:spLocks noGrp="1"/>
          </p:cNvSpPr>
          <p:nvPr>
            <p:ph type="body" sz="quarter" idx="12"/>
          </p:nvPr>
        </p:nvSpPr>
        <p:spPr/>
        <p:txBody>
          <a:bodyPr/>
          <a:lstStyle/>
          <a:p>
            <a:r>
              <a:rPr lang="en-US" dirty="0"/>
              <a:t>Dynamic Hashing</a:t>
            </a:r>
            <a:endParaRPr lang="en-IE" dirty="0"/>
          </a:p>
        </p:txBody>
      </p:sp>
      <p:sp>
        <p:nvSpPr>
          <p:cNvPr id="3" name="Rectangle 2">
            <a:extLst>
              <a:ext uri="{FF2B5EF4-FFF2-40B4-BE49-F238E27FC236}">
                <a16:creationId xmlns:a16="http://schemas.microsoft.com/office/drawing/2014/main" id="{B5EEBD4E-6C10-1E0E-B4BC-426AF9037BF3}"/>
              </a:ext>
            </a:extLst>
          </p:cNvPr>
          <p:cNvSpPr/>
          <p:nvPr/>
        </p:nvSpPr>
        <p:spPr>
          <a:xfrm>
            <a:off x="1752600" y="2133600"/>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5" name="Rectangle 4">
            <a:extLst>
              <a:ext uri="{FF2B5EF4-FFF2-40B4-BE49-F238E27FC236}">
                <a16:creationId xmlns:a16="http://schemas.microsoft.com/office/drawing/2014/main" id="{59E3D660-8F4E-B7CF-C1A8-57C641EC2C82}"/>
              </a:ext>
            </a:extLst>
          </p:cNvPr>
          <p:cNvSpPr/>
          <p:nvPr/>
        </p:nvSpPr>
        <p:spPr>
          <a:xfrm>
            <a:off x="502443" y="213360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482</a:t>
            </a:r>
            <a:endParaRPr lang="en-IE" sz="1500" dirty="0"/>
          </a:p>
        </p:txBody>
      </p:sp>
      <p:cxnSp>
        <p:nvCxnSpPr>
          <p:cNvPr id="6" name="Straight Arrow Connector 5">
            <a:extLst>
              <a:ext uri="{FF2B5EF4-FFF2-40B4-BE49-F238E27FC236}">
                <a16:creationId xmlns:a16="http://schemas.microsoft.com/office/drawing/2014/main" id="{A512D428-4A2C-47BA-8453-0302F6CE45F4}"/>
              </a:ext>
            </a:extLst>
          </p:cNvPr>
          <p:cNvCxnSpPr>
            <a:stCxn id="5" idx="3"/>
            <a:endCxn id="3" idx="1"/>
          </p:cNvCxnSpPr>
          <p:nvPr/>
        </p:nvCxnSpPr>
        <p:spPr>
          <a:xfrm>
            <a:off x="1313656"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1E5725D7-A51C-9D96-5DF8-8C8D21B2E12A}"/>
              </a:ext>
            </a:extLst>
          </p:cNvPr>
          <p:cNvCxnSpPr/>
          <p:nvPr/>
        </p:nvCxnSpPr>
        <p:spPr>
          <a:xfrm>
            <a:off x="2563813"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45999297-B29F-05AC-3C7A-C1DD08A13952}"/>
              </a:ext>
            </a:extLst>
          </p:cNvPr>
          <p:cNvSpPr/>
          <p:nvPr/>
        </p:nvSpPr>
        <p:spPr>
          <a:xfrm>
            <a:off x="2992436" y="2133600"/>
            <a:ext cx="1122364"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solidFill>
                  <a:srgbClr val="FF0000"/>
                </a:solidFill>
              </a:rPr>
              <a:t>10</a:t>
            </a:r>
            <a:r>
              <a:rPr lang="en-US" sz="1500" dirty="0"/>
              <a:t>00101</a:t>
            </a:r>
            <a:endParaRPr lang="en-IE" sz="1500" dirty="0"/>
          </a:p>
        </p:txBody>
      </p:sp>
      <p:cxnSp>
        <p:nvCxnSpPr>
          <p:cNvPr id="11" name="Straight Arrow Connector 10">
            <a:extLst>
              <a:ext uri="{FF2B5EF4-FFF2-40B4-BE49-F238E27FC236}">
                <a16:creationId xmlns:a16="http://schemas.microsoft.com/office/drawing/2014/main" id="{FB7948F2-B6A9-2637-20D8-04FBF40F5D56}"/>
              </a:ext>
            </a:extLst>
          </p:cNvPr>
          <p:cNvCxnSpPr>
            <a:cxnSpLocks/>
            <a:endCxn id="13" idx="1"/>
          </p:cNvCxnSpPr>
          <p:nvPr/>
        </p:nvCxnSpPr>
        <p:spPr>
          <a:xfrm>
            <a:off x="4191000" y="2318266"/>
            <a:ext cx="2209800" cy="17292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4E572421-EBB1-2E95-3C54-76BDFBA1C9E3}"/>
              </a:ext>
            </a:extLst>
          </p:cNvPr>
          <p:cNvSpPr txBox="1"/>
          <p:nvPr/>
        </p:nvSpPr>
        <p:spPr>
          <a:xfrm>
            <a:off x="746311" y="3581400"/>
            <a:ext cx="3673289" cy="923330"/>
          </a:xfrm>
          <a:prstGeom prst="rect">
            <a:avLst/>
          </a:prstGeom>
          <a:noFill/>
        </p:spPr>
        <p:txBody>
          <a:bodyPr wrap="square" rtlCol="0">
            <a:spAutoFit/>
          </a:bodyPr>
          <a:lstStyle/>
          <a:p>
            <a:r>
              <a:rPr lang="en-US" dirty="0"/>
              <a:t>At the beginning, only the first 2 bits are used to compute the bucket location</a:t>
            </a:r>
            <a:endParaRPr lang="en-IE" dirty="0"/>
          </a:p>
        </p:txBody>
      </p:sp>
      <p:graphicFrame>
        <p:nvGraphicFramePr>
          <p:cNvPr id="4" name="Table 3">
            <a:extLst>
              <a:ext uri="{FF2B5EF4-FFF2-40B4-BE49-F238E27FC236}">
                <a16:creationId xmlns:a16="http://schemas.microsoft.com/office/drawing/2014/main" id="{D5984979-52DC-171F-76F6-D62B8C149083}"/>
              </a:ext>
            </a:extLst>
          </p:cNvPr>
          <p:cNvGraphicFramePr>
            <a:graphicFrameLocks noGrp="1"/>
          </p:cNvGraphicFramePr>
          <p:nvPr/>
        </p:nvGraphicFramePr>
        <p:xfrm>
          <a:off x="6364224" y="16764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0</a:t>
                      </a:r>
                      <a:r>
                        <a:rPr lang="en-IE" sz="1500" dirty="0"/>
                        <a:t>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0" name="Table 9">
            <a:extLst>
              <a:ext uri="{FF2B5EF4-FFF2-40B4-BE49-F238E27FC236}">
                <a16:creationId xmlns:a16="http://schemas.microsoft.com/office/drawing/2014/main" id="{4EAC4824-D6E0-909E-E3D4-526658F90F88}"/>
              </a:ext>
            </a:extLst>
          </p:cNvPr>
          <p:cNvGraphicFramePr>
            <a:graphicFrameLocks noGrp="1"/>
          </p:cNvGraphicFramePr>
          <p:nvPr/>
        </p:nvGraphicFramePr>
        <p:xfrm>
          <a:off x="6391656" y="26670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3" name="Table 12">
            <a:extLst>
              <a:ext uri="{FF2B5EF4-FFF2-40B4-BE49-F238E27FC236}">
                <a16:creationId xmlns:a16="http://schemas.microsoft.com/office/drawing/2014/main" id="{286E4CB2-3208-4E0F-ABD9-0FA02ECC4F42}"/>
              </a:ext>
            </a:extLst>
          </p:cNvPr>
          <p:cNvGraphicFramePr>
            <a:graphicFrameLocks noGrp="1"/>
          </p:cNvGraphicFramePr>
          <p:nvPr/>
        </p:nvGraphicFramePr>
        <p:xfrm>
          <a:off x="6400800" y="372749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10</a:t>
                      </a:r>
                    </a:p>
                  </a:txBody>
                  <a:tcPr anchor="ctr"/>
                </a:tc>
                <a:tc>
                  <a:txBody>
                    <a:bodyPr/>
                    <a:lstStyle/>
                    <a:p>
                      <a:pPr>
                        <a:buNone/>
                      </a:pPr>
                      <a:r>
                        <a:rPr lang="en-US" sz="1500" dirty="0"/>
                        <a:t>482</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4" name="Table 13">
            <a:extLst>
              <a:ext uri="{FF2B5EF4-FFF2-40B4-BE49-F238E27FC236}">
                <a16:creationId xmlns:a16="http://schemas.microsoft.com/office/drawing/2014/main" id="{35B36010-77A9-C0B4-E232-A8AF9D807437}"/>
              </a:ext>
            </a:extLst>
          </p:cNvPr>
          <p:cNvGraphicFramePr>
            <a:graphicFrameLocks noGrp="1"/>
          </p:cNvGraphicFramePr>
          <p:nvPr>
            <p:extLst>
              <p:ext uri="{D42A27DB-BD31-4B8C-83A1-F6EECF244321}">
                <p14:modId xmlns:p14="http://schemas.microsoft.com/office/powerpoint/2010/main" val="2118971732"/>
              </p:ext>
            </p:extLst>
          </p:nvPr>
        </p:nvGraphicFramePr>
        <p:xfrm>
          <a:off x="6400800" y="4707636"/>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spTree>
    <p:extLst>
      <p:ext uri="{BB962C8B-B14F-4D97-AF65-F5344CB8AC3E}">
        <p14:creationId xmlns:p14="http://schemas.microsoft.com/office/powerpoint/2010/main" val="163468630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112B8-6550-DAFA-5BFA-D168DAD529A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2D55EAE-CFEC-7C78-39E8-5605FB504AB3}"/>
              </a:ext>
            </a:extLst>
          </p:cNvPr>
          <p:cNvSpPr>
            <a:spLocks noGrp="1"/>
          </p:cNvSpPr>
          <p:nvPr>
            <p:ph type="body" sz="quarter" idx="12"/>
          </p:nvPr>
        </p:nvSpPr>
        <p:spPr/>
        <p:txBody>
          <a:bodyPr/>
          <a:lstStyle/>
          <a:p>
            <a:r>
              <a:rPr lang="en-US" dirty="0"/>
              <a:t>Dynamic Hashing</a:t>
            </a:r>
            <a:endParaRPr lang="en-IE" dirty="0"/>
          </a:p>
        </p:txBody>
      </p:sp>
      <p:sp>
        <p:nvSpPr>
          <p:cNvPr id="3" name="Rectangle 2">
            <a:extLst>
              <a:ext uri="{FF2B5EF4-FFF2-40B4-BE49-F238E27FC236}">
                <a16:creationId xmlns:a16="http://schemas.microsoft.com/office/drawing/2014/main" id="{7F4901EA-1AD2-53D4-3AF3-93603452E854}"/>
              </a:ext>
            </a:extLst>
          </p:cNvPr>
          <p:cNvSpPr/>
          <p:nvPr/>
        </p:nvSpPr>
        <p:spPr>
          <a:xfrm>
            <a:off x="1752600" y="2133600"/>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5" name="Rectangle 4">
            <a:extLst>
              <a:ext uri="{FF2B5EF4-FFF2-40B4-BE49-F238E27FC236}">
                <a16:creationId xmlns:a16="http://schemas.microsoft.com/office/drawing/2014/main" id="{AE2763A7-FA9F-71F8-53E0-3E0E2B9156BC}"/>
              </a:ext>
            </a:extLst>
          </p:cNvPr>
          <p:cNvSpPr/>
          <p:nvPr/>
        </p:nvSpPr>
        <p:spPr>
          <a:xfrm>
            <a:off x="502443" y="213360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842</a:t>
            </a:r>
            <a:endParaRPr lang="en-IE" sz="1500" dirty="0"/>
          </a:p>
        </p:txBody>
      </p:sp>
      <p:cxnSp>
        <p:nvCxnSpPr>
          <p:cNvPr id="6" name="Straight Arrow Connector 5">
            <a:extLst>
              <a:ext uri="{FF2B5EF4-FFF2-40B4-BE49-F238E27FC236}">
                <a16:creationId xmlns:a16="http://schemas.microsoft.com/office/drawing/2014/main" id="{060FA989-23AD-769C-0D20-6846A22C2202}"/>
              </a:ext>
            </a:extLst>
          </p:cNvPr>
          <p:cNvCxnSpPr>
            <a:stCxn id="5" idx="3"/>
            <a:endCxn id="3" idx="1"/>
          </p:cNvCxnSpPr>
          <p:nvPr/>
        </p:nvCxnSpPr>
        <p:spPr>
          <a:xfrm>
            <a:off x="1313656"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E131F281-01BE-B939-F36D-A87DC3689AEE}"/>
              </a:ext>
            </a:extLst>
          </p:cNvPr>
          <p:cNvCxnSpPr/>
          <p:nvPr/>
        </p:nvCxnSpPr>
        <p:spPr>
          <a:xfrm>
            <a:off x="2563813"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D674341F-4097-B287-8C0A-BAECABD5843E}"/>
              </a:ext>
            </a:extLst>
          </p:cNvPr>
          <p:cNvSpPr/>
          <p:nvPr/>
        </p:nvSpPr>
        <p:spPr>
          <a:xfrm>
            <a:off x="2992436" y="2133600"/>
            <a:ext cx="1122364"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solidFill>
                  <a:srgbClr val="FF0000"/>
                </a:solidFill>
              </a:rPr>
              <a:t>10</a:t>
            </a:r>
            <a:r>
              <a:rPr lang="en-US" sz="1500" dirty="0"/>
              <a:t>00111</a:t>
            </a:r>
            <a:endParaRPr lang="en-IE" sz="1500" dirty="0"/>
          </a:p>
        </p:txBody>
      </p:sp>
      <p:sp>
        <p:nvSpPr>
          <p:cNvPr id="12" name="TextBox 11">
            <a:extLst>
              <a:ext uri="{FF2B5EF4-FFF2-40B4-BE49-F238E27FC236}">
                <a16:creationId xmlns:a16="http://schemas.microsoft.com/office/drawing/2014/main" id="{E4B61CC0-2D8F-A929-5EF8-C837B722AE77}"/>
              </a:ext>
            </a:extLst>
          </p:cNvPr>
          <p:cNvSpPr txBox="1"/>
          <p:nvPr/>
        </p:nvSpPr>
        <p:spPr>
          <a:xfrm>
            <a:off x="746311" y="3581400"/>
            <a:ext cx="3673289" cy="923330"/>
          </a:xfrm>
          <a:prstGeom prst="rect">
            <a:avLst/>
          </a:prstGeom>
          <a:noFill/>
        </p:spPr>
        <p:txBody>
          <a:bodyPr wrap="square" rtlCol="0">
            <a:spAutoFit/>
          </a:bodyPr>
          <a:lstStyle/>
          <a:p>
            <a:r>
              <a:rPr lang="en-US" dirty="0"/>
              <a:t>At the beginning, only the first 2 bits are used to compute the bucket location</a:t>
            </a:r>
            <a:endParaRPr lang="en-IE" dirty="0"/>
          </a:p>
        </p:txBody>
      </p:sp>
      <p:graphicFrame>
        <p:nvGraphicFramePr>
          <p:cNvPr id="4" name="Table 3">
            <a:extLst>
              <a:ext uri="{FF2B5EF4-FFF2-40B4-BE49-F238E27FC236}">
                <a16:creationId xmlns:a16="http://schemas.microsoft.com/office/drawing/2014/main" id="{102AD062-C592-C23F-4DFB-F5A23C5B108F}"/>
              </a:ext>
            </a:extLst>
          </p:cNvPr>
          <p:cNvGraphicFramePr>
            <a:graphicFrameLocks noGrp="1"/>
          </p:cNvGraphicFramePr>
          <p:nvPr/>
        </p:nvGraphicFramePr>
        <p:xfrm>
          <a:off x="6364224" y="16764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0</a:t>
                      </a:r>
                      <a:r>
                        <a:rPr lang="en-IE" sz="1500" dirty="0"/>
                        <a:t>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0" name="Table 9">
            <a:extLst>
              <a:ext uri="{FF2B5EF4-FFF2-40B4-BE49-F238E27FC236}">
                <a16:creationId xmlns:a16="http://schemas.microsoft.com/office/drawing/2014/main" id="{401AD5DA-7218-3703-897A-48B5193071A7}"/>
              </a:ext>
            </a:extLst>
          </p:cNvPr>
          <p:cNvGraphicFramePr>
            <a:graphicFrameLocks noGrp="1"/>
          </p:cNvGraphicFramePr>
          <p:nvPr/>
        </p:nvGraphicFramePr>
        <p:xfrm>
          <a:off x="6391656" y="26670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3" name="Table 12">
            <a:extLst>
              <a:ext uri="{FF2B5EF4-FFF2-40B4-BE49-F238E27FC236}">
                <a16:creationId xmlns:a16="http://schemas.microsoft.com/office/drawing/2014/main" id="{78454EDF-1D66-E8F5-77EB-8D3FE7F1A878}"/>
              </a:ext>
            </a:extLst>
          </p:cNvPr>
          <p:cNvGraphicFramePr>
            <a:graphicFrameLocks noGrp="1"/>
          </p:cNvGraphicFramePr>
          <p:nvPr>
            <p:extLst>
              <p:ext uri="{D42A27DB-BD31-4B8C-83A1-F6EECF244321}">
                <p14:modId xmlns:p14="http://schemas.microsoft.com/office/powerpoint/2010/main" val="3909258904"/>
              </p:ext>
            </p:extLst>
          </p:nvPr>
        </p:nvGraphicFramePr>
        <p:xfrm>
          <a:off x="6400800" y="372749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10</a:t>
                      </a:r>
                    </a:p>
                  </a:txBody>
                  <a:tcPr anchor="ctr"/>
                </a:tc>
                <a:tc>
                  <a:txBody>
                    <a:bodyPr/>
                    <a:lstStyle/>
                    <a:p>
                      <a:pPr>
                        <a:buNone/>
                      </a:pPr>
                      <a:r>
                        <a:rPr lang="en-US" sz="1500" dirty="0"/>
                        <a:t>482</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10</a:t>
                      </a:r>
                    </a:p>
                  </a:txBody>
                  <a:tcPr anchor="ctr"/>
                </a:tc>
                <a:tc>
                  <a:txBody>
                    <a:bodyPr/>
                    <a:lstStyle/>
                    <a:p>
                      <a:pPr>
                        <a:buNone/>
                      </a:pP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4" name="Table 13">
            <a:extLst>
              <a:ext uri="{FF2B5EF4-FFF2-40B4-BE49-F238E27FC236}">
                <a16:creationId xmlns:a16="http://schemas.microsoft.com/office/drawing/2014/main" id="{1C6FA611-C89D-172A-826F-1E035B84034D}"/>
              </a:ext>
            </a:extLst>
          </p:cNvPr>
          <p:cNvGraphicFramePr>
            <a:graphicFrameLocks noGrp="1"/>
          </p:cNvGraphicFramePr>
          <p:nvPr/>
        </p:nvGraphicFramePr>
        <p:xfrm>
          <a:off x="6400800" y="4707636"/>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spTree>
    <p:extLst>
      <p:ext uri="{BB962C8B-B14F-4D97-AF65-F5344CB8AC3E}">
        <p14:creationId xmlns:p14="http://schemas.microsoft.com/office/powerpoint/2010/main" val="144170108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367FD-E3EA-9239-FBB5-75443605E6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26AE4AD-6114-C14A-9D01-F857C5EDBE1A}"/>
              </a:ext>
            </a:extLst>
          </p:cNvPr>
          <p:cNvSpPr>
            <a:spLocks noGrp="1"/>
          </p:cNvSpPr>
          <p:nvPr>
            <p:ph type="body" sz="quarter" idx="12"/>
          </p:nvPr>
        </p:nvSpPr>
        <p:spPr/>
        <p:txBody>
          <a:bodyPr/>
          <a:lstStyle/>
          <a:p>
            <a:r>
              <a:rPr lang="en-US" dirty="0"/>
              <a:t>Dynamic Hashing</a:t>
            </a:r>
            <a:endParaRPr lang="en-IE" dirty="0"/>
          </a:p>
        </p:txBody>
      </p:sp>
      <p:sp>
        <p:nvSpPr>
          <p:cNvPr id="3" name="Rectangle 2">
            <a:extLst>
              <a:ext uri="{FF2B5EF4-FFF2-40B4-BE49-F238E27FC236}">
                <a16:creationId xmlns:a16="http://schemas.microsoft.com/office/drawing/2014/main" id="{309554DA-99BD-8E63-79F8-68A98A88F1F4}"/>
              </a:ext>
            </a:extLst>
          </p:cNvPr>
          <p:cNvSpPr/>
          <p:nvPr/>
        </p:nvSpPr>
        <p:spPr>
          <a:xfrm>
            <a:off x="1752600" y="2133600"/>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5" name="Rectangle 4">
            <a:extLst>
              <a:ext uri="{FF2B5EF4-FFF2-40B4-BE49-F238E27FC236}">
                <a16:creationId xmlns:a16="http://schemas.microsoft.com/office/drawing/2014/main" id="{F1EBCFE6-5CD0-A531-2815-5E7BA1B9E8C2}"/>
              </a:ext>
            </a:extLst>
          </p:cNvPr>
          <p:cNvSpPr/>
          <p:nvPr/>
        </p:nvSpPr>
        <p:spPr>
          <a:xfrm>
            <a:off x="502443" y="213360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842</a:t>
            </a:r>
            <a:endParaRPr lang="en-IE" sz="1500" dirty="0"/>
          </a:p>
        </p:txBody>
      </p:sp>
      <p:cxnSp>
        <p:nvCxnSpPr>
          <p:cNvPr id="6" name="Straight Arrow Connector 5">
            <a:extLst>
              <a:ext uri="{FF2B5EF4-FFF2-40B4-BE49-F238E27FC236}">
                <a16:creationId xmlns:a16="http://schemas.microsoft.com/office/drawing/2014/main" id="{41687563-F853-ECF5-D1A6-7ED413261A6B}"/>
              </a:ext>
            </a:extLst>
          </p:cNvPr>
          <p:cNvCxnSpPr>
            <a:stCxn id="5" idx="3"/>
            <a:endCxn id="3" idx="1"/>
          </p:cNvCxnSpPr>
          <p:nvPr/>
        </p:nvCxnSpPr>
        <p:spPr>
          <a:xfrm>
            <a:off x="1313656"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1D86B80C-DEA8-9724-19C6-B5304A7EC7D1}"/>
              </a:ext>
            </a:extLst>
          </p:cNvPr>
          <p:cNvCxnSpPr/>
          <p:nvPr/>
        </p:nvCxnSpPr>
        <p:spPr>
          <a:xfrm>
            <a:off x="2563813"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AED312EB-BB55-4047-DDFC-0BB7E30558FE}"/>
              </a:ext>
            </a:extLst>
          </p:cNvPr>
          <p:cNvSpPr/>
          <p:nvPr/>
        </p:nvSpPr>
        <p:spPr>
          <a:xfrm>
            <a:off x="2992436" y="2133600"/>
            <a:ext cx="1122364"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solidFill>
                  <a:srgbClr val="FF0000"/>
                </a:solidFill>
              </a:rPr>
              <a:t>10</a:t>
            </a:r>
            <a:r>
              <a:rPr lang="en-US" sz="1500" dirty="0"/>
              <a:t>00111</a:t>
            </a:r>
            <a:endParaRPr lang="en-IE" sz="1500" dirty="0"/>
          </a:p>
        </p:txBody>
      </p:sp>
      <p:cxnSp>
        <p:nvCxnSpPr>
          <p:cNvPr id="11" name="Straight Arrow Connector 10">
            <a:extLst>
              <a:ext uri="{FF2B5EF4-FFF2-40B4-BE49-F238E27FC236}">
                <a16:creationId xmlns:a16="http://schemas.microsoft.com/office/drawing/2014/main" id="{989F09CE-84C8-D0C5-7FC8-4FD00B6B2F94}"/>
              </a:ext>
            </a:extLst>
          </p:cNvPr>
          <p:cNvCxnSpPr>
            <a:cxnSpLocks/>
            <a:endCxn id="13" idx="1"/>
          </p:cNvCxnSpPr>
          <p:nvPr/>
        </p:nvCxnSpPr>
        <p:spPr>
          <a:xfrm>
            <a:off x="4191000" y="2318266"/>
            <a:ext cx="2209800" cy="17292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10EDD27C-CDC3-82FE-8EA3-07D827CA8218}"/>
              </a:ext>
            </a:extLst>
          </p:cNvPr>
          <p:cNvSpPr txBox="1"/>
          <p:nvPr/>
        </p:nvSpPr>
        <p:spPr>
          <a:xfrm>
            <a:off x="746311" y="3581400"/>
            <a:ext cx="3673289" cy="923330"/>
          </a:xfrm>
          <a:prstGeom prst="rect">
            <a:avLst/>
          </a:prstGeom>
          <a:noFill/>
        </p:spPr>
        <p:txBody>
          <a:bodyPr wrap="square" rtlCol="0">
            <a:spAutoFit/>
          </a:bodyPr>
          <a:lstStyle/>
          <a:p>
            <a:r>
              <a:rPr lang="en-US" dirty="0"/>
              <a:t>At the beginning, only the first 2 bits are used to compute the bucket location</a:t>
            </a:r>
            <a:endParaRPr lang="en-IE" dirty="0"/>
          </a:p>
        </p:txBody>
      </p:sp>
      <p:graphicFrame>
        <p:nvGraphicFramePr>
          <p:cNvPr id="4" name="Table 3">
            <a:extLst>
              <a:ext uri="{FF2B5EF4-FFF2-40B4-BE49-F238E27FC236}">
                <a16:creationId xmlns:a16="http://schemas.microsoft.com/office/drawing/2014/main" id="{C4C3F280-C6C1-E773-49D1-E8B9E1C16FE0}"/>
              </a:ext>
            </a:extLst>
          </p:cNvPr>
          <p:cNvGraphicFramePr>
            <a:graphicFrameLocks noGrp="1"/>
          </p:cNvGraphicFramePr>
          <p:nvPr/>
        </p:nvGraphicFramePr>
        <p:xfrm>
          <a:off x="6364224" y="16764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0</a:t>
                      </a:r>
                      <a:r>
                        <a:rPr lang="en-IE" sz="1500" dirty="0"/>
                        <a:t>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0" name="Table 9">
            <a:extLst>
              <a:ext uri="{FF2B5EF4-FFF2-40B4-BE49-F238E27FC236}">
                <a16:creationId xmlns:a16="http://schemas.microsoft.com/office/drawing/2014/main" id="{0DA8C866-5B60-5F4C-A9CB-134F9F5B3A60}"/>
              </a:ext>
            </a:extLst>
          </p:cNvPr>
          <p:cNvGraphicFramePr>
            <a:graphicFrameLocks noGrp="1"/>
          </p:cNvGraphicFramePr>
          <p:nvPr/>
        </p:nvGraphicFramePr>
        <p:xfrm>
          <a:off x="6391656" y="26670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3" name="Table 12">
            <a:extLst>
              <a:ext uri="{FF2B5EF4-FFF2-40B4-BE49-F238E27FC236}">
                <a16:creationId xmlns:a16="http://schemas.microsoft.com/office/drawing/2014/main" id="{39816309-5ED6-817C-C0C8-B0ACEA88D7F3}"/>
              </a:ext>
            </a:extLst>
          </p:cNvPr>
          <p:cNvGraphicFramePr>
            <a:graphicFrameLocks noGrp="1"/>
          </p:cNvGraphicFramePr>
          <p:nvPr/>
        </p:nvGraphicFramePr>
        <p:xfrm>
          <a:off x="6400800" y="372749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10</a:t>
                      </a:r>
                    </a:p>
                  </a:txBody>
                  <a:tcPr anchor="ctr"/>
                </a:tc>
                <a:tc>
                  <a:txBody>
                    <a:bodyPr/>
                    <a:lstStyle/>
                    <a:p>
                      <a:pPr>
                        <a:buNone/>
                      </a:pPr>
                      <a:r>
                        <a:rPr lang="en-US" sz="1500" dirty="0"/>
                        <a:t>482</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10</a:t>
                      </a:r>
                    </a:p>
                  </a:txBody>
                  <a:tcPr anchor="ctr"/>
                </a:tc>
                <a:tc>
                  <a:txBody>
                    <a:bodyPr/>
                    <a:lstStyle/>
                    <a:p>
                      <a:pPr>
                        <a:buNone/>
                      </a:pPr>
                      <a:r>
                        <a:rPr lang="en-US" sz="1500" dirty="0"/>
                        <a:t>842</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4" name="Table 13">
            <a:extLst>
              <a:ext uri="{FF2B5EF4-FFF2-40B4-BE49-F238E27FC236}">
                <a16:creationId xmlns:a16="http://schemas.microsoft.com/office/drawing/2014/main" id="{33BB79E4-63A7-C6BD-1085-0DFAC7CD049B}"/>
              </a:ext>
            </a:extLst>
          </p:cNvPr>
          <p:cNvGraphicFramePr>
            <a:graphicFrameLocks noGrp="1"/>
          </p:cNvGraphicFramePr>
          <p:nvPr/>
        </p:nvGraphicFramePr>
        <p:xfrm>
          <a:off x="6400800" y="4707636"/>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spTree>
    <p:extLst>
      <p:ext uri="{BB962C8B-B14F-4D97-AF65-F5344CB8AC3E}">
        <p14:creationId xmlns:p14="http://schemas.microsoft.com/office/powerpoint/2010/main" val="167318299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ED258-C24A-9208-34A9-22C9A38086B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F779BD7-98FD-FFCF-23B2-981C9C2CA523}"/>
              </a:ext>
            </a:extLst>
          </p:cNvPr>
          <p:cNvSpPr>
            <a:spLocks noGrp="1"/>
          </p:cNvSpPr>
          <p:nvPr>
            <p:ph type="body" sz="quarter" idx="12"/>
          </p:nvPr>
        </p:nvSpPr>
        <p:spPr/>
        <p:txBody>
          <a:bodyPr/>
          <a:lstStyle/>
          <a:p>
            <a:r>
              <a:rPr lang="en-US" dirty="0"/>
              <a:t>Dynamic Hashing</a:t>
            </a:r>
            <a:endParaRPr lang="en-IE" dirty="0"/>
          </a:p>
        </p:txBody>
      </p:sp>
      <p:sp>
        <p:nvSpPr>
          <p:cNvPr id="3" name="Rectangle 2">
            <a:extLst>
              <a:ext uri="{FF2B5EF4-FFF2-40B4-BE49-F238E27FC236}">
                <a16:creationId xmlns:a16="http://schemas.microsoft.com/office/drawing/2014/main" id="{72B2681A-4E81-4B01-78E1-B8FC6ECEEF04}"/>
              </a:ext>
            </a:extLst>
          </p:cNvPr>
          <p:cNvSpPr/>
          <p:nvPr/>
        </p:nvSpPr>
        <p:spPr>
          <a:xfrm>
            <a:off x="1752600" y="2133600"/>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5" name="Rectangle 4">
            <a:extLst>
              <a:ext uri="{FF2B5EF4-FFF2-40B4-BE49-F238E27FC236}">
                <a16:creationId xmlns:a16="http://schemas.microsoft.com/office/drawing/2014/main" id="{2B3201F8-EAFE-F239-47DE-19A690F3CDDC}"/>
              </a:ext>
            </a:extLst>
          </p:cNvPr>
          <p:cNvSpPr/>
          <p:nvPr/>
        </p:nvSpPr>
        <p:spPr>
          <a:xfrm>
            <a:off x="502443" y="213360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E" sz="1500" dirty="0"/>
          </a:p>
        </p:txBody>
      </p:sp>
      <p:cxnSp>
        <p:nvCxnSpPr>
          <p:cNvPr id="6" name="Straight Arrow Connector 5">
            <a:extLst>
              <a:ext uri="{FF2B5EF4-FFF2-40B4-BE49-F238E27FC236}">
                <a16:creationId xmlns:a16="http://schemas.microsoft.com/office/drawing/2014/main" id="{A7328C73-25CC-7106-4BD1-F10334379780}"/>
              </a:ext>
            </a:extLst>
          </p:cNvPr>
          <p:cNvCxnSpPr>
            <a:stCxn id="5" idx="3"/>
            <a:endCxn id="3" idx="1"/>
          </p:cNvCxnSpPr>
          <p:nvPr/>
        </p:nvCxnSpPr>
        <p:spPr>
          <a:xfrm>
            <a:off x="1313656"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B84BD34B-7E5A-972F-C726-1B959D5588ED}"/>
              </a:ext>
            </a:extLst>
          </p:cNvPr>
          <p:cNvCxnSpPr/>
          <p:nvPr/>
        </p:nvCxnSpPr>
        <p:spPr>
          <a:xfrm>
            <a:off x="2563813"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32FBB91E-C9E0-A481-139F-553A17ACBD34}"/>
              </a:ext>
            </a:extLst>
          </p:cNvPr>
          <p:cNvSpPr/>
          <p:nvPr/>
        </p:nvSpPr>
        <p:spPr>
          <a:xfrm>
            <a:off x="2992436" y="2133600"/>
            <a:ext cx="1122364"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E" sz="1500" dirty="0"/>
          </a:p>
        </p:txBody>
      </p:sp>
      <p:sp>
        <p:nvSpPr>
          <p:cNvPr id="12" name="TextBox 11">
            <a:extLst>
              <a:ext uri="{FF2B5EF4-FFF2-40B4-BE49-F238E27FC236}">
                <a16:creationId xmlns:a16="http://schemas.microsoft.com/office/drawing/2014/main" id="{CFAD147F-1638-5109-AB07-0D9B316D2D49}"/>
              </a:ext>
            </a:extLst>
          </p:cNvPr>
          <p:cNvSpPr txBox="1"/>
          <p:nvPr/>
        </p:nvSpPr>
        <p:spPr>
          <a:xfrm>
            <a:off x="746311" y="3581400"/>
            <a:ext cx="3673289" cy="1200329"/>
          </a:xfrm>
          <a:prstGeom prst="rect">
            <a:avLst/>
          </a:prstGeom>
          <a:noFill/>
        </p:spPr>
        <p:txBody>
          <a:bodyPr wrap="square" rtlCol="0">
            <a:spAutoFit/>
          </a:bodyPr>
          <a:lstStyle/>
          <a:p>
            <a:r>
              <a:rPr lang="en-US" dirty="0"/>
              <a:t>Bucket 10 is full, double the index and use 1 extra bit from the hash function to identify the bucket</a:t>
            </a:r>
            <a:endParaRPr lang="en-IE" dirty="0"/>
          </a:p>
        </p:txBody>
      </p:sp>
      <p:graphicFrame>
        <p:nvGraphicFramePr>
          <p:cNvPr id="4" name="Table 3">
            <a:extLst>
              <a:ext uri="{FF2B5EF4-FFF2-40B4-BE49-F238E27FC236}">
                <a16:creationId xmlns:a16="http://schemas.microsoft.com/office/drawing/2014/main" id="{AAC7AF44-6954-546D-B72A-799F46054178}"/>
              </a:ext>
            </a:extLst>
          </p:cNvPr>
          <p:cNvGraphicFramePr>
            <a:graphicFrameLocks noGrp="1"/>
          </p:cNvGraphicFramePr>
          <p:nvPr/>
        </p:nvGraphicFramePr>
        <p:xfrm>
          <a:off x="6364224" y="16764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0</a:t>
                      </a:r>
                      <a:r>
                        <a:rPr lang="en-IE" sz="1500" dirty="0"/>
                        <a:t>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0" name="Table 9">
            <a:extLst>
              <a:ext uri="{FF2B5EF4-FFF2-40B4-BE49-F238E27FC236}">
                <a16:creationId xmlns:a16="http://schemas.microsoft.com/office/drawing/2014/main" id="{84B7D854-3BE9-81DB-47AA-24651F68A26E}"/>
              </a:ext>
            </a:extLst>
          </p:cNvPr>
          <p:cNvGraphicFramePr>
            <a:graphicFrameLocks noGrp="1"/>
          </p:cNvGraphicFramePr>
          <p:nvPr/>
        </p:nvGraphicFramePr>
        <p:xfrm>
          <a:off x="6391656" y="26670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3" name="Table 12">
            <a:extLst>
              <a:ext uri="{FF2B5EF4-FFF2-40B4-BE49-F238E27FC236}">
                <a16:creationId xmlns:a16="http://schemas.microsoft.com/office/drawing/2014/main" id="{93F046FC-92E2-130D-3204-15361B9CA35A}"/>
              </a:ext>
            </a:extLst>
          </p:cNvPr>
          <p:cNvGraphicFramePr>
            <a:graphicFrameLocks noGrp="1"/>
          </p:cNvGraphicFramePr>
          <p:nvPr>
            <p:extLst>
              <p:ext uri="{D42A27DB-BD31-4B8C-83A1-F6EECF244321}">
                <p14:modId xmlns:p14="http://schemas.microsoft.com/office/powerpoint/2010/main" val="3125044541"/>
              </p:ext>
            </p:extLst>
          </p:nvPr>
        </p:nvGraphicFramePr>
        <p:xfrm>
          <a:off x="6400800" y="372749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10</a:t>
                      </a:r>
                    </a:p>
                  </a:txBody>
                  <a:tcPr anchor="ctr"/>
                </a:tc>
                <a:tc>
                  <a:txBody>
                    <a:bodyPr/>
                    <a:lstStyle/>
                    <a:p>
                      <a:pPr>
                        <a:buNone/>
                      </a:pPr>
                      <a:r>
                        <a:rPr lang="en-US" sz="1500" dirty="0"/>
                        <a:t>482</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10</a:t>
                      </a:r>
                    </a:p>
                  </a:txBody>
                  <a:tcPr anchor="ctr"/>
                </a:tc>
                <a:tc>
                  <a:txBody>
                    <a:bodyPr/>
                    <a:lstStyle/>
                    <a:p>
                      <a:pPr>
                        <a:buNone/>
                      </a:pPr>
                      <a:r>
                        <a:rPr lang="en-US" sz="1500" dirty="0"/>
                        <a:t>842</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4" name="Table 13">
            <a:extLst>
              <a:ext uri="{FF2B5EF4-FFF2-40B4-BE49-F238E27FC236}">
                <a16:creationId xmlns:a16="http://schemas.microsoft.com/office/drawing/2014/main" id="{E9476C5E-ECF6-9564-F04B-4CCF46873E7B}"/>
              </a:ext>
            </a:extLst>
          </p:cNvPr>
          <p:cNvGraphicFramePr>
            <a:graphicFrameLocks noGrp="1"/>
          </p:cNvGraphicFramePr>
          <p:nvPr/>
        </p:nvGraphicFramePr>
        <p:xfrm>
          <a:off x="6400800" y="4707636"/>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spTree>
    <p:extLst>
      <p:ext uri="{BB962C8B-B14F-4D97-AF65-F5344CB8AC3E}">
        <p14:creationId xmlns:p14="http://schemas.microsoft.com/office/powerpoint/2010/main" val="395250937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28FB7-C053-86C5-1423-2675B023A42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CBF42F6-4803-6273-C6EE-3118C75EC251}"/>
              </a:ext>
            </a:extLst>
          </p:cNvPr>
          <p:cNvSpPr>
            <a:spLocks noGrp="1"/>
          </p:cNvSpPr>
          <p:nvPr>
            <p:ph type="body" sz="quarter" idx="12"/>
          </p:nvPr>
        </p:nvSpPr>
        <p:spPr/>
        <p:txBody>
          <a:bodyPr/>
          <a:lstStyle/>
          <a:p>
            <a:r>
              <a:rPr lang="en-US" dirty="0"/>
              <a:t>Dynamic Hashing</a:t>
            </a:r>
            <a:endParaRPr lang="en-IE" dirty="0"/>
          </a:p>
        </p:txBody>
      </p:sp>
      <p:sp>
        <p:nvSpPr>
          <p:cNvPr id="3" name="Rectangle 2">
            <a:extLst>
              <a:ext uri="{FF2B5EF4-FFF2-40B4-BE49-F238E27FC236}">
                <a16:creationId xmlns:a16="http://schemas.microsoft.com/office/drawing/2014/main" id="{38CB0115-03F5-48A6-DEE6-4DD01046CAB3}"/>
              </a:ext>
            </a:extLst>
          </p:cNvPr>
          <p:cNvSpPr/>
          <p:nvPr/>
        </p:nvSpPr>
        <p:spPr>
          <a:xfrm>
            <a:off x="1752600" y="2133600"/>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5" name="Rectangle 4">
            <a:extLst>
              <a:ext uri="{FF2B5EF4-FFF2-40B4-BE49-F238E27FC236}">
                <a16:creationId xmlns:a16="http://schemas.microsoft.com/office/drawing/2014/main" id="{2F89034C-E6C9-0891-32FE-2DBAFE747D2A}"/>
              </a:ext>
            </a:extLst>
          </p:cNvPr>
          <p:cNvSpPr/>
          <p:nvPr/>
        </p:nvSpPr>
        <p:spPr>
          <a:xfrm>
            <a:off x="502443" y="213360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E" sz="1500" dirty="0"/>
          </a:p>
        </p:txBody>
      </p:sp>
      <p:cxnSp>
        <p:nvCxnSpPr>
          <p:cNvPr id="6" name="Straight Arrow Connector 5">
            <a:extLst>
              <a:ext uri="{FF2B5EF4-FFF2-40B4-BE49-F238E27FC236}">
                <a16:creationId xmlns:a16="http://schemas.microsoft.com/office/drawing/2014/main" id="{1E38DD52-8246-B228-1ECA-EDBD44E66E9D}"/>
              </a:ext>
            </a:extLst>
          </p:cNvPr>
          <p:cNvCxnSpPr>
            <a:stCxn id="5" idx="3"/>
            <a:endCxn id="3" idx="1"/>
          </p:cNvCxnSpPr>
          <p:nvPr/>
        </p:nvCxnSpPr>
        <p:spPr>
          <a:xfrm>
            <a:off x="1313656"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242A69C8-A3B8-6B80-8FEC-F4D7400B1D78}"/>
              </a:ext>
            </a:extLst>
          </p:cNvPr>
          <p:cNvCxnSpPr/>
          <p:nvPr/>
        </p:nvCxnSpPr>
        <p:spPr>
          <a:xfrm>
            <a:off x="2563813"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8A45EB3C-7058-CA4E-EC1A-A10288580700}"/>
              </a:ext>
            </a:extLst>
          </p:cNvPr>
          <p:cNvSpPr/>
          <p:nvPr/>
        </p:nvSpPr>
        <p:spPr>
          <a:xfrm>
            <a:off x="2992436" y="2133600"/>
            <a:ext cx="1122364"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E" sz="1500" dirty="0"/>
          </a:p>
        </p:txBody>
      </p:sp>
      <p:sp>
        <p:nvSpPr>
          <p:cNvPr id="12" name="TextBox 11">
            <a:extLst>
              <a:ext uri="{FF2B5EF4-FFF2-40B4-BE49-F238E27FC236}">
                <a16:creationId xmlns:a16="http://schemas.microsoft.com/office/drawing/2014/main" id="{BCA7C1CE-FD93-514F-A516-EF5036ADBDC0}"/>
              </a:ext>
            </a:extLst>
          </p:cNvPr>
          <p:cNvSpPr txBox="1"/>
          <p:nvPr/>
        </p:nvSpPr>
        <p:spPr>
          <a:xfrm>
            <a:off x="746311" y="3581400"/>
            <a:ext cx="3673289" cy="923330"/>
          </a:xfrm>
          <a:prstGeom prst="rect">
            <a:avLst/>
          </a:prstGeom>
          <a:noFill/>
        </p:spPr>
        <p:txBody>
          <a:bodyPr wrap="square" rtlCol="0">
            <a:spAutoFit/>
          </a:bodyPr>
          <a:lstStyle/>
          <a:p>
            <a:r>
              <a:rPr lang="en-US" dirty="0"/>
              <a:t>Now there are 2^3=8 buckets, and we use 3 bits from the hash function value</a:t>
            </a:r>
            <a:endParaRPr lang="en-IE" dirty="0"/>
          </a:p>
        </p:txBody>
      </p:sp>
      <p:graphicFrame>
        <p:nvGraphicFramePr>
          <p:cNvPr id="4" name="Table 3">
            <a:extLst>
              <a:ext uri="{FF2B5EF4-FFF2-40B4-BE49-F238E27FC236}">
                <a16:creationId xmlns:a16="http://schemas.microsoft.com/office/drawing/2014/main" id="{D0A36F4E-271E-40F2-4DE2-619C9D25C678}"/>
              </a:ext>
            </a:extLst>
          </p:cNvPr>
          <p:cNvGraphicFramePr>
            <a:graphicFrameLocks noGrp="1"/>
          </p:cNvGraphicFramePr>
          <p:nvPr>
            <p:extLst>
              <p:ext uri="{D42A27DB-BD31-4B8C-83A1-F6EECF244321}">
                <p14:modId xmlns:p14="http://schemas.microsoft.com/office/powerpoint/2010/main" val="2980894478"/>
              </p:ext>
            </p:extLst>
          </p:nvPr>
        </p:nvGraphicFramePr>
        <p:xfrm>
          <a:off x="6445825" y="1524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000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0</a:t>
                      </a:r>
                      <a:r>
                        <a:rPr lang="en-IE" sz="1500" dirty="0"/>
                        <a:t>00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0" name="Table 9">
            <a:extLst>
              <a:ext uri="{FF2B5EF4-FFF2-40B4-BE49-F238E27FC236}">
                <a16:creationId xmlns:a16="http://schemas.microsoft.com/office/drawing/2014/main" id="{2FEDDD4A-86A7-99E8-C06B-D377AD0BEC87}"/>
              </a:ext>
            </a:extLst>
          </p:cNvPr>
          <p:cNvGraphicFramePr>
            <a:graphicFrameLocks noGrp="1"/>
          </p:cNvGraphicFramePr>
          <p:nvPr>
            <p:extLst>
              <p:ext uri="{D42A27DB-BD31-4B8C-83A1-F6EECF244321}">
                <p14:modId xmlns:p14="http://schemas.microsoft.com/office/powerpoint/2010/main" val="2597173416"/>
              </p:ext>
            </p:extLst>
          </p:nvPr>
        </p:nvGraphicFramePr>
        <p:xfrm>
          <a:off x="6439729" y="881901"/>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001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3" name="Table 12">
            <a:extLst>
              <a:ext uri="{FF2B5EF4-FFF2-40B4-BE49-F238E27FC236}">
                <a16:creationId xmlns:a16="http://schemas.microsoft.com/office/drawing/2014/main" id="{6A327620-30E9-6778-7E75-70824A01D6D7}"/>
              </a:ext>
            </a:extLst>
          </p:cNvPr>
          <p:cNvGraphicFramePr>
            <a:graphicFrameLocks noGrp="1"/>
          </p:cNvGraphicFramePr>
          <p:nvPr>
            <p:extLst>
              <p:ext uri="{D42A27DB-BD31-4B8C-83A1-F6EECF244321}">
                <p14:modId xmlns:p14="http://schemas.microsoft.com/office/powerpoint/2010/main" val="3862866279"/>
              </p:ext>
            </p:extLst>
          </p:nvPr>
        </p:nvGraphicFramePr>
        <p:xfrm>
          <a:off x="6439729" y="1588804"/>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0</a:t>
                      </a:r>
                      <a:r>
                        <a:rPr lang="en-IE" sz="1500" dirty="0"/>
                        <a:t>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4" name="Table 13">
            <a:extLst>
              <a:ext uri="{FF2B5EF4-FFF2-40B4-BE49-F238E27FC236}">
                <a16:creationId xmlns:a16="http://schemas.microsoft.com/office/drawing/2014/main" id="{16489B25-8833-BEBE-3434-DEFED7B9DD52}"/>
              </a:ext>
            </a:extLst>
          </p:cNvPr>
          <p:cNvGraphicFramePr>
            <a:graphicFrameLocks noGrp="1"/>
          </p:cNvGraphicFramePr>
          <p:nvPr>
            <p:extLst>
              <p:ext uri="{D42A27DB-BD31-4B8C-83A1-F6EECF244321}">
                <p14:modId xmlns:p14="http://schemas.microsoft.com/office/powerpoint/2010/main" val="3362447437"/>
              </p:ext>
            </p:extLst>
          </p:nvPr>
        </p:nvGraphicFramePr>
        <p:xfrm>
          <a:off x="6439729" y="2283515"/>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011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9" name="Table 8">
            <a:extLst>
              <a:ext uri="{FF2B5EF4-FFF2-40B4-BE49-F238E27FC236}">
                <a16:creationId xmlns:a16="http://schemas.microsoft.com/office/drawing/2014/main" id="{7EED7287-69BA-B12F-2D9C-9499BFCFABB0}"/>
              </a:ext>
            </a:extLst>
          </p:cNvPr>
          <p:cNvGraphicFramePr>
            <a:graphicFrameLocks noGrp="1"/>
          </p:cNvGraphicFramePr>
          <p:nvPr>
            <p:extLst>
              <p:ext uri="{D42A27DB-BD31-4B8C-83A1-F6EECF244321}">
                <p14:modId xmlns:p14="http://schemas.microsoft.com/office/powerpoint/2010/main" val="3562203235"/>
              </p:ext>
            </p:extLst>
          </p:nvPr>
        </p:nvGraphicFramePr>
        <p:xfrm>
          <a:off x="6445825" y="2999562"/>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100</a:t>
                      </a:r>
                    </a:p>
                  </a:txBody>
                  <a:tcPr anchor="ctr"/>
                </a:tc>
                <a:tc>
                  <a:txBody>
                    <a:bodyPr/>
                    <a:lstStyle/>
                    <a:p>
                      <a:pPr>
                        <a:buNone/>
                      </a:pPr>
                      <a:r>
                        <a:rPr lang="en-US" sz="1500" dirty="0"/>
                        <a:t>482</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10</a:t>
                      </a:r>
                      <a:r>
                        <a:rPr lang="en-IE" sz="1500" dirty="0"/>
                        <a:t>0</a:t>
                      </a:r>
                    </a:p>
                  </a:txBody>
                  <a:tcPr anchor="ctr"/>
                </a:tc>
                <a:tc>
                  <a:txBody>
                    <a:bodyPr/>
                    <a:lstStyle/>
                    <a:p>
                      <a:pPr>
                        <a:buNone/>
                      </a:pPr>
                      <a:r>
                        <a:rPr lang="en-US" sz="1500" dirty="0"/>
                        <a:t>842</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1" name="Table 10">
            <a:extLst>
              <a:ext uri="{FF2B5EF4-FFF2-40B4-BE49-F238E27FC236}">
                <a16:creationId xmlns:a16="http://schemas.microsoft.com/office/drawing/2014/main" id="{DF5693DC-2DA1-0B41-47A6-2E0FE0BF2D81}"/>
              </a:ext>
            </a:extLst>
          </p:cNvPr>
          <p:cNvGraphicFramePr>
            <a:graphicFrameLocks noGrp="1"/>
          </p:cNvGraphicFramePr>
          <p:nvPr>
            <p:extLst>
              <p:ext uri="{D42A27DB-BD31-4B8C-83A1-F6EECF244321}">
                <p14:modId xmlns:p14="http://schemas.microsoft.com/office/powerpoint/2010/main" val="1978842142"/>
              </p:ext>
            </p:extLst>
          </p:nvPr>
        </p:nvGraphicFramePr>
        <p:xfrm>
          <a:off x="6439729" y="3729063"/>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US" sz="1500" dirty="0"/>
                        <a:t>1</a:t>
                      </a: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sp>
        <p:nvSpPr>
          <p:cNvPr id="17" name="Rectangle 16">
            <a:extLst>
              <a:ext uri="{FF2B5EF4-FFF2-40B4-BE49-F238E27FC236}">
                <a16:creationId xmlns:a16="http://schemas.microsoft.com/office/drawing/2014/main" id="{2F92B0F0-FE34-3527-759E-6330A44904C0}"/>
              </a:ext>
            </a:extLst>
          </p:cNvPr>
          <p:cNvSpPr/>
          <p:nvPr/>
        </p:nvSpPr>
        <p:spPr>
          <a:xfrm>
            <a:off x="6096000" y="2923595"/>
            <a:ext cx="1905000" cy="151237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graphicFrame>
        <p:nvGraphicFramePr>
          <p:cNvPr id="15" name="Table 14">
            <a:extLst>
              <a:ext uri="{FF2B5EF4-FFF2-40B4-BE49-F238E27FC236}">
                <a16:creationId xmlns:a16="http://schemas.microsoft.com/office/drawing/2014/main" id="{F1A95B94-0AAB-340E-B98C-B49C9B7BFD35}"/>
              </a:ext>
            </a:extLst>
          </p:cNvPr>
          <p:cNvGraphicFramePr>
            <a:graphicFrameLocks noGrp="1"/>
          </p:cNvGraphicFramePr>
          <p:nvPr>
            <p:extLst>
              <p:ext uri="{D42A27DB-BD31-4B8C-83A1-F6EECF244321}">
                <p14:modId xmlns:p14="http://schemas.microsoft.com/office/powerpoint/2010/main" val="1752008217"/>
              </p:ext>
            </p:extLst>
          </p:nvPr>
        </p:nvGraphicFramePr>
        <p:xfrm>
          <a:off x="6439729" y="4435966"/>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6" name="Table 15">
            <a:extLst>
              <a:ext uri="{FF2B5EF4-FFF2-40B4-BE49-F238E27FC236}">
                <a16:creationId xmlns:a16="http://schemas.microsoft.com/office/drawing/2014/main" id="{BE462059-110B-D4FD-5B40-D3607763CD44}"/>
              </a:ext>
            </a:extLst>
          </p:cNvPr>
          <p:cNvGraphicFramePr>
            <a:graphicFrameLocks noGrp="1"/>
          </p:cNvGraphicFramePr>
          <p:nvPr>
            <p:extLst>
              <p:ext uri="{D42A27DB-BD31-4B8C-83A1-F6EECF244321}">
                <p14:modId xmlns:p14="http://schemas.microsoft.com/office/powerpoint/2010/main" val="4179918767"/>
              </p:ext>
            </p:extLst>
          </p:nvPr>
        </p:nvGraphicFramePr>
        <p:xfrm>
          <a:off x="6439729" y="5130677"/>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spTree>
    <p:extLst>
      <p:ext uri="{BB962C8B-B14F-4D97-AF65-F5344CB8AC3E}">
        <p14:creationId xmlns:p14="http://schemas.microsoft.com/office/powerpoint/2010/main" val="323506935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CAFBA-BC48-31FF-39BE-CBE3EDA7BFF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AEF49D-6261-D3A0-AFB8-DBE8794C6ACA}"/>
              </a:ext>
            </a:extLst>
          </p:cNvPr>
          <p:cNvSpPr>
            <a:spLocks noGrp="1"/>
          </p:cNvSpPr>
          <p:nvPr>
            <p:ph type="body" sz="quarter" idx="12"/>
          </p:nvPr>
        </p:nvSpPr>
        <p:spPr/>
        <p:txBody>
          <a:bodyPr/>
          <a:lstStyle/>
          <a:p>
            <a:r>
              <a:rPr lang="en-US" dirty="0"/>
              <a:t>Dynamic Hashing</a:t>
            </a:r>
            <a:endParaRPr lang="en-IE" dirty="0"/>
          </a:p>
        </p:txBody>
      </p:sp>
      <p:sp>
        <p:nvSpPr>
          <p:cNvPr id="3" name="Rectangle 2">
            <a:extLst>
              <a:ext uri="{FF2B5EF4-FFF2-40B4-BE49-F238E27FC236}">
                <a16:creationId xmlns:a16="http://schemas.microsoft.com/office/drawing/2014/main" id="{196FF2A9-21D6-1EB7-CD53-B167E73E8F05}"/>
              </a:ext>
            </a:extLst>
          </p:cNvPr>
          <p:cNvSpPr/>
          <p:nvPr/>
        </p:nvSpPr>
        <p:spPr>
          <a:xfrm>
            <a:off x="1752600" y="2133600"/>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5" name="Rectangle 4">
            <a:extLst>
              <a:ext uri="{FF2B5EF4-FFF2-40B4-BE49-F238E27FC236}">
                <a16:creationId xmlns:a16="http://schemas.microsoft.com/office/drawing/2014/main" id="{723F8B76-17E3-DE94-C832-990DBEB78421}"/>
              </a:ext>
            </a:extLst>
          </p:cNvPr>
          <p:cNvSpPr/>
          <p:nvPr/>
        </p:nvSpPr>
        <p:spPr>
          <a:xfrm>
            <a:off x="502443" y="213360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952</a:t>
            </a:r>
            <a:endParaRPr lang="en-IE" sz="1500" dirty="0"/>
          </a:p>
        </p:txBody>
      </p:sp>
      <p:cxnSp>
        <p:nvCxnSpPr>
          <p:cNvPr id="6" name="Straight Arrow Connector 5">
            <a:extLst>
              <a:ext uri="{FF2B5EF4-FFF2-40B4-BE49-F238E27FC236}">
                <a16:creationId xmlns:a16="http://schemas.microsoft.com/office/drawing/2014/main" id="{3AA6F63F-82B0-8C7B-D81C-F159630D5ED6}"/>
              </a:ext>
            </a:extLst>
          </p:cNvPr>
          <p:cNvCxnSpPr>
            <a:stCxn id="5" idx="3"/>
            <a:endCxn id="3" idx="1"/>
          </p:cNvCxnSpPr>
          <p:nvPr/>
        </p:nvCxnSpPr>
        <p:spPr>
          <a:xfrm>
            <a:off x="1313656"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67C20CFB-E897-EA32-913C-EA151892B6FD}"/>
              </a:ext>
            </a:extLst>
          </p:cNvPr>
          <p:cNvCxnSpPr/>
          <p:nvPr/>
        </p:nvCxnSpPr>
        <p:spPr>
          <a:xfrm>
            <a:off x="2563813"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B13C08D0-ED19-77DF-42AA-B1A32F50583B}"/>
              </a:ext>
            </a:extLst>
          </p:cNvPr>
          <p:cNvSpPr/>
          <p:nvPr/>
        </p:nvSpPr>
        <p:spPr>
          <a:xfrm>
            <a:off x="2992436" y="2133600"/>
            <a:ext cx="1122364"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solidFill>
                  <a:srgbClr val="FF0000"/>
                </a:solidFill>
              </a:rPr>
              <a:t>101</a:t>
            </a:r>
            <a:r>
              <a:rPr lang="en-US" sz="1500" dirty="0"/>
              <a:t>0111</a:t>
            </a:r>
            <a:endParaRPr lang="en-IE" sz="1500" dirty="0"/>
          </a:p>
        </p:txBody>
      </p:sp>
      <p:sp>
        <p:nvSpPr>
          <p:cNvPr id="12" name="TextBox 11">
            <a:extLst>
              <a:ext uri="{FF2B5EF4-FFF2-40B4-BE49-F238E27FC236}">
                <a16:creationId xmlns:a16="http://schemas.microsoft.com/office/drawing/2014/main" id="{FEB0E7EA-4109-BE92-D9C7-2BB70041A50A}"/>
              </a:ext>
            </a:extLst>
          </p:cNvPr>
          <p:cNvSpPr txBox="1"/>
          <p:nvPr/>
        </p:nvSpPr>
        <p:spPr>
          <a:xfrm>
            <a:off x="746311" y="3581400"/>
            <a:ext cx="3673289" cy="646331"/>
          </a:xfrm>
          <a:prstGeom prst="rect">
            <a:avLst/>
          </a:prstGeom>
          <a:noFill/>
        </p:spPr>
        <p:txBody>
          <a:bodyPr wrap="square" rtlCol="0">
            <a:spAutoFit/>
          </a:bodyPr>
          <a:lstStyle/>
          <a:p>
            <a:r>
              <a:rPr lang="en-US" dirty="0"/>
              <a:t>Now 3 bits are used for the hash function, 952 goes to bucket 101</a:t>
            </a:r>
            <a:endParaRPr lang="en-IE" dirty="0"/>
          </a:p>
        </p:txBody>
      </p:sp>
      <p:graphicFrame>
        <p:nvGraphicFramePr>
          <p:cNvPr id="18" name="Table 17">
            <a:extLst>
              <a:ext uri="{FF2B5EF4-FFF2-40B4-BE49-F238E27FC236}">
                <a16:creationId xmlns:a16="http://schemas.microsoft.com/office/drawing/2014/main" id="{C51759A0-1D78-1493-EFFB-1D0CFCC9999A}"/>
              </a:ext>
            </a:extLst>
          </p:cNvPr>
          <p:cNvGraphicFramePr>
            <a:graphicFrameLocks noGrp="1"/>
          </p:cNvGraphicFramePr>
          <p:nvPr>
            <p:extLst>
              <p:ext uri="{D42A27DB-BD31-4B8C-83A1-F6EECF244321}">
                <p14:modId xmlns:p14="http://schemas.microsoft.com/office/powerpoint/2010/main" val="1350709414"/>
              </p:ext>
            </p:extLst>
          </p:nvPr>
        </p:nvGraphicFramePr>
        <p:xfrm>
          <a:off x="6445825" y="1524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000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0</a:t>
                      </a:r>
                      <a:r>
                        <a:rPr lang="en-IE" sz="1500" dirty="0"/>
                        <a:t>00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9" name="Table 18">
            <a:extLst>
              <a:ext uri="{FF2B5EF4-FFF2-40B4-BE49-F238E27FC236}">
                <a16:creationId xmlns:a16="http://schemas.microsoft.com/office/drawing/2014/main" id="{EE268C78-03CB-C2A3-B69E-7AE5E2064BCB}"/>
              </a:ext>
            </a:extLst>
          </p:cNvPr>
          <p:cNvGraphicFramePr>
            <a:graphicFrameLocks noGrp="1"/>
          </p:cNvGraphicFramePr>
          <p:nvPr>
            <p:extLst>
              <p:ext uri="{D42A27DB-BD31-4B8C-83A1-F6EECF244321}">
                <p14:modId xmlns:p14="http://schemas.microsoft.com/office/powerpoint/2010/main" val="207775031"/>
              </p:ext>
            </p:extLst>
          </p:nvPr>
        </p:nvGraphicFramePr>
        <p:xfrm>
          <a:off x="6439729" y="881901"/>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001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20" name="Table 19">
            <a:extLst>
              <a:ext uri="{FF2B5EF4-FFF2-40B4-BE49-F238E27FC236}">
                <a16:creationId xmlns:a16="http://schemas.microsoft.com/office/drawing/2014/main" id="{FB31C455-00F7-90CC-2F29-F797D73FB8BD}"/>
              </a:ext>
            </a:extLst>
          </p:cNvPr>
          <p:cNvGraphicFramePr>
            <a:graphicFrameLocks noGrp="1"/>
          </p:cNvGraphicFramePr>
          <p:nvPr>
            <p:extLst>
              <p:ext uri="{D42A27DB-BD31-4B8C-83A1-F6EECF244321}">
                <p14:modId xmlns:p14="http://schemas.microsoft.com/office/powerpoint/2010/main" val="673368839"/>
              </p:ext>
            </p:extLst>
          </p:nvPr>
        </p:nvGraphicFramePr>
        <p:xfrm>
          <a:off x="6439729" y="1588804"/>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0</a:t>
                      </a:r>
                      <a:r>
                        <a:rPr lang="en-IE" sz="1500" dirty="0"/>
                        <a:t>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21" name="Table 20">
            <a:extLst>
              <a:ext uri="{FF2B5EF4-FFF2-40B4-BE49-F238E27FC236}">
                <a16:creationId xmlns:a16="http://schemas.microsoft.com/office/drawing/2014/main" id="{808F9062-E7BE-67DB-DBD3-37902489F77D}"/>
              </a:ext>
            </a:extLst>
          </p:cNvPr>
          <p:cNvGraphicFramePr>
            <a:graphicFrameLocks noGrp="1"/>
          </p:cNvGraphicFramePr>
          <p:nvPr>
            <p:extLst>
              <p:ext uri="{D42A27DB-BD31-4B8C-83A1-F6EECF244321}">
                <p14:modId xmlns:p14="http://schemas.microsoft.com/office/powerpoint/2010/main" val="806628009"/>
              </p:ext>
            </p:extLst>
          </p:nvPr>
        </p:nvGraphicFramePr>
        <p:xfrm>
          <a:off x="6439729" y="2283515"/>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011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22" name="Table 21">
            <a:extLst>
              <a:ext uri="{FF2B5EF4-FFF2-40B4-BE49-F238E27FC236}">
                <a16:creationId xmlns:a16="http://schemas.microsoft.com/office/drawing/2014/main" id="{48123B59-A589-F1E9-7797-00C01C9D795A}"/>
              </a:ext>
            </a:extLst>
          </p:cNvPr>
          <p:cNvGraphicFramePr>
            <a:graphicFrameLocks noGrp="1"/>
          </p:cNvGraphicFramePr>
          <p:nvPr>
            <p:extLst>
              <p:ext uri="{D42A27DB-BD31-4B8C-83A1-F6EECF244321}">
                <p14:modId xmlns:p14="http://schemas.microsoft.com/office/powerpoint/2010/main" val="4288084625"/>
              </p:ext>
            </p:extLst>
          </p:nvPr>
        </p:nvGraphicFramePr>
        <p:xfrm>
          <a:off x="6445825" y="2999562"/>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100</a:t>
                      </a:r>
                    </a:p>
                  </a:txBody>
                  <a:tcPr anchor="ctr"/>
                </a:tc>
                <a:tc>
                  <a:txBody>
                    <a:bodyPr/>
                    <a:lstStyle/>
                    <a:p>
                      <a:pPr>
                        <a:buNone/>
                      </a:pPr>
                      <a:r>
                        <a:rPr lang="en-US" sz="1500" dirty="0"/>
                        <a:t>482</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10</a:t>
                      </a:r>
                      <a:r>
                        <a:rPr lang="en-IE" sz="1500" dirty="0"/>
                        <a:t>0</a:t>
                      </a:r>
                    </a:p>
                  </a:txBody>
                  <a:tcPr anchor="ctr"/>
                </a:tc>
                <a:tc>
                  <a:txBody>
                    <a:bodyPr/>
                    <a:lstStyle/>
                    <a:p>
                      <a:pPr>
                        <a:buNone/>
                      </a:pPr>
                      <a:r>
                        <a:rPr lang="en-US" sz="1500" dirty="0"/>
                        <a:t>842</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23" name="Table 22">
            <a:extLst>
              <a:ext uri="{FF2B5EF4-FFF2-40B4-BE49-F238E27FC236}">
                <a16:creationId xmlns:a16="http://schemas.microsoft.com/office/drawing/2014/main" id="{F8423F5C-1E7E-C648-939C-34C69B914C82}"/>
              </a:ext>
            </a:extLst>
          </p:cNvPr>
          <p:cNvGraphicFramePr>
            <a:graphicFrameLocks noGrp="1"/>
          </p:cNvGraphicFramePr>
          <p:nvPr>
            <p:extLst>
              <p:ext uri="{D42A27DB-BD31-4B8C-83A1-F6EECF244321}">
                <p14:modId xmlns:p14="http://schemas.microsoft.com/office/powerpoint/2010/main" val="777865625"/>
              </p:ext>
            </p:extLst>
          </p:nvPr>
        </p:nvGraphicFramePr>
        <p:xfrm>
          <a:off x="6439729" y="3729063"/>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US" sz="1500" dirty="0"/>
                        <a:t>1</a:t>
                      </a:r>
                      <a:r>
                        <a:rPr lang="en-IE" sz="1500" dirty="0"/>
                        <a:t>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sp>
        <p:nvSpPr>
          <p:cNvPr id="24" name="Rectangle 23">
            <a:extLst>
              <a:ext uri="{FF2B5EF4-FFF2-40B4-BE49-F238E27FC236}">
                <a16:creationId xmlns:a16="http://schemas.microsoft.com/office/drawing/2014/main" id="{30000FBC-58E3-C6CB-F298-B655C65F3FEA}"/>
              </a:ext>
            </a:extLst>
          </p:cNvPr>
          <p:cNvSpPr/>
          <p:nvPr/>
        </p:nvSpPr>
        <p:spPr>
          <a:xfrm>
            <a:off x="6096000" y="2923595"/>
            <a:ext cx="1905000" cy="151237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graphicFrame>
        <p:nvGraphicFramePr>
          <p:cNvPr id="25" name="Table 24">
            <a:extLst>
              <a:ext uri="{FF2B5EF4-FFF2-40B4-BE49-F238E27FC236}">
                <a16:creationId xmlns:a16="http://schemas.microsoft.com/office/drawing/2014/main" id="{E6ED88AD-70E0-D833-02DE-3F429614BE5F}"/>
              </a:ext>
            </a:extLst>
          </p:cNvPr>
          <p:cNvGraphicFramePr>
            <a:graphicFrameLocks noGrp="1"/>
          </p:cNvGraphicFramePr>
          <p:nvPr>
            <p:extLst>
              <p:ext uri="{D42A27DB-BD31-4B8C-83A1-F6EECF244321}">
                <p14:modId xmlns:p14="http://schemas.microsoft.com/office/powerpoint/2010/main" val="1969530038"/>
              </p:ext>
            </p:extLst>
          </p:nvPr>
        </p:nvGraphicFramePr>
        <p:xfrm>
          <a:off x="6439729" y="4435966"/>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26" name="Table 25">
            <a:extLst>
              <a:ext uri="{FF2B5EF4-FFF2-40B4-BE49-F238E27FC236}">
                <a16:creationId xmlns:a16="http://schemas.microsoft.com/office/drawing/2014/main" id="{0F97E0F3-96F4-C581-BBCB-48C0AD3FC890}"/>
              </a:ext>
            </a:extLst>
          </p:cNvPr>
          <p:cNvGraphicFramePr>
            <a:graphicFrameLocks noGrp="1"/>
          </p:cNvGraphicFramePr>
          <p:nvPr>
            <p:extLst>
              <p:ext uri="{D42A27DB-BD31-4B8C-83A1-F6EECF244321}">
                <p14:modId xmlns:p14="http://schemas.microsoft.com/office/powerpoint/2010/main" val="1982285963"/>
              </p:ext>
            </p:extLst>
          </p:nvPr>
        </p:nvGraphicFramePr>
        <p:xfrm>
          <a:off x="6439729" y="5130677"/>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spTree>
    <p:extLst>
      <p:ext uri="{BB962C8B-B14F-4D97-AF65-F5344CB8AC3E}">
        <p14:creationId xmlns:p14="http://schemas.microsoft.com/office/powerpoint/2010/main" val="111586568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1B459-F82D-2144-4492-BE70D1D3C91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C5837C1-9CB0-2512-DBCC-EBD869FB6718}"/>
              </a:ext>
            </a:extLst>
          </p:cNvPr>
          <p:cNvSpPr>
            <a:spLocks noGrp="1"/>
          </p:cNvSpPr>
          <p:nvPr>
            <p:ph type="body" sz="quarter" idx="12"/>
          </p:nvPr>
        </p:nvSpPr>
        <p:spPr/>
        <p:txBody>
          <a:bodyPr/>
          <a:lstStyle/>
          <a:p>
            <a:r>
              <a:rPr lang="en-US" dirty="0"/>
              <a:t>Dynamic Hashing</a:t>
            </a:r>
            <a:endParaRPr lang="en-IE" dirty="0"/>
          </a:p>
        </p:txBody>
      </p:sp>
      <p:sp>
        <p:nvSpPr>
          <p:cNvPr id="3" name="Rectangle 2">
            <a:extLst>
              <a:ext uri="{FF2B5EF4-FFF2-40B4-BE49-F238E27FC236}">
                <a16:creationId xmlns:a16="http://schemas.microsoft.com/office/drawing/2014/main" id="{072612AF-44A2-DFEE-116F-47536B93BDEE}"/>
              </a:ext>
            </a:extLst>
          </p:cNvPr>
          <p:cNvSpPr/>
          <p:nvPr/>
        </p:nvSpPr>
        <p:spPr>
          <a:xfrm>
            <a:off x="1752600" y="2133600"/>
            <a:ext cx="81121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500" dirty="0"/>
              <a:t>H(x)</a:t>
            </a:r>
            <a:endParaRPr lang="en-IE" sz="1500" dirty="0"/>
          </a:p>
        </p:txBody>
      </p:sp>
      <p:sp>
        <p:nvSpPr>
          <p:cNvPr id="5" name="Rectangle 4">
            <a:extLst>
              <a:ext uri="{FF2B5EF4-FFF2-40B4-BE49-F238E27FC236}">
                <a16:creationId xmlns:a16="http://schemas.microsoft.com/office/drawing/2014/main" id="{2A4A12C4-9F28-DAF4-DE43-5F8AC35AFFA0}"/>
              </a:ext>
            </a:extLst>
          </p:cNvPr>
          <p:cNvSpPr/>
          <p:nvPr/>
        </p:nvSpPr>
        <p:spPr>
          <a:xfrm>
            <a:off x="502443" y="2133600"/>
            <a:ext cx="811213"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952</a:t>
            </a:r>
            <a:endParaRPr lang="en-IE" sz="1500" dirty="0"/>
          </a:p>
        </p:txBody>
      </p:sp>
      <p:cxnSp>
        <p:nvCxnSpPr>
          <p:cNvPr id="6" name="Straight Arrow Connector 5">
            <a:extLst>
              <a:ext uri="{FF2B5EF4-FFF2-40B4-BE49-F238E27FC236}">
                <a16:creationId xmlns:a16="http://schemas.microsoft.com/office/drawing/2014/main" id="{53454F80-ECA2-FD93-C857-066579B5158E}"/>
              </a:ext>
            </a:extLst>
          </p:cNvPr>
          <p:cNvCxnSpPr>
            <a:stCxn id="5" idx="3"/>
            <a:endCxn id="3" idx="1"/>
          </p:cNvCxnSpPr>
          <p:nvPr/>
        </p:nvCxnSpPr>
        <p:spPr>
          <a:xfrm>
            <a:off x="1313656"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C18E43AF-AF66-03EF-6B7D-D5D3E7969DCA}"/>
              </a:ext>
            </a:extLst>
          </p:cNvPr>
          <p:cNvCxnSpPr/>
          <p:nvPr/>
        </p:nvCxnSpPr>
        <p:spPr>
          <a:xfrm>
            <a:off x="2563813" y="2318266"/>
            <a:ext cx="43894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042FE53F-9DDA-B151-0E82-A4D6F4C6B40B}"/>
              </a:ext>
            </a:extLst>
          </p:cNvPr>
          <p:cNvSpPr/>
          <p:nvPr/>
        </p:nvSpPr>
        <p:spPr>
          <a:xfrm>
            <a:off x="2992436" y="2133600"/>
            <a:ext cx="1122364"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solidFill>
                  <a:srgbClr val="FF0000"/>
                </a:solidFill>
              </a:rPr>
              <a:t>101</a:t>
            </a:r>
            <a:r>
              <a:rPr lang="en-US" sz="1500" dirty="0"/>
              <a:t>0111</a:t>
            </a:r>
            <a:endParaRPr lang="en-IE" sz="1500" dirty="0"/>
          </a:p>
        </p:txBody>
      </p:sp>
      <p:graphicFrame>
        <p:nvGraphicFramePr>
          <p:cNvPr id="18" name="Table 17">
            <a:extLst>
              <a:ext uri="{FF2B5EF4-FFF2-40B4-BE49-F238E27FC236}">
                <a16:creationId xmlns:a16="http://schemas.microsoft.com/office/drawing/2014/main" id="{6362984C-0D50-F757-7D6F-1EE17C199777}"/>
              </a:ext>
            </a:extLst>
          </p:cNvPr>
          <p:cNvGraphicFramePr>
            <a:graphicFrameLocks noGrp="1"/>
          </p:cNvGraphicFramePr>
          <p:nvPr/>
        </p:nvGraphicFramePr>
        <p:xfrm>
          <a:off x="6445825" y="152400"/>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000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0</a:t>
                      </a:r>
                      <a:r>
                        <a:rPr lang="en-IE" sz="1500" dirty="0"/>
                        <a:t>00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19" name="Table 18">
            <a:extLst>
              <a:ext uri="{FF2B5EF4-FFF2-40B4-BE49-F238E27FC236}">
                <a16:creationId xmlns:a16="http://schemas.microsoft.com/office/drawing/2014/main" id="{76B524CA-9E9C-78FE-BF8A-73A0C9E2E73E}"/>
              </a:ext>
            </a:extLst>
          </p:cNvPr>
          <p:cNvGraphicFramePr>
            <a:graphicFrameLocks noGrp="1"/>
          </p:cNvGraphicFramePr>
          <p:nvPr/>
        </p:nvGraphicFramePr>
        <p:xfrm>
          <a:off x="6439729" y="881901"/>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001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20" name="Table 19">
            <a:extLst>
              <a:ext uri="{FF2B5EF4-FFF2-40B4-BE49-F238E27FC236}">
                <a16:creationId xmlns:a16="http://schemas.microsoft.com/office/drawing/2014/main" id="{6B6CEC71-345A-0169-4516-002059CF78AB}"/>
              </a:ext>
            </a:extLst>
          </p:cNvPr>
          <p:cNvGraphicFramePr>
            <a:graphicFrameLocks noGrp="1"/>
          </p:cNvGraphicFramePr>
          <p:nvPr/>
        </p:nvGraphicFramePr>
        <p:xfrm>
          <a:off x="6439729" y="1588804"/>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0</a:t>
                      </a:r>
                      <a:r>
                        <a:rPr lang="en-IE" sz="1500" dirty="0"/>
                        <a:t>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21" name="Table 20">
            <a:extLst>
              <a:ext uri="{FF2B5EF4-FFF2-40B4-BE49-F238E27FC236}">
                <a16:creationId xmlns:a16="http://schemas.microsoft.com/office/drawing/2014/main" id="{ED93FDFC-AB36-41F4-6BA9-C3FCF9B04B94}"/>
              </a:ext>
            </a:extLst>
          </p:cNvPr>
          <p:cNvGraphicFramePr>
            <a:graphicFrameLocks noGrp="1"/>
          </p:cNvGraphicFramePr>
          <p:nvPr/>
        </p:nvGraphicFramePr>
        <p:xfrm>
          <a:off x="6439729" y="2283515"/>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011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011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22" name="Table 21">
            <a:extLst>
              <a:ext uri="{FF2B5EF4-FFF2-40B4-BE49-F238E27FC236}">
                <a16:creationId xmlns:a16="http://schemas.microsoft.com/office/drawing/2014/main" id="{BC887036-0BC7-DDAA-F42A-F807AF7492C1}"/>
              </a:ext>
            </a:extLst>
          </p:cNvPr>
          <p:cNvGraphicFramePr>
            <a:graphicFrameLocks noGrp="1"/>
          </p:cNvGraphicFramePr>
          <p:nvPr/>
        </p:nvGraphicFramePr>
        <p:xfrm>
          <a:off x="6445825" y="2999562"/>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100</a:t>
                      </a:r>
                    </a:p>
                  </a:txBody>
                  <a:tcPr anchor="ctr"/>
                </a:tc>
                <a:tc>
                  <a:txBody>
                    <a:bodyPr/>
                    <a:lstStyle/>
                    <a:p>
                      <a:pPr>
                        <a:buNone/>
                      </a:pPr>
                      <a:r>
                        <a:rPr lang="en-US" sz="1500" dirty="0"/>
                        <a:t>482</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US" sz="1500" dirty="0"/>
                        <a:t>10</a:t>
                      </a:r>
                      <a:r>
                        <a:rPr lang="en-IE" sz="1500" dirty="0"/>
                        <a:t>0</a:t>
                      </a:r>
                    </a:p>
                  </a:txBody>
                  <a:tcPr anchor="ctr"/>
                </a:tc>
                <a:tc>
                  <a:txBody>
                    <a:bodyPr/>
                    <a:lstStyle/>
                    <a:p>
                      <a:pPr>
                        <a:buNone/>
                      </a:pPr>
                      <a:r>
                        <a:rPr lang="en-US" sz="1500" dirty="0"/>
                        <a:t>842</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23" name="Table 22">
            <a:extLst>
              <a:ext uri="{FF2B5EF4-FFF2-40B4-BE49-F238E27FC236}">
                <a16:creationId xmlns:a16="http://schemas.microsoft.com/office/drawing/2014/main" id="{37C22FFA-C044-8CAB-8293-FB2542409C2D}"/>
              </a:ext>
            </a:extLst>
          </p:cNvPr>
          <p:cNvGraphicFramePr>
            <a:graphicFrameLocks noGrp="1"/>
          </p:cNvGraphicFramePr>
          <p:nvPr>
            <p:extLst>
              <p:ext uri="{D42A27DB-BD31-4B8C-83A1-F6EECF244321}">
                <p14:modId xmlns:p14="http://schemas.microsoft.com/office/powerpoint/2010/main" val="3090656054"/>
              </p:ext>
            </p:extLst>
          </p:nvPr>
        </p:nvGraphicFramePr>
        <p:xfrm>
          <a:off x="6439729" y="3729063"/>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US" sz="1500" dirty="0"/>
                        <a:t>1</a:t>
                      </a:r>
                      <a:r>
                        <a:rPr lang="en-IE" sz="1500" dirty="0"/>
                        <a:t>01</a:t>
                      </a:r>
                    </a:p>
                  </a:txBody>
                  <a:tcPr anchor="ctr"/>
                </a:tc>
                <a:tc>
                  <a:txBody>
                    <a:bodyPr/>
                    <a:lstStyle/>
                    <a:p>
                      <a:pPr>
                        <a:buNone/>
                      </a:pPr>
                      <a:r>
                        <a:rPr lang="en-US" sz="1500" dirty="0"/>
                        <a:t>952</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101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sp>
        <p:nvSpPr>
          <p:cNvPr id="24" name="Rectangle 23">
            <a:extLst>
              <a:ext uri="{FF2B5EF4-FFF2-40B4-BE49-F238E27FC236}">
                <a16:creationId xmlns:a16="http://schemas.microsoft.com/office/drawing/2014/main" id="{924929E1-5916-093D-F2F0-CE137498B162}"/>
              </a:ext>
            </a:extLst>
          </p:cNvPr>
          <p:cNvSpPr/>
          <p:nvPr/>
        </p:nvSpPr>
        <p:spPr>
          <a:xfrm>
            <a:off x="6096000" y="2923595"/>
            <a:ext cx="1905000" cy="151237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graphicFrame>
        <p:nvGraphicFramePr>
          <p:cNvPr id="25" name="Table 24">
            <a:extLst>
              <a:ext uri="{FF2B5EF4-FFF2-40B4-BE49-F238E27FC236}">
                <a16:creationId xmlns:a16="http://schemas.microsoft.com/office/drawing/2014/main" id="{C848C145-C4F1-F257-844C-DC647459676E}"/>
              </a:ext>
            </a:extLst>
          </p:cNvPr>
          <p:cNvGraphicFramePr>
            <a:graphicFrameLocks noGrp="1"/>
          </p:cNvGraphicFramePr>
          <p:nvPr/>
        </p:nvGraphicFramePr>
        <p:xfrm>
          <a:off x="6439729" y="4435966"/>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110</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graphicFrame>
        <p:nvGraphicFramePr>
          <p:cNvPr id="26" name="Table 25">
            <a:extLst>
              <a:ext uri="{FF2B5EF4-FFF2-40B4-BE49-F238E27FC236}">
                <a16:creationId xmlns:a16="http://schemas.microsoft.com/office/drawing/2014/main" id="{403DCEB6-40F3-7F9B-A9FA-ABFB86903CB9}"/>
              </a:ext>
            </a:extLst>
          </p:cNvPr>
          <p:cNvGraphicFramePr>
            <a:graphicFrameLocks noGrp="1"/>
          </p:cNvGraphicFramePr>
          <p:nvPr/>
        </p:nvGraphicFramePr>
        <p:xfrm>
          <a:off x="6439729" y="5130677"/>
          <a:ext cx="1371600" cy="640080"/>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2005409944"/>
                    </a:ext>
                  </a:extLst>
                </a:gridCol>
                <a:gridCol w="685800">
                  <a:extLst>
                    <a:ext uri="{9D8B030D-6E8A-4147-A177-3AD203B41FA5}">
                      <a16:colId xmlns:a16="http://schemas.microsoft.com/office/drawing/2014/main" val="1678401545"/>
                    </a:ext>
                  </a:extLst>
                </a:gridCol>
              </a:tblGrid>
              <a:tr h="237833">
                <a:tc>
                  <a:txBody>
                    <a:bodyPr/>
                    <a:lstStyle/>
                    <a:p>
                      <a:pPr>
                        <a:buNone/>
                      </a:pPr>
                      <a:r>
                        <a:rPr lang="en-IE" sz="1500" dirty="0"/>
                        <a:t>111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1082608624"/>
                  </a:ext>
                </a:extLst>
              </a:tr>
              <a:tr h="237833">
                <a:tc>
                  <a:txBody>
                    <a:bodyPr/>
                    <a:lstStyle/>
                    <a:p>
                      <a:pPr>
                        <a:buNone/>
                      </a:pPr>
                      <a:r>
                        <a:rPr lang="en-IE" sz="1500" dirty="0"/>
                        <a:t>111</a:t>
                      </a:r>
                    </a:p>
                  </a:txBody>
                  <a:tcPr anchor="ctr"/>
                </a:tc>
                <a:tc>
                  <a:txBody>
                    <a:bodyPr/>
                    <a:lstStyle/>
                    <a:p>
                      <a:pPr>
                        <a:buNone/>
                      </a:pPr>
                      <a:r>
                        <a:rPr lang="en-US" sz="1500" dirty="0"/>
                        <a:t>-</a:t>
                      </a:r>
                      <a:endParaRPr lang="en-IE" sz="1500" dirty="0"/>
                    </a:p>
                  </a:txBody>
                  <a:tcPr anchor="ctr"/>
                </a:tc>
                <a:extLst>
                  <a:ext uri="{0D108BD9-81ED-4DB2-BD59-A6C34878D82A}">
                    <a16:rowId xmlns:a16="http://schemas.microsoft.com/office/drawing/2014/main" val="669066360"/>
                  </a:ext>
                </a:extLst>
              </a:tr>
            </a:tbl>
          </a:graphicData>
        </a:graphic>
      </p:graphicFrame>
      <p:cxnSp>
        <p:nvCxnSpPr>
          <p:cNvPr id="4" name="Straight Arrow Connector 3">
            <a:extLst>
              <a:ext uri="{FF2B5EF4-FFF2-40B4-BE49-F238E27FC236}">
                <a16:creationId xmlns:a16="http://schemas.microsoft.com/office/drawing/2014/main" id="{12A768BE-86C1-1421-A100-EDE0D809A715}"/>
              </a:ext>
            </a:extLst>
          </p:cNvPr>
          <p:cNvCxnSpPr>
            <a:cxnSpLocks/>
          </p:cNvCxnSpPr>
          <p:nvPr/>
        </p:nvCxnSpPr>
        <p:spPr>
          <a:xfrm>
            <a:off x="4191000" y="2318266"/>
            <a:ext cx="2248729" cy="156793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0987483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07A21-0930-EEAD-7EC2-9EA099BCFD49}"/>
              </a:ext>
            </a:extLst>
          </p:cNvPr>
          <p:cNvSpPr>
            <a:spLocks noGrp="1"/>
          </p:cNvSpPr>
          <p:nvPr>
            <p:ph type="body" sz="quarter" idx="12"/>
          </p:nvPr>
        </p:nvSpPr>
        <p:spPr/>
        <p:txBody>
          <a:bodyPr/>
          <a:lstStyle/>
          <a:p>
            <a:r>
              <a:rPr lang="en-US" dirty="0"/>
              <a:t>Dynamic Hashing</a:t>
            </a:r>
            <a:endParaRPr lang="en-IE" dirty="0"/>
          </a:p>
        </p:txBody>
      </p:sp>
      <p:pic>
        <p:nvPicPr>
          <p:cNvPr id="4" name="Picture 2">
            <a:extLst>
              <a:ext uri="{FF2B5EF4-FFF2-40B4-BE49-F238E27FC236}">
                <a16:creationId xmlns:a16="http://schemas.microsoft.com/office/drawing/2014/main" id="{A668BE49-92A5-D5B5-681D-B7A3DE0DAAFB}"/>
              </a:ext>
            </a:extLst>
          </p:cNvPr>
          <p:cNvPicPr>
            <a:picLocks noChangeAspect="1" noChangeArrowheads="1"/>
          </p:cNvPicPr>
          <p:nvPr/>
        </p:nvPicPr>
        <p:blipFill>
          <a:blip r:embed="rId2" cstate="print"/>
          <a:srcRect/>
          <a:stretch>
            <a:fillRect/>
          </a:stretch>
        </p:blipFill>
        <p:spPr bwMode="auto">
          <a:xfrm>
            <a:off x="1547665" y="1381125"/>
            <a:ext cx="5310336" cy="4308386"/>
          </a:xfrm>
          <a:prstGeom prst="rect">
            <a:avLst/>
          </a:prstGeom>
          <a:noFill/>
          <a:ln w="9525">
            <a:noFill/>
            <a:miter lim="800000"/>
            <a:headEnd/>
            <a:tailEnd/>
          </a:ln>
        </p:spPr>
      </p:pic>
    </p:spTree>
    <p:extLst>
      <p:ext uri="{BB962C8B-B14F-4D97-AF65-F5344CB8AC3E}">
        <p14:creationId xmlns:p14="http://schemas.microsoft.com/office/powerpoint/2010/main" val="77745467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0FBF-AF49-1AEE-46FA-1D54257DA72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2C980E6-5517-D3CB-EF36-5855FC47B9F5}"/>
              </a:ext>
            </a:extLst>
          </p:cNvPr>
          <p:cNvSpPr>
            <a:spLocks noGrp="1"/>
          </p:cNvSpPr>
          <p:nvPr>
            <p:ph type="body" sz="quarter" idx="12"/>
          </p:nvPr>
        </p:nvSpPr>
        <p:spPr>
          <a:xfrm>
            <a:off x="76199" y="609600"/>
            <a:ext cx="8957003" cy="1008112"/>
          </a:xfrm>
        </p:spPr>
        <p:txBody>
          <a:bodyPr>
            <a:normAutofit/>
          </a:bodyPr>
          <a:lstStyle/>
          <a:p>
            <a:pPr algn="ctr"/>
            <a:r>
              <a:rPr lang="en-US" dirty="0"/>
              <a:t>Exercises</a:t>
            </a:r>
            <a:endParaRPr lang="en-IE" dirty="0"/>
          </a:p>
        </p:txBody>
      </p:sp>
      <p:sp>
        <p:nvSpPr>
          <p:cNvPr id="6" name="TextBox 5">
            <a:extLst>
              <a:ext uri="{FF2B5EF4-FFF2-40B4-BE49-F238E27FC236}">
                <a16:creationId xmlns:a16="http://schemas.microsoft.com/office/drawing/2014/main" id="{8A9005CC-83D8-7E90-06FE-5F281F110FA8}"/>
              </a:ext>
            </a:extLst>
          </p:cNvPr>
          <p:cNvSpPr txBox="1"/>
          <p:nvPr/>
        </p:nvSpPr>
        <p:spPr>
          <a:xfrm>
            <a:off x="596900" y="1630412"/>
            <a:ext cx="5486400" cy="3231654"/>
          </a:xfrm>
          <a:prstGeom prst="rect">
            <a:avLst/>
          </a:prstGeom>
          <a:noFill/>
        </p:spPr>
        <p:txBody>
          <a:bodyPr wrap="square">
            <a:spAutoFit/>
          </a:bodyPr>
          <a:lstStyle/>
          <a:p>
            <a:r>
              <a:rPr lang="en-US" sz="1700" dirty="0"/>
              <a:t>Consider an Open Addressing Hash Table of size 13 (from 0 to 12), where the hash function uses the mod operator.</a:t>
            </a:r>
          </a:p>
          <a:p>
            <a:endParaRPr lang="en-US" sz="1700" dirty="0"/>
          </a:p>
          <a:p>
            <a:endParaRPr lang="en-US" sz="1700" dirty="0"/>
          </a:p>
          <a:p>
            <a:r>
              <a:rPr lang="en-US" sz="1700" dirty="0"/>
              <a:t>Show how the numbers 372, 553 and 651 would be inserted in the above table using linear probing </a:t>
            </a:r>
          </a:p>
          <a:p>
            <a:endParaRPr lang="en-US" sz="1700" dirty="0"/>
          </a:p>
          <a:p>
            <a:r>
              <a:rPr lang="en-US" sz="1700" dirty="0"/>
              <a:t>Show how the numbers 372, 553, 651 would be inserted in the above table using quadratic probing</a:t>
            </a:r>
          </a:p>
          <a:p>
            <a:endParaRPr lang="en-US" sz="1700" dirty="0"/>
          </a:p>
          <a:p>
            <a:endParaRPr lang="en-US" sz="1700" dirty="0"/>
          </a:p>
        </p:txBody>
      </p:sp>
      <p:graphicFrame>
        <p:nvGraphicFramePr>
          <p:cNvPr id="8" name="Table 7">
            <a:extLst>
              <a:ext uri="{FF2B5EF4-FFF2-40B4-BE49-F238E27FC236}">
                <a16:creationId xmlns:a16="http://schemas.microsoft.com/office/drawing/2014/main" id="{994709FE-ED4B-A97B-F9EA-EB2B67C57AD3}"/>
              </a:ext>
            </a:extLst>
          </p:cNvPr>
          <p:cNvGraphicFramePr>
            <a:graphicFrameLocks noGrp="1"/>
          </p:cNvGraphicFramePr>
          <p:nvPr>
            <p:extLst>
              <p:ext uri="{D42A27DB-BD31-4B8C-83A1-F6EECF244321}">
                <p14:modId xmlns:p14="http://schemas.microsoft.com/office/powerpoint/2010/main" val="4171021983"/>
              </p:ext>
            </p:extLst>
          </p:nvPr>
        </p:nvGraphicFramePr>
        <p:xfrm>
          <a:off x="6670675" y="1441832"/>
          <a:ext cx="1876425" cy="3200400"/>
        </p:xfrm>
        <a:graphic>
          <a:graphicData uri="http://schemas.openxmlformats.org/drawingml/2006/table">
            <a:tbl>
              <a:tblPr>
                <a:tableStyleId>{5940675A-B579-460E-94D1-54222C63F5DA}</a:tableStyleId>
              </a:tblPr>
              <a:tblGrid>
                <a:gridCol w="1045097">
                  <a:extLst>
                    <a:ext uri="{9D8B030D-6E8A-4147-A177-3AD203B41FA5}">
                      <a16:colId xmlns:a16="http://schemas.microsoft.com/office/drawing/2014/main" val="2755914953"/>
                    </a:ext>
                  </a:extLst>
                </a:gridCol>
                <a:gridCol w="831328">
                  <a:extLst>
                    <a:ext uri="{9D8B030D-6E8A-4147-A177-3AD203B41FA5}">
                      <a16:colId xmlns:a16="http://schemas.microsoft.com/office/drawing/2014/main" val="2702394218"/>
                    </a:ext>
                  </a:extLst>
                </a:gridCol>
              </a:tblGrid>
              <a:tr h="190500">
                <a:tc>
                  <a:txBody>
                    <a:bodyPr/>
                    <a:lstStyle/>
                    <a:p>
                      <a:pPr algn="ctr">
                        <a:buNone/>
                      </a:pPr>
                      <a:r>
                        <a:rPr lang="en-US" sz="1500" b="1" dirty="0">
                          <a:effectLst/>
                        </a:rPr>
                        <a:t>Index</a:t>
                      </a:r>
                      <a:endParaRPr lang="en-IE" sz="15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b="1" dirty="0">
                          <a:effectLst/>
                        </a:rPr>
                        <a:t>Value</a:t>
                      </a:r>
                      <a:endParaRPr lang="en-IE" sz="15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06577244"/>
                  </a:ext>
                </a:extLst>
              </a:tr>
              <a:tr h="190500">
                <a:tc>
                  <a:txBody>
                    <a:bodyPr/>
                    <a:lstStyle/>
                    <a:p>
                      <a:pPr algn="ctr">
                        <a:buNone/>
                      </a:pPr>
                      <a:r>
                        <a:rPr lang="en-US" sz="1500" dirty="0">
                          <a:effectLst/>
                        </a:rPr>
                        <a:t>0</a:t>
                      </a:r>
                      <a:endParaRPr lang="en-IE" sz="15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dirty="0">
                          <a:effectLst/>
                        </a:rPr>
                        <a:t>—</a:t>
                      </a:r>
                      <a:endParaRPr lang="en-IE" sz="15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016095630"/>
                  </a:ext>
                </a:extLst>
              </a:tr>
              <a:tr h="190500">
                <a:tc>
                  <a:txBody>
                    <a:bodyPr/>
                    <a:lstStyle/>
                    <a:p>
                      <a:pPr algn="ctr">
                        <a:buNone/>
                      </a:pPr>
                      <a:r>
                        <a:rPr lang="en-US" sz="1500" dirty="0">
                          <a:effectLst/>
                        </a:rPr>
                        <a:t>1</a:t>
                      </a:r>
                      <a:endParaRPr lang="en-IE" sz="15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a:effectLst/>
                        </a:rPr>
                        <a:t>261</a:t>
                      </a:r>
                      <a:endParaRPr lang="en-IE" sz="15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76598752"/>
                  </a:ext>
                </a:extLst>
              </a:tr>
              <a:tr h="190500">
                <a:tc>
                  <a:txBody>
                    <a:bodyPr/>
                    <a:lstStyle/>
                    <a:p>
                      <a:pPr algn="ctr">
                        <a:buNone/>
                      </a:pPr>
                      <a:r>
                        <a:rPr lang="en-US" sz="1500">
                          <a:effectLst/>
                        </a:rPr>
                        <a:t>2</a:t>
                      </a:r>
                      <a:endParaRPr lang="en-IE" sz="15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a:effectLst/>
                        </a:rPr>
                        <a:t>40</a:t>
                      </a:r>
                      <a:endParaRPr lang="en-IE" sz="15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126958425"/>
                  </a:ext>
                </a:extLst>
              </a:tr>
              <a:tr h="190500">
                <a:tc>
                  <a:txBody>
                    <a:bodyPr/>
                    <a:lstStyle/>
                    <a:p>
                      <a:pPr algn="ctr">
                        <a:buNone/>
                      </a:pPr>
                      <a:r>
                        <a:rPr lang="en-US" sz="1500">
                          <a:effectLst/>
                        </a:rPr>
                        <a:t>3</a:t>
                      </a:r>
                      <a:endParaRPr lang="en-IE" sz="15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dirty="0">
                          <a:effectLst/>
                        </a:rPr>
                        <a:t>-</a:t>
                      </a:r>
                      <a:endParaRPr lang="en-IE" sz="15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12035754"/>
                  </a:ext>
                </a:extLst>
              </a:tr>
              <a:tr h="190500">
                <a:tc>
                  <a:txBody>
                    <a:bodyPr/>
                    <a:lstStyle/>
                    <a:p>
                      <a:pPr algn="ctr">
                        <a:buNone/>
                      </a:pPr>
                      <a:r>
                        <a:rPr lang="en-US" sz="1500">
                          <a:effectLst/>
                        </a:rPr>
                        <a:t>4</a:t>
                      </a:r>
                      <a:endParaRPr lang="en-IE" sz="15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a:effectLst/>
                        </a:rPr>
                        <a:t>900</a:t>
                      </a:r>
                      <a:endParaRPr lang="en-IE" sz="15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69996000"/>
                  </a:ext>
                </a:extLst>
              </a:tr>
              <a:tr h="190500">
                <a:tc>
                  <a:txBody>
                    <a:bodyPr/>
                    <a:lstStyle/>
                    <a:p>
                      <a:pPr algn="ctr">
                        <a:buNone/>
                      </a:pPr>
                      <a:r>
                        <a:rPr lang="en-US" sz="1500">
                          <a:effectLst/>
                        </a:rPr>
                        <a:t>5</a:t>
                      </a:r>
                      <a:endParaRPr lang="en-IE" sz="15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dirty="0">
                          <a:effectLst/>
                        </a:rPr>
                        <a:t>-</a:t>
                      </a:r>
                      <a:endParaRPr lang="en-IE" sz="15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586561647"/>
                  </a:ext>
                </a:extLst>
              </a:tr>
              <a:tr h="190500">
                <a:tc>
                  <a:txBody>
                    <a:bodyPr/>
                    <a:lstStyle/>
                    <a:p>
                      <a:pPr algn="ctr">
                        <a:buNone/>
                      </a:pPr>
                      <a:r>
                        <a:rPr lang="en-US" sz="1500">
                          <a:effectLst/>
                        </a:rPr>
                        <a:t>6</a:t>
                      </a:r>
                      <a:endParaRPr lang="en-IE" sz="15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a:effectLst/>
                        </a:rPr>
                        <a:t>29</a:t>
                      </a:r>
                      <a:endParaRPr lang="en-IE" sz="15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9382418"/>
                  </a:ext>
                </a:extLst>
              </a:tr>
              <a:tr h="190500">
                <a:tc>
                  <a:txBody>
                    <a:bodyPr/>
                    <a:lstStyle/>
                    <a:p>
                      <a:pPr algn="ctr">
                        <a:buNone/>
                      </a:pPr>
                      <a:r>
                        <a:rPr lang="en-US" sz="1500">
                          <a:effectLst/>
                        </a:rPr>
                        <a:t>7</a:t>
                      </a:r>
                      <a:endParaRPr lang="en-IE" sz="15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a:effectLst/>
                        </a:rPr>
                        <a:t>265</a:t>
                      </a:r>
                      <a:endParaRPr lang="en-IE" sz="15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005537110"/>
                  </a:ext>
                </a:extLst>
              </a:tr>
              <a:tr h="190500">
                <a:tc>
                  <a:txBody>
                    <a:bodyPr/>
                    <a:lstStyle/>
                    <a:p>
                      <a:pPr algn="ctr">
                        <a:buNone/>
                      </a:pPr>
                      <a:r>
                        <a:rPr lang="en-US" sz="1500">
                          <a:effectLst/>
                        </a:rPr>
                        <a:t>8</a:t>
                      </a:r>
                      <a:endParaRPr lang="en-IE" sz="15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a:effectLst/>
                        </a:rPr>
                        <a:t>53</a:t>
                      </a:r>
                      <a:endParaRPr lang="en-IE" sz="15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74193825"/>
                  </a:ext>
                </a:extLst>
              </a:tr>
              <a:tr h="190500">
                <a:tc>
                  <a:txBody>
                    <a:bodyPr/>
                    <a:lstStyle/>
                    <a:p>
                      <a:pPr algn="ctr">
                        <a:buNone/>
                      </a:pPr>
                      <a:r>
                        <a:rPr lang="en-US" sz="1500">
                          <a:effectLst/>
                        </a:rPr>
                        <a:t>9</a:t>
                      </a:r>
                      <a:endParaRPr lang="en-IE" sz="15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dirty="0">
                          <a:effectLst/>
                          <a:latin typeface="Times New Roman" panose="02020603050405020304" pitchFamily="18" charset="0"/>
                          <a:ea typeface="Times New Roman" panose="02020603050405020304" pitchFamily="18" charset="0"/>
                        </a:rPr>
                        <a:t>-</a:t>
                      </a:r>
                      <a:endParaRPr lang="en-IE" sz="15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71434529"/>
                  </a:ext>
                </a:extLst>
              </a:tr>
              <a:tr h="190500">
                <a:tc>
                  <a:txBody>
                    <a:bodyPr/>
                    <a:lstStyle/>
                    <a:p>
                      <a:pPr algn="ctr">
                        <a:buNone/>
                      </a:pPr>
                      <a:r>
                        <a:rPr lang="en-US" sz="1500">
                          <a:effectLst/>
                        </a:rPr>
                        <a:t>10</a:t>
                      </a:r>
                      <a:endParaRPr lang="en-IE" sz="15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dirty="0">
                          <a:effectLst/>
                        </a:rPr>
                        <a:t>540</a:t>
                      </a:r>
                      <a:endParaRPr lang="en-IE" sz="15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001317525"/>
                  </a:ext>
                </a:extLst>
              </a:tr>
              <a:tr h="190500">
                <a:tc>
                  <a:txBody>
                    <a:bodyPr/>
                    <a:lstStyle/>
                    <a:p>
                      <a:pPr algn="ctr">
                        <a:buNone/>
                      </a:pPr>
                      <a:r>
                        <a:rPr lang="en-US" sz="1500">
                          <a:effectLst/>
                        </a:rPr>
                        <a:t>11</a:t>
                      </a:r>
                      <a:endParaRPr lang="en-IE" sz="15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dirty="0">
                          <a:effectLst/>
                        </a:rPr>
                        <a:t>-</a:t>
                      </a:r>
                      <a:endParaRPr lang="en-IE" sz="15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14073405"/>
                  </a:ext>
                </a:extLst>
              </a:tr>
              <a:tr h="190500">
                <a:tc>
                  <a:txBody>
                    <a:bodyPr/>
                    <a:lstStyle/>
                    <a:p>
                      <a:pPr algn="ctr">
                        <a:buNone/>
                      </a:pPr>
                      <a:r>
                        <a:rPr lang="en-US" sz="1500">
                          <a:effectLst/>
                        </a:rPr>
                        <a:t>12</a:t>
                      </a:r>
                      <a:endParaRPr lang="en-IE" sz="15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buNone/>
                      </a:pPr>
                      <a:r>
                        <a:rPr lang="en-US" sz="1500" dirty="0">
                          <a:effectLst/>
                        </a:rPr>
                        <a:t>638</a:t>
                      </a:r>
                      <a:endParaRPr lang="en-IE" sz="15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568369460"/>
                  </a:ext>
                </a:extLst>
              </a:tr>
            </a:tbl>
          </a:graphicData>
        </a:graphic>
      </p:graphicFrame>
    </p:spTree>
    <p:extLst>
      <p:ext uri="{BB962C8B-B14F-4D97-AF65-F5344CB8AC3E}">
        <p14:creationId xmlns:p14="http://schemas.microsoft.com/office/powerpoint/2010/main" val="413750581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AC1993D-530A-E1EC-5B71-6CEB8FD63419}"/>
              </a:ext>
            </a:extLst>
          </p:cNvPr>
          <p:cNvSpPr>
            <a:spLocks noGrp="1"/>
          </p:cNvSpPr>
          <p:nvPr>
            <p:ph type="body" sz="quarter" idx="12"/>
          </p:nvPr>
        </p:nvSpPr>
        <p:spPr>
          <a:xfrm>
            <a:off x="755650" y="386544"/>
            <a:ext cx="7560890" cy="750912"/>
          </a:xfrm>
        </p:spPr>
        <p:txBody>
          <a:bodyPr/>
          <a:lstStyle/>
          <a:p>
            <a:r>
              <a:rPr lang="en-US" dirty="0"/>
              <a:t>Java Classes</a:t>
            </a:r>
            <a:endParaRPr lang="en-IE" dirty="0"/>
          </a:p>
        </p:txBody>
      </p:sp>
      <p:sp>
        <p:nvSpPr>
          <p:cNvPr id="3" name="Content Placeholder 2">
            <a:extLst>
              <a:ext uri="{FF2B5EF4-FFF2-40B4-BE49-F238E27FC236}">
                <a16:creationId xmlns:a16="http://schemas.microsoft.com/office/drawing/2014/main" id="{F070C3E1-D416-3A8C-AF4A-81D06FC9F8B7}"/>
              </a:ext>
            </a:extLst>
          </p:cNvPr>
          <p:cNvSpPr>
            <a:spLocks noGrp="1"/>
          </p:cNvSpPr>
          <p:nvPr>
            <p:ph sz="quarter" idx="11"/>
          </p:nvPr>
        </p:nvSpPr>
        <p:spPr>
          <a:xfrm>
            <a:off x="573295" y="1137456"/>
            <a:ext cx="8312150" cy="4958544"/>
          </a:xfrm>
        </p:spPr>
        <p:txBody>
          <a:bodyPr>
            <a:normAutofit fontScale="77500" lnSpcReduction="20000"/>
          </a:bodyPr>
          <a:lstStyle/>
          <a:p>
            <a:pPr>
              <a:lnSpc>
                <a:spcPct val="120000"/>
              </a:lnSpc>
              <a:spcBef>
                <a:spcPts val="0"/>
              </a:spcBef>
            </a:pPr>
            <a:r>
              <a:rPr lang="en-US" sz="2900" dirty="0"/>
              <a:t>HashMap class</a:t>
            </a:r>
          </a:p>
          <a:p>
            <a:pPr>
              <a:lnSpc>
                <a:spcPct val="120000"/>
              </a:lnSpc>
              <a:spcBef>
                <a:spcPts val="0"/>
              </a:spcBef>
            </a:pPr>
            <a:r>
              <a:rPr lang="en-US" sz="2900" dirty="0"/>
              <a:t>See </a:t>
            </a:r>
            <a:r>
              <a:rPr lang="en-US" sz="2900" i="1" dirty="0"/>
              <a:t>HashMapDemo.java </a:t>
            </a:r>
            <a:r>
              <a:rPr lang="en-US" sz="2900" dirty="0"/>
              <a:t>on Moodle for a demo</a:t>
            </a:r>
          </a:p>
          <a:p>
            <a:pPr>
              <a:lnSpc>
                <a:spcPct val="120000"/>
              </a:lnSpc>
              <a:spcBef>
                <a:spcPts val="0"/>
              </a:spcBef>
            </a:pPr>
            <a:r>
              <a:rPr lang="en-US" sz="2900" dirty="0"/>
              <a:t>Features</a:t>
            </a:r>
          </a:p>
          <a:p>
            <a:pPr lvl="1">
              <a:lnSpc>
                <a:spcPct val="120000"/>
              </a:lnSpc>
              <a:spcBef>
                <a:spcPts val="0"/>
              </a:spcBef>
              <a:spcAft>
                <a:spcPts val="0"/>
              </a:spcAft>
            </a:pPr>
            <a:r>
              <a:rPr lang="en-US" sz="2400" dirty="0"/>
              <a:t>Hash Function is the </a:t>
            </a:r>
            <a:r>
              <a:rPr lang="en-US" sz="2400" dirty="0" err="1"/>
              <a:t>hashcode</a:t>
            </a:r>
            <a:r>
              <a:rPr lang="en-US" sz="2400" dirty="0"/>
              <a:t>() function built in in java</a:t>
            </a:r>
          </a:p>
          <a:p>
            <a:pPr lvl="1">
              <a:lnSpc>
                <a:spcPct val="120000"/>
              </a:lnSpc>
              <a:spcBef>
                <a:spcPts val="0"/>
              </a:spcBef>
              <a:spcAft>
                <a:spcPts val="0"/>
              </a:spcAft>
            </a:pPr>
            <a:r>
              <a:rPr lang="en-US" sz="2400" dirty="0" err="1"/>
              <a:t>Hascode</a:t>
            </a:r>
            <a:r>
              <a:rPr lang="en-US" sz="2400" dirty="0"/>
              <a:t>() produces an integer (int) that represents the input object.</a:t>
            </a:r>
          </a:p>
          <a:p>
            <a:pPr lvl="1">
              <a:lnSpc>
                <a:spcPct val="120000"/>
              </a:lnSpc>
              <a:spcBef>
                <a:spcPts val="0"/>
              </a:spcBef>
              <a:spcAft>
                <a:spcPts val="0"/>
              </a:spcAft>
            </a:pPr>
            <a:r>
              <a:rPr lang="en-US" sz="2400" dirty="0"/>
              <a:t>In a hash table, this integer is used to compute the bucket index</a:t>
            </a:r>
          </a:p>
          <a:p>
            <a:pPr lvl="1">
              <a:lnSpc>
                <a:spcPct val="120000"/>
              </a:lnSpc>
              <a:spcBef>
                <a:spcPts val="0"/>
              </a:spcBef>
              <a:spcAft>
                <a:spcPts val="0"/>
              </a:spcAft>
            </a:pPr>
            <a:r>
              <a:rPr lang="en-US" sz="2400" dirty="0"/>
              <a:t>Example:  “hello”.</a:t>
            </a:r>
            <a:r>
              <a:rPr lang="en-US" sz="2400" dirty="0" err="1"/>
              <a:t>hashcode</a:t>
            </a:r>
            <a:r>
              <a:rPr lang="en-US" sz="2400" dirty="0"/>
              <a:t>()  </a:t>
            </a:r>
            <a:r>
              <a:rPr lang="en-US" sz="2400" dirty="0">
                <a:sym typeface="Wingdings" panose="05000000000000000000" pitchFamily="2" charset="2"/>
              </a:rPr>
              <a:t> 99162322</a:t>
            </a:r>
          </a:p>
          <a:p>
            <a:pPr lvl="1">
              <a:lnSpc>
                <a:spcPct val="120000"/>
              </a:lnSpc>
              <a:spcBef>
                <a:spcPts val="0"/>
              </a:spcBef>
              <a:spcAft>
                <a:spcPts val="0"/>
              </a:spcAft>
            </a:pPr>
            <a:r>
              <a:rPr lang="en-US" sz="2400" dirty="0">
                <a:sym typeface="Wingdings" panose="05000000000000000000" pitchFamily="2" charset="2"/>
              </a:rPr>
              <a:t>Formula for strings: </a:t>
            </a:r>
          </a:p>
          <a:p>
            <a:pPr lvl="1">
              <a:lnSpc>
                <a:spcPct val="120000"/>
              </a:lnSpc>
              <a:spcBef>
                <a:spcPts val="0"/>
              </a:spcBef>
              <a:spcAft>
                <a:spcPts val="0"/>
              </a:spcAft>
            </a:pPr>
            <a:endParaRPr lang="en-US" sz="2400" dirty="0"/>
          </a:p>
          <a:p>
            <a:pPr lvl="1">
              <a:lnSpc>
                <a:spcPct val="120000"/>
              </a:lnSpc>
              <a:spcBef>
                <a:spcPts val="0"/>
              </a:spcBef>
              <a:spcAft>
                <a:spcPts val="0"/>
              </a:spcAft>
            </a:pPr>
            <a:endParaRPr lang="en-US" sz="2400" dirty="0"/>
          </a:p>
          <a:p>
            <a:pPr lvl="1">
              <a:lnSpc>
                <a:spcPct val="120000"/>
              </a:lnSpc>
              <a:spcBef>
                <a:spcPts val="0"/>
              </a:spcBef>
              <a:spcAft>
                <a:spcPts val="0"/>
              </a:spcAft>
            </a:pPr>
            <a:r>
              <a:rPr lang="en-US" sz="2400" dirty="0"/>
              <a:t>Starting capacity (number of buckets)  = 16. Given the </a:t>
            </a:r>
            <a:r>
              <a:rPr lang="en-US" sz="2400" dirty="0" err="1"/>
              <a:t>hashcode</a:t>
            </a:r>
            <a:r>
              <a:rPr lang="en-US" sz="2400" dirty="0"/>
              <a:t>, the bucket will be found with the formula H(x) mod capacity</a:t>
            </a:r>
          </a:p>
          <a:p>
            <a:pPr lvl="1">
              <a:lnSpc>
                <a:spcPct val="120000"/>
              </a:lnSpc>
              <a:spcBef>
                <a:spcPts val="0"/>
              </a:spcBef>
              <a:spcAft>
                <a:spcPts val="0"/>
              </a:spcAft>
            </a:pPr>
            <a:r>
              <a:rPr lang="en-US" sz="2400" dirty="0"/>
              <a:t>It is an Hash Table with chaining</a:t>
            </a:r>
          </a:p>
          <a:p>
            <a:pPr lvl="1">
              <a:lnSpc>
                <a:spcPct val="120000"/>
              </a:lnSpc>
              <a:spcBef>
                <a:spcPts val="0"/>
              </a:spcBef>
              <a:spcAft>
                <a:spcPts val="0"/>
              </a:spcAft>
            </a:pPr>
            <a:r>
              <a:rPr lang="en-US" sz="2400" dirty="0"/>
              <a:t>Dynamic hashing used if load factor &gt; 0.75. The capacity is doubled.</a:t>
            </a:r>
          </a:p>
          <a:p>
            <a:pPr lvl="1">
              <a:lnSpc>
                <a:spcPct val="120000"/>
              </a:lnSpc>
              <a:spcBef>
                <a:spcPts val="0"/>
              </a:spcBef>
              <a:spcAft>
                <a:spcPts val="0"/>
              </a:spcAft>
            </a:pPr>
            <a:endParaRPr lang="en-IE" dirty="0"/>
          </a:p>
        </p:txBody>
      </p:sp>
      <p:pic>
        <p:nvPicPr>
          <p:cNvPr id="5" name="Picture 4">
            <a:extLst>
              <a:ext uri="{FF2B5EF4-FFF2-40B4-BE49-F238E27FC236}">
                <a16:creationId xmlns:a16="http://schemas.microsoft.com/office/drawing/2014/main" id="{D9397765-32A0-CEEC-3FD2-6E54040366F0}"/>
              </a:ext>
            </a:extLst>
          </p:cNvPr>
          <p:cNvPicPr>
            <a:picLocks noChangeAspect="1"/>
          </p:cNvPicPr>
          <p:nvPr/>
        </p:nvPicPr>
        <p:blipFill>
          <a:blip r:embed="rId2"/>
          <a:stretch>
            <a:fillRect/>
          </a:stretch>
        </p:blipFill>
        <p:spPr>
          <a:xfrm>
            <a:off x="3200400" y="3616728"/>
            <a:ext cx="5456445" cy="463570"/>
          </a:xfrm>
          <a:prstGeom prst="rect">
            <a:avLst/>
          </a:prstGeom>
        </p:spPr>
      </p:pic>
    </p:spTree>
    <p:extLst>
      <p:ext uri="{BB962C8B-B14F-4D97-AF65-F5344CB8AC3E}">
        <p14:creationId xmlns:p14="http://schemas.microsoft.com/office/powerpoint/2010/main" val="219902888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2B455-FDCF-18C5-4BDB-996BC9E9418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93BFD12-CDC7-3C14-3A59-776588909A13}"/>
              </a:ext>
            </a:extLst>
          </p:cNvPr>
          <p:cNvSpPr>
            <a:spLocks noGrp="1"/>
          </p:cNvSpPr>
          <p:nvPr>
            <p:ph type="body" sz="quarter" idx="12"/>
          </p:nvPr>
        </p:nvSpPr>
        <p:spPr/>
        <p:txBody>
          <a:bodyPr/>
          <a:lstStyle/>
          <a:p>
            <a:r>
              <a:rPr lang="en-US" dirty="0"/>
              <a:t>Java Classes</a:t>
            </a:r>
            <a:endParaRPr lang="en-IE" dirty="0"/>
          </a:p>
        </p:txBody>
      </p:sp>
      <p:sp>
        <p:nvSpPr>
          <p:cNvPr id="3" name="Content Placeholder 2">
            <a:extLst>
              <a:ext uri="{FF2B5EF4-FFF2-40B4-BE49-F238E27FC236}">
                <a16:creationId xmlns:a16="http://schemas.microsoft.com/office/drawing/2014/main" id="{CF5F2BFD-3A5F-6F94-77F7-D705A0C0F737}"/>
              </a:ext>
            </a:extLst>
          </p:cNvPr>
          <p:cNvSpPr>
            <a:spLocks noGrp="1"/>
          </p:cNvSpPr>
          <p:nvPr>
            <p:ph sz="quarter" idx="11"/>
          </p:nvPr>
        </p:nvSpPr>
        <p:spPr>
          <a:xfrm>
            <a:off x="221456" y="1295400"/>
            <a:ext cx="8610600" cy="4495800"/>
          </a:xfrm>
        </p:spPr>
        <p:txBody>
          <a:bodyPr>
            <a:normAutofit fontScale="92500"/>
          </a:bodyPr>
          <a:lstStyle/>
          <a:p>
            <a:pPr>
              <a:lnSpc>
                <a:spcPct val="110000"/>
              </a:lnSpc>
              <a:spcBef>
                <a:spcPts val="500"/>
              </a:spcBef>
            </a:pPr>
            <a:r>
              <a:rPr lang="en-US" sz="1700" dirty="0"/>
              <a:t>HashMap class Methods</a:t>
            </a:r>
          </a:p>
          <a:p>
            <a:pPr>
              <a:lnSpc>
                <a:spcPct val="110000"/>
              </a:lnSpc>
              <a:spcBef>
                <a:spcPts val="500"/>
              </a:spcBef>
            </a:pPr>
            <a:r>
              <a:rPr lang="en-US" sz="1700" dirty="0"/>
              <a:t>Constructor:</a:t>
            </a:r>
          </a:p>
          <a:p>
            <a:pPr marL="0" indent="0">
              <a:lnSpc>
                <a:spcPct val="110000"/>
              </a:lnSpc>
              <a:spcBef>
                <a:spcPts val="500"/>
              </a:spcBef>
              <a:buNone/>
            </a:pPr>
            <a:r>
              <a:rPr lang="en-US" sz="1700" dirty="0"/>
              <a:t>	</a:t>
            </a:r>
            <a:r>
              <a:rPr lang="en-US" sz="1700" dirty="0">
                <a:latin typeface="Courier New" panose="02070309020205020404" pitchFamily="49" charset="0"/>
                <a:cs typeface="Courier New" panose="02070309020205020404" pitchFamily="49" charset="0"/>
              </a:rPr>
              <a:t>HashMap&lt;String, Integer&gt; map = new HashMap&lt;&gt;(size);</a:t>
            </a:r>
          </a:p>
          <a:p>
            <a:pPr>
              <a:lnSpc>
                <a:spcPct val="110000"/>
              </a:lnSpc>
              <a:spcBef>
                <a:spcPts val="500"/>
              </a:spcBef>
            </a:pPr>
            <a:r>
              <a:rPr lang="en-US" sz="1700" dirty="0"/>
              <a:t>put(</a:t>
            </a:r>
            <a:r>
              <a:rPr lang="en-US" sz="1700" dirty="0" err="1"/>
              <a:t>key,value</a:t>
            </a:r>
            <a:r>
              <a:rPr lang="en-US" sz="1700" dirty="0"/>
              <a:t>) = insert a key/value pair in the hash table: </a:t>
            </a:r>
            <a:r>
              <a:rPr lang="en-US" sz="1700" dirty="0" err="1">
                <a:latin typeface="Courier New" panose="02070309020205020404" pitchFamily="49" charset="0"/>
                <a:cs typeface="Courier New" panose="02070309020205020404" pitchFamily="49" charset="0"/>
              </a:rPr>
              <a:t>map.put</a:t>
            </a:r>
            <a:r>
              <a:rPr lang="en-US" sz="1700" dirty="0">
                <a:latin typeface="Courier New" panose="02070309020205020404" pitchFamily="49" charset="0"/>
                <a:cs typeface="Courier New" panose="02070309020205020404" pitchFamily="49" charset="0"/>
              </a:rPr>
              <a:t>("apple", 5)</a:t>
            </a:r>
          </a:p>
          <a:p>
            <a:pPr>
              <a:lnSpc>
                <a:spcPct val="110000"/>
              </a:lnSpc>
              <a:spcBef>
                <a:spcPts val="500"/>
              </a:spcBef>
            </a:pPr>
            <a:r>
              <a:rPr lang="en-US" sz="1700" dirty="0"/>
              <a:t>get(key) = return the value for a specific key: </a:t>
            </a:r>
            <a:r>
              <a:rPr lang="en-US" sz="1700" dirty="0" err="1">
                <a:latin typeface="Courier New" panose="02070309020205020404" pitchFamily="49" charset="0"/>
                <a:cs typeface="Courier New" panose="02070309020205020404" pitchFamily="49" charset="0"/>
              </a:rPr>
              <a:t>map.get</a:t>
            </a:r>
            <a:r>
              <a:rPr lang="en-US" sz="1700" dirty="0">
                <a:latin typeface="Courier New" panose="02070309020205020404" pitchFamily="49" charset="0"/>
                <a:cs typeface="Courier New" panose="02070309020205020404" pitchFamily="49" charset="0"/>
              </a:rPr>
              <a:t>("apple")</a:t>
            </a:r>
          </a:p>
          <a:p>
            <a:pPr>
              <a:lnSpc>
                <a:spcPct val="110000"/>
              </a:lnSpc>
              <a:spcBef>
                <a:spcPts val="500"/>
              </a:spcBef>
            </a:pPr>
            <a:r>
              <a:rPr lang="en-US" sz="1700" dirty="0" err="1"/>
              <a:t>map.containsKey</a:t>
            </a:r>
            <a:r>
              <a:rPr lang="en-US" sz="1700" dirty="0"/>
              <a:t>(key) = check if a key is in the map </a:t>
            </a:r>
            <a:r>
              <a:rPr lang="en-US" sz="1700" dirty="0" err="1">
                <a:latin typeface="Courier New" panose="02070309020205020404" pitchFamily="49" charset="0"/>
                <a:cs typeface="Courier New" panose="02070309020205020404" pitchFamily="49" charset="0"/>
              </a:rPr>
              <a:t>map.containsKey</a:t>
            </a:r>
            <a:r>
              <a:rPr lang="en-US" sz="1700" dirty="0">
                <a:latin typeface="Courier New" panose="02070309020205020404" pitchFamily="49" charset="0"/>
                <a:cs typeface="Courier New" panose="02070309020205020404" pitchFamily="49" charset="0"/>
              </a:rPr>
              <a:t>("cherry")</a:t>
            </a:r>
          </a:p>
          <a:p>
            <a:pPr>
              <a:lnSpc>
                <a:spcPct val="110000"/>
              </a:lnSpc>
              <a:spcBef>
                <a:spcPts val="500"/>
              </a:spcBef>
            </a:pPr>
            <a:r>
              <a:rPr lang="en-US" sz="1700" dirty="0" err="1"/>
              <a:t>map.containsValue</a:t>
            </a:r>
            <a:r>
              <a:rPr lang="en-US" sz="1700" dirty="0"/>
              <a:t>(value) = check if a value is in the map  Ex: </a:t>
            </a:r>
            <a:r>
              <a:rPr lang="en-US" sz="1600" dirty="0" err="1">
                <a:latin typeface="Courier New" panose="02070309020205020404" pitchFamily="49" charset="0"/>
                <a:cs typeface="Courier New" panose="02070309020205020404" pitchFamily="49" charset="0"/>
              </a:rPr>
              <a:t>map.containsKey</a:t>
            </a:r>
            <a:r>
              <a:rPr lang="en-US" sz="1600" dirty="0">
                <a:latin typeface="Courier New" panose="02070309020205020404" pitchFamily="49" charset="0"/>
                <a:cs typeface="Courier New" panose="02070309020205020404" pitchFamily="49" charset="0"/>
              </a:rPr>
              <a:t>(10)</a:t>
            </a:r>
          </a:p>
          <a:p>
            <a:pPr>
              <a:lnSpc>
                <a:spcPct val="110000"/>
              </a:lnSpc>
              <a:spcBef>
                <a:spcPts val="500"/>
              </a:spcBef>
            </a:pPr>
            <a:r>
              <a:rPr lang="en-US" sz="1700" dirty="0" err="1"/>
              <a:t>map.remove</a:t>
            </a:r>
            <a:r>
              <a:rPr lang="en-US" sz="1700" dirty="0"/>
              <a:t>("banana") = remove an entry from the Hash table</a:t>
            </a:r>
          </a:p>
          <a:p>
            <a:pPr>
              <a:lnSpc>
                <a:spcPct val="110000"/>
              </a:lnSpc>
              <a:spcBef>
                <a:spcPts val="500"/>
              </a:spcBef>
            </a:pPr>
            <a:r>
              <a:rPr lang="en-US" sz="1700" dirty="0"/>
              <a:t>Loop over the elements:</a:t>
            </a:r>
          </a:p>
          <a:p>
            <a:pPr marL="0" indent="0">
              <a:lnSpc>
                <a:spcPct val="110000"/>
              </a:lnSpc>
              <a:spcBef>
                <a:spcPts val="500"/>
              </a:spcBef>
              <a:buNone/>
            </a:pPr>
            <a:r>
              <a:rPr lang="en-US" sz="1500" dirty="0">
                <a:latin typeface="Courier New" panose="02070309020205020404" pitchFamily="49" charset="0"/>
                <a:cs typeface="Courier New" panose="02070309020205020404" pitchFamily="49" charset="0"/>
              </a:rPr>
              <a:t> for (</a:t>
            </a:r>
            <a:r>
              <a:rPr lang="en-US" sz="1500" dirty="0" err="1">
                <a:latin typeface="Courier New" panose="02070309020205020404" pitchFamily="49" charset="0"/>
                <a:cs typeface="Courier New" panose="02070309020205020404" pitchFamily="49" charset="0"/>
              </a:rPr>
              <a:t>Map.Entry</a:t>
            </a:r>
            <a:r>
              <a:rPr lang="en-US" sz="1500" dirty="0">
                <a:latin typeface="Courier New" panose="02070309020205020404" pitchFamily="49" charset="0"/>
                <a:cs typeface="Courier New" panose="02070309020205020404" pitchFamily="49" charset="0"/>
              </a:rPr>
              <a:t>&lt;String, Integer&gt; entry : </a:t>
            </a:r>
            <a:r>
              <a:rPr lang="en-US" sz="1500" dirty="0" err="1">
                <a:latin typeface="Courier New" panose="02070309020205020404" pitchFamily="49" charset="0"/>
                <a:cs typeface="Courier New" panose="02070309020205020404" pitchFamily="49" charset="0"/>
              </a:rPr>
              <a:t>map.entrySet</a:t>
            </a:r>
            <a:r>
              <a:rPr lang="en-US" sz="1500" dirty="0">
                <a:latin typeface="Courier New" panose="02070309020205020404" pitchFamily="49" charset="0"/>
                <a:cs typeface="Courier New" panose="02070309020205020404" pitchFamily="49" charset="0"/>
              </a:rPr>
              <a:t>()) {</a:t>
            </a:r>
          </a:p>
          <a:p>
            <a:pPr marL="0" indent="0">
              <a:lnSpc>
                <a:spcPct val="110000"/>
              </a:lnSpc>
              <a:spcBef>
                <a:spcPts val="500"/>
              </a:spcBef>
              <a:buNone/>
            </a:pPr>
            <a:r>
              <a:rPr lang="en-US" sz="1500" dirty="0">
                <a:latin typeface="Courier New" panose="02070309020205020404" pitchFamily="49" charset="0"/>
                <a:cs typeface="Courier New" panose="02070309020205020404" pitchFamily="49" charset="0"/>
              </a:rPr>
              <a:t>    </a:t>
            </a:r>
            <a:r>
              <a:rPr lang="en-US" sz="1500" dirty="0" err="1">
                <a:latin typeface="Courier New" panose="02070309020205020404" pitchFamily="49" charset="0"/>
                <a:cs typeface="Courier New" panose="02070309020205020404" pitchFamily="49" charset="0"/>
              </a:rPr>
              <a:t>System.out.println</a:t>
            </a:r>
            <a:r>
              <a:rPr lang="en-US" sz="1500" dirty="0">
                <a:latin typeface="Courier New" panose="02070309020205020404" pitchFamily="49" charset="0"/>
                <a:cs typeface="Courier New" panose="02070309020205020404" pitchFamily="49" charset="0"/>
              </a:rPr>
              <a:t>("Key:" + </a:t>
            </a:r>
            <a:r>
              <a:rPr lang="en-US" sz="1500" dirty="0" err="1">
                <a:latin typeface="Courier New" panose="02070309020205020404" pitchFamily="49" charset="0"/>
                <a:cs typeface="Courier New" panose="02070309020205020404" pitchFamily="49" charset="0"/>
              </a:rPr>
              <a:t>entry.getKey</a:t>
            </a:r>
            <a:r>
              <a:rPr lang="en-US" sz="1500" dirty="0">
                <a:latin typeface="Courier New" panose="02070309020205020404" pitchFamily="49" charset="0"/>
                <a:cs typeface="Courier New" panose="02070309020205020404" pitchFamily="49" charset="0"/>
              </a:rPr>
              <a:t>() +",Value:" + </a:t>
            </a:r>
            <a:r>
              <a:rPr lang="en-US" sz="1500" dirty="0" err="1">
                <a:latin typeface="Courier New" panose="02070309020205020404" pitchFamily="49" charset="0"/>
                <a:cs typeface="Courier New" panose="02070309020205020404" pitchFamily="49" charset="0"/>
              </a:rPr>
              <a:t>entry.getValue</a:t>
            </a:r>
            <a:r>
              <a:rPr lang="en-US" sz="1500" dirty="0">
                <a:latin typeface="Courier New" panose="02070309020205020404" pitchFamily="49" charset="0"/>
                <a:cs typeface="Courier New" panose="02070309020205020404" pitchFamily="49" charset="0"/>
              </a:rPr>
              <a:t>());</a:t>
            </a:r>
          </a:p>
          <a:p>
            <a:pPr marL="0" indent="0">
              <a:lnSpc>
                <a:spcPct val="110000"/>
              </a:lnSpc>
              <a:spcBef>
                <a:spcPts val="500"/>
              </a:spcBef>
              <a:buNone/>
            </a:pPr>
            <a:r>
              <a:rPr lang="en-US" sz="1500" dirty="0">
                <a:latin typeface="Courier New" panose="02070309020205020404" pitchFamily="49" charset="0"/>
                <a:cs typeface="Courier New" panose="02070309020205020404" pitchFamily="49" charset="0"/>
              </a:rPr>
              <a:t> }</a:t>
            </a:r>
          </a:p>
          <a:p>
            <a:pPr>
              <a:lnSpc>
                <a:spcPct val="110000"/>
              </a:lnSpc>
              <a:spcBef>
                <a:spcPts val="500"/>
              </a:spcBef>
            </a:pPr>
            <a:endParaRPr lang="en-US" sz="1700" dirty="0"/>
          </a:p>
          <a:p>
            <a:pPr>
              <a:lnSpc>
                <a:spcPct val="110000"/>
              </a:lnSpc>
              <a:spcBef>
                <a:spcPts val="500"/>
              </a:spcBef>
            </a:pPr>
            <a:endParaRPr lang="en-US" sz="1700" dirty="0"/>
          </a:p>
          <a:p>
            <a:pPr>
              <a:lnSpc>
                <a:spcPct val="110000"/>
              </a:lnSpc>
              <a:spcBef>
                <a:spcPts val="500"/>
              </a:spcBef>
            </a:pPr>
            <a:endParaRPr lang="en-US" sz="1700" dirty="0"/>
          </a:p>
          <a:p>
            <a:pPr lvl="1">
              <a:lnSpc>
                <a:spcPct val="110000"/>
              </a:lnSpc>
              <a:spcBef>
                <a:spcPts val="500"/>
              </a:spcBef>
            </a:pPr>
            <a:endParaRPr lang="en-IE" sz="1700" dirty="0"/>
          </a:p>
        </p:txBody>
      </p:sp>
    </p:spTree>
    <p:extLst>
      <p:ext uri="{BB962C8B-B14F-4D97-AF65-F5344CB8AC3E}">
        <p14:creationId xmlns:p14="http://schemas.microsoft.com/office/powerpoint/2010/main" val="2267337222"/>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3281</Words>
  <Application>Microsoft Office PowerPoint</Application>
  <PresentationFormat>On-screen Show (4:3)</PresentationFormat>
  <Paragraphs>684</Paragraphs>
  <Slides>35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Aptos</vt:lpstr>
      <vt:lpstr>Arial</vt:lpstr>
      <vt:lpstr>Cambria Math</vt:lpstr>
      <vt:lpstr>Courier New</vt:lpstr>
      <vt:lpstr>Rockwell</vt:lpstr>
      <vt:lpstr>Rockwell Condensed</vt:lpstr>
      <vt:lpstr>Times New Roman</vt:lpstr>
      <vt:lpstr>Wingdings</vt:lpstr>
      <vt:lpstr>Wood 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Week1(CS380).pptx</dc:title>
  <dc:creator>pierpaolodondio</dc:creator>
  <cp:lastModifiedBy>Pierpaolo Dondio</cp:lastModifiedBy>
  <cp:revision>29</cp:revision>
  <dcterms:created xsi:type="dcterms:W3CDTF">2025-09-19T16:19:52Z</dcterms:created>
  <dcterms:modified xsi:type="dcterms:W3CDTF">2025-11-08T11:44:27Z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2025-09-19T00:00:00Z</vt:filetime>
  </property>
  <property fmtid="{D5CDD505-2E9C-101B-9397-08002B2CF9AE}" pid="3" name="Creator">
    <vt:lpwstr>Google</vt:lpwstr>
  </property>
  <property fmtid="{D5CDD505-2E9C-101B-9397-08002B2CF9AE}" pid="4" name="LastSaved">
    <vt:filetime>2025-09-19T00:00:00Z</vt:filetime>
  </property>
  <property fmtid="{D5CDD505-2E9C-101B-9397-08002B2CF9AE}" pid="5" name="Producer">
    <vt:lpwstr>3-Heights(TM) PDF Security Shell 4.8.25.2 (http://www.pdf-tools.com)</vt:lpwstr>
  </property>
</Properties>
</file>